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399" r:id="rId3"/>
    <p:sldId id="400" r:id="rId4"/>
    <p:sldId id="401" r:id="rId5"/>
    <p:sldId id="384" r:id="rId6"/>
    <p:sldId id="392" r:id="rId7"/>
    <p:sldId id="402" r:id="rId8"/>
    <p:sldId id="403" r:id="rId9"/>
    <p:sldId id="386" r:id="rId10"/>
    <p:sldId id="404" r:id="rId11"/>
    <p:sldId id="405" r:id="rId12"/>
    <p:sldId id="388" r:id="rId13"/>
    <p:sldId id="309" r:id="rId14"/>
    <p:sldId id="310" r:id="rId15"/>
    <p:sldId id="311" r:id="rId16"/>
    <p:sldId id="427" r:id="rId17"/>
    <p:sldId id="389" r:id="rId18"/>
    <p:sldId id="344" r:id="rId19"/>
    <p:sldId id="347" r:id="rId20"/>
    <p:sldId id="382" r:id="rId21"/>
    <p:sldId id="397" r:id="rId22"/>
    <p:sldId id="407" r:id="rId23"/>
  </p:sldIdLst>
  <p:sldSz cx="9906000" cy="6858000" type="A4"/>
  <p:notesSz cx="9944100" cy="6815138"/>
  <p:defaultTextStyle>
    <a:defPPr>
      <a:defRPr lang="ru-RU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6">
          <p15:clr>
            <a:srgbClr val="A4A3A4"/>
          </p15:clr>
        </p15:guide>
        <p15:guide id="2" pos="313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CCFFCC"/>
    <a:srgbClr val="FFFFCC"/>
    <a:srgbClr val="FFFF99"/>
    <a:srgbClr val="99FF99"/>
    <a:srgbClr val="66FF99"/>
    <a:srgbClr val="66FF66"/>
    <a:srgbClr val="66FFFF"/>
    <a:srgbClr val="FFCCCC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35" autoAdjust="0"/>
    <p:restoredTop sz="94589" autoAdjust="0"/>
  </p:normalViewPr>
  <p:slideViewPr>
    <p:cSldViewPr>
      <p:cViewPr varScale="1">
        <p:scale>
          <a:sx n="108" d="100"/>
          <a:sy n="108" d="100"/>
        </p:scale>
        <p:origin x="1584" y="10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482"/>
    </p:cViewPr>
  </p:sorterViewPr>
  <p:notesViewPr>
    <p:cSldViewPr>
      <p:cViewPr varScale="1">
        <p:scale>
          <a:sx n="70" d="100"/>
          <a:sy n="70" d="100"/>
        </p:scale>
        <p:origin x="-1782" y="-114"/>
      </p:cViewPr>
      <p:guideLst>
        <p:guide orient="horz" pos="2146"/>
        <p:guide pos="3132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308189" cy="34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r>
              <a:rPr lang="ru-RU"/>
              <a:t>Раздел 1. Общие вопросы моделирования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2660" y="0"/>
            <a:ext cx="4309814" cy="34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472645"/>
            <a:ext cx="4308189" cy="34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2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2660" y="6472645"/>
            <a:ext cx="4309814" cy="34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E563351-E8F8-47DF-B27E-8D5FD4B5068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9814" cy="34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r>
              <a:rPr lang="ru-RU"/>
              <a:t>Раздел 1. Общие вопросы моделирования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2660" y="0"/>
            <a:ext cx="4309814" cy="34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25788" y="511175"/>
            <a:ext cx="3692525" cy="2555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573" y="3237112"/>
            <a:ext cx="7954955" cy="3066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72645"/>
            <a:ext cx="4309814" cy="34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2660" y="6472645"/>
            <a:ext cx="4309814" cy="34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C40D12B-0BF3-417F-853F-B5B903A8957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Верхний колонтитул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Раздел 1. Общие вопросы моделирования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40D12B-0BF3-417F-853F-B5B903A89574}" type="slidenum">
              <a:rPr lang="ru-RU" smtClean="0"/>
              <a:pPr>
                <a:defRPr/>
              </a:pPr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C40D12B-0BF3-417F-853F-B5B903A89574}" type="slidenum">
              <a:rPr lang="ru-RU" smtClean="0"/>
              <a:pPr>
                <a:defRPr/>
              </a:pPr>
              <a:t>10</a:t>
            </a:fld>
            <a:endParaRPr lang="ru-RU"/>
          </a:p>
        </p:txBody>
      </p:sp>
      <p:sp>
        <p:nvSpPr>
          <p:cNvPr id="5" name="Верхний колонтитул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Раздел 1. Общие вопросы моделирования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C40D12B-0BF3-417F-853F-B5B903A89574}" type="slidenum">
              <a:rPr lang="ru-RU" smtClean="0"/>
              <a:pPr>
                <a:defRPr/>
              </a:pPr>
              <a:t>11</a:t>
            </a:fld>
            <a:endParaRPr lang="ru-RU"/>
          </a:p>
        </p:txBody>
      </p:sp>
      <p:sp>
        <p:nvSpPr>
          <p:cNvPr id="5" name="Верхний колонтитул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Раздел 1. Общие вопросы моделирования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877366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C40D12B-0BF3-417F-853F-B5B903A89574}" type="slidenum">
              <a:rPr lang="ru-RU" smtClean="0"/>
              <a:pPr>
                <a:defRPr/>
              </a:pPr>
              <a:t>12</a:t>
            </a:fld>
            <a:endParaRPr lang="ru-RU"/>
          </a:p>
        </p:txBody>
      </p:sp>
      <p:sp>
        <p:nvSpPr>
          <p:cNvPr id="5" name="Верхний колонтитул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Раздел 1. Общие вопросы моделирования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63163C-9401-4B05-86A7-9AC70DA477DE}" type="datetime1">
              <a:rPr lang="ru-RU" smtClean="0"/>
              <a:pPr>
                <a:defRPr/>
              </a:pPr>
              <a:t>11.09.2023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E2A9FE-F60E-4448-9334-D9F0582C092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44DFA2-3690-4D57-BCA6-FBD0D22214E5}" type="datetime1">
              <a:rPr lang="ru-RU" smtClean="0"/>
              <a:pPr>
                <a:defRPr/>
              </a:pPr>
              <a:t>11.09.2023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908D93-475E-4C84-BCD4-79A3215EF54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804780-17C0-4588-B23A-D35999ABA9FF}" type="datetime1">
              <a:rPr lang="ru-RU" smtClean="0"/>
              <a:pPr>
                <a:defRPr/>
              </a:pPr>
              <a:t>11.09.2023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C3F711-9A0D-4565-88D2-03C3522A11D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134B55-79B4-4935-B690-CDDFD14CEE71}" type="datetime1">
              <a:rPr lang="ru-RU" smtClean="0"/>
              <a:pPr>
                <a:defRPr/>
              </a:pPr>
              <a:t>11.09.2023</a:t>
            </a:fld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E4F3CB-1126-4EC1-ACEF-2B0FFD1D921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1DDF74-0A08-443D-938C-3C266F2567D6}" type="datetime1">
              <a:rPr lang="ru-RU" smtClean="0"/>
              <a:pPr>
                <a:defRPr/>
              </a:pPr>
              <a:t>11.09.2023</a:t>
            </a:fld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A65FD-B2C8-4F3F-A98F-5C3D044A278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E459F5-7A03-4266-954C-9DE0CC169ECA}" type="datetime1">
              <a:rPr lang="ru-RU" smtClean="0"/>
              <a:pPr>
                <a:defRPr/>
              </a:pPr>
              <a:t>11.09.2023</a:t>
            </a:fld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BEE1E0-681C-419A-AA1F-3C14D1CC460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16B394-396F-4703-B57A-FA82EF68C3D4}" type="datetime1">
              <a:rPr lang="ru-RU" smtClean="0"/>
              <a:pPr>
                <a:defRPr/>
              </a:pPr>
              <a:t>11.09.2023</a:t>
            </a:fld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07F7E7-B8A1-4D10-ADC0-D7ACD795721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F483A1-725F-41DC-9904-4D6A5DC4538F}" type="datetime1">
              <a:rPr lang="ru-RU" smtClean="0"/>
              <a:pPr>
                <a:defRPr/>
              </a:pPr>
              <a:t>11.09.2023</a:t>
            </a:fld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2FFEE-D16D-4A34-B0E5-51D8C9BFAE3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E2C757-F100-4919-9627-00260115EB4F}" type="datetime1">
              <a:rPr lang="ru-RU" smtClean="0"/>
              <a:pPr>
                <a:defRPr/>
              </a:pPr>
              <a:t>11.09.2023</a:t>
            </a:fld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87335A-E939-4A89-B0C4-7E47E789207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36E84D-0AC6-4F94-BF75-5ADA276DB606}" type="datetime1">
              <a:rPr lang="ru-RU" smtClean="0"/>
              <a:pPr>
                <a:defRPr/>
              </a:pPr>
              <a:t>11.09.2023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F2C553-5C13-4378-A08E-BCB00E8B6D0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FBBDDB-F3BB-4A12-A016-561DC4A9489F}" type="datetime1">
              <a:rPr lang="ru-RU" smtClean="0"/>
              <a:pPr>
                <a:defRPr/>
              </a:pPr>
              <a:t>11.09.2023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55B39F-8A6C-4983-A43A-35AE061B947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495300" y="274638"/>
            <a:ext cx="8915400" cy="5851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E422B0-F7DF-4D84-AD84-F085BC78F125}" type="datetime1">
              <a:rPr lang="ru-RU" smtClean="0"/>
              <a:pPr>
                <a:defRPr/>
              </a:pPr>
              <a:t>11.09.2023</a:t>
            </a:fld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3F68EB-A4D9-48FE-B62E-F47A3846A3F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CE3622-36B6-4FF0-8E4B-2DD245FBB362}" type="datetime1">
              <a:rPr lang="ru-RU" smtClean="0"/>
              <a:pPr>
                <a:defRPr/>
              </a:pPr>
              <a:t>11.09.2023</a:t>
            </a:fld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E1917F-E5EC-46C2-BC88-F8C491AA6CD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pPr>
              <a:defRPr/>
            </a:pPr>
            <a:fld id="{DCC6294D-D5D8-4F87-ABD0-1C5178FE9512}" type="datetime1">
              <a:rPr lang="ru-RU" smtClean="0"/>
              <a:pPr>
                <a:defRPr/>
              </a:pPr>
              <a:t>11.09.2023</a:t>
            </a:fld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5225"/>
            <a:ext cx="3136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DDD35C0-C0F7-440B-8472-80B22DF5CC8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ooks.ifmo.ru/book/686/modelirovanie:_zadachi,_zadaniya,_testy.htm" TargetMode="External"/><Relationship Id="rId2" Type="http://schemas.openxmlformats.org/officeDocument/2006/relationships/hyperlink" Target="https://books.ifmo.ru/book/445/osnovy_modelirovaniya_diskretnyh_sistem.htm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books.ifmo.ru/book/1638/osnovy_proektirovaniya_sistem:_uchebnoe_posobie..htm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olverinesoftware.com/" TargetMode="External"/><Relationship Id="rId2" Type="http://schemas.openxmlformats.org/officeDocument/2006/relationships/hyperlink" Target="http://www.minutemansoftware.com/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://www.elina-computer.ru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renasimulation.com/" TargetMode="External"/><Relationship Id="rId2" Type="http://schemas.openxmlformats.org/officeDocument/2006/relationships/hyperlink" Target="http://www.anylogic.ru/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7465" y="323655"/>
            <a:ext cx="9575800" cy="1470025"/>
          </a:xfrm>
        </p:spPr>
        <p:txBody>
          <a:bodyPr/>
          <a:lstStyle/>
          <a:p>
            <a:pPr eaLnBrk="1" hangingPunct="1"/>
            <a:r>
              <a:rPr lang="ru-RU" sz="4800" b="1" dirty="0">
                <a:solidFill>
                  <a:srgbClr val="CC3300"/>
                </a:solidFill>
                <a:latin typeface="Times New Roman" pitchFamily="18" charset="0"/>
              </a:rPr>
              <a:t>«Моделирование»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470" y="1808820"/>
            <a:ext cx="9586065" cy="3825425"/>
          </a:xfrm>
        </p:spPr>
        <p:txBody>
          <a:bodyPr/>
          <a:lstStyle/>
          <a:p>
            <a:pPr algn="l" eaLnBrk="1" hangingPunct="1">
              <a:lnSpc>
                <a:spcPct val="90000"/>
              </a:lnSpc>
            </a:pPr>
            <a:r>
              <a:rPr lang="ru-RU" sz="2000" b="1" dirty="0">
                <a:latin typeface="Times New Roman" pitchFamily="18" charset="0"/>
              </a:rPr>
              <a:t>Лектор: 	АЛИЕВ Тауфик Измайлович,  </a:t>
            </a:r>
          </a:p>
          <a:p>
            <a:pPr algn="l" eaLnBrk="1" hangingPunct="1">
              <a:lnSpc>
                <a:spcPct val="90000"/>
              </a:lnSpc>
            </a:pPr>
            <a:r>
              <a:rPr lang="ru-RU" sz="2000" b="1" dirty="0">
                <a:latin typeface="Times New Roman" pitchFamily="18" charset="0"/>
              </a:rPr>
              <a:t>		</a:t>
            </a:r>
            <a:r>
              <a:rPr lang="ru-RU" sz="2000" b="1" i="1" dirty="0">
                <a:latin typeface="Times New Roman" pitchFamily="18" charset="0"/>
              </a:rPr>
              <a:t>доктор технических наук, профессор</a:t>
            </a:r>
          </a:p>
          <a:p>
            <a:pPr algn="l" eaLnBrk="1" hangingPunct="1">
              <a:lnSpc>
                <a:spcPct val="90000"/>
              </a:lnSpc>
            </a:pPr>
            <a:r>
              <a:rPr lang="ru-RU" sz="2000" b="1" dirty="0">
                <a:latin typeface="Times New Roman" pitchFamily="18" charset="0"/>
              </a:rPr>
              <a:t>	</a:t>
            </a:r>
            <a:endParaRPr lang="ru-RU" sz="2000" b="1" i="1" dirty="0">
              <a:latin typeface="Times New Roman" pitchFamily="18" charset="0"/>
            </a:endParaRPr>
          </a:p>
          <a:p>
            <a:pPr algn="l" eaLnBrk="1" hangingPunct="1">
              <a:lnSpc>
                <a:spcPct val="90000"/>
              </a:lnSpc>
            </a:pPr>
            <a:r>
              <a:rPr lang="ru-RU" sz="2000" b="1" i="1" dirty="0">
                <a:latin typeface="Times New Roman" pitchFamily="18" charset="0"/>
              </a:rPr>
              <a:t>	     	_______________________________________________________</a:t>
            </a:r>
          </a:p>
          <a:p>
            <a:pPr eaLnBrk="1" hangingPunct="1">
              <a:lnSpc>
                <a:spcPct val="90000"/>
              </a:lnSpc>
            </a:pPr>
            <a:endParaRPr lang="ru-RU" sz="2800" b="1" dirty="0">
              <a:solidFill>
                <a:schemeClr val="accent2"/>
              </a:solidFill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ru-RU" sz="2800" b="1" dirty="0">
                <a:solidFill>
                  <a:schemeClr val="accent2"/>
                </a:solidFill>
                <a:latin typeface="Times New Roman" pitchFamily="18" charset="0"/>
              </a:rPr>
              <a:t>Национальный исследовательский университет ИТМО</a:t>
            </a:r>
            <a:r>
              <a:rPr lang="en-US" sz="2800" b="1" dirty="0">
                <a:solidFill>
                  <a:schemeClr val="accent2"/>
                </a:solidFill>
                <a:latin typeface="Times New Roman" pitchFamily="18" charset="0"/>
              </a:rPr>
              <a:t> (</a:t>
            </a:r>
            <a:r>
              <a:rPr lang="ru-RU" sz="2800" b="1" dirty="0">
                <a:solidFill>
                  <a:schemeClr val="accent2"/>
                </a:solidFill>
                <a:latin typeface="Times New Roman" pitchFamily="18" charset="0"/>
              </a:rPr>
              <a:t>Университет ИТМО)</a:t>
            </a:r>
          </a:p>
          <a:p>
            <a:pPr eaLnBrk="1" hangingPunct="1">
              <a:lnSpc>
                <a:spcPct val="90000"/>
              </a:lnSpc>
            </a:pPr>
            <a:r>
              <a:rPr lang="ru-RU" sz="2400" b="1" i="1" dirty="0">
                <a:solidFill>
                  <a:srgbClr val="0033CC"/>
                </a:solidFill>
                <a:latin typeface="Times New Roman" pitchFamily="18" charset="0"/>
              </a:rPr>
              <a:t>Факультет программной инженерии и компьютерной техники (</a:t>
            </a:r>
            <a:r>
              <a:rPr lang="ru-RU" sz="2400" b="1" i="1" dirty="0" err="1">
                <a:solidFill>
                  <a:srgbClr val="0033CC"/>
                </a:solidFill>
                <a:latin typeface="Times New Roman" pitchFamily="18" charset="0"/>
              </a:rPr>
              <a:t>ФПИиКТ</a:t>
            </a:r>
            <a:r>
              <a:rPr lang="ru-RU" sz="2400" b="1" i="1" dirty="0">
                <a:solidFill>
                  <a:srgbClr val="0033CC"/>
                </a:solidFill>
                <a:latin typeface="Times New Roman" pitchFamily="18" charset="0"/>
              </a:rPr>
              <a:t>)</a:t>
            </a:r>
          </a:p>
          <a:p>
            <a:pPr algn="l" eaLnBrk="1" hangingPunct="1">
              <a:lnSpc>
                <a:spcPct val="90000"/>
              </a:lnSpc>
            </a:pPr>
            <a:endParaRPr lang="ru-RU" sz="2800" b="1" i="1" dirty="0">
              <a:solidFill>
                <a:schemeClr val="accent2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Номер слайда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0371A85-7023-49EA-827B-FF03B57921CB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857545" y="233645"/>
            <a:ext cx="8001000" cy="768465"/>
          </a:xfrm>
          <a:solidFill>
            <a:srgbClr val="FFFF00"/>
          </a:solidFill>
        </p:spPr>
        <p:txBody>
          <a:bodyPr/>
          <a:lstStyle/>
          <a:p>
            <a:pPr eaLnBrk="1" hangingPunct="1"/>
            <a:r>
              <a:rPr lang="ru-RU" sz="3600" b="1" dirty="0"/>
              <a:t>Рекомендуемая литература</a:t>
            </a:r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241550" y="6245225"/>
            <a:ext cx="5022850" cy="476250"/>
          </a:xfrm>
          <a:noFill/>
        </p:spPr>
        <p:txBody>
          <a:bodyPr/>
          <a:lstStyle/>
          <a:p>
            <a:r>
              <a:rPr lang="ru-RU" i="1"/>
              <a:t>«Моделирование»</a:t>
            </a:r>
            <a:endParaRPr lang="ru-RU" i="1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2470" y="998730"/>
            <a:ext cx="9586065" cy="5246495"/>
          </a:xfrm>
        </p:spPr>
        <p:txBody>
          <a:bodyPr/>
          <a:lstStyle/>
          <a:p>
            <a:pPr marL="288000" indent="-288000" eaLnBrk="1" hangingPunct="1">
              <a:buFontTx/>
              <a:buAutoNum type="arabicPeriod"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Алиев Т.И. Моделирование дискретных систем. – СПб: СПбГУ ИТМО, 2009. – 363 с.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hlinkClick r:id="rId2"/>
              </a:rPr>
              <a:t>https://books.ifmo.ru/book/445/osnovy_modelirovaniya_diskretnyh_sistem.htm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288000" indent="-288000" eaLnBrk="1" hangingPunct="1">
              <a:buFontTx/>
              <a:buAutoNum type="arabicPeriod"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Алиев Т.И.,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Муравьева-Витковская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Л.А., Соснин В.В. Моделирование: задачи, задания, тесты. Учебное пособие. - СПб.: НИУ ИТМО, 2011. – 197 с.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hlinkClick r:id="rId3"/>
              </a:rPr>
              <a:t>https://books.ifmo.ru/book/686/modelirovanie:_zadachi,_zadaniya,_testy.htm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288000" indent="-288000" eaLnBrk="1" hangingPunct="1">
              <a:buFontTx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Алиев Т.И. Основы проектирования систем. – СПб: Университет ИТМО, 2015. – 120 с. </a:t>
            </a:r>
          </a:p>
          <a:p>
            <a:pPr marL="288000" indent="-288000" eaLnBrk="1" hangingPunct="1">
              <a:buNone/>
            </a:pPr>
            <a:r>
              <a:rPr lang="en-US" sz="2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https://books.ifmo.ru/book/1638/osnovy_proektirovaniya_</a:t>
            </a:r>
            <a:r>
              <a:rPr lang="en-US" sz="2000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sistem</a:t>
            </a:r>
            <a:r>
              <a:rPr lang="en-US" sz="2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:_uchebnoe_</a:t>
            </a:r>
            <a:r>
              <a:rPr lang="en-US" sz="2000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posobie</a:t>
            </a:r>
            <a:r>
              <a:rPr lang="en-US" sz="2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..</a:t>
            </a:r>
            <a:r>
              <a:rPr lang="en-US" sz="2000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htm</a:t>
            </a:r>
            <a:endParaRPr lang="ru-RU" sz="20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4.  Электронные учебно-методические материалы по дисциплине «Моделирование» в ИСУ ИТМО 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5. 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Кельтон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В., Лоу А. Имитационное моделирование. Классика CS. 3-е изд. – СПб.: Питер; Киев: Издательская группа BHV, 2004. – 847 с.: ил.  </a:t>
            </a:r>
          </a:p>
          <a:p>
            <a:pPr marL="0" indent="0" eaLnBrk="1" hangingPunct="1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6.  Советов, Б. Я. Моделирование систем : учебник для академического бакалавриата / Б. Я. Советов, С. А. Яковлев. — 7-е изд. — М.: Изд-во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Юрайт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2017. — 343 с.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Номер слайда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0371A85-7023-49EA-827B-FF03B57921CB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1085850" y="274638"/>
            <a:ext cx="7600950" cy="1143000"/>
          </a:xfrm>
          <a:solidFill>
            <a:srgbClr val="66FF33"/>
          </a:solidFill>
        </p:spPr>
        <p:txBody>
          <a:bodyPr/>
          <a:lstStyle/>
          <a:p>
            <a:pPr eaLnBrk="1" hangingPunct="1"/>
            <a:r>
              <a:rPr lang="ru-RU" sz="4800" b="1" dirty="0"/>
              <a:t>Разделы дисциплины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17485" y="2139602"/>
            <a:ext cx="9361040" cy="3449638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ru-RU" sz="2000" b="1" u="sng" dirty="0">
                <a:latin typeface="Times New Roman" pitchFamily="18" charset="0"/>
                <a:cs typeface="Times New Roman" pitchFamily="18" charset="0"/>
              </a:rPr>
              <a:t>Часть 1:</a:t>
            </a:r>
          </a:p>
          <a:p>
            <a:pPr marL="360000" indent="-252000" eaLnBrk="1" hangingPunct="1">
              <a:buFontTx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Общие вопросы моделирования			(см.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[1]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 Раздел 1)</a:t>
            </a:r>
          </a:p>
          <a:p>
            <a:pPr marL="360000" indent="-252000" eaLnBrk="1" hangingPunct="1">
              <a:buFontTx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Модели дискретных систем				(см.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[1]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 Раздел 3)</a:t>
            </a:r>
          </a:p>
          <a:p>
            <a:pPr marL="360000" indent="-252000" eaLnBrk="1" hangingPunct="1">
              <a:buFontTx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Имитационное моделирование 			(см.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[1]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 Раздел 6)</a:t>
            </a:r>
          </a:p>
          <a:p>
            <a:pPr marL="360000" indent="-252000" eaLnBrk="1" hangingPunct="1">
              <a:buFontTx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Анализ свойств базовых моделей			(см.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[1]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 Раздел 4)</a:t>
            </a:r>
          </a:p>
          <a:p>
            <a:pPr marL="360000" indent="-252000" eaLnBrk="1" hangingPunct="1">
              <a:buFontTx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Сетевые модели дискретных систем			(см.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[1]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 п. 3.4, 4.4, 4.5)</a:t>
            </a:r>
          </a:p>
          <a:p>
            <a:pPr marL="360000" indent="-252000" eaLnBrk="1" hangingPunct="1">
              <a:buFontTx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Модели компьютерных систем			(см.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 п. 4.4, 4.5)</a:t>
            </a:r>
          </a:p>
          <a:p>
            <a:pPr marL="360000" indent="-252000" eaLnBrk="1" hangingPunct="1">
              <a:buFontTx/>
              <a:buAutoNum type="arabicPeriod"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None/>
            </a:pPr>
            <a:r>
              <a:rPr lang="ru-RU" sz="2000" b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Часть 2</a:t>
            </a:r>
            <a:r>
              <a:rPr lang="ru-RU" sz="2000" b="1" u="sng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sz="2000" b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ru-RU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Аналитическое моделирование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ru-RU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Численное моделирование</a:t>
            </a:r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241550" y="6245225"/>
            <a:ext cx="5022850" cy="476250"/>
          </a:xfrm>
          <a:noFill/>
        </p:spPr>
        <p:txBody>
          <a:bodyPr/>
          <a:lstStyle/>
          <a:p>
            <a:r>
              <a:rPr lang="ru-RU" i="1" dirty="0"/>
              <a:t>«Моделирование»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D21384-F7C7-4A94-B34E-84B5CA6FEF39}"/>
              </a:ext>
            </a:extLst>
          </p:cNvPr>
          <p:cNvSpPr txBox="1"/>
          <p:nvPr/>
        </p:nvSpPr>
        <p:spPr>
          <a:xfrm>
            <a:off x="2365331" y="1518949"/>
            <a:ext cx="73131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«Даже если ваше объяснение настолько ясно, что исключает всякое ложное толкование, все равно найдется человек, который поймет вас неправильно» (</a:t>
            </a:r>
            <a:r>
              <a:rPr lang="ru-RU" sz="1400" b="1" i="1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Законы </a:t>
            </a:r>
            <a:r>
              <a:rPr lang="ru-RU" sz="1400" b="1" i="1" dirty="0" err="1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Мэрфи</a:t>
            </a:r>
            <a:r>
              <a:rPr lang="ru-RU" sz="14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F91B9D5-C73C-4E07-905F-F24B9F841C17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3675" y="211882"/>
            <a:ext cx="9518650" cy="624731"/>
          </a:xfrm>
        </p:spPr>
        <p:txBody>
          <a:bodyPr/>
          <a:lstStyle/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ru-RU" b="1" dirty="0">
                <a:solidFill>
                  <a:srgbClr val="CC3300"/>
                </a:solidFill>
                <a:latin typeface="Times New Roman" pitchFamily="18" charset="0"/>
              </a:rPr>
              <a:t>1. ОБЩИЕ  ВОПРОСЫ МОДЕЛИРОВАНИЯ</a:t>
            </a:r>
            <a:endParaRPr lang="ru-RU" b="1" dirty="0">
              <a:solidFill>
                <a:srgbClr val="CC3300"/>
              </a:solidFill>
              <a:latin typeface="Times New Roman" pitchFamily="18" charset="0"/>
              <a:hlinkClick r:id="" action="ppaction://noaction"/>
            </a:endParaRPr>
          </a:p>
        </p:txBody>
      </p:sp>
      <p:sp>
        <p:nvSpPr>
          <p:cNvPr id="3082" name="Rectangle 10"/>
          <p:cNvSpPr>
            <a:spLocks noChangeArrowheads="1"/>
          </p:cNvSpPr>
          <p:nvPr/>
        </p:nvSpPr>
        <p:spPr bwMode="auto">
          <a:xfrm>
            <a:off x="677525" y="1356151"/>
            <a:ext cx="9015750" cy="372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ru-RU" sz="2400" dirty="0"/>
              <a:t>1.1. Система</a:t>
            </a:r>
          </a:p>
          <a:p>
            <a:pPr lvl="1" algn="l"/>
            <a:endParaRPr lang="ru-RU" sz="2400" dirty="0"/>
          </a:p>
          <a:p>
            <a:pPr algn="l"/>
            <a:r>
              <a:rPr lang="ru-RU" sz="2400" dirty="0"/>
              <a:t>1.2. Модель</a:t>
            </a:r>
          </a:p>
          <a:p>
            <a:pPr algn="l"/>
            <a:endParaRPr lang="ru-RU" sz="2400" dirty="0"/>
          </a:p>
          <a:p>
            <a:pPr algn="l"/>
            <a:r>
              <a:rPr lang="ru-RU" sz="2400" dirty="0"/>
              <a:t>1.3. Типовые задачи и методы моделирования</a:t>
            </a:r>
          </a:p>
          <a:p>
            <a:pPr algn="l"/>
            <a:endParaRPr lang="ru-RU" sz="2400" dirty="0"/>
          </a:p>
          <a:p>
            <a:pPr algn="l"/>
            <a:r>
              <a:rPr lang="ru-RU" sz="2400" dirty="0">
                <a:solidFill>
                  <a:srgbClr val="00B050"/>
                </a:solidFill>
              </a:rPr>
              <a:t>1.4. Принципы моделирования систем</a:t>
            </a:r>
          </a:p>
          <a:p>
            <a:pPr algn="l"/>
            <a:endParaRPr lang="ru-RU" sz="2400" dirty="0">
              <a:solidFill>
                <a:srgbClr val="00B050"/>
              </a:solidFill>
            </a:endParaRPr>
          </a:p>
          <a:p>
            <a:pPr algn="l"/>
            <a:r>
              <a:rPr lang="ru-RU" sz="2400" dirty="0">
                <a:solidFill>
                  <a:srgbClr val="00B050"/>
                </a:solidFill>
              </a:rPr>
              <a:t>1.5. Этапы моделирования систем</a:t>
            </a:r>
          </a:p>
          <a:p>
            <a:pPr algn="l"/>
            <a:endParaRPr lang="ru-RU" sz="2000" b="1" dirty="0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241550" y="6245225"/>
            <a:ext cx="5022850" cy="476250"/>
          </a:xfrm>
          <a:noFill/>
        </p:spPr>
        <p:txBody>
          <a:bodyPr/>
          <a:lstStyle/>
          <a:p>
            <a:r>
              <a:rPr lang="ru-RU" i="1"/>
              <a:t>«Моделирование»</a:t>
            </a:r>
            <a:endParaRPr lang="ru-RU" i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«Моделирование»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908D93-475E-4C84-BCD4-79A3215EF541}" type="slidenum">
              <a:rPr lang="ru-RU" smtClean="0"/>
              <a:pPr>
                <a:defRPr/>
              </a:pPr>
              <a:t>5</a:t>
            </a:fld>
            <a:endParaRPr lang="ru-RU" dirty="0"/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272480" y="1288574"/>
            <a:ext cx="5175575" cy="2308323"/>
            <a:chOff x="1323" y="1440"/>
            <a:chExt cx="2683" cy="810"/>
          </a:xfrm>
        </p:grpSpPr>
        <p:sp>
          <p:nvSpPr>
            <p:cNvPr id="9" name="Rectangle 5"/>
            <p:cNvSpPr>
              <a:spLocks noChangeAspect="1" noChangeArrowheads="1"/>
            </p:cNvSpPr>
            <p:nvPr/>
          </p:nvSpPr>
          <p:spPr bwMode="auto">
            <a:xfrm>
              <a:off x="1323" y="1440"/>
              <a:ext cx="2683" cy="81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AutoShape 7"/>
            <p:cNvSpPr>
              <a:spLocks noChangeAspect="1" noChangeArrowheads="1"/>
            </p:cNvSpPr>
            <p:nvPr/>
          </p:nvSpPr>
          <p:spPr bwMode="auto">
            <a:xfrm>
              <a:off x="1416" y="1531"/>
              <a:ext cx="1049" cy="635"/>
            </a:xfrm>
            <a:prstGeom prst="plaque">
              <a:avLst>
                <a:gd name="adj" fmla="val 16667"/>
              </a:avLst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ru-RU"/>
            </a:p>
          </p:txBody>
        </p:sp>
        <p:sp>
          <p:nvSpPr>
            <p:cNvPr id="11" name="Text Box 8"/>
            <p:cNvSpPr txBox="1">
              <a:spLocks noChangeAspect="1" noChangeArrowheads="1"/>
            </p:cNvSpPr>
            <p:nvPr/>
          </p:nvSpPr>
          <p:spPr bwMode="auto">
            <a:xfrm>
              <a:off x="1416" y="1607"/>
              <a:ext cx="1046" cy="4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ru-RU" sz="2000" b="1" dirty="0">
                  <a:latin typeface="Times New Roman" pitchFamily="18" charset="0"/>
                </a:rPr>
                <a:t>ИСХОДНЫЙ</a:t>
              </a:r>
              <a:r>
                <a:rPr lang="ru-RU" sz="2000" dirty="0">
                  <a:latin typeface="Times New Roman" pitchFamily="18" charset="0"/>
                </a:rPr>
                <a:t> </a:t>
              </a:r>
              <a:r>
                <a:rPr lang="ru-RU" sz="2000" b="1" dirty="0">
                  <a:latin typeface="Times New Roman" pitchFamily="18" charset="0"/>
                </a:rPr>
                <a:t>ОБЪЕКТ</a:t>
              </a:r>
              <a:endParaRPr lang="ru-RU" sz="2000" dirty="0">
                <a:latin typeface="Times New Roman" pitchFamily="18" charset="0"/>
              </a:endParaRPr>
            </a:p>
            <a:p>
              <a:pPr eaLnBrk="0" hangingPunct="0"/>
              <a:r>
                <a:rPr lang="ru-RU" sz="2000" b="1" dirty="0">
                  <a:latin typeface="Times New Roman" pitchFamily="18" charset="0"/>
                </a:rPr>
                <a:t>(система,</a:t>
              </a:r>
            </a:p>
            <a:p>
              <a:pPr eaLnBrk="0" hangingPunct="0"/>
              <a:r>
                <a:rPr lang="ru-RU" sz="2000" b="1" dirty="0">
                  <a:latin typeface="Times New Roman" pitchFamily="18" charset="0"/>
                </a:rPr>
                <a:t>процесс)</a:t>
              </a:r>
            </a:p>
          </p:txBody>
        </p:sp>
        <p:sp>
          <p:nvSpPr>
            <p:cNvPr id="12" name="AutoShape 9"/>
            <p:cNvSpPr>
              <a:spLocks noChangeAspect="1" noChangeArrowheads="1"/>
            </p:cNvSpPr>
            <p:nvPr/>
          </p:nvSpPr>
          <p:spPr bwMode="auto">
            <a:xfrm>
              <a:off x="2565" y="1782"/>
              <a:ext cx="523" cy="150"/>
            </a:xfrm>
            <a:prstGeom prst="rightArrow">
              <a:avLst>
                <a:gd name="adj1" fmla="val 50000"/>
                <a:gd name="adj2" fmla="val 87167"/>
              </a:avLst>
            </a:prstGeom>
            <a:solidFill>
              <a:srgbClr val="FF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rgbClr val="FF0000"/>
                </a:solidFill>
              </a:endParaRPr>
            </a:p>
          </p:txBody>
        </p:sp>
        <p:sp>
          <p:nvSpPr>
            <p:cNvPr id="13" name="AutoShape 10"/>
            <p:cNvSpPr>
              <a:spLocks noChangeAspect="1" noChangeArrowheads="1"/>
            </p:cNvSpPr>
            <p:nvPr/>
          </p:nvSpPr>
          <p:spPr bwMode="auto">
            <a:xfrm>
              <a:off x="3187" y="1619"/>
              <a:ext cx="714" cy="419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Text Box 11"/>
            <p:cNvSpPr txBox="1">
              <a:spLocks noChangeAspect="1" noChangeArrowheads="1"/>
            </p:cNvSpPr>
            <p:nvPr/>
          </p:nvSpPr>
          <p:spPr bwMode="auto">
            <a:xfrm>
              <a:off x="3244" y="1720"/>
              <a:ext cx="612" cy="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8000" rIns="18000"/>
            <a:lstStyle/>
            <a:p>
              <a:pPr eaLnBrk="0" hangingPunct="0"/>
              <a:r>
                <a:rPr lang="ru-RU" sz="2000" b="1" dirty="0">
                  <a:latin typeface="Times New Roman" pitchFamily="18" charset="0"/>
                </a:rPr>
                <a:t>МОДЕЛЬ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5313040" y="3969929"/>
            <a:ext cx="4410490" cy="147732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ru-RU" dirty="0"/>
              <a:t>Основные </a:t>
            </a:r>
            <a:r>
              <a:rPr lang="ru-RU" b="1" dirty="0"/>
              <a:t>типы моделей</a:t>
            </a:r>
            <a:r>
              <a:rPr lang="ru-RU" dirty="0"/>
              <a:t>: </a:t>
            </a:r>
          </a:p>
          <a:p>
            <a:pPr algn="l">
              <a:buFont typeface="Arial" pitchFamily="34" charset="0"/>
              <a:buChar char="•"/>
            </a:pPr>
            <a:r>
              <a:rPr lang="ru-RU" dirty="0"/>
              <a:t>физические / </a:t>
            </a:r>
            <a:r>
              <a:rPr lang="ru-RU" i="1" dirty="0">
                <a:solidFill>
                  <a:srgbClr val="0033CC"/>
                </a:solidFill>
              </a:rPr>
              <a:t>математические</a:t>
            </a:r>
            <a:r>
              <a:rPr lang="ru-RU" dirty="0"/>
              <a:t>;</a:t>
            </a:r>
          </a:p>
          <a:p>
            <a:pPr algn="l">
              <a:buFont typeface="Arial" pitchFamily="34" charset="0"/>
              <a:buChar char="•"/>
            </a:pPr>
            <a:r>
              <a:rPr lang="ru-RU" dirty="0"/>
              <a:t>качественные / </a:t>
            </a:r>
            <a:r>
              <a:rPr lang="ru-RU" i="1" dirty="0">
                <a:solidFill>
                  <a:srgbClr val="0033CC"/>
                </a:solidFill>
              </a:rPr>
              <a:t>количественные или</a:t>
            </a:r>
            <a:r>
              <a:rPr lang="ru-RU" dirty="0"/>
              <a:t> 	            </a:t>
            </a:r>
            <a:r>
              <a:rPr lang="ru-RU" dirty="0">
                <a:solidFill>
                  <a:srgbClr val="0033CC"/>
                </a:solidFill>
              </a:rPr>
              <a:t>конструктивные</a:t>
            </a:r>
            <a:r>
              <a:rPr lang="ru-RU" dirty="0"/>
              <a:t>;</a:t>
            </a:r>
          </a:p>
          <a:p>
            <a:pPr algn="l">
              <a:buFont typeface="Arial" pitchFamily="34" charset="0"/>
              <a:buChar char="•"/>
            </a:pPr>
            <a:r>
              <a:rPr lang="ru-RU" dirty="0"/>
              <a:t>аналитические / </a:t>
            </a:r>
            <a:r>
              <a:rPr lang="ru-RU" i="1" dirty="0">
                <a:solidFill>
                  <a:srgbClr val="0033CC"/>
                </a:solidFill>
              </a:rPr>
              <a:t>имитационные</a:t>
            </a:r>
            <a:r>
              <a:rPr lang="ru-RU" dirty="0"/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470" y="3969929"/>
            <a:ext cx="4680520" cy="175432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ru-RU" b="1" dirty="0"/>
              <a:t>Исследование</a:t>
            </a:r>
            <a:r>
              <a:rPr lang="ru-RU" dirty="0"/>
              <a:t> систем предполагает:</a:t>
            </a:r>
          </a:p>
          <a:p>
            <a:pPr marL="342900" indent="-342900" algn="l">
              <a:buAutoNum type="arabicParenR"/>
            </a:pPr>
            <a:r>
              <a:rPr lang="ru-RU" dirty="0"/>
              <a:t>измерения на реальных системах;</a:t>
            </a:r>
          </a:p>
          <a:p>
            <a:pPr marL="342900" indent="-342900" algn="l">
              <a:buAutoNum type="arabicParenR"/>
            </a:pPr>
            <a:r>
              <a:rPr lang="ru-RU" dirty="0"/>
              <a:t>моделирование, когда измерения:</a:t>
            </a:r>
          </a:p>
          <a:p>
            <a:pPr marL="576000" lvl="2" algn="l">
              <a:buFont typeface="Arial" pitchFamily="34" charset="0"/>
              <a:buChar char="•"/>
            </a:pPr>
            <a:r>
              <a:rPr lang="ru-RU" dirty="0"/>
              <a:t>трудно выполнимы;</a:t>
            </a:r>
          </a:p>
          <a:p>
            <a:pPr marL="576000" lvl="2" algn="l">
              <a:buFont typeface="Arial" pitchFamily="34" charset="0"/>
              <a:buChar char="•"/>
            </a:pPr>
            <a:r>
              <a:rPr lang="ru-RU" dirty="0"/>
              <a:t>экономически невыгодны;</a:t>
            </a:r>
          </a:p>
          <a:p>
            <a:pPr marL="576000" lvl="2" algn="l">
              <a:buFont typeface="Arial" pitchFamily="34" charset="0"/>
              <a:buChar char="•"/>
            </a:pPr>
            <a:r>
              <a:rPr lang="ru-RU" dirty="0"/>
              <a:t>вообще невозможны.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0B48777A-34C6-45C8-810F-3DD40E914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95401"/>
            <a:ext cx="9518650" cy="81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1. ОБЩИЕ  ВОПРОСЫ МОДЕЛИРОВАНИЯ</a:t>
            </a:r>
          </a:p>
          <a:p>
            <a:pPr marL="342900" marR="0" lvl="0" indent="-34290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800" b="1" kern="0" dirty="0">
                <a:solidFill>
                  <a:srgbClr val="CC3300"/>
                </a:solidFill>
                <a:latin typeface="Times New Roman" pitchFamily="18" charset="0"/>
                <a:hlinkClick r:id="" action="ppaction://noaction"/>
              </a:rPr>
              <a:t>Введение</a:t>
            </a:r>
            <a:endParaRPr kumimoji="0" lang="ru-RU" sz="2800" b="1" i="0" u="none" strike="noStrike" kern="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  <a:hlinkClick r:id="" action="ppaction://noactio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5862D6-1C7C-4AE9-8BE8-95241E3B4D00}"/>
              </a:ext>
            </a:extLst>
          </p:cNvPr>
          <p:cNvSpPr txBox="1"/>
          <p:nvPr/>
        </p:nvSpPr>
        <p:spPr>
          <a:xfrm>
            <a:off x="5644893" y="1288575"/>
            <a:ext cx="40845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dirty="0"/>
              <a:t>Моделирование</a:t>
            </a:r>
            <a:r>
              <a:rPr lang="ru-RU" dirty="0"/>
              <a:t> – основа для </a:t>
            </a:r>
            <a:r>
              <a:rPr lang="ru-RU" i="1" dirty="0">
                <a:solidFill>
                  <a:srgbClr val="0033CC"/>
                </a:solidFill>
              </a:rPr>
              <a:t>исследования</a:t>
            </a:r>
            <a:r>
              <a:rPr lang="ru-RU" dirty="0"/>
              <a:t> систем, а именно: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ru-RU" dirty="0"/>
              <a:t>изучения свойств систем;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ru-RU" dirty="0"/>
              <a:t>анализа поведения систем;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ru-RU" dirty="0"/>
              <a:t>проектирования сложных систем;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ru-RU" sz="1800" dirty="0"/>
              <a:t>предсказания поведения системы (</a:t>
            </a:r>
            <a:r>
              <a:rPr lang="ru-RU" sz="1800" i="1" dirty="0">
                <a:solidFill>
                  <a:srgbClr val="0033CC"/>
                </a:solidFill>
              </a:rPr>
              <a:t>предиктивная</a:t>
            </a:r>
            <a:r>
              <a:rPr lang="ru-RU" sz="1800" i="1" dirty="0"/>
              <a:t> или предсказательная аналитика</a:t>
            </a:r>
            <a:r>
              <a:rPr lang="ru-RU" sz="1800" dirty="0"/>
              <a:t>).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7068235" y="6264315"/>
            <a:ext cx="2311400" cy="476250"/>
          </a:xfrm>
        </p:spPr>
        <p:txBody>
          <a:bodyPr/>
          <a:lstStyle/>
          <a:p>
            <a:pPr>
              <a:defRPr/>
            </a:pPr>
            <a:fld id="{46908D93-475E-4C84-BCD4-79A3215EF541}" type="slidenum">
              <a:rPr lang="ru-RU" smtClean="0"/>
              <a:pPr>
                <a:defRPr/>
              </a:pPr>
              <a:t>6</a:t>
            </a:fld>
            <a:endParaRPr lang="ru-RU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93675" y="184150"/>
            <a:ext cx="9518650" cy="65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Раздел 1. ОБЩИЕ  ВОПРОСЫ МОДЕЛИРОВАНИЯ</a:t>
            </a:r>
            <a:endParaRPr kumimoji="0" lang="ru-RU" sz="2800" b="1" i="0" u="none" strike="noStrike" kern="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  <a:hlinkClick r:id="" action="ppaction://noaction"/>
            </a:endParaRPr>
          </a:p>
        </p:txBody>
      </p:sp>
      <p:grpSp>
        <p:nvGrpSpPr>
          <p:cNvPr id="8" name="Group 12"/>
          <p:cNvGrpSpPr>
            <a:grpSpLocks/>
          </p:cNvGrpSpPr>
          <p:nvPr/>
        </p:nvGrpSpPr>
        <p:grpSpPr bwMode="auto">
          <a:xfrm>
            <a:off x="407495" y="635116"/>
            <a:ext cx="9000999" cy="2147908"/>
            <a:chOff x="960" y="1440"/>
            <a:chExt cx="3626" cy="864"/>
          </a:xfrm>
        </p:grpSpPr>
        <p:sp>
          <p:nvSpPr>
            <p:cNvPr id="9" name="Rectangle 5"/>
            <p:cNvSpPr>
              <a:spLocks noChangeAspect="1" noChangeArrowheads="1"/>
            </p:cNvSpPr>
            <p:nvPr/>
          </p:nvSpPr>
          <p:spPr bwMode="auto">
            <a:xfrm>
              <a:off x="960" y="1440"/>
              <a:ext cx="3626" cy="86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AutoShape 7"/>
            <p:cNvSpPr>
              <a:spLocks noChangeAspect="1" noChangeArrowheads="1"/>
            </p:cNvSpPr>
            <p:nvPr/>
          </p:nvSpPr>
          <p:spPr bwMode="auto">
            <a:xfrm>
              <a:off x="1178" y="1531"/>
              <a:ext cx="1049" cy="635"/>
            </a:xfrm>
            <a:prstGeom prst="plaque">
              <a:avLst>
                <a:gd name="adj" fmla="val 16667"/>
              </a:avLst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ru-RU"/>
            </a:p>
          </p:txBody>
        </p:sp>
        <p:sp>
          <p:nvSpPr>
            <p:cNvPr id="11" name="Text Box 8"/>
            <p:cNvSpPr txBox="1">
              <a:spLocks noChangeAspect="1" noChangeArrowheads="1"/>
            </p:cNvSpPr>
            <p:nvPr/>
          </p:nvSpPr>
          <p:spPr bwMode="auto">
            <a:xfrm>
              <a:off x="1180" y="1572"/>
              <a:ext cx="1046" cy="5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ru-RU" sz="2000" b="1" dirty="0">
                  <a:latin typeface="Times New Roman" pitchFamily="18" charset="0"/>
                </a:rPr>
                <a:t>ИСХОДНЫЙ</a:t>
              </a:r>
              <a:r>
                <a:rPr lang="ru-RU" sz="2000" dirty="0">
                  <a:latin typeface="Times New Roman" pitchFamily="18" charset="0"/>
                </a:rPr>
                <a:t> </a:t>
              </a:r>
              <a:r>
                <a:rPr lang="ru-RU" sz="2000" b="1" dirty="0">
                  <a:latin typeface="Times New Roman" pitchFamily="18" charset="0"/>
                </a:rPr>
                <a:t>ОБЪЕКТ</a:t>
              </a:r>
              <a:endParaRPr lang="ru-RU" sz="2000" dirty="0">
                <a:latin typeface="Times New Roman" pitchFamily="18" charset="0"/>
              </a:endParaRPr>
            </a:p>
            <a:p>
              <a:pPr eaLnBrk="0" hangingPunct="0"/>
              <a:r>
                <a:rPr lang="ru-RU" sz="2000" i="1" dirty="0">
                  <a:latin typeface="Times New Roman" pitchFamily="18" charset="0"/>
                </a:rPr>
                <a:t>(</a:t>
              </a:r>
              <a:r>
                <a:rPr lang="ru-RU" sz="2000" b="1" u="sng" dirty="0">
                  <a:solidFill>
                    <a:srgbClr val="0033CC"/>
                  </a:solidFill>
                  <a:latin typeface="Times New Roman" pitchFamily="18" charset="0"/>
                </a:rPr>
                <a:t>система</a:t>
              </a:r>
              <a:r>
                <a:rPr lang="ru-RU" sz="2000" i="1" dirty="0">
                  <a:latin typeface="Times New Roman" pitchFamily="18" charset="0"/>
                </a:rPr>
                <a:t>,</a:t>
              </a:r>
            </a:p>
            <a:p>
              <a:pPr eaLnBrk="0" hangingPunct="0"/>
              <a:r>
                <a:rPr lang="ru-RU" sz="2000" b="1" i="1" dirty="0">
                  <a:latin typeface="Times New Roman" pitchFamily="18" charset="0"/>
                </a:rPr>
                <a:t>процесс</a:t>
              </a:r>
              <a:r>
                <a:rPr lang="ru-RU" sz="2000" i="1" dirty="0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12" name="AutoShape 9"/>
            <p:cNvSpPr>
              <a:spLocks noChangeAspect="1" noChangeArrowheads="1"/>
            </p:cNvSpPr>
            <p:nvPr/>
          </p:nvSpPr>
          <p:spPr bwMode="auto">
            <a:xfrm>
              <a:off x="2356" y="1766"/>
              <a:ext cx="746" cy="150"/>
            </a:xfrm>
            <a:prstGeom prst="rightArrow">
              <a:avLst>
                <a:gd name="adj1" fmla="val 50000"/>
                <a:gd name="adj2" fmla="val 87167"/>
              </a:avLst>
            </a:prstGeom>
            <a:solidFill>
              <a:srgbClr val="FF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AutoShape 10"/>
            <p:cNvSpPr>
              <a:spLocks noChangeAspect="1" noChangeArrowheads="1"/>
            </p:cNvSpPr>
            <p:nvPr/>
          </p:nvSpPr>
          <p:spPr bwMode="auto">
            <a:xfrm>
              <a:off x="3187" y="1541"/>
              <a:ext cx="1036" cy="614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Text Box 11"/>
            <p:cNvSpPr txBox="1">
              <a:spLocks noChangeAspect="1" noChangeArrowheads="1"/>
            </p:cNvSpPr>
            <p:nvPr/>
          </p:nvSpPr>
          <p:spPr bwMode="auto">
            <a:xfrm>
              <a:off x="3187" y="1607"/>
              <a:ext cx="1036" cy="4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8000" rIns="18000"/>
            <a:lstStyle/>
            <a:p>
              <a:pPr eaLnBrk="0" hangingPunct="0"/>
              <a:r>
                <a:rPr lang="ru-RU" sz="2000" b="1" dirty="0">
                  <a:latin typeface="Times New Roman" pitchFamily="18" charset="0"/>
                </a:rPr>
                <a:t>МОДЕЛЬ: </a:t>
              </a:r>
              <a:r>
                <a:rPr lang="ru-RU" sz="2000" i="1" dirty="0">
                  <a:latin typeface="Times New Roman" pitchFamily="18" charset="0"/>
                </a:rPr>
                <a:t>аналитическая (АМ), имитационная (ИМ</a:t>
              </a:r>
              <a:r>
                <a:rPr lang="ru-RU" sz="2000" dirty="0">
                  <a:latin typeface="Times New Roman" pitchFamily="18" charset="0"/>
                </a:rPr>
                <a:t>)</a:t>
              </a:r>
            </a:p>
          </p:txBody>
        </p:sp>
      </p:grpSp>
      <p:sp>
        <p:nvSpPr>
          <p:cNvPr id="58" name="Стрелка вниз 57"/>
          <p:cNvSpPr/>
          <p:nvPr/>
        </p:nvSpPr>
        <p:spPr bwMode="auto">
          <a:xfrm>
            <a:off x="1937665" y="2618910"/>
            <a:ext cx="585065" cy="81009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52" name="Группа 51"/>
          <p:cNvGrpSpPr/>
          <p:nvPr/>
        </p:nvGrpSpPr>
        <p:grpSpPr>
          <a:xfrm>
            <a:off x="4232920" y="3113965"/>
            <a:ext cx="5490610" cy="1080120"/>
            <a:chOff x="4232920" y="3113965"/>
            <a:chExt cx="5490610" cy="1080120"/>
          </a:xfrm>
        </p:grpSpPr>
        <p:sp>
          <p:nvSpPr>
            <p:cNvPr id="39" name="Прямоугольник 38"/>
            <p:cNvSpPr/>
            <p:nvPr/>
          </p:nvSpPr>
          <p:spPr bwMode="auto">
            <a:xfrm>
              <a:off x="5223030" y="3113965"/>
              <a:ext cx="4500500" cy="1080120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322930" y="3474005"/>
              <a:ext cx="63007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ru-RU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АМ</a:t>
              </a:r>
            </a:p>
          </p:txBody>
        </p:sp>
        <p:sp>
          <p:nvSpPr>
            <p:cNvPr id="45" name="Стрелка вправо 44"/>
            <p:cNvSpPr/>
            <p:nvPr/>
          </p:nvSpPr>
          <p:spPr bwMode="auto">
            <a:xfrm>
              <a:off x="4232920" y="3744035"/>
              <a:ext cx="810090" cy="315035"/>
            </a:xfrm>
            <a:prstGeom prst="rightArrow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55" name="Группа 54"/>
          <p:cNvGrpSpPr/>
          <p:nvPr/>
        </p:nvGrpSpPr>
        <p:grpSpPr>
          <a:xfrm>
            <a:off x="272480" y="3609020"/>
            <a:ext cx="3870430" cy="1980220"/>
            <a:chOff x="272480" y="3609020"/>
            <a:chExt cx="3870430" cy="1980220"/>
          </a:xfrm>
        </p:grpSpPr>
        <p:grpSp>
          <p:nvGrpSpPr>
            <p:cNvPr id="56" name="Группа 55"/>
            <p:cNvGrpSpPr/>
            <p:nvPr/>
          </p:nvGrpSpPr>
          <p:grpSpPr>
            <a:xfrm>
              <a:off x="362490" y="3654025"/>
              <a:ext cx="3719593" cy="1842489"/>
              <a:chOff x="2792760" y="4014065"/>
              <a:chExt cx="3719593" cy="1842489"/>
            </a:xfrm>
          </p:grpSpPr>
          <p:sp>
            <p:nvSpPr>
              <p:cNvPr id="16" name="Oval 24"/>
              <p:cNvSpPr>
                <a:spLocks noChangeAspect="1" noChangeArrowheads="1"/>
              </p:cNvSpPr>
              <p:nvPr/>
            </p:nvSpPr>
            <p:spPr bwMode="auto">
              <a:xfrm>
                <a:off x="4052900" y="4014065"/>
                <a:ext cx="704258" cy="627354"/>
              </a:xfrm>
              <a:prstGeom prst="ellipse">
                <a:avLst/>
              </a:prstGeom>
              <a:solidFill>
                <a:srgbClr val="EAEAEA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spcAft>
                    <a:spcPts val="600"/>
                  </a:spcAft>
                </a:pPr>
                <a:r>
                  <a:rPr lang="ru-RU" sz="1400" dirty="0"/>
                  <a:t>Э2</a:t>
                </a:r>
                <a:endParaRPr lang="ru-RU" dirty="0"/>
              </a:p>
            </p:txBody>
          </p:sp>
          <p:sp>
            <p:nvSpPr>
              <p:cNvPr id="17" name="Oval 25"/>
              <p:cNvSpPr>
                <a:spLocks noChangeAspect="1" noChangeArrowheads="1"/>
              </p:cNvSpPr>
              <p:nvPr/>
            </p:nvSpPr>
            <p:spPr bwMode="auto">
              <a:xfrm>
                <a:off x="4074043" y="5196707"/>
                <a:ext cx="704258" cy="627354"/>
              </a:xfrm>
              <a:prstGeom prst="ellipse">
                <a:avLst/>
              </a:prstGeom>
              <a:solidFill>
                <a:srgbClr val="EAEAEA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spcAft>
                    <a:spcPts val="600"/>
                  </a:spcAft>
                </a:pPr>
                <a:r>
                  <a:rPr lang="ru-RU" sz="1400" dirty="0"/>
                  <a:t>Э3</a:t>
                </a:r>
                <a:endParaRPr lang="ru-RU" dirty="0"/>
              </a:p>
            </p:txBody>
          </p:sp>
          <p:sp>
            <p:nvSpPr>
              <p:cNvPr id="18" name="Text Box 26"/>
              <p:cNvSpPr txBox="1">
                <a:spLocks noChangeArrowheads="1"/>
              </p:cNvSpPr>
              <p:nvPr/>
            </p:nvSpPr>
            <p:spPr bwMode="auto">
              <a:xfrm>
                <a:off x="3688650" y="4779150"/>
                <a:ext cx="435860" cy="3360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18000" tIns="10800" rIns="18000" bIns="10800"/>
              <a:lstStyle/>
              <a:p>
                <a:endParaRPr lang="ru-RU"/>
              </a:p>
            </p:txBody>
          </p:sp>
          <p:sp>
            <p:nvSpPr>
              <p:cNvPr id="25" name="Oval 33"/>
              <p:cNvSpPr>
                <a:spLocks noChangeAspect="1" noChangeArrowheads="1"/>
              </p:cNvSpPr>
              <p:nvPr/>
            </p:nvSpPr>
            <p:spPr bwMode="auto">
              <a:xfrm>
                <a:off x="5673080" y="4104075"/>
                <a:ext cx="704258" cy="627354"/>
              </a:xfrm>
              <a:prstGeom prst="ellipse">
                <a:avLst/>
              </a:prstGeom>
              <a:solidFill>
                <a:srgbClr val="EAEAEA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spcAft>
                    <a:spcPts val="600"/>
                  </a:spcAft>
                </a:pPr>
                <a:r>
                  <a:rPr lang="ru-RU" sz="1400" dirty="0"/>
                  <a:t>Э4</a:t>
                </a:r>
                <a:endParaRPr lang="ru-RU" dirty="0"/>
              </a:p>
            </p:txBody>
          </p:sp>
          <p:sp>
            <p:nvSpPr>
              <p:cNvPr id="27" name="Text Box 35"/>
              <p:cNvSpPr txBox="1">
                <a:spLocks noChangeArrowheads="1"/>
              </p:cNvSpPr>
              <p:nvPr/>
            </p:nvSpPr>
            <p:spPr bwMode="auto">
              <a:xfrm>
                <a:off x="3551010" y="5243555"/>
                <a:ext cx="435860" cy="3360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18000" tIns="10800" rIns="18000" bIns="10800"/>
              <a:lstStyle/>
              <a:p>
                <a:endParaRPr lang="ru-RU"/>
              </a:p>
            </p:txBody>
          </p:sp>
          <p:sp>
            <p:nvSpPr>
              <p:cNvPr id="24" name="Oval 32"/>
              <p:cNvSpPr>
                <a:spLocks noChangeAspect="1" noChangeArrowheads="1"/>
              </p:cNvSpPr>
              <p:nvPr/>
            </p:nvSpPr>
            <p:spPr bwMode="auto">
              <a:xfrm>
                <a:off x="2792760" y="4554125"/>
                <a:ext cx="704258" cy="625317"/>
              </a:xfrm>
              <a:prstGeom prst="ellipse">
                <a:avLst/>
              </a:prstGeom>
              <a:solidFill>
                <a:srgbClr val="EAEAEA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spcAft>
                    <a:spcPts val="600"/>
                  </a:spcAft>
                </a:pPr>
                <a:r>
                  <a:rPr lang="ru-RU" sz="1400" dirty="0"/>
                  <a:t>Э1</a:t>
                </a:r>
                <a:endParaRPr lang="ru-RU" dirty="0"/>
              </a:p>
            </p:txBody>
          </p:sp>
          <p:cxnSp>
            <p:nvCxnSpPr>
              <p:cNvPr id="34" name="Прямая соединительная линия 33"/>
              <p:cNvCxnSpPr>
                <a:stCxn id="16" idx="4"/>
                <a:endCxn id="17" idx="0"/>
              </p:cNvCxnSpPr>
              <p:nvPr/>
            </p:nvCxnSpPr>
            <p:spPr bwMode="auto">
              <a:xfrm>
                <a:off x="4405029" y="4641419"/>
                <a:ext cx="21143" cy="55528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6" name="Прямая соединительная линия 35"/>
              <p:cNvCxnSpPr>
                <a:stCxn id="16" idx="6"/>
                <a:endCxn id="25" idx="2"/>
              </p:cNvCxnSpPr>
              <p:nvPr/>
            </p:nvCxnSpPr>
            <p:spPr bwMode="auto">
              <a:xfrm>
                <a:off x="4757158" y="4327742"/>
                <a:ext cx="915922" cy="9001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8" name="Прямая соединительная линия 37"/>
              <p:cNvCxnSpPr>
                <a:stCxn id="24" idx="7"/>
                <a:endCxn id="16" idx="2"/>
              </p:cNvCxnSpPr>
              <p:nvPr/>
            </p:nvCxnSpPr>
            <p:spPr bwMode="auto">
              <a:xfrm flipV="1">
                <a:off x="3393882" y="4327742"/>
                <a:ext cx="659018" cy="31795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1" name="Прямая соединительная линия 40"/>
              <p:cNvCxnSpPr>
                <a:stCxn id="24" idx="5"/>
                <a:endCxn id="17" idx="2"/>
              </p:cNvCxnSpPr>
              <p:nvPr/>
            </p:nvCxnSpPr>
            <p:spPr bwMode="auto">
              <a:xfrm>
                <a:off x="3393882" y="5087867"/>
                <a:ext cx="680161" cy="422517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3" name="Прямая со стрелкой 42"/>
              <p:cNvCxnSpPr>
                <a:stCxn id="17" idx="7"/>
                <a:endCxn id="25" idx="3"/>
              </p:cNvCxnSpPr>
              <p:nvPr/>
            </p:nvCxnSpPr>
            <p:spPr bwMode="auto">
              <a:xfrm flipV="1">
                <a:off x="4675165" y="4639555"/>
                <a:ext cx="1101051" cy="64902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46" name="Oval 33"/>
              <p:cNvSpPr>
                <a:spLocks noChangeAspect="1" noChangeArrowheads="1"/>
              </p:cNvSpPr>
              <p:nvPr/>
            </p:nvSpPr>
            <p:spPr bwMode="auto">
              <a:xfrm>
                <a:off x="5808095" y="5229200"/>
                <a:ext cx="704258" cy="627354"/>
              </a:xfrm>
              <a:prstGeom prst="ellipse">
                <a:avLst/>
              </a:prstGeom>
              <a:solidFill>
                <a:srgbClr val="EAEAEA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spcAft>
                    <a:spcPts val="600"/>
                  </a:spcAft>
                </a:pPr>
                <a:r>
                  <a:rPr lang="ru-RU" sz="1400" dirty="0"/>
                  <a:t>Э5</a:t>
                </a:r>
                <a:endParaRPr lang="ru-RU" dirty="0"/>
              </a:p>
            </p:txBody>
          </p:sp>
          <p:cxnSp>
            <p:nvCxnSpPr>
              <p:cNvPr id="48" name="Прямая соединительная линия 47"/>
              <p:cNvCxnSpPr>
                <a:stCxn id="17" idx="6"/>
                <a:endCxn id="46" idx="2"/>
              </p:cNvCxnSpPr>
              <p:nvPr/>
            </p:nvCxnSpPr>
            <p:spPr bwMode="auto">
              <a:xfrm>
                <a:off x="4778301" y="5510384"/>
                <a:ext cx="1029794" cy="3249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0" name="Прямая соединительная линия 49"/>
              <p:cNvCxnSpPr>
                <a:stCxn id="25" idx="4"/>
                <a:endCxn id="46" idx="0"/>
              </p:cNvCxnSpPr>
              <p:nvPr/>
            </p:nvCxnSpPr>
            <p:spPr bwMode="auto">
              <a:xfrm>
                <a:off x="6025209" y="4731429"/>
                <a:ext cx="135015" cy="497771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49" name="Прямоугольник 48"/>
            <p:cNvSpPr/>
            <p:nvPr/>
          </p:nvSpPr>
          <p:spPr bwMode="auto">
            <a:xfrm>
              <a:off x="272480" y="3609020"/>
              <a:ext cx="3870430" cy="198022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54" name="Группа 53"/>
          <p:cNvGrpSpPr/>
          <p:nvPr/>
        </p:nvGrpSpPr>
        <p:grpSpPr>
          <a:xfrm>
            <a:off x="4232920" y="4329100"/>
            <a:ext cx="5490610" cy="1815882"/>
            <a:chOff x="4232920" y="4329100"/>
            <a:chExt cx="5490610" cy="1815882"/>
          </a:xfrm>
        </p:grpSpPr>
        <p:sp>
          <p:nvSpPr>
            <p:cNvPr id="47" name="Стрелка вправо 46"/>
            <p:cNvSpPr/>
            <p:nvPr/>
          </p:nvSpPr>
          <p:spPr bwMode="auto">
            <a:xfrm>
              <a:off x="4232920" y="5049180"/>
              <a:ext cx="810090" cy="315035"/>
            </a:xfrm>
            <a:prstGeom prst="rightArrow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grpSp>
          <p:nvGrpSpPr>
            <p:cNvPr id="53" name="Группа 52"/>
            <p:cNvGrpSpPr/>
            <p:nvPr/>
          </p:nvGrpSpPr>
          <p:grpSpPr>
            <a:xfrm>
              <a:off x="4277925" y="4329100"/>
              <a:ext cx="5445605" cy="1815882"/>
              <a:chOff x="4277925" y="4329100"/>
              <a:chExt cx="5445605" cy="1815882"/>
            </a:xfrm>
          </p:grpSpPr>
          <p:sp>
            <p:nvSpPr>
              <p:cNvPr id="35" name="Прямоугольник 34"/>
              <p:cNvSpPr/>
              <p:nvPr/>
            </p:nvSpPr>
            <p:spPr>
              <a:xfrm>
                <a:off x="5223030" y="4329100"/>
                <a:ext cx="4500500" cy="1815882"/>
              </a:xfrm>
              <a:prstGeom prst="rect">
                <a:avLst/>
              </a:prstGeom>
              <a:solidFill>
                <a:srgbClr val="99FF99">
                  <a:alpha val="44000"/>
                </a:srgbClr>
              </a:solidFill>
              <a:ln w="9525">
                <a:solidFill>
                  <a:schemeClr val="tx1"/>
                </a:solidFill>
                <a:prstDash val="dash"/>
              </a:ln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1400" dirty="0"/>
                  <a:t>STORAGE	5	</a:t>
                </a:r>
              </a:p>
              <a:p>
                <a:pPr algn="l"/>
                <a:r>
                  <a:rPr lang="ru-RU" sz="1400" dirty="0"/>
                  <a:t>GENERATE	(</a:t>
                </a:r>
                <a:r>
                  <a:rPr lang="en-US" sz="1400" dirty="0"/>
                  <a:t>exponential(33,0,10))</a:t>
                </a:r>
                <a:r>
                  <a:rPr lang="ru-RU" sz="1400" dirty="0"/>
                  <a:t> </a:t>
                </a:r>
                <a:endParaRPr lang="en-US" sz="1400" dirty="0"/>
              </a:p>
              <a:p>
                <a:pPr algn="l"/>
                <a:r>
                  <a:rPr lang="ru-RU" sz="1400" dirty="0"/>
                  <a:t>QUEUE		</a:t>
                </a:r>
                <a:r>
                  <a:rPr lang="en-US" sz="1400" dirty="0" err="1"/>
                  <a:t>stu</a:t>
                </a:r>
                <a:r>
                  <a:rPr lang="en-US" sz="1400" dirty="0"/>
                  <a:t>_</a:t>
                </a:r>
                <a:r>
                  <a:rPr lang="ru-RU" sz="1400" dirty="0"/>
                  <a:t>1</a:t>
                </a:r>
              </a:p>
              <a:p>
                <a:pPr algn="l"/>
                <a:r>
                  <a:rPr lang="en-US" sz="1400" dirty="0"/>
                  <a:t>ENTER</a:t>
                </a:r>
                <a:r>
                  <a:rPr lang="ru-RU" sz="1400" dirty="0"/>
                  <a:t>		</a:t>
                </a:r>
                <a:r>
                  <a:rPr lang="en-US" sz="1400" dirty="0" err="1"/>
                  <a:t>pri_m</a:t>
                </a:r>
                <a:endParaRPr lang="ru-RU" sz="1400" dirty="0"/>
              </a:p>
              <a:p>
                <a:pPr algn="l"/>
                <a:r>
                  <a:rPr lang="ru-RU" sz="1400" dirty="0"/>
                  <a:t>DEPART		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stu</a:t>
                </a:r>
                <a:r>
                  <a:rPr lang="en-US" sz="1400" dirty="0"/>
                  <a:t>_</a:t>
                </a:r>
                <a:r>
                  <a:rPr lang="ru-RU" sz="1400" dirty="0"/>
                  <a:t>1</a:t>
                </a:r>
              </a:p>
              <a:p>
                <a:pPr algn="l"/>
                <a:r>
                  <a:rPr lang="ru-RU" sz="1400" dirty="0"/>
                  <a:t>ADVANCE	 	(</a:t>
                </a:r>
                <a:r>
                  <a:rPr lang="en-US" sz="1400" dirty="0"/>
                  <a:t>uniform(99,15,65))</a:t>
                </a:r>
                <a:endParaRPr lang="ru-RU" sz="1400" dirty="0"/>
              </a:p>
              <a:p>
                <a:pPr algn="l"/>
                <a:r>
                  <a:rPr lang="en-US" sz="1400" dirty="0"/>
                  <a:t>LEAV</a:t>
                </a:r>
                <a:r>
                  <a:rPr lang="ru-RU" sz="1400" dirty="0"/>
                  <a:t>E	</a:t>
                </a:r>
                <a:r>
                  <a:rPr lang="en-US" sz="1400" dirty="0"/>
                  <a:t>	 </a:t>
                </a:r>
                <a:r>
                  <a:rPr lang="en-US" sz="1400" dirty="0" err="1"/>
                  <a:t>pri_m</a:t>
                </a:r>
                <a:endParaRPr lang="ru-RU" sz="1400" dirty="0"/>
              </a:p>
              <a:p>
                <a:pPr algn="l"/>
                <a:r>
                  <a:rPr lang="ru-RU" sz="1400" dirty="0"/>
                  <a:t>TERMINATE 	1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4277925" y="4769858"/>
                <a:ext cx="63007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ИМ</a:t>
                </a:r>
              </a:p>
            </p:txBody>
          </p:sp>
        </p:grpSp>
      </p:grpSp>
      <p:sp>
        <p:nvSpPr>
          <p:cNvPr id="44" name="Стрелка вниз 43"/>
          <p:cNvSpPr/>
          <p:nvPr/>
        </p:nvSpPr>
        <p:spPr bwMode="auto">
          <a:xfrm>
            <a:off x="6978225" y="2528900"/>
            <a:ext cx="585065" cy="495055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59" name="Object 3">
            <a:extLst>
              <a:ext uri="{FF2B5EF4-FFF2-40B4-BE49-F238E27FC236}">
                <a16:creationId xmlns:a16="http://schemas.microsoft.com/office/drawing/2014/main" id="{5A5895DC-BDCC-FD6A-EC55-6A7079D5A9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58368" y="3203975"/>
          <a:ext cx="4275152" cy="877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124200" imgH="762000" progId="">
                  <p:embed/>
                </p:oleObj>
              </mc:Choice>
              <mc:Fallback>
                <p:oleObj r:id="rId2" imgW="3124200" imgH="762000" progId="">
                  <p:embed/>
                  <p:pic>
                    <p:nvPicPr>
                      <p:cNvPr id="102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8368" y="3203975"/>
                        <a:ext cx="4275152" cy="8771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4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F91B9D5-C73C-4E07-905F-F24B9F841C17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3082" name="Rectangle 10"/>
          <p:cNvSpPr>
            <a:spLocks noChangeArrowheads="1"/>
          </p:cNvSpPr>
          <p:nvPr/>
        </p:nvSpPr>
        <p:spPr bwMode="auto">
          <a:xfrm>
            <a:off x="271462" y="447055"/>
            <a:ext cx="93630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b="1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понятия</a:t>
            </a:r>
          </a:p>
        </p:txBody>
      </p:sp>
      <p:sp>
        <p:nvSpPr>
          <p:cNvPr id="10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241550" y="6245225"/>
            <a:ext cx="5022850" cy="476250"/>
          </a:xfrm>
          <a:noFill/>
        </p:spPr>
        <p:txBody>
          <a:bodyPr/>
          <a:lstStyle/>
          <a:p>
            <a:r>
              <a:rPr lang="ru-RU" i="1"/>
              <a:t>«Моделирование»</a:t>
            </a:r>
            <a:endParaRPr lang="ru-RU" i="1" dirty="0"/>
          </a:p>
        </p:txBody>
      </p:sp>
      <p:sp>
        <p:nvSpPr>
          <p:cNvPr id="113678" name="Rectangle 14"/>
          <p:cNvSpPr>
            <a:spLocks noChangeArrowheads="1"/>
          </p:cNvSpPr>
          <p:nvPr/>
        </p:nvSpPr>
        <p:spPr bwMode="auto">
          <a:xfrm>
            <a:off x="5039366" y="1682598"/>
            <a:ext cx="3964078" cy="1235189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54000" tIns="45720" rIns="54000" bIns="108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Arial" pitchFamily="34" charset="0"/>
              </a:rPr>
              <a:t>Сложная (большая) 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Arial" pitchFamily="34" charset="0"/>
              </a:rPr>
              <a:t>система</a:t>
            </a:r>
            <a:endParaRPr kumimoji="0" 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5125" name="Группа 5124">
            <a:extLst>
              <a:ext uri="{FF2B5EF4-FFF2-40B4-BE49-F238E27FC236}">
                <a16:creationId xmlns:a16="http://schemas.microsoft.com/office/drawing/2014/main" id="{67D4DD19-C159-AAA1-BCBF-974FC84E9480}"/>
              </a:ext>
            </a:extLst>
          </p:cNvPr>
          <p:cNvGrpSpPr/>
          <p:nvPr/>
        </p:nvGrpSpPr>
        <p:grpSpPr>
          <a:xfrm>
            <a:off x="1142473" y="3629052"/>
            <a:ext cx="7101902" cy="2230218"/>
            <a:chOff x="1142473" y="3269012"/>
            <a:chExt cx="7101902" cy="2230218"/>
          </a:xfrm>
        </p:grpSpPr>
        <p:cxnSp>
          <p:nvCxnSpPr>
            <p:cNvPr id="113667" name="AutoShape 3"/>
            <p:cNvCxnSpPr>
              <a:cxnSpLocks noChangeShapeType="1"/>
            </p:cNvCxnSpPr>
            <p:nvPr/>
          </p:nvCxnSpPr>
          <p:spPr bwMode="auto">
            <a:xfrm>
              <a:off x="2038320" y="3588987"/>
              <a:ext cx="0" cy="48070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113668" name="Rectangle 4"/>
            <p:cNvSpPr>
              <a:spLocks noChangeArrowheads="1"/>
            </p:cNvSpPr>
            <p:nvPr/>
          </p:nvSpPr>
          <p:spPr bwMode="auto">
            <a:xfrm>
              <a:off x="1142473" y="4069690"/>
              <a:ext cx="1748446" cy="4272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Структура</a:t>
              </a:r>
              <a:endPara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13669" name="AutoShape 5"/>
            <p:cNvCxnSpPr>
              <a:cxnSpLocks noChangeShapeType="1"/>
            </p:cNvCxnSpPr>
            <p:nvPr/>
          </p:nvCxnSpPr>
          <p:spPr bwMode="auto">
            <a:xfrm>
              <a:off x="3139079" y="3277898"/>
              <a:ext cx="0" cy="331122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13670" name="AutoShape 6"/>
            <p:cNvCxnSpPr>
              <a:cxnSpLocks noChangeShapeType="1"/>
            </p:cNvCxnSpPr>
            <p:nvPr/>
          </p:nvCxnSpPr>
          <p:spPr bwMode="auto">
            <a:xfrm>
              <a:off x="2022874" y="4496982"/>
              <a:ext cx="0" cy="437084"/>
            </a:xfrm>
            <a:prstGeom prst="straightConnector1">
              <a:avLst/>
            </a:prstGeom>
            <a:noFill/>
            <a:ln w="15875">
              <a:solidFill>
                <a:srgbClr val="000000"/>
              </a:solidFill>
              <a:prstDash val="sysDash"/>
              <a:round/>
              <a:headEnd/>
              <a:tailEnd/>
            </a:ln>
          </p:spPr>
        </p:cxnSp>
        <p:sp>
          <p:nvSpPr>
            <p:cNvPr id="113671" name="Rectangle 7"/>
            <p:cNvSpPr>
              <a:spLocks noChangeArrowheads="1"/>
            </p:cNvSpPr>
            <p:nvPr/>
          </p:nvSpPr>
          <p:spPr bwMode="auto">
            <a:xfrm>
              <a:off x="1180572" y="4880655"/>
              <a:ext cx="1722703" cy="427292"/>
            </a:xfrm>
            <a:prstGeom prst="rect">
              <a:avLst/>
            </a:prstGeom>
            <a:solidFill>
              <a:srgbClr val="99FF99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45720" rIns="1800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Структурная</a:t>
              </a:r>
              <a:endParaRPr kumimoji="0" 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3672" name="Rectangle 8"/>
            <p:cNvSpPr>
              <a:spLocks noChangeArrowheads="1"/>
            </p:cNvSpPr>
            <p:nvPr/>
          </p:nvSpPr>
          <p:spPr bwMode="auto">
            <a:xfrm>
              <a:off x="3388268" y="4069690"/>
              <a:ext cx="1686663" cy="4272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Функция</a:t>
              </a:r>
              <a:endParaRPr kumimoji="0" 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3673" name="Rectangle 9"/>
            <p:cNvSpPr>
              <a:spLocks noChangeArrowheads="1"/>
            </p:cNvSpPr>
            <p:nvPr/>
          </p:nvSpPr>
          <p:spPr bwMode="auto">
            <a:xfrm>
              <a:off x="3088623" y="4880655"/>
              <a:ext cx="2221082" cy="427292"/>
            </a:xfrm>
            <a:prstGeom prst="rect">
              <a:avLst/>
            </a:prstGeom>
            <a:solidFill>
              <a:srgbClr val="99FF99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45720" rIns="1800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Функциональная</a:t>
              </a:r>
              <a:endParaRPr kumimoji="0" 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13674" name="AutoShape 10"/>
            <p:cNvCxnSpPr>
              <a:cxnSpLocks noChangeShapeType="1"/>
            </p:cNvCxnSpPr>
            <p:nvPr/>
          </p:nvCxnSpPr>
          <p:spPr bwMode="auto">
            <a:xfrm>
              <a:off x="4253224" y="3588987"/>
              <a:ext cx="0" cy="48070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113675" name="Rectangle 11"/>
            <p:cNvSpPr>
              <a:spLocks noChangeArrowheads="1"/>
            </p:cNvSpPr>
            <p:nvPr/>
          </p:nvSpPr>
          <p:spPr bwMode="auto">
            <a:xfrm>
              <a:off x="6341473" y="4448912"/>
              <a:ext cx="1902902" cy="427292"/>
            </a:xfrm>
            <a:prstGeom prst="rect">
              <a:avLst/>
            </a:prstGeom>
            <a:solidFill>
              <a:srgbClr val="99FF99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45720" rIns="1800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Организация</a:t>
              </a:r>
              <a:endParaRPr kumimoji="0" 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13676" name="AutoShape 12"/>
            <p:cNvCxnSpPr>
              <a:cxnSpLocks noChangeShapeType="1"/>
            </p:cNvCxnSpPr>
            <p:nvPr/>
          </p:nvCxnSpPr>
          <p:spPr bwMode="auto">
            <a:xfrm>
              <a:off x="4253224" y="4496982"/>
              <a:ext cx="0" cy="383673"/>
            </a:xfrm>
            <a:prstGeom prst="straightConnector1">
              <a:avLst/>
            </a:prstGeom>
            <a:noFill/>
            <a:ln w="15875">
              <a:solidFill>
                <a:srgbClr val="000000"/>
              </a:solidFill>
              <a:prstDash val="sysDash"/>
              <a:round/>
              <a:headEnd/>
              <a:tailEnd/>
            </a:ln>
          </p:spPr>
        </p:cxnSp>
        <p:sp>
          <p:nvSpPr>
            <p:cNvPr id="113684" name="Line 20"/>
            <p:cNvSpPr>
              <a:spLocks noChangeShapeType="1"/>
            </p:cNvSpPr>
            <p:nvPr/>
          </p:nvSpPr>
          <p:spPr bwMode="auto">
            <a:xfrm>
              <a:off x="2022874" y="5499230"/>
              <a:ext cx="522371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13685" name="Line 21"/>
            <p:cNvSpPr>
              <a:spLocks noChangeShapeType="1"/>
            </p:cNvSpPr>
            <p:nvPr/>
          </p:nvSpPr>
          <p:spPr bwMode="auto">
            <a:xfrm flipV="1">
              <a:off x="2022874" y="5310618"/>
              <a:ext cx="0" cy="1886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13686" name="Line 22"/>
            <p:cNvSpPr>
              <a:spLocks noChangeShapeType="1"/>
            </p:cNvSpPr>
            <p:nvPr/>
          </p:nvSpPr>
          <p:spPr bwMode="auto">
            <a:xfrm flipV="1">
              <a:off x="4253224" y="5310618"/>
              <a:ext cx="0" cy="1886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13689" name="Line 25"/>
            <p:cNvSpPr>
              <a:spLocks noChangeShapeType="1"/>
            </p:cNvSpPr>
            <p:nvPr/>
          </p:nvSpPr>
          <p:spPr bwMode="auto">
            <a:xfrm>
              <a:off x="2022874" y="3607681"/>
              <a:ext cx="223034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13690" name="Line 26"/>
            <p:cNvSpPr>
              <a:spLocks noChangeShapeType="1"/>
            </p:cNvSpPr>
            <p:nvPr/>
          </p:nvSpPr>
          <p:spPr bwMode="auto">
            <a:xfrm flipV="1">
              <a:off x="7246588" y="3269012"/>
              <a:ext cx="0" cy="120126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13691" name="Line 27"/>
            <p:cNvSpPr>
              <a:spLocks noChangeShapeType="1"/>
            </p:cNvSpPr>
            <p:nvPr/>
          </p:nvSpPr>
          <p:spPr bwMode="auto">
            <a:xfrm flipV="1">
              <a:off x="7246588" y="4876204"/>
              <a:ext cx="0" cy="62302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</p:grpSp>
      <p:sp>
        <p:nvSpPr>
          <p:cNvPr id="31" name="Rectangle 3">
            <a:extLst>
              <a:ext uri="{FF2B5EF4-FFF2-40B4-BE49-F238E27FC236}">
                <a16:creationId xmlns:a16="http://schemas.microsoft.com/office/drawing/2014/main" id="{DE6DD944-62D7-4482-8303-DE8C9D3E8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98630"/>
            <a:ext cx="9518650" cy="350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b="1" kern="0" dirty="0">
                <a:solidFill>
                  <a:srgbClr val="CC3300"/>
                </a:solidFill>
                <a:latin typeface="Times New Roman" pitchFamily="18" charset="0"/>
              </a:rPr>
              <a:t>1.1. СИСТЕМА</a:t>
            </a:r>
            <a:endParaRPr kumimoji="0" lang="ru-RU" sz="2000" b="1" i="0" u="none" strike="noStrike" kern="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  <a:hlinkClick r:id="" action="ppaction://noaction"/>
            </a:endParaRPr>
          </a:p>
        </p:txBody>
      </p:sp>
      <p:grpSp>
        <p:nvGrpSpPr>
          <p:cNvPr id="5121" name="Группа 5120">
            <a:extLst>
              <a:ext uri="{FF2B5EF4-FFF2-40B4-BE49-F238E27FC236}">
                <a16:creationId xmlns:a16="http://schemas.microsoft.com/office/drawing/2014/main" id="{ED853C73-7F0E-E185-3DF2-099BD6E28716}"/>
              </a:ext>
            </a:extLst>
          </p:cNvPr>
          <p:cNvGrpSpPr/>
          <p:nvPr/>
        </p:nvGrpSpPr>
        <p:grpSpPr>
          <a:xfrm>
            <a:off x="992560" y="1768947"/>
            <a:ext cx="3416317" cy="1012148"/>
            <a:chOff x="992560" y="1408907"/>
            <a:chExt cx="3416317" cy="1012148"/>
          </a:xfrm>
        </p:grpSpPr>
        <p:sp>
          <p:nvSpPr>
            <p:cNvPr id="113679" name="Rectangle 15"/>
            <p:cNvSpPr>
              <a:spLocks noChangeArrowheads="1"/>
            </p:cNvSpPr>
            <p:nvPr/>
          </p:nvSpPr>
          <p:spPr bwMode="auto">
            <a:xfrm>
              <a:off x="992560" y="1408907"/>
              <a:ext cx="3416317" cy="1012148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4572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  </a:t>
              </a:r>
              <a:r>
                <a:rPr kumimoji="0" lang="ru-RU" sz="2400" b="1" i="0" u="sng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Система</a:t>
              </a:r>
              <a:endParaRPr kumimoji="0" lang="ru-RU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20" name="Группа 19">
              <a:extLst>
                <a:ext uri="{FF2B5EF4-FFF2-40B4-BE49-F238E27FC236}">
                  <a16:creationId xmlns:a16="http://schemas.microsoft.com/office/drawing/2014/main" id="{0DE76BE9-6BF9-D0D0-894F-B7C06AF2E553}"/>
                </a:ext>
              </a:extLst>
            </p:cNvPr>
            <p:cNvGrpSpPr/>
            <p:nvPr/>
          </p:nvGrpSpPr>
          <p:grpSpPr>
            <a:xfrm>
              <a:off x="2477726" y="1482133"/>
              <a:ext cx="1775498" cy="863838"/>
              <a:chOff x="2792760" y="4014065"/>
              <a:chExt cx="3719593" cy="1842489"/>
            </a:xfrm>
          </p:grpSpPr>
          <p:sp>
            <p:nvSpPr>
              <p:cNvPr id="22" name="Oval 24">
                <a:extLst>
                  <a:ext uri="{FF2B5EF4-FFF2-40B4-BE49-F238E27FC236}">
                    <a16:creationId xmlns:a16="http://schemas.microsoft.com/office/drawing/2014/main" id="{9B8E28C6-8A36-8C4C-5F58-F8E1197A9A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52900" y="4014065"/>
                <a:ext cx="704258" cy="627354"/>
              </a:xfrm>
              <a:prstGeom prst="ellipse">
                <a:avLst/>
              </a:prstGeom>
              <a:solidFill>
                <a:srgbClr val="EAEAEA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>
                  <a:spcAft>
                    <a:spcPts val="600"/>
                  </a:spcAft>
                </a:pPr>
                <a:r>
                  <a:rPr lang="ru-RU" sz="1400" dirty="0"/>
                  <a:t>2</a:t>
                </a:r>
              </a:p>
            </p:txBody>
          </p:sp>
          <p:sp>
            <p:nvSpPr>
              <p:cNvPr id="23" name="Oval 25">
                <a:extLst>
                  <a:ext uri="{FF2B5EF4-FFF2-40B4-BE49-F238E27FC236}">
                    <a16:creationId xmlns:a16="http://schemas.microsoft.com/office/drawing/2014/main" id="{10E6B1E4-CD59-1F63-C731-B235A7BF6D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74043" y="5196707"/>
                <a:ext cx="704258" cy="627354"/>
              </a:xfrm>
              <a:prstGeom prst="ellipse">
                <a:avLst/>
              </a:prstGeom>
              <a:solidFill>
                <a:srgbClr val="EAEAEA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>
                  <a:spcAft>
                    <a:spcPts val="600"/>
                  </a:spcAft>
                </a:pPr>
                <a:r>
                  <a:rPr lang="ru-RU" sz="1400" dirty="0"/>
                  <a:t>3</a:t>
                </a:r>
                <a:endParaRPr lang="ru-RU" dirty="0"/>
              </a:p>
            </p:txBody>
          </p:sp>
          <p:sp>
            <p:nvSpPr>
              <p:cNvPr id="24" name="Text Box 26">
                <a:extLst>
                  <a:ext uri="{FF2B5EF4-FFF2-40B4-BE49-F238E27FC236}">
                    <a16:creationId xmlns:a16="http://schemas.microsoft.com/office/drawing/2014/main" id="{338585B7-C301-D39E-1A9E-83B7895E83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88650" y="4779150"/>
                <a:ext cx="435860" cy="3360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18000" tIns="10800" rIns="18000" bIns="10800"/>
              <a:lstStyle/>
              <a:p>
                <a:endParaRPr lang="ru-RU"/>
              </a:p>
            </p:txBody>
          </p:sp>
          <p:sp>
            <p:nvSpPr>
              <p:cNvPr id="25" name="Oval 33">
                <a:extLst>
                  <a:ext uri="{FF2B5EF4-FFF2-40B4-BE49-F238E27FC236}">
                    <a16:creationId xmlns:a16="http://schemas.microsoft.com/office/drawing/2014/main" id="{06B23F89-B165-6703-A905-2870E70891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73080" y="4104075"/>
                <a:ext cx="704258" cy="627354"/>
              </a:xfrm>
              <a:prstGeom prst="ellipse">
                <a:avLst/>
              </a:prstGeom>
              <a:solidFill>
                <a:srgbClr val="EAEAEA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>
                  <a:spcAft>
                    <a:spcPts val="600"/>
                  </a:spcAft>
                </a:pPr>
                <a:r>
                  <a:rPr lang="ru-RU" sz="1400" dirty="0"/>
                  <a:t>4</a:t>
                </a:r>
                <a:endParaRPr lang="ru-RU" dirty="0"/>
              </a:p>
            </p:txBody>
          </p:sp>
          <p:sp>
            <p:nvSpPr>
              <p:cNvPr id="26" name="Text Box 35">
                <a:extLst>
                  <a:ext uri="{FF2B5EF4-FFF2-40B4-BE49-F238E27FC236}">
                    <a16:creationId xmlns:a16="http://schemas.microsoft.com/office/drawing/2014/main" id="{CF1A870E-E15B-17BB-C739-F21D2CD0C1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1010" y="5243555"/>
                <a:ext cx="435860" cy="3360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18000" tIns="10800" rIns="18000" bIns="10800"/>
              <a:lstStyle/>
              <a:p>
                <a:endParaRPr lang="ru-RU"/>
              </a:p>
            </p:txBody>
          </p:sp>
          <p:sp>
            <p:nvSpPr>
              <p:cNvPr id="27" name="Oval 32">
                <a:extLst>
                  <a:ext uri="{FF2B5EF4-FFF2-40B4-BE49-F238E27FC236}">
                    <a16:creationId xmlns:a16="http://schemas.microsoft.com/office/drawing/2014/main" id="{4DDC4623-79CE-DEB3-C407-79EE62B889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92760" y="4565501"/>
                <a:ext cx="704259" cy="625316"/>
              </a:xfrm>
              <a:prstGeom prst="ellipse">
                <a:avLst/>
              </a:prstGeom>
              <a:solidFill>
                <a:srgbClr val="EAEAEA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>
                  <a:spcAft>
                    <a:spcPts val="600"/>
                  </a:spcAft>
                </a:pPr>
                <a:r>
                  <a:rPr lang="ru-RU" sz="1400" dirty="0"/>
                  <a:t>1</a:t>
                </a:r>
                <a:endParaRPr lang="ru-RU" dirty="0"/>
              </a:p>
            </p:txBody>
          </p: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4187A18E-1F28-7B17-88D5-10EF44DF7C40}"/>
                  </a:ext>
                </a:extLst>
              </p:cNvPr>
              <p:cNvCxnSpPr>
                <a:cxnSpLocks/>
                <a:stCxn id="22" idx="4"/>
                <a:endCxn id="23" idx="0"/>
              </p:cNvCxnSpPr>
              <p:nvPr/>
            </p:nvCxnSpPr>
            <p:spPr bwMode="auto">
              <a:xfrm>
                <a:off x="4405029" y="4641419"/>
                <a:ext cx="21143" cy="55528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C0388E4A-0269-15EF-90D3-AA725AAFC546}"/>
                  </a:ext>
                </a:extLst>
              </p:cNvPr>
              <p:cNvCxnSpPr>
                <a:cxnSpLocks/>
                <a:stCxn id="22" idx="6"/>
                <a:endCxn id="25" idx="2"/>
              </p:cNvCxnSpPr>
              <p:nvPr/>
            </p:nvCxnSpPr>
            <p:spPr bwMode="auto">
              <a:xfrm>
                <a:off x="4757158" y="4327742"/>
                <a:ext cx="915922" cy="9001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2736D1C6-F65F-6B93-9B7E-C61358B8DB2E}"/>
                  </a:ext>
                </a:extLst>
              </p:cNvPr>
              <p:cNvCxnSpPr>
                <a:cxnSpLocks/>
                <a:stCxn id="27" idx="7"/>
                <a:endCxn id="22" idx="2"/>
              </p:cNvCxnSpPr>
              <p:nvPr/>
            </p:nvCxnSpPr>
            <p:spPr bwMode="auto">
              <a:xfrm flipV="1">
                <a:off x="3393883" y="4327744"/>
                <a:ext cx="659016" cy="32933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B1BF2426-08CD-7030-AE1B-B90FC75A72D1}"/>
                  </a:ext>
                </a:extLst>
              </p:cNvPr>
              <p:cNvCxnSpPr>
                <a:cxnSpLocks/>
                <a:stCxn id="27" idx="5"/>
                <a:endCxn id="23" idx="2"/>
              </p:cNvCxnSpPr>
              <p:nvPr/>
            </p:nvCxnSpPr>
            <p:spPr bwMode="auto">
              <a:xfrm>
                <a:off x="3393883" y="5099243"/>
                <a:ext cx="680161" cy="41114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3" name="Прямая со стрелкой 32">
                <a:extLst>
                  <a:ext uri="{FF2B5EF4-FFF2-40B4-BE49-F238E27FC236}">
                    <a16:creationId xmlns:a16="http://schemas.microsoft.com/office/drawing/2014/main" id="{8A412F43-1241-A582-D64A-6D36D11E08C6}"/>
                  </a:ext>
                </a:extLst>
              </p:cNvPr>
              <p:cNvCxnSpPr>
                <a:cxnSpLocks/>
                <a:stCxn id="23" idx="7"/>
                <a:endCxn id="25" idx="3"/>
              </p:cNvCxnSpPr>
              <p:nvPr/>
            </p:nvCxnSpPr>
            <p:spPr bwMode="auto">
              <a:xfrm flipV="1">
                <a:off x="4675165" y="4639555"/>
                <a:ext cx="1101051" cy="64902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95A0F97E-8A81-65CB-689E-85A1C93E97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808095" y="5229200"/>
                <a:ext cx="704258" cy="627354"/>
              </a:xfrm>
              <a:prstGeom prst="ellipse">
                <a:avLst/>
              </a:prstGeom>
              <a:solidFill>
                <a:srgbClr val="EAEAEA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>
                  <a:spcAft>
                    <a:spcPts val="600"/>
                  </a:spcAft>
                </a:pPr>
                <a:r>
                  <a:rPr lang="ru-RU" sz="1400" dirty="0"/>
                  <a:t>5</a:t>
                </a:r>
                <a:endParaRPr lang="ru-RU" dirty="0"/>
              </a:p>
            </p:txBody>
          </p:sp>
          <p:cxnSp>
            <p:nvCxnSpPr>
              <p:cNvPr id="35" name="Прямая соединительная линия 34">
                <a:extLst>
                  <a:ext uri="{FF2B5EF4-FFF2-40B4-BE49-F238E27FC236}">
                    <a16:creationId xmlns:a16="http://schemas.microsoft.com/office/drawing/2014/main" id="{15CEDED5-9054-D416-AFDE-F6081876AFEF}"/>
                  </a:ext>
                </a:extLst>
              </p:cNvPr>
              <p:cNvCxnSpPr>
                <a:cxnSpLocks/>
                <a:stCxn id="23" idx="6"/>
                <a:endCxn id="34" idx="2"/>
              </p:cNvCxnSpPr>
              <p:nvPr/>
            </p:nvCxnSpPr>
            <p:spPr bwMode="auto">
              <a:xfrm>
                <a:off x="4778301" y="5510384"/>
                <a:ext cx="1029794" cy="3249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6" name="Прямая соединительная линия 35">
                <a:extLst>
                  <a:ext uri="{FF2B5EF4-FFF2-40B4-BE49-F238E27FC236}">
                    <a16:creationId xmlns:a16="http://schemas.microsoft.com/office/drawing/2014/main" id="{B5B1886F-D45A-323F-4698-1A729967A3A4}"/>
                  </a:ext>
                </a:extLst>
              </p:cNvPr>
              <p:cNvCxnSpPr>
                <a:cxnSpLocks/>
                <a:stCxn id="25" idx="4"/>
                <a:endCxn id="34" idx="0"/>
              </p:cNvCxnSpPr>
              <p:nvPr/>
            </p:nvCxnSpPr>
            <p:spPr bwMode="auto">
              <a:xfrm>
                <a:off x="6025209" y="4731429"/>
                <a:ext cx="135015" cy="497771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5123" name="Группа 5122">
            <a:extLst>
              <a:ext uri="{FF2B5EF4-FFF2-40B4-BE49-F238E27FC236}">
                <a16:creationId xmlns:a16="http://schemas.microsoft.com/office/drawing/2014/main" id="{2017C043-1C53-A283-544B-91671615231B}"/>
              </a:ext>
            </a:extLst>
          </p:cNvPr>
          <p:cNvGrpSpPr/>
          <p:nvPr/>
        </p:nvGrpSpPr>
        <p:grpSpPr>
          <a:xfrm>
            <a:off x="759535" y="1608867"/>
            <a:ext cx="8548887" cy="2020340"/>
            <a:chOff x="759535" y="1248827"/>
            <a:chExt cx="8548887" cy="2020340"/>
          </a:xfrm>
        </p:grpSpPr>
        <p:sp>
          <p:nvSpPr>
            <p:cNvPr id="113677" name="Rectangle 13"/>
            <p:cNvSpPr>
              <a:spLocks noChangeArrowheads="1"/>
            </p:cNvSpPr>
            <p:nvPr/>
          </p:nvSpPr>
          <p:spPr bwMode="auto">
            <a:xfrm>
              <a:off x="759535" y="1248827"/>
              <a:ext cx="8548887" cy="2020340"/>
            </a:xfrm>
            <a:prstGeom prst="rect">
              <a:avLst/>
            </a:prstGeom>
            <a:noFill/>
            <a:ln w="38100" cmpd="dbl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18000" tIns="10800" rIns="18000" bIns="1080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endPara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endPara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endPara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                                                            </a:t>
              </a:r>
              <a:r>
                <a:rPr kumimoji="0" lang="ru-RU" sz="2400" b="1" i="0" u="sng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Комплекс</a:t>
              </a:r>
              <a:endParaRPr kumimoji="0" lang="ru-RU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3680" name="Rectangle 16"/>
            <p:cNvSpPr>
              <a:spLocks noChangeArrowheads="1"/>
            </p:cNvSpPr>
            <p:nvPr/>
          </p:nvSpPr>
          <p:spPr bwMode="auto">
            <a:xfrm>
              <a:off x="2840887" y="2770110"/>
              <a:ext cx="1347889" cy="389014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4572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Система</a:t>
              </a:r>
              <a:endParaRPr kumimoji="0" 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85A97E68-4EB9-1A00-0CF8-AADF4D1BBB6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408877" y="1908829"/>
              <a:ext cx="630489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Прямая соединительная линия 10">
              <a:extLst>
                <a:ext uri="{FF2B5EF4-FFF2-40B4-BE49-F238E27FC236}">
                  <a16:creationId xmlns:a16="http://schemas.microsoft.com/office/drawing/2014/main" id="{D05F755B-FED3-78FC-C621-327CC10E6B81}"/>
                </a:ext>
              </a:extLst>
            </p:cNvPr>
            <p:cNvCxnSpPr>
              <a:cxnSpLocks/>
              <a:stCxn id="113680" idx="3"/>
            </p:cNvCxnSpPr>
            <p:nvPr/>
          </p:nvCxnSpPr>
          <p:spPr bwMode="auto">
            <a:xfrm flipV="1">
              <a:off x="4188776" y="2557901"/>
              <a:ext cx="2869631" cy="40671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20" name="Прямая соединительная линия 5119">
              <a:extLst>
                <a:ext uri="{FF2B5EF4-FFF2-40B4-BE49-F238E27FC236}">
                  <a16:creationId xmlns:a16="http://schemas.microsoft.com/office/drawing/2014/main" id="{03C478AE-4744-40F7-3D2E-816D1372454B}"/>
                </a:ext>
              </a:extLst>
            </p:cNvPr>
            <p:cNvCxnSpPr>
              <a:cxnSpLocks/>
              <a:endCxn id="113680" idx="0"/>
            </p:cNvCxnSpPr>
            <p:nvPr/>
          </p:nvCxnSpPr>
          <p:spPr bwMode="auto">
            <a:xfrm>
              <a:off x="2737721" y="2421209"/>
              <a:ext cx="777111" cy="34890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129" name="TextBox 5128">
            <a:extLst>
              <a:ext uri="{FF2B5EF4-FFF2-40B4-BE49-F238E27FC236}">
                <a16:creationId xmlns:a16="http://schemas.microsoft.com/office/drawing/2014/main" id="{5BE55CB0-0896-36AF-ED44-D1979655D137}"/>
              </a:ext>
            </a:extLst>
          </p:cNvPr>
          <p:cNvSpPr txBox="1"/>
          <p:nvPr/>
        </p:nvSpPr>
        <p:spPr>
          <a:xfrm>
            <a:off x="4939371" y="1004060"/>
            <a:ext cx="46041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i="1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«Всё в мире относительно» </a:t>
            </a:r>
            <a:r>
              <a:rPr lang="ru-RU" sz="1400" b="1" i="1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(Закон относительности)</a:t>
            </a:r>
            <a:endParaRPr lang="ru-RU" sz="1400" i="1" dirty="0">
              <a:solidFill>
                <a:srgbClr val="0033CC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3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78" grpId="0" animBg="1"/>
      <p:bldP spid="51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F91B9D5-C73C-4E07-905F-F24B9F841C17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10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241550" y="6245225"/>
            <a:ext cx="5022850" cy="476250"/>
          </a:xfrm>
          <a:noFill/>
        </p:spPr>
        <p:txBody>
          <a:bodyPr/>
          <a:lstStyle/>
          <a:p>
            <a:r>
              <a:rPr lang="ru-RU" i="1"/>
              <a:t>«Моделирование»</a:t>
            </a:r>
            <a:endParaRPr lang="ru-RU" i="1" dirty="0"/>
          </a:p>
        </p:txBody>
      </p:sp>
      <p:sp>
        <p:nvSpPr>
          <p:cNvPr id="114691" name="Rectangle 3"/>
          <p:cNvSpPr>
            <a:spLocks noChangeArrowheads="1"/>
          </p:cNvSpPr>
          <p:nvPr/>
        </p:nvSpPr>
        <p:spPr bwMode="auto">
          <a:xfrm>
            <a:off x="497512" y="1166748"/>
            <a:ext cx="8913186" cy="606931"/>
          </a:xfrm>
          <a:prstGeom prst="rect">
            <a:avLst/>
          </a:prstGeom>
          <a:solidFill>
            <a:srgbClr val="FFFFCC"/>
          </a:solidFill>
          <a:ln w="38100" cmpd="dbl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8000" tIns="45720" rIns="18000" bIns="108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Arial" pitchFamily="34" charset="0"/>
              </a:rPr>
              <a:t>Способы описания …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4695" name="Rectangle 7"/>
          <p:cNvSpPr>
            <a:spLocks noChangeArrowheads="1"/>
          </p:cNvSpPr>
          <p:nvPr/>
        </p:nvSpPr>
        <p:spPr bwMode="auto">
          <a:xfrm>
            <a:off x="3951149" y="2013031"/>
            <a:ext cx="369824" cy="3922457"/>
          </a:xfrm>
          <a:prstGeom prst="rect">
            <a:avLst/>
          </a:prstGeom>
          <a:solidFill>
            <a:srgbClr val="FFFFCC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54000" tIns="45720" rIns="5400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cs typeface="Arial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Arial" pitchFamily="34" charset="0"/>
              </a:rPr>
              <a:t>функции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4696" name="Rectangle 8"/>
          <p:cNvSpPr>
            <a:spLocks noChangeArrowheads="1"/>
          </p:cNvSpPr>
          <p:nvPr/>
        </p:nvSpPr>
        <p:spPr bwMode="auto">
          <a:xfrm>
            <a:off x="4690796" y="2033845"/>
            <a:ext cx="4717699" cy="711124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8000" tIns="45720" rIns="18000" bIns="108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Arial" pitchFamily="34" charset="0"/>
              </a:rPr>
              <a:t>Алгоритмический</a:t>
            </a:r>
            <a:endParaRPr kumimoji="0" lang="en-US" sz="2000" b="1" i="0" u="sng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cs typeface="Arial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Arial" pitchFamily="34" charset="0"/>
              </a:rPr>
              <a:t>(</a:t>
            </a:r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Arial" pitchFamily="34" charset="0"/>
              </a:rPr>
              <a:t>словесное описание; блок-схема, …)</a:t>
            </a:r>
            <a:endParaRPr kumimoji="0" lang="ru-RU" sz="20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697" name="Rectangle 9"/>
              <p:cNvSpPr>
                <a:spLocks noChangeArrowheads="1"/>
              </p:cNvSpPr>
              <p:nvPr/>
            </p:nvSpPr>
            <p:spPr bwMode="auto">
              <a:xfrm>
                <a:off x="4690796" y="2843934"/>
                <a:ext cx="4717699" cy="795581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54000" tIns="45720" rIns="54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i="0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   </a:t>
                </a:r>
                <a:r>
                  <a:rPr kumimoji="0" lang="ru-RU" sz="2000" b="1" i="0" u="sng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Аналитический</a:t>
                </a:r>
                <a:r>
                  <a:rPr kumimoji="0" lang="ru-RU" sz="2000" b="1" i="0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:   </a:t>
                </a:r>
                <a14:m>
                  <m:oMath xmlns:m="http://schemas.openxmlformats.org/officeDocument/2006/math">
                    <m:r>
                      <a:rPr kumimoji="0" lang="en-US" sz="2000" b="1" i="1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cs typeface="Arial" pitchFamily="34" charset="0"/>
                      </a:rPr>
                      <m:t>𝑰</m:t>
                    </m:r>
                    <m:r>
                      <a:rPr kumimoji="0" lang="en-US" sz="2000" b="1" i="1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f>
                      <m:fPr>
                        <m:ctrlPr>
                          <a:rPr kumimoji="0" lang="en-US" sz="2000" b="1" i="1" strike="noStrike" cap="none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kumimoji="0" lang="en-US" sz="2000" b="1" i="1" strike="noStrike" cap="none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Arial" pitchFamily="34" charset="0"/>
                          </a:rPr>
                          <m:t>𝑼</m:t>
                        </m:r>
                      </m:num>
                      <m:den>
                        <m:r>
                          <a:rPr kumimoji="0" lang="en-US" sz="2000" b="1" i="1" strike="noStrike" cap="none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Arial" pitchFamily="34" charset="0"/>
                          </a:rPr>
                          <m:t>𝑹</m:t>
                        </m:r>
                      </m:den>
                    </m:f>
                  </m:oMath>
                </a14:m>
                <a:r>
                  <a:rPr kumimoji="0" lang="en-US" sz="2000" b="1" i="0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  </a:t>
                </a:r>
                <a14:m>
                  <m:oMath xmlns:m="http://schemas.openxmlformats.org/officeDocument/2006/math">
                    <m:r>
                      <a:rPr kumimoji="0" lang="en-US" sz="2000" b="1" i="1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itchFamily="34" charset="0"/>
                      </a:rPr>
                      <m:t>𝑺</m:t>
                    </m:r>
                    <m:r>
                      <a:rPr kumimoji="0" lang="en-US" sz="2000" b="1" i="1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r>
                      <a:rPr kumimoji="0" lang="en-US" sz="2000" b="1" i="1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Arial" pitchFamily="34" charset="0"/>
                      </a:rPr>
                      <m:t>𝑽𝒕</m:t>
                    </m:r>
                  </m:oMath>
                </a14:m>
                <a:r>
                  <a:rPr kumimoji="0" lang="en-US" sz="2000" b="1" i="0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…</a:t>
                </a:r>
                <a:endParaRPr kumimoji="0" lang="ru-RU" sz="2000" b="1" i="0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4697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90796" y="2843934"/>
                <a:ext cx="4717699" cy="7955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698" name="Rectangle 10"/>
          <p:cNvSpPr>
            <a:spLocks noChangeArrowheads="1"/>
          </p:cNvSpPr>
          <p:nvPr/>
        </p:nvSpPr>
        <p:spPr bwMode="auto">
          <a:xfrm>
            <a:off x="4690796" y="3744035"/>
            <a:ext cx="4717698" cy="1200629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54000" tIns="45720" rIns="54000" bIns="108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Arial" pitchFamily="34" charset="0"/>
              </a:rPr>
              <a:t>             </a:t>
            </a:r>
            <a:r>
              <a:rPr kumimoji="0" lang="ru-RU" sz="20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Arial" pitchFamily="34" charset="0"/>
              </a:rPr>
              <a:t>Графический</a:t>
            </a:r>
            <a:endParaRPr kumimoji="0" lang="ru-RU" sz="20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4699" name="Rectangle 11"/>
          <p:cNvSpPr>
            <a:spLocks noChangeArrowheads="1"/>
          </p:cNvSpPr>
          <p:nvPr/>
        </p:nvSpPr>
        <p:spPr bwMode="auto">
          <a:xfrm>
            <a:off x="4690795" y="5049183"/>
            <a:ext cx="4717697" cy="90009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54000" tIns="45720" rIns="54000" bIns="108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Arial" pitchFamily="34" charset="0"/>
              </a:rPr>
              <a:t> </a:t>
            </a:r>
            <a:r>
              <a:rPr kumimoji="0" lang="ru-RU" sz="20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Arial" pitchFamily="34" charset="0"/>
              </a:rPr>
              <a:t>Табличный</a:t>
            </a:r>
            <a:endParaRPr kumimoji="0" lang="ru-RU" sz="20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4702" name="Line 14"/>
          <p:cNvSpPr>
            <a:spLocks noChangeShapeType="1"/>
          </p:cNvSpPr>
          <p:nvPr/>
        </p:nvSpPr>
        <p:spPr bwMode="auto">
          <a:xfrm flipH="1">
            <a:off x="4320973" y="2312276"/>
            <a:ext cx="369824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4703" name="Line 15"/>
          <p:cNvSpPr>
            <a:spLocks noChangeShapeType="1"/>
          </p:cNvSpPr>
          <p:nvPr/>
        </p:nvSpPr>
        <p:spPr bwMode="auto">
          <a:xfrm flipH="1">
            <a:off x="4320972" y="3203975"/>
            <a:ext cx="369824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4704" name="Line 16"/>
          <p:cNvSpPr>
            <a:spLocks noChangeShapeType="1"/>
          </p:cNvSpPr>
          <p:nvPr/>
        </p:nvSpPr>
        <p:spPr bwMode="auto">
          <a:xfrm flipH="1">
            <a:off x="4320973" y="4329100"/>
            <a:ext cx="369824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4705" name="Line 17"/>
          <p:cNvSpPr>
            <a:spLocks noChangeShapeType="1"/>
          </p:cNvSpPr>
          <p:nvPr/>
        </p:nvSpPr>
        <p:spPr bwMode="auto">
          <a:xfrm flipH="1">
            <a:off x="4320973" y="5499230"/>
            <a:ext cx="369824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4707" name="Line 19"/>
          <p:cNvSpPr>
            <a:spLocks noChangeShapeType="1"/>
          </p:cNvSpPr>
          <p:nvPr/>
        </p:nvSpPr>
        <p:spPr bwMode="auto">
          <a:xfrm flipV="1">
            <a:off x="4109645" y="1793218"/>
            <a:ext cx="0" cy="24062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4" name="Rectangle 10">
            <a:extLst>
              <a:ext uri="{FF2B5EF4-FFF2-40B4-BE49-F238E27FC236}">
                <a16:creationId xmlns:a16="http://schemas.microsoft.com/office/drawing/2014/main" id="{8F551E3D-8BC7-42EF-BF63-11F635BF4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2" y="447055"/>
            <a:ext cx="93630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b="1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Способы описания структуры и функции</a:t>
            </a: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164ED073-125E-4F6F-A788-42F3B7D9B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98630"/>
            <a:ext cx="9518650" cy="350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b="1" kern="0" dirty="0">
                <a:solidFill>
                  <a:srgbClr val="CC3300"/>
                </a:solidFill>
                <a:latin typeface="Times New Roman" pitchFamily="18" charset="0"/>
              </a:rPr>
              <a:t>1.1. СИСТЕМА</a:t>
            </a:r>
            <a:endParaRPr kumimoji="0" lang="ru-RU" sz="2000" b="1" i="0" u="none" strike="noStrike" kern="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  <a:hlinkClick r:id="" action="ppaction://noaction"/>
            </a:endParaRPr>
          </a:p>
        </p:txBody>
      </p:sp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6757F9F8-DAFF-5125-9FB2-29981FE898D5}"/>
              </a:ext>
            </a:extLst>
          </p:cNvPr>
          <p:cNvGrpSpPr/>
          <p:nvPr/>
        </p:nvGrpSpPr>
        <p:grpSpPr>
          <a:xfrm>
            <a:off x="497505" y="1793218"/>
            <a:ext cx="2958589" cy="4142270"/>
            <a:chOff x="497505" y="1793218"/>
            <a:chExt cx="2958589" cy="4142270"/>
          </a:xfrm>
        </p:grpSpPr>
        <p:sp>
          <p:nvSpPr>
            <p:cNvPr id="114692" name="Rectangle 4"/>
            <p:cNvSpPr>
              <a:spLocks noChangeArrowheads="1"/>
            </p:cNvSpPr>
            <p:nvPr/>
          </p:nvSpPr>
          <p:spPr bwMode="auto">
            <a:xfrm>
              <a:off x="497505" y="2013031"/>
              <a:ext cx="369824" cy="3922457"/>
            </a:xfrm>
            <a:prstGeom prst="rect">
              <a:avLst/>
            </a:prstGeom>
            <a:solidFill>
              <a:srgbClr val="FFFFCC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  <a:scene3d>
              <a:camera prst="orthographicFront"/>
              <a:lightRig rig="threePt" dir="t"/>
            </a:scene3d>
            <a:sp3d/>
          </p:spPr>
          <p:txBody>
            <a:bodyPr vert="horz" wrap="square" lIns="54000" tIns="45720" rIns="54000" bIns="45720" numCol="1" anchor="t" anchorCtr="0" compatLnSpc="1">
              <a:prstTxWarp prst="textNoShape">
                <a:avLst/>
              </a:prstTxWarp>
              <a:flatTx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структуры</a:t>
              </a:r>
              <a:endPara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4693" name="Rectangle 5"/>
            <p:cNvSpPr>
              <a:spLocks noChangeArrowheads="1"/>
            </p:cNvSpPr>
            <p:nvPr/>
          </p:nvSpPr>
          <p:spPr bwMode="auto">
            <a:xfrm>
              <a:off x="1237152" y="2022801"/>
              <a:ext cx="2060446" cy="1751184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54000" tIns="45720" rIns="54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1" i="0" u="sng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Графический</a:t>
              </a:r>
              <a:endParaRPr kumimoji="0" lang="ru-RU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4694" name="Rectangle 6"/>
            <p:cNvSpPr>
              <a:spLocks noChangeArrowheads="1"/>
            </p:cNvSpPr>
            <p:nvPr/>
          </p:nvSpPr>
          <p:spPr bwMode="auto">
            <a:xfrm>
              <a:off x="1237152" y="4090273"/>
              <a:ext cx="2218942" cy="1809801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54000" tIns="45720" rIns="54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1" i="0" u="sng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Аналитический: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i="1" dirty="0">
                  <a:solidFill>
                    <a:srgbClr val="000000"/>
                  </a:solidFill>
                  <a:latin typeface="Times New Roman" pitchFamily="18" charset="0"/>
                  <a:cs typeface="Arial" pitchFamily="34" charset="0"/>
                </a:rPr>
                <a:t>N</a:t>
              </a:r>
              <a:r>
                <a:rPr lang="en-US" sz="2000" dirty="0">
                  <a:solidFill>
                    <a:srgbClr val="000000"/>
                  </a:solidFill>
                  <a:latin typeface="Times New Roman" pitchFamily="18" charset="0"/>
                  <a:cs typeface="Arial" pitchFamily="34" charset="0"/>
                </a:rPr>
                <a:t>=5;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1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V</a:t>
              </a:r>
              <a:r>
                <a:rPr kumimoji="0" lang="en-US" sz="2000" b="0" i="0" strike="noStrike" cap="none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1</a:t>
              </a:r>
              <a:r>
                <a:rPr kumimoji="0" lang="en-US" sz="2000" b="0" i="0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=10</a:t>
              </a:r>
              <a:r>
                <a:rPr lang="en-US" sz="2000" dirty="0">
                  <a:solidFill>
                    <a:srgbClr val="000000"/>
                  </a:solidFill>
                  <a:latin typeface="Times New Roman" pitchFamily="18" charset="0"/>
                  <a:cs typeface="Arial" pitchFamily="34" charset="0"/>
                </a:rPr>
                <a:t>, …, </a:t>
              </a:r>
              <a:r>
                <a:rPr kumimoji="0" lang="en-US" sz="2000" b="0" i="1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V</a:t>
              </a:r>
              <a:r>
                <a:rPr kumimoji="0" lang="en-US" sz="2000" b="0" i="0" strike="noStrike" cap="none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5</a:t>
              </a:r>
              <a:r>
                <a:rPr kumimoji="0" lang="en-US" sz="2000" b="0" i="0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=50;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solidFill>
                    <a:srgbClr val="000000"/>
                  </a:solidFill>
                  <a:latin typeface="Times New Roman" pitchFamily="18" charset="0"/>
                  <a:cs typeface="Arial" pitchFamily="34" charset="0"/>
                </a:rPr>
                <a:t>P=[</a:t>
              </a:r>
              <a:r>
                <a:rPr lang="en-US" sz="2000" i="1" dirty="0" err="1">
                  <a:solidFill>
                    <a:srgbClr val="000000"/>
                  </a:solidFill>
                  <a:latin typeface="Times New Roman" pitchFamily="18" charset="0"/>
                  <a:cs typeface="Arial" pitchFamily="34" charset="0"/>
                </a:rPr>
                <a:t>p</a:t>
              </a:r>
              <a:r>
                <a:rPr lang="en-US" sz="2000" i="1" baseline="-25000" dirty="0" err="1">
                  <a:solidFill>
                    <a:srgbClr val="000000"/>
                  </a:solidFill>
                  <a:latin typeface="Times New Roman" pitchFamily="18" charset="0"/>
                  <a:cs typeface="Arial" pitchFamily="34" charset="0"/>
                </a:rPr>
                <a:t>ij</a:t>
              </a:r>
              <a:r>
                <a:rPr lang="en-US" sz="2000" dirty="0">
                  <a:solidFill>
                    <a:srgbClr val="000000"/>
                  </a:solidFill>
                  <a:latin typeface="Times New Roman" pitchFamily="18" charset="0"/>
                  <a:cs typeface="Arial" pitchFamily="34" charset="0"/>
                </a:rPr>
                <a:t> (</a:t>
              </a:r>
              <a:r>
                <a:rPr lang="en-US" sz="2000" i="1" dirty="0" err="1">
                  <a:solidFill>
                    <a:srgbClr val="000000"/>
                  </a:solidFill>
                  <a:latin typeface="Times New Roman" pitchFamily="18" charset="0"/>
                  <a:cs typeface="Arial" pitchFamily="34" charset="0"/>
                </a:rPr>
                <a:t>i</a:t>
              </a:r>
              <a:r>
                <a:rPr lang="en-US" sz="2000" dirty="0" err="1">
                  <a:solidFill>
                    <a:srgbClr val="000000"/>
                  </a:solidFill>
                  <a:latin typeface="Times New Roman" pitchFamily="18" charset="0"/>
                  <a:cs typeface="Arial" pitchFamily="34" charset="0"/>
                </a:rPr>
                <a:t>,</a:t>
              </a:r>
              <a:r>
                <a:rPr lang="en-US" sz="2000" i="1" dirty="0" err="1">
                  <a:solidFill>
                    <a:srgbClr val="000000"/>
                  </a:solidFill>
                  <a:latin typeface="Times New Roman" pitchFamily="18" charset="0"/>
                  <a:cs typeface="Arial" pitchFamily="34" charset="0"/>
                </a:rPr>
                <a:t>j</a:t>
              </a:r>
              <a:r>
                <a:rPr lang="en-US" sz="2000" dirty="0">
                  <a:solidFill>
                    <a:srgbClr val="000000"/>
                  </a:solidFill>
                  <a:latin typeface="Times New Roman" pitchFamily="18" charset="0"/>
                  <a:cs typeface="Arial" pitchFamily="34" charset="0"/>
                </a:rPr>
                <a:t>=1,…,5)];</a:t>
              </a:r>
            </a:p>
            <a:p>
              <a:pPr marL="0" marR="0" lvl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…</a:t>
              </a:r>
              <a:endParaRPr kumimoji="0" lang="ru-RU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4700" name="Line 12"/>
            <p:cNvSpPr>
              <a:spLocks noChangeShapeType="1"/>
            </p:cNvSpPr>
            <p:nvPr/>
          </p:nvSpPr>
          <p:spPr bwMode="auto">
            <a:xfrm>
              <a:off x="867328" y="2888623"/>
              <a:ext cx="369824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4701" name="Line 13"/>
            <p:cNvSpPr>
              <a:spLocks noChangeShapeType="1"/>
            </p:cNvSpPr>
            <p:nvPr/>
          </p:nvSpPr>
          <p:spPr bwMode="auto">
            <a:xfrm>
              <a:off x="867328" y="4959759"/>
              <a:ext cx="369824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4706" name="Line 18"/>
            <p:cNvSpPr>
              <a:spLocks noChangeShapeType="1"/>
            </p:cNvSpPr>
            <p:nvPr/>
          </p:nvSpPr>
          <p:spPr bwMode="auto">
            <a:xfrm flipV="1">
              <a:off x="656001" y="1793218"/>
              <a:ext cx="0" cy="21981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0CD62005-7BC2-3ECB-BF91-07455FCB70C8}"/>
                </a:ext>
              </a:extLst>
            </p:cNvPr>
            <p:cNvGrpSpPr/>
            <p:nvPr/>
          </p:nvGrpSpPr>
          <p:grpSpPr>
            <a:xfrm>
              <a:off x="1327845" y="2542210"/>
              <a:ext cx="1879060" cy="1021805"/>
              <a:chOff x="2792760" y="4014065"/>
              <a:chExt cx="3719593" cy="1842489"/>
            </a:xfrm>
          </p:grpSpPr>
          <p:sp>
            <p:nvSpPr>
              <p:cNvPr id="5" name="Oval 24">
                <a:extLst>
                  <a:ext uri="{FF2B5EF4-FFF2-40B4-BE49-F238E27FC236}">
                    <a16:creationId xmlns:a16="http://schemas.microsoft.com/office/drawing/2014/main" id="{F854E583-99A6-2C36-7570-A0E644F118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52900" y="4014065"/>
                <a:ext cx="704258" cy="627354"/>
              </a:xfrm>
              <a:prstGeom prst="ellipse">
                <a:avLst/>
              </a:prstGeom>
              <a:solidFill>
                <a:srgbClr val="EAEAEA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>
                  <a:spcAft>
                    <a:spcPts val="600"/>
                  </a:spcAft>
                </a:pPr>
                <a:r>
                  <a:rPr lang="ru-RU" sz="1400" dirty="0"/>
                  <a:t>2</a:t>
                </a:r>
                <a:endParaRPr lang="ru-RU" dirty="0"/>
              </a:p>
            </p:txBody>
          </p:sp>
          <p:sp>
            <p:nvSpPr>
              <p:cNvPr id="6" name="Oval 25">
                <a:extLst>
                  <a:ext uri="{FF2B5EF4-FFF2-40B4-BE49-F238E27FC236}">
                    <a16:creationId xmlns:a16="http://schemas.microsoft.com/office/drawing/2014/main" id="{E5A7A9BB-081B-CCBC-8BD8-B40DBD24F1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74043" y="5196707"/>
                <a:ext cx="704258" cy="627354"/>
              </a:xfrm>
              <a:prstGeom prst="ellipse">
                <a:avLst/>
              </a:prstGeom>
              <a:solidFill>
                <a:srgbClr val="EAEAEA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>
                  <a:spcAft>
                    <a:spcPts val="600"/>
                  </a:spcAft>
                </a:pPr>
                <a:r>
                  <a:rPr lang="ru-RU" sz="1400" dirty="0"/>
                  <a:t>3</a:t>
                </a:r>
                <a:endParaRPr lang="ru-RU" dirty="0"/>
              </a:p>
            </p:txBody>
          </p:sp>
          <p:sp>
            <p:nvSpPr>
              <p:cNvPr id="7" name="Text Box 26">
                <a:extLst>
                  <a:ext uri="{FF2B5EF4-FFF2-40B4-BE49-F238E27FC236}">
                    <a16:creationId xmlns:a16="http://schemas.microsoft.com/office/drawing/2014/main" id="{412CD002-6530-9012-15D0-A9D8F7FFD8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88650" y="4779150"/>
                <a:ext cx="435860" cy="3360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18000" tIns="10800" rIns="18000" bIns="10800"/>
              <a:lstStyle/>
              <a:p>
                <a:endParaRPr lang="ru-RU"/>
              </a:p>
            </p:txBody>
          </p:sp>
          <p:sp>
            <p:nvSpPr>
              <p:cNvPr id="8" name="Oval 33">
                <a:extLst>
                  <a:ext uri="{FF2B5EF4-FFF2-40B4-BE49-F238E27FC236}">
                    <a16:creationId xmlns:a16="http://schemas.microsoft.com/office/drawing/2014/main" id="{353BCE90-9617-30E7-87A1-B299177185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73080" y="4104075"/>
                <a:ext cx="704258" cy="627354"/>
              </a:xfrm>
              <a:prstGeom prst="ellipse">
                <a:avLst/>
              </a:prstGeom>
              <a:solidFill>
                <a:srgbClr val="EAEAEA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>
                  <a:spcAft>
                    <a:spcPts val="600"/>
                  </a:spcAft>
                </a:pPr>
                <a:r>
                  <a:rPr lang="ru-RU" sz="1400" dirty="0"/>
                  <a:t>4</a:t>
                </a:r>
                <a:endParaRPr lang="ru-RU" dirty="0"/>
              </a:p>
            </p:txBody>
          </p:sp>
          <p:sp>
            <p:nvSpPr>
              <p:cNvPr id="9" name="Text Box 35">
                <a:extLst>
                  <a:ext uri="{FF2B5EF4-FFF2-40B4-BE49-F238E27FC236}">
                    <a16:creationId xmlns:a16="http://schemas.microsoft.com/office/drawing/2014/main" id="{9C98428E-9BE2-F2B9-2B60-A79D893820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1010" y="5243555"/>
                <a:ext cx="435860" cy="3360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18000" tIns="10800" rIns="18000" bIns="10800"/>
              <a:lstStyle/>
              <a:p>
                <a:endParaRPr lang="ru-RU"/>
              </a:p>
            </p:txBody>
          </p:sp>
          <p:sp>
            <p:nvSpPr>
              <p:cNvPr id="11" name="Oval 32">
                <a:extLst>
                  <a:ext uri="{FF2B5EF4-FFF2-40B4-BE49-F238E27FC236}">
                    <a16:creationId xmlns:a16="http://schemas.microsoft.com/office/drawing/2014/main" id="{B9F376D0-885A-1844-353A-FD62A0BC4D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92760" y="4554125"/>
                <a:ext cx="704258" cy="625317"/>
              </a:xfrm>
              <a:prstGeom prst="ellipse">
                <a:avLst/>
              </a:prstGeom>
              <a:solidFill>
                <a:srgbClr val="EAEAEA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>
                  <a:spcAft>
                    <a:spcPts val="600"/>
                  </a:spcAft>
                </a:pPr>
                <a:r>
                  <a:rPr lang="ru-RU" sz="1400" dirty="0"/>
                  <a:t>1</a:t>
                </a:r>
                <a:endParaRPr lang="ru-RU" dirty="0"/>
              </a:p>
            </p:txBody>
          </p: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909B1100-42F8-BE5D-73C7-5A43AF143845}"/>
                  </a:ext>
                </a:extLst>
              </p:cNvPr>
              <p:cNvCxnSpPr>
                <a:stCxn id="5" idx="4"/>
                <a:endCxn id="6" idx="0"/>
              </p:cNvCxnSpPr>
              <p:nvPr/>
            </p:nvCxnSpPr>
            <p:spPr bwMode="auto">
              <a:xfrm>
                <a:off x="4405029" y="4641419"/>
                <a:ext cx="21143" cy="55528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F956BFA3-DBBF-844E-DECD-D0F3EA2C4F63}"/>
                  </a:ext>
                </a:extLst>
              </p:cNvPr>
              <p:cNvCxnSpPr>
                <a:stCxn id="5" idx="6"/>
                <a:endCxn id="8" idx="2"/>
              </p:cNvCxnSpPr>
              <p:nvPr/>
            </p:nvCxnSpPr>
            <p:spPr bwMode="auto">
              <a:xfrm>
                <a:off x="4757158" y="4327742"/>
                <a:ext cx="915922" cy="9001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6DF5AF31-4B09-B2A0-03F0-4553C423BD71}"/>
                  </a:ext>
                </a:extLst>
              </p:cNvPr>
              <p:cNvCxnSpPr>
                <a:stCxn id="11" idx="7"/>
                <a:endCxn id="5" idx="2"/>
              </p:cNvCxnSpPr>
              <p:nvPr/>
            </p:nvCxnSpPr>
            <p:spPr bwMode="auto">
              <a:xfrm flipV="1">
                <a:off x="3393882" y="4327742"/>
                <a:ext cx="659018" cy="31795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84A75B08-3246-9780-321E-EABCF97BA184}"/>
                  </a:ext>
                </a:extLst>
              </p:cNvPr>
              <p:cNvCxnSpPr>
                <a:stCxn id="11" idx="5"/>
                <a:endCxn id="6" idx="2"/>
              </p:cNvCxnSpPr>
              <p:nvPr/>
            </p:nvCxnSpPr>
            <p:spPr bwMode="auto">
              <a:xfrm>
                <a:off x="3393882" y="5087867"/>
                <a:ext cx="680161" cy="422517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" name="Прямая со стрелкой 15">
                <a:extLst>
                  <a:ext uri="{FF2B5EF4-FFF2-40B4-BE49-F238E27FC236}">
                    <a16:creationId xmlns:a16="http://schemas.microsoft.com/office/drawing/2014/main" id="{A528A71D-7854-64A0-B745-D4AF4D6CA4CF}"/>
                  </a:ext>
                </a:extLst>
              </p:cNvPr>
              <p:cNvCxnSpPr>
                <a:stCxn id="6" idx="7"/>
                <a:endCxn id="8" idx="3"/>
              </p:cNvCxnSpPr>
              <p:nvPr/>
            </p:nvCxnSpPr>
            <p:spPr bwMode="auto">
              <a:xfrm flipV="1">
                <a:off x="4675165" y="4639555"/>
                <a:ext cx="1101051" cy="64902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7" name="Oval 33">
                <a:extLst>
                  <a:ext uri="{FF2B5EF4-FFF2-40B4-BE49-F238E27FC236}">
                    <a16:creationId xmlns:a16="http://schemas.microsoft.com/office/drawing/2014/main" id="{474E09F2-D379-A251-2E62-83D1CDB2DC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808095" y="5229200"/>
                <a:ext cx="704258" cy="627354"/>
              </a:xfrm>
              <a:prstGeom prst="ellipse">
                <a:avLst/>
              </a:prstGeom>
              <a:solidFill>
                <a:srgbClr val="EAEAEA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>
                  <a:spcAft>
                    <a:spcPts val="600"/>
                  </a:spcAft>
                </a:pPr>
                <a:r>
                  <a:rPr lang="ru-RU" sz="1400" dirty="0"/>
                  <a:t>5</a:t>
                </a:r>
                <a:endParaRPr lang="ru-RU" dirty="0"/>
              </a:p>
            </p:txBody>
          </p:sp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C630A716-743B-8B68-B415-2715F75C7689}"/>
                  </a:ext>
                </a:extLst>
              </p:cNvPr>
              <p:cNvCxnSpPr>
                <a:stCxn id="6" idx="6"/>
                <a:endCxn id="17" idx="2"/>
              </p:cNvCxnSpPr>
              <p:nvPr/>
            </p:nvCxnSpPr>
            <p:spPr bwMode="auto">
              <a:xfrm>
                <a:off x="4778301" y="5510384"/>
                <a:ext cx="1029794" cy="3249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7E6F60F2-0E33-473F-00CA-6E2EDE5F3392}"/>
                  </a:ext>
                </a:extLst>
              </p:cNvPr>
              <p:cNvCxnSpPr>
                <a:stCxn id="8" idx="4"/>
                <a:endCxn id="17" idx="0"/>
              </p:cNvCxnSpPr>
              <p:nvPr/>
            </p:nvCxnSpPr>
            <p:spPr bwMode="auto">
              <a:xfrm>
                <a:off x="6025209" y="4731429"/>
                <a:ext cx="135015" cy="497771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4E81AB79-F78F-B10F-C6ED-A777F3F7C61A}"/>
              </a:ext>
            </a:extLst>
          </p:cNvPr>
          <p:cNvCxnSpPr/>
          <p:nvPr/>
        </p:nvCxnSpPr>
        <p:spPr bwMode="auto">
          <a:xfrm flipV="1">
            <a:off x="4953000" y="4090273"/>
            <a:ext cx="0" cy="6888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387C4323-55B1-477B-D44A-B1607FD0124E}"/>
              </a:ext>
            </a:extLst>
          </p:cNvPr>
          <p:cNvCxnSpPr/>
          <p:nvPr/>
        </p:nvCxnSpPr>
        <p:spPr bwMode="auto">
          <a:xfrm>
            <a:off x="4953000" y="4779150"/>
            <a:ext cx="162018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4" name="Прямая соединительная линия 43">
            <a:extLst>
              <a:ext uri="{FF2B5EF4-FFF2-40B4-BE49-F238E27FC236}">
                <a16:creationId xmlns:a16="http://schemas.microsoft.com/office/drawing/2014/main" id="{762B420F-5D43-88F2-F241-B519B6A6F7FA}"/>
              </a:ext>
            </a:extLst>
          </p:cNvPr>
          <p:cNvCxnSpPr/>
          <p:nvPr/>
        </p:nvCxnSpPr>
        <p:spPr bwMode="auto">
          <a:xfrm flipV="1">
            <a:off x="4953000" y="4329100"/>
            <a:ext cx="405045" cy="45005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823922F5-EBEE-1C9D-0775-8C1C5DA6EBB8}"/>
              </a:ext>
            </a:extLst>
          </p:cNvPr>
          <p:cNvCxnSpPr/>
          <p:nvPr/>
        </p:nvCxnSpPr>
        <p:spPr bwMode="auto">
          <a:xfrm>
            <a:off x="5358044" y="4329101"/>
            <a:ext cx="855096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37DB51A-DE66-9ADE-682D-B0A32795037F}"/>
              </a:ext>
            </a:extLst>
          </p:cNvPr>
          <p:cNvSpPr txBox="1"/>
          <p:nvPr/>
        </p:nvSpPr>
        <p:spPr>
          <a:xfrm>
            <a:off x="6528175" y="4554125"/>
            <a:ext cx="279812" cy="366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3E5DA99-3AD9-B7D9-D8CF-3AFB616CA072}"/>
              </a:ext>
            </a:extLst>
          </p:cNvPr>
          <p:cNvSpPr txBox="1"/>
          <p:nvPr/>
        </p:nvSpPr>
        <p:spPr>
          <a:xfrm>
            <a:off x="4951162" y="3864540"/>
            <a:ext cx="279812" cy="366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8ED00ED7-E7FB-303E-E896-233190B0FDDB}"/>
              </a:ext>
            </a:extLst>
          </p:cNvPr>
          <p:cNvCxnSpPr/>
          <p:nvPr/>
        </p:nvCxnSpPr>
        <p:spPr bwMode="auto">
          <a:xfrm flipV="1">
            <a:off x="7365822" y="4134441"/>
            <a:ext cx="0" cy="6888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0" name="Прямая со стрелкой 49">
            <a:extLst>
              <a:ext uri="{FF2B5EF4-FFF2-40B4-BE49-F238E27FC236}">
                <a16:creationId xmlns:a16="http://schemas.microsoft.com/office/drawing/2014/main" id="{5FDD43B2-7F93-B3F2-A42C-491CB472DFBA}"/>
              </a:ext>
            </a:extLst>
          </p:cNvPr>
          <p:cNvCxnSpPr/>
          <p:nvPr/>
        </p:nvCxnSpPr>
        <p:spPr bwMode="auto">
          <a:xfrm>
            <a:off x="7365822" y="4823318"/>
            <a:ext cx="162018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6C66214-07EE-A2FC-D1EF-A9DC4D0B1EB1}"/>
              </a:ext>
            </a:extLst>
          </p:cNvPr>
          <p:cNvSpPr txBox="1"/>
          <p:nvPr/>
        </p:nvSpPr>
        <p:spPr>
          <a:xfrm>
            <a:off x="8940997" y="4598293"/>
            <a:ext cx="279812" cy="366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D4C098-96BB-3028-AB65-C3AAF5A24D23}"/>
              </a:ext>
            </a:extLst>
          </p:cNvPr>
          <p:cNvSpPr txBox="1"/>
          <p:nvPr/>
        </p:nvSpPr>
        <p:spPr>
          <a:xfrm>
            <a:off x="7363984" y="3908708"/>
            <a:ext cx="279812" cy="366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Полилиния: фигура 54">
            <a:extLst>
              <a:ext uri="{FF2B5EF4-FFF2-40B4-BE49-F238E27FC236}">
                <a16:creationId xmlns:a16="http://schemas.microsoft.com/office/drawing/2014/main" id="{C87CEE56-EDEF-96E7-4F8B-C56C30EF1F49}"/>
              </a:ext>
            </a:extLst>
          </p:cNvPr>
          <p:cNvSpPr/>
          <p:nvPr/>
        </p:nvSpPr>
        <p:spPr bwMode="auto">
          <a:xfrm>
            <a:off x="7366571" y="4281863"/>
            <a:ext cx="1438382" cy="536717"/>
          </a:xfrm>
          <a:custGeom>
            <a:avLst/>
            <a:gdLst>
              <a:gd name="connsiteX0" fmla="*/ 0 w 1438382"/>
              <a:gd name="connsiteY0" fmla="*/ 536717 h 536717"/>
              <a:gd name="connsiteX1" fmla="*/ 133564 w 1438382"/>
              <a:gd name="connsiteY1" fmla="*/ 187395 h 536717"/>
              <a:gd name="connsiteX2" fmla="*/ 400692 w 1438382"/>
              <a:gd name="connsiteY2" fmla="*/ 2461 h 536717"/>
              <a:gd name="connsiteX3" fmla="*/ 688368 w 1438382"/>
              <a:gd name="connsiteY3" fmla="*/ 84654 h 536717"/>
              <a:gd name="connsiteX4" fmla="*/ 770562 w 1438382"/>
              <a:gd name="connsiteY4" fmla="*/ 136025 h 536717"/>
              <a:gd name="connsiteX5" fmla="*/ 924674 w 1438382"/>
              <a:gd name="connsiteY5" fmla="*/ 362056 h 536717"/>
              <a:gd name="connsiteX6" fmla="*/ 1181528 w 1438382"/>
              <a:gd name="connsiteY6" fmla="*/ 392879 h 536717"/>
              <a:gd name="connsiteX7" fmla="*/ 1438382 w 1438382"/>
              <a:gd name="connsiteY7" fmla="*/ 269589 h 536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38382" h="536717">
                <a:moveTo>
                  <a:pt x="0" y="536717"/>
                </a:moveTo>
                <a:cubicBezTo>
                  <a:pt x="33391" y="406577"/>
                  <a:pt x="66782" y="276438"/>
                  <a:pt x="133564" y="187395"/>
                </a:cubicBezTo>
                <a:cubicBezTo>
                  <a:pt x="200346" y="98352"/>
                  <a:pt x="308225" y="19584"/>
                  <a:pt x="400692" y="2461"/>
                </a:cubicBezTo>
                <a:cubicBezTo>
                  <a:pt x="493159" y="-14662"/>
                  <a:pt x="626723" y="62393"/>
                  <a:pt x="688368" y="84654"/>
                </a:cubicBezTo>
                <a:cubicBezTo>
                  <a:pt x="750013" y="106915"/>
                  <a:pt x="731178" y="89791"/>
                  <a:pt x="770562" y="136025"/>
                </a:cubicBezTo>
                <a:cubicBezTo>
                  <a:pt x="809946" y="182259"/>
                  <a:pt x="856180" y="319247"/>
                  <a:pt x="924674" y="362056"/>
                </a:cubicBezTo>
                <a:cubicBezTo>
                  <a:pt x="993168" y="404865"/>
                  <a:pt x="1095910" y="408290"/>
                  <a:pt x="1181528" y="392879"/>
                </a:cubicBezTo>
                <a:cubicBezTo>
                  <a:pt x="1267146" y="377468"/>
                  <a:pt x="1352764" y="323528"/>
                  <a:pt x="1438382" y="269589"/>
                </a:cubicBezTo>
              </a:path>
            </a:pathLst>
          </a:cu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56" name="Таблица 56">
            <a:extLst>
              <a:ext uri="{FF2B5EF4-FFF2-40B4-BE49-F238E27FC236}">
                <a16:creationId xmlns:a16="http://schemas.microsoft.com/office/drawing/2014/main" id="{AE93D70B-90D5-F982-8ADE-281CE1935BBC}"/>
              </a:ext>
            </a:extLst>
          </p:cNvPr>
          <p:cNvGraphicFramePr>
            <a:graphicFrameLocks noGrp="1"/>
          </p:cNvGraphicFramePr>
          <p:nvPr/>
        </p:nvGraphicFramePr>
        <p:xfrm>
          <a:off x="6213140" y="5122175"/>
          <a:ext cx="3007670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6446">
                  <a:extLst>
                    <a:ext uri="{9D8B030D-6E8A-4147-A177-3AD203B41FA5}">
                      <a16:colId xmlns:a16="http://schemas.microsoft.com/office/drawing/2014/main" val="1295218711"/>
                    </a:ext>
                  </a:extLst>
                </a:gridCol>
                <a:gridCol w="427411">
                  <a:extLst>
                    <a:ext uri="{9D8B030D-6E8A-4147-A177-3AD203B41FA5}">
                      <a16:colId xmlns:a16="http://schemas.microsoft.com/office/drawing/2014/main" val="2050186415"/>
                    </a:ext>
                  </a:extLst>
                </a:gridCol>
                <a:gridCol w="470152">
                  <a:extLst>
                    <a:ext uri="{9D8B030D-6E8A-4147-A177-3AD203B41FA5}">
                      <a16:colId xmlns:a16="http://schemas.microsoft.com/office/drawing/2014/main" val="465528942"/>
                    </a:ext>
                  </a:extLst>
                </a:gridCol>
                <a:gridCol w="427411">
                  <a:extLst>
                    <a:ext uri="{9D8B030D-6E8A-4147-A177-3AD203B41FA5}">
                      <a16:colId xmlns:a16="http://schemas.microsoft.com/office/drawing/2014/main" val="2334143763"/>
                    </a:ext>
                  </a:extLst>
                </a:gridCol>
                <a:gridCol w="384669">
                  <a:extLst>
                    <a:ext uri="{9D8B030D-6E8A-4147-A177-3AD203B41FA5}">
                      <a16:colId xmlns:a16="http://schemas.microsoft.com/office/drawing/2014/main" val="2849795817"/>
                    </a:ext>
                  </a:extLst>
                </a:gridCol>
                <a:gridCol w="509186">
                  <a:extLst>
                    <a:ext uri="{9D8B030D-6E8A-4147-A177-3AD203B41FA5}">
                      <a16:colId xmlns:a16="http://schemas.microsoft.com/office/drawing/2014/main" val="3266640375"/>
                    </a:ext>
                  </a:extLst>
                </a:gridCol>
                <a:gridCol w="532395">
                  <a:extLst>
                    <a:ext uri="{9D8B030D-6E8A-4147-A177-3AD203B41FA5}">
                      <a16:colId xmlns:a16="http://schemas.microsoft.com/office/drawing/2014/main" val="3583523593"/>
                    </a:ext>
                  </a:extLst>
                </a:gridCol>
              </a:tblGrid>
              <a:tr h="244711"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ru-RU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481643"/>
                  </a:ext>
                </a:extLst>
              </a:tr>
              <a:tr h="244711"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ru-RU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26189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4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4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4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4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4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4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4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4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4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4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5" grpId="0" animBg="1"/>
      <p:bldP spid="114696" grpId="0" animBg="1"/>
      <p:bldP spid="114697" grpId="0" animBg="1"/>
      <p:bldP spid="114698" grpId="0" animBg="1"/>
      <p:bldP spid="114699" grpId="0" animBg="1"/>
      <p:bldP spid="114702" grpId="0" animBg="1"/>
      <p:bldP spid="114703" grpId="0" animBg="1"/>
      <p:bldP spid="114704" grpId="0" animBg="1"/>
      <p:bldP spid="114705" grpId="0" animBg="1"/>
      <p:bldP spid="114707" grpId="0" animBg="1"/>
      <p:bldP spid="47" grpId="0"/>
      <p:bldP spid="48" grpId="0"/>
      <p:bldP spid="53" grpId="0"/>
      <p:bldP spid="54" grpId="0"/>
      <p:bldP spid="5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F91B9D5-C73C-4E07-905F-F24B9F841C17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10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241550" y="6245225"/>
            <a:ext cx="5022850" cy="476250"/>
          </a:xfrm>
          <a:noFill/>
        </p:spPr>
        <p:txBody>
          <a:bodyPr/>
          <a:lstStyle/>
          <a:p>
            <a:r>
              <a:rPr lang="ru-RU" i="1" dirty="0"/>
              <a:t>«Моделирование»</a:t>
            </a: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1311295" y="1133745"/>
            <a:ext cx="7647150" cy="2070230"/>
            <a:chOff x="2608" y="1867"/>
            <a:chExt cx="7477" cy="2390"/>
          </a:xfrm>
        </p:grpSpPr>
        <p:sp>
          <p:nvSpPr>
            <p:cNvPr id="114711" name="Rectangle 23"/>
            <p:cNvSpPr>
              <a:spLocks noChangeArrowheads="1"/>
            </p:cNvSpPr>
            <p:nvPr/>
          </p:nvSpPr>
          <p:spPr bwMode="auto">
            <a:xfrm>
              <a:off x="2648" y="1867"/>
              <a:ext cx="7437" cy="578"/>
            </a:xfrm>
            <a:prstGeom prst="rect">
              <a:avLst/>
            </a:prstGeom>
            <a:solidFill>
              <a:srgbClr val="FFCCCC"/>
            </a:solidFill>
            <a:ln w="38100" cmpd="dbl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45720" rIns="18000" bIns="1080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2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Общие (фундаментальные) свойства систем</a:t>
              </a:r>
              <a:endParaRPr kumimoji="0" lang="ru-RU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4712" name="Rectangle 24"/>
            <p:cNvSpPr>
              <a:spLocks noChangeArrowheads="1"/>
            </p:cNvSpPr>
            <p:nvPr/>
          </p:nvSpPr>
          <p:spPr bwMode="auto">
            <a:xfrm>
              <a:off x="2608" y="3187"/>
              <a:ext cx="2513" cy="44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54000" tIns="45720" rIns="54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Целостность</a:t>
              </a:r>
              <a:endPara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4713" name="Rectangle 25"/>
            <p:cNvSpPr>
              <a:spLocks noChangeArrowheads="1"/>
            </p:cNvSpPr>
            <p:nvPr/>
          </p:nvSpPr>
          <p:spPr bwMode="auto">
            <a:xfrm>
              <a:off x="4430" y="3813"/>
              <a:ext cx="2223" cy="44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4572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Связность</a:t>
              </a:r>
              <a:endParaRPr kumimoji="0" 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14714" name="AutoShape 26"/>
            <p:cNvCxnSpPr>
              <a:cxnSpLocks noChangeShapeType="1"/>
            </p:cNvCxnSpPr>
            <p:nvPr/>
          </p:nvCxnSpPr>
          <p:spPr bwMode="auto">
            <a:xfrm>
              <a:off x="3880" y="2730"/>
              <a:ext cx="4946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14715" name="AutoShape 27"/>
            <p:cNvCxnSpPr>
              <a:cxnSpLocks noChangeShapeType="1"/>
            </p:cNvCxnSpPr>
            <p:nvPr/>
          </p:nvCxnSpPr>
          <p:spPr bwMode="auto">
            <a:xfrm>
              <a:off x="3880" y="2730"/>
              <a:ext cx="0" cy="48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14716" name="AutoShape 28"/>
            <p:cNvCxnSpPr>
              <a:cxnSpLocks noChangeShapeType="1"/>
            </p:cNvCxnSpPr>
            <p:nvPr/>
          </p:nvCxnSpPr>
          <p:spPr bwMode="auto">
            <a:xfrm>
              <a:off x="5504" y="2730"/>
              <a:ext cx="9" cy="1083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114717" name="Line 29"/>
            <p:cNvSpPr>
              <a:spLocks noChangeShapeType="1"/>
            </p:cNvSpPr>
            <p:nvPr/>
          </p:nvSpPr>
          <p:spPr bwMode="auto">
            <a:xfrm>
              <a:off x="6322" y="2445"/>
              <a:ext cx="0" cy="2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14718" name="Rectangle 30"/>
            <p:cNvSpPr>
              <a:spLocks noChangeArrowheads="1"/>
            </p:cNvSpPr>
            <p:nvPr/>
          </p:nvSpPr>
          <p:spPr bwMode="auto">
            <a:xfrm>
              <a:off x="7572" y="3817"/>
              <a:ext cx="2513" cy="44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54000" tIns="45720" rIns="54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Интегративность</a:t>
              </a:r>
              <a:endParaRPr kumimoji="0" lang="ru-RU" sz="2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4719" name="Rectangle 31"/>
            <p:cNvSpPr>
              <a:spLocks noChangeArrowheads="1"/>
            </p:cNvSpPr>
            <p:nvPr/>
          </p:nvSpPr>
          <p:spPr bwMode="auto">
            <a:xfrm>
              <a:off x="5919" y="3167"/>
              <a:ext cx="2513" cy="44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54000" tIns="45720" rIns="54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Организованность</a:t>
              </a:r>
              <a:endPara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4720" name="Line 32"/>
            <p:cNvSpPr>
              <a:spLocks noChangeShapeType="1"/>
            </p:cNvSpPr>
            <p:nvPr/>
          </p:nvSpPr>
          <p:spPr bwMode="auto">
            <a:xfrm flipV="1">
              <a:off x="7173" y="2730"/>
              <a:ext cx="0" cy="4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14721" name="Line 33"/>
            <p:cNvSpPr>
              <a:spLocks noChangeShapeType="1"/>
            </p:cNvSpPr>
            <p:nvPr/>
          </p:nvSpPr>
          <p:spPr bwMode="auto">
            <a:xfrm flipV="1">
              <a:off x="8826" y="2730"/>
              <a:ext cx="0" cy="10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906107C7-565E-493C-BBA7-C06AC06B20D6}"/>
              </a:ext>
            </a:extLst>
          </p:cNvPr>
          <p:cNvGrpSpPr/>
          <p:nvPr/>
        </p:nvGrpSpPr>
        <p:grpSpPr>
          <a:xfrm>
            <a:off x="562009" y="3761485"/>
            <a:ext cx="8756476" cy="1285732"/>
            <a:chOff x="497506" y="3761485"/>
            <a:chExt cx="8756476" cy="1285732"/>
          </a:xfrm>
        </p:grpSpPr>
        <p:cxnSp>
          <p:nvCxnSpPr>
            <p:cNvPr id="54" name="AutoShape 27"/>
            <p:cNvCxnSpPr>
              <a:cxnSpLocks noChangeShapeType="1"/>
            </p:cNvCxnSpPr>
            <p:nvPr/>
          </p:nvCxnSpPr>
          <p:spPr bwMode="auto">
            <a:xfrm>
              <a:off x="2657745" y="4329100"/>
              <a:ext cx="0" cy="349771"/>
            </a:xfrm>
            <a:prstGeom prst="straightConnector1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65" name="Прямая соединительная линия 64"/>
            <p:cNvCxnSpPr/>
            <p:nvPr/>
          </p:nvCxnSpPr>
          <p:spPr bwMode="auto">
            <a:xfrm rot="5400000" flipH="1" flipV="1">
              <a:off x="7720336" y="4484622"/>
              <a:ext cx="311199" cy="155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3" name="Group 22"/>
            <p:cNvGrpSpPr>
              <a:grpSpLocks/>
            </p:cNvGrpSpPr>
            <p:nvPr/>
          </p:nvGrpSpPr>
          <p:grpSpPr bwMode="auto">
            <a:xfrm>
              <a:off x="497506" y="3761485"/>
              <a:ext cx="8756476" cy="1285732"/>
              <a:chOff x="1603" y="1807"/>
              <a:chExt cx="9210" cy="2025"/>
            </a:xfrm>
          </p:grpSpPr>
          <p:sp>
            <p:nvSpPr>
              <p:cNvPr id="42" name="Rectangle 23"/>
              <p:cNvSpPr>
                <a:spLocks noChangeArrowheads="1"/>
              </p:cNvSpPr>
              <p:nvPr/>
            </p:nvSpPr>
            <p:spPr bwMode="auto">
              <a:xfrm>
                <a:off x="4396" y="1807"/>
                <a:ext cx="3709" cy="638"/>
              </a:xfrm>
              <a:prstGeom prst="rect">
                <a:avLst/>
              </a:prstGeom>
              <a:solidFill>
                <a:srgbClr val="99FF99"/>
              </a:solidFill>
              <a:ln w="25400" cmpd="dbl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18000" tIns="45720" rIns="18000" bIns="1080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2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Эффективность</a:t>
                </a:r>
                <a:endParaRPr kumimoji="0" lang="ru-RU" sz="2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3" name="Rectangle 24"/>
              <p:cNvSpPr>
                <a:spLocks noChangeArrowheads="1"/>
              </p:cNvSpPr>
              <p:nvPr/>
            </p:nvSpPr>
            <p:spPr bwMode="auto">
              <a:xfrm>
                <a:off x="1603" y="3198"/>
                <a:ext cx="1379" cy="629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54000" tIns="45720" rIns="54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Анализ</a:t>
                </a:r>
                <a:endParaRPr kumimoji="0" lang="ru-RU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4" name="Rectangle 25"/>
              <p:cNvSpPr>
                <a:spLocks noChangeArrowheads="1"/>
              </p:cNvSpPr>
              <p:nvPr/>
            </p:nvSpPr>
            <p:spPr bwMode="auto">
              <a:xfrm>
                <a:off x="3122" y="3198"/>
                <a:ext cx="1451" cy="634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18000" tIns="45720" rIns="18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Синтез</a:t>
                </a:r>
                <a:endParaRPr kumimoji="0" lang="ru-RU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45" name="AutoShape 26"/>
              <p:cNvCxnSpPr>
                <a:cxnSpLocks noChangeShapeType="1"/>
              </p:cNvCxnSpPr>
              <p:nvPr/>
            </p:nvCxnSpPr>
            <p:spPr bwMode="auto">
              <a:xfrm>
                <a:off x="2351" y="2730"/>
                <a:ext cx="7013" cy="3"/>
              </a:xfrm>
              <a:prstGeom prst="straightConnector1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46" name="AutoShape 27"/>
              <p:cNvCxnSpPr>
                <a:cxnSpLocks noChangeShapeType="1"/>
              </p:cNvCxnSpPr>
              <p:nvPr/>
            </p:nvCxnSpPr>
            <p:spPr bwMode="auto">
              <a:xfrm>
                <a:off x="2351" y="2730"/>
                <a:ext cx="0" cy="480"/>
              </a:xfrm>
              <a:prstGeom prst="straightConnector1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</p:cxnSp>
          <p:sp>
            <p:nvSpPr>
              <p:cNvPr id="48" name="Line 29"/>
              <p:cNvSpPr>
                <a:spLocks noChangeShapeType="1"/>
              </p:cNvSpPr>
              <p:nvPr/>
            </p:nvSpPr>
            <p:spPr bwMode="auto">
              <a:xfrm>
                <a:off x="6281" y="2445"/>
                <a:ext cx="0" cy="285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" name="Line 32"/>
              <p:cNvSpPr>
                <a:spLocks noChangeShapeType="1"/>
              </p:cNvSpPr>
              <p:nvPr/>
            </p:nvSpPr>
            <p:spPr bwMode="auto">
              <a:xfrm flipV="1">
                <a:off x="6278" y="2730"/>
                <a:ext cx="0" cy="457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0" name="Rectangle 31"/>
              <p:cNvSpPr>
                <a:spLocks noChangeArrowheads="1"/>
              </p:cNvSpPr>
              <p:nvPr/>
            </p:nvSpPr>
            <p:spPr bwMode="auto">
              <a:xfrm>
                <a:off x="4779" y="3127"/>
                <a:ext cx="2949" cy="671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54000" tIns="45720" rIns="54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Показатель эффективности</a:t>
                </a:r>
                <a:endParaRPr kumimoji="0" lang="ru-RU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9" name="Rectangle 30"/>
              <p:cNvSpPr>
                <a:spLocks noChangeArrowheads="1"/>
              </p:cNvSpPr>
              <p:nvPr/>
            </p:nvSpPr>
            <p:spPr bwMode="auto">
              <a:xfrm>
                <a:off x="7914" y="3127"/>
                <a:ext cx="2899" cy="7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54000" tIns="45720" rIns="54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Критерий эффективности</a:t>
                </a:r>
                <a:endParaRPr kumimoji="0" lang="ru-RU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210F7C1-EB19-45D5-911D-4CE97CDCBE2A}"/>
              </a:ext>
            </a:extLst>
          </p:cNvPr>
          <p:cNvGrpSpPr/>
          <p:nvPr/>
        </p:nvGrpSpPr>
        <p:grpSpPr>
          <a:xfrm>
            <a:off x="2695983" y="5044043"/>
            <a:ext cx="5244377" cy="860232"/>
            <a:chOff x="2695987" y="5044043"/>
            <a:chExt cx="5244377" cy="860232"/>
          </a:xfrm>
        </p:grpSpPr>
        <p:sp>
          <p:nvSpPr>
            <p:cNvPr id="56" name="Rectangle 31"/>
            <p:cNvSpPr>
              <a:spLocks noChangeArrowheads="1"/>
            </p:cNvSpPr>
            <p:nvPr/>
          </p:nvSpPr>
          <p:spPr bwMode="auto">
            <a:xfrm>
              <a:off x="3663950" y="5478237"/>
              <a:ext cx="2803783" cy="42603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54000" tIns="45720" rIns="54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Оптимальная система</a:t>
              </a:r>
              <a:endPara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58" name="Прямая соединительная линия 57"/>
            <p:cNvCxnSpPr>
              <a:stCxn id="49" idx="2"/>
              <a:endCxn id="56" idx="3"/>
            </p:cNvCxnSpPr>
            <p:nvPr/>
          </p:nvCxnSpPr>
          <p:spPr bwMode="auto">
            <a:xfrm flipH="1">
              <a:off x="6467733" y="5044043"/>
              <a:ext cx="1472631" cy="64721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Прямая соединительная линия 59"/>
            <p:cNvCxnSpPr>
              <a:stCxn id="44" idx="2"/>
              <a:endCxn id="56" idx="1"/>
            </p:cNvCxnSpPr>
            <p:nvPr/>
          </p:nvCxnSpPr>
          <p:spPr bwMode="auto">
            <a:xfrm>
              <a:off x="2695987" y="5047217"/>
              <a:ext cx="967963" cy="64403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Rectangle 10">
            <a:extLst>
              <a:ext uri="{FF2B5EF4-FFF2-40B4-BE49-F238E27FC236}">
                <a16:creationId xmlns:a16="http://schemas.microsoft.com/office/drawing/2014/main" id="{BE0CD84C-E77D-4D67-A046-1893FB8B8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2" y="447055"/>
            <a:ext cx="93630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b="1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Фундаментальные свойства систем</a:t>
            </a: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1C3D0787-8D80-4E17-BD08-0A9CE4080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98630"/>
            <a:ext cx="9518650" cy="350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b="1" kern="0" dirty="0">
                <a:solidFill>
                  <a:srgbClr val="CC3300"/>
                </a:solidFill>
                <a:latin typeface="Times New Roman" pitchFamily="18" charset="0"/>
              </a:rPr>
              <a:t>1.1. СИСТЕМА</a:t>
            </a:r>
            <a:endParaRPr kumimoji="0" lang="ru-RU" sz="2000" b="1" i="0" u="none" strike="noStrike" kern="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  <a:hlinkClick r:id="" action="ppaction://noactio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F91B9D5-C73C-4E07-905F-F24B9F841C17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10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241550" y="6245225"/>
            <a:ext cx="5022850" cy="476250"/>
          </a:xfrm>
          <a:noFill/>
        </p:spPr>
        <p:txBody>
          <a:bodyPr/>
          <a:lstStyle/>
          <a:p>
            <a:r>
              <a:rPr lang="ru-RU" i="1"/>
              <a:t>«Моделирование»</a:t>
            </a:r>
            <a:endParaRPr lang="ru-RU" i="1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832BA92E-E151-D44C-2692-FABEE6DBFDCC}"/>
              </a:ext>
            </a:extLst>
          </p:cNvPr>
          <p:cNvGrpSpPr/>
          <p:nvPr/>
        </p:nvGrpSpPr>
        <p:grpSpPr>
          <a:xfrm>
            <a:off x="452499" y="1043735"/>
            <a:ext cx="9178215" cy="1257186"/>
            <a:chOff x="452499" y="1043735"/>
            <a:chExt cx="9178215" cy="1257186"/>
          </a:xfrm>
        </p:grpSpPr>
        <p:sp>
          <p:nvSpPr>
            <p:cNvPr id="115719" name="Rectangle 7"/>
            <p:cNvSpPr>
              <a:spLocks noChangeArrowheads="1"/>
            </p:cNvSpPr>
            <p:nvPr/>
          </p:nvSpPr>
          <p:spPr bwMode="auto">
            <a:xfrm>
              <a:off x="4547955" y="1848809"/>
              <a:ext cx="2961396" cy="452111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1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Характеристики</a:t>
              </a:r>
              <a:endParaRPr kumimoji="0" lang="ru-RU" sz="20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39" name="Line 27"/>
            <p:cNvSpPr>
              <a:spLocks noChangeShapeType="1"/>
            </p:cNvSpPr>
            <p:nvPr/>
          </p:nvSpPr>
          <p:spPr bwMode="auto">
            <a:xfrm flipV="1">
              <a:off x="6033120" y="1478463"/>
              <a:ext cx="0" cy="38381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15715" name="Rectangle 3"/>
            <p:cNvSpPr>
              <a:spLocks noChangeArrowheads="1"/>
            </p:cNvSpPr>
            <p:nvPr/>
          </p:nvSpPr>
          <p:spPr bwMode="auto">
            <a:xfrm>
              <a:off x="452499" y="1043735"/>
              <a:ext cx="9178215" cy="486741"/>
            </a:xfrm>
            <a:prstGeom prst="rect">
              <a:avLst/>
            </a:prstGeom>
            <a:solidFill>
              <a:srgbClr val="66FF99"/>
            </a:solidFill>
            <a:ln w="38100" cmpd="dbl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54000" tIns="45720" rIns="54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Описание системы </a:t>
              </a:r>
              <a:endParaRPr kumimoji="0" 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16" name="Rectangle 4"/>
            <p:cNvSpPr>
              <a:spLocks noChangeArrowheads="1"/>
            </p:cNvSpPr>
            <p:nvPr/>
          </p:nvSpPr>
          <p:spPr bwMode="auto">
            <a:xfrm>
              <a:off x="452501" y="1839190"/>
              <a:ext cx="3788516" cy="461731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1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Параметры</a:t>
              </a:r>
              <a:endParaRPr kumimoji="0" lang="ru-RU" sz="20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38" name="Line 26"/>
            <p:cNvSpPr>
              <a:spLocks noChangeShapeType="1"/>
            </p:cNvSpPr>
            <p:nvPr/>
          </p:nvSpPr>
          <p:spPr bwMode="auto">
            <a:xfrm flipV="1">
              <a:off x="2342710" y="1517834"/>
              <a:ext cx="0" cy="32898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AEF2E7B2-143F-0BBF-5F2A-FFC97E7DA74D}"/>
              </a:ext>
            </a:extLst>
          </p:cNvPr>
          <p:cNvGrpSpPr/>
          <p:nvPr/>
        </p:nvGrpSpPr>
        <p:grpSpPr>
          <a:xfrm>
            <a:off x="452500" y="2300921"/>
            <a:ext cx="3788516" cy="2628372"/>
            <a:chOff x="452500" y="2300921"/>
            <a:chExt cx="3788516" cy="2628372"/>
          </a:xfrm>
        </p:grpSpPr>
        <p:sp>
          <p:nvSpPr>
            <p:cNvPr id="115718" name="Rectangle 6"/>
            <p:cNvSpPr>
              <a:spLocks noChangeArrowheads="1"/>
            </p:cNvSpPr>
            <p:nvPr/>
          </p:nvSpPr>
          <p:spPr bwMode="auto">
            <a:xfrm>
              <a:off x="1108505" y="2575073"/>
              <a:ext cx="1430747" cy="50982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45720" rIns="1800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Внутренние</a:t>
              </a:r>
              <a:endParaRPr kumimoji="0" 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20" name="Rectangle 8"/>
            <p:cNvSpPr>
              <a:spLocks noChangeArrowheads="1"/>
            </p:cNvSpPr>
            <p:nvPr/>
          </p:nvSpPr>
          <p:spPr bwMode="auto">
            <a:xfrm>
              <a:off x="452500" y="3431199"/>
              <a:ext cx="1599938" cy="480969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45720" rIns="1800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Структурные</a:t>
              </a:r>
              <a:endParaRPr kumimoji="0" 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21" name="Rectangle 9"/>
            <p:cNvSpPr>
              <a:spLocks noChangeArrowheads="1"/>
            </p:cNvSpPr>
            <p:nvPr/>
          </p:nvSpPr>
          <p:spPr bwMode="auto">
            <a:xfrm>
              <a:off x="2683111" y="2575073"/>
              <a:ext cx="1557905" cy="50982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45720" rIns="1800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Внешние</a:t>
              </a:r>
              <a:endPara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22" name="Rectangle 10"/>
            <p:cNvSpPr>
              <a:spLocks noChangeArrowheads="1"/>
            </p:cNvSpPr>
            <p:nvPr/>
          </p:nvSpPr>
          <p:spPr bwMode="auto">
            <a:xfrm>
              <a:off x="632520" y="4219989"/>
              <a:ext cx="2096646" cy="480969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45720" rIns="1800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Функциональные</a:t>
              </a:r>
              <a:endParaRPr kumimoji="0" 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24" name="Rectangle 12"/>
            <p:cNvSpPr>
              <a:spLocks noChangeArrowheads="1"/>
            </p:cNvSpPr>
            <p:nvPr/>
          </p:nvSpPr>
          <p:spPr bwMode="auto">
            <a:xfrm>
              <a:off x="2933201" y="4219989"/>
              <a:ext cx="1254714" cy="709304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45720" rIns="1800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Внешней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среды</a:t>
              </a:r>
              <a:endPara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25" name="Rectangle 13"/>
            <p:cNvSpPr>
              <a:spLocks noChangeArrowheads="1"/>
            </p:cNvSpPr>
            <p:nvPr/>
          </p:nvSpPr>
          <p:spPr bwMode="auto">
            <a:xfrm>
              <a:off x="2252700" y="3460057"/>
              <a:ext cx="1588064" cy="452111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45720" rIns="1800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Нагрузочные</a:t>
              </a:r>
              <a:endParaRPr kumimoji="0" 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15726" name="AutoShape 14"/>
            <p:cNvCxnSpPr>
              <a:cxnSpLocks noChangeShapeType="1"/>
            </p:cNvCxnSpPr>
            <p:nvPr/>
          </p:nvCxnSpPr>
          <p:spPr bwMode="auto">
            <a:xfrm>
              <a:off x="2162690" y="3084901"/>
              <a:ext cx="0" cy="1135088"/>
            </a:xfrm>
            <a:prstGeom prst="straightConnector1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15727" name="AutoShape 15"/>
            <p:cNvCxnSpPr>
              <a:cxnSpLocks noChangeShapeType="1"/>
            </p:cNvCxnSpPr>
            <p:nvPr/>
          </p:nvCxnSpPr>
          <p:spPr bwMode="auto">
            <a:xfrm>
              <a:off x="4007895" y="3084901"/>
              <a:ext cx="0" cy="1135088"/>
            </a:xfrm>
            <a:prstGeom prst="straightConnector1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115740" name="Line 28"/>
            <p:cNvSpPr>
              <a:spLocks noChangeShapeType="1"/>
            </p:cNvSpPr>
            <p:nvPr/>
          </p:nvSpPr>
          <p:spPr bwMode="auto">
            <a:xfrm flipV="1">
              <a:off x="1847655" y="2300921"/>
              <a:ext cx="0" cy="27415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15741" name="Line 29"/>
            <p:cNvSpPr>
              <a:spLocks noChangeShapeType="1"/>
            </p:cNvSpPr>
            <p:nvPr/>
          </p:nvSpPr>
          <p:spPr bwMode="auto">
            <a:xfrm flipV="1">
              <a:off x="3332820" y="2300921"/>
              <a:ext cx="0" cy="27415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15742" name="Line 30"/>
            <p:cNvSpPr>
              <a:spLocks noChangeShapeType="1"/>
            </p:cNvSpPr>
            <p:nvPr/>
          </p:nvSpPr>
          <p:spPr bwMode="auto">
            <a:xfrm flipV="1">
              <a:off x="1354878" y="3068548"/>
              <a:ext cx="0" cy="38381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15743" name="Line 31"/>
            <p:cNvSpPr>
              <a:spLocks noChangeShapeType="1"/>
            </p:cNvSpPr>
            <p:nvPr/>
          </p:nvSpPr>
          <p:spPr bwMode="auto">
            <a:xfrm flipV="1">
              <a:off x="3062790" y="3068548"/>
              <a:ext cx="0" cy="38381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0A33262C-CE31-DCE4-1EFC-5882658FA64D}"/>
              </a:ext>
            </a:extLst>
          </p:cNvPr>
          <p:cNvGrpSpPr/>
          <p:nvPr/>
        </p:nvGrpSpPr>
        <p:grpSpPr>
          <a:xfrm>
            <a:off x="4547955" y="2300921"/>
            <a:ext cx="3676167" cy="3243314"/>
            <a:chOff x="4547955" y="2300921"/>
            <a:chExt cx="3676167" cy="3243314"/>
          </a:xfrm>
        </p:grpSpPr>
        <p:sp>
          <p:nvSpPr>
            <p:cNvPr id="115717" name="Rectangle 5"/>
            <p:cNvSpPr>
              <a:spLocks noChangeArrowheads="1"/>
            </p:cNvSpPr>
            <p:nvPr/>
          </p:nvSpPr>
          <p:spPr bwMode="auto">
            <a:xfrm>
              <a:off x="4547955" y="2575073"/>
              <a:ext cx="1386220" cy="4969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45720" rIns="1800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Глобальные</a:t>
              </a:r>
              <a:endParaRPr kumimoji="0" 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23" name="Rectangle 11"/>
            <p:cNvSpPr>
              <a:spLocks noChangeArrowheads="1"/>
            </p:cNvSpPr>
            <p:nvPr/>
          </p:nvSpPr>
          <p:spPr bwMode="auto">
            <a:xfrm>
              <a:off x="6123129" y="2575073"/>
              <a:ext cx="1386221" cy="493475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45720" rIns="1800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Локальные</a:t>
              </a:r>
              <a:endParaRPr kumimoji="0" 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44" name="Line 32"/>
            <p:cNvSpPr>
              <a:spLocks noChangeShapeType="1"/>
            </p:cNvSpPr>
            <p:nvPr/>
          </p:nvSpPr>
          <p:spPr bwMode="auto">
            <a:xfrm flipV="1">
              <a:off x="5268034" y="2300921"/>
              <a:ext cx="0" cy="27415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15745" name="Line 33"/>
            <p:cNvSpPr>
              <a:spLocks noChangeShapeType="1"/>
            </p:cNvSpPr>
            <p:nvPr/>
          </p:nvSpPr>
          <p:spPr bwMode="auto">
            <a:xfrm flipV="1">
              <a:off x="6843209" y="2300921"/>
              <a:ext cx="0" cy="27415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grpSp>
          <p:nvGrpSpPr>
            <p:cNvPr id="2" name="Группа 1">
              <a:extLst>
                <a:ext uri="{FF2B5EF4-FFF2-40B4-BE49-F238E27FC236}">
                  <a16:creationId xmlns:a16="http://schemas.microsoft.com/office/drawing/2014/main" id="{413C98B1-669B-44CC-8E93-C110EC32244F}"/>
                </a:ext>
              </a:extLst>
            </p:cNvPr>
            <p:cNvGrpSpPr/>
            <p:nvPr/>
          </p:nvGrpSpPr>
          <p:grpSpPr>
            <a:xfrm>
              <a:off x="4952999" y="3076862"/>
              <a:ext cx="3271123" cy="2467373"/>
              <a:chOff x="5708011" y="3068548"/>
              <a:chExt cx="3271123" cy="2467373"/>
            </a:xfrm>
          </p:grpSpPr>
          <p:sp>
            <p:nvSpPr>
              <p:cNvPr id="115728" name="Rectangle 16"/>
              <p:cNvSpPr>
                <a:spLocks noChangeArrowheads="1"/>
              </p:cNvSpPr>
              <p:nvPr/>
            </p:nvSpPr>
            <p:spPr bwMode="auto">
              <a:xfrm>
                <a:off x="5941521" y="3287870"/>
                <a:ext cx="2096645" cy="47135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18000" tIns="45720" rIns="18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000" b="0" i="0" u="none" strike="noStrike" cap="none" normalizeH="0" baseline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Мощностные</a:t>
                </a:r>
                <a:endParaRPr kumimoji="0" lang="ru-RU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15729" name="Rectangle 17"/>
              <p:cNvSpPr>
                <a:spLocks noChangeArrowheads="1"/>
              </p:cNvSpPr>
              <p:nvPr/>
            </p:nvSpPr>
            <p:spPr bwMode="auto">
              <a:xfrm>
                <a:off x="6170084" y="3725552"/>
                <a:ext cx="2096645" cy="47135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18000" tIns="45720" rIns="18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Временные</a:t>
                </a:r>
                <a:endParaRPr kumimoji="0" lang="ru-RU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15730" name="Rectangle 18"/>
              <p:cNvSpPr>
                <a:spLocks noChangeArrowheads="1"/>
              </p:cNvSpPr>
              <p:nvPr/>
            </p:nvSpPr>
            <p:spPr bwMode="auto">
              <a:xfrm>
                <a:off x="6407552" y="4175740"/>
                <a:ext cx="2096645" cy="47135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18000" tIns="45720" rIns="18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0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Надежностные</a:t>
                </a:r>
                <a:endParaRPr kumimoji="0" lang="ru-RU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15731" name="Rectangle 19"/>
              <p:cNvSpPr>
                <a:spLocks noChangeArrowheads="1"/>
              </p:cNvSpPr>
              <p:nvPr/>
            </p:nvSpPr>
            <p:spPr bwMode="auto">
              <a:xfrm>
                <a:off x="6645021" y="4625927"/>
                <a:ext cx="2096645" cy="47135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18000" tIns="45720" rIns="18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0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Экономические</a:t>
                </a:r>
                <a:endParaRPr kumimoji="0" lang="ru-RU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15732" name="Line 20"/>
              <p:cNvSpPr>
                <a:spLocks noChangeShapeType="1"/>
              </p:cNvSpPr>
              <p:nvPr/>
            </p:nvSpPr>
            <p:spPr bwMode="auto">
              <a:xfrm>
                <a:off x="5708011" y="3068548"/>
                <a:ext cx="0" cy="224805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 dirty="0"/>
              </a:p>
            </p:txBody>
          </p:sp>
          <p:sp>
            <p:nvSpPr>
              <p:cNvPr id="115733" name="Line 21"/>
              <p:cNvSpPr>
                <a:spLocks noChangeShapeType="1"/>
              </p:cNvSpPr>
              <p:nvPr/>
            </p:nvSpPr>
            <p:spPr bwMode="auto">
              <a:xfrm>
                <a:off x="5708011" y="3507192"/>
                <a:ext cx="225595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  <p:sp>
            <p:nvSpPr>
              <p:cNvPr id="115734" name="Line 22"/>
              <p:cNvSpPr>
                <a:spLocks noChangeShapeType="1"/>
              </p:cNvSpPr>
              <p:nvPr/>
            </p:nvSpPr>
            <p:spPr bwMode="auto">
              <a:xfrm>
                <a:off x="5708011" y="4439311"/>
                <a:ext cx="676784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  <p:sp>
            <p:nvSpPr>
              <p:cNvPr id="115735" name="Line 23"/>
              <p:cNvSpPr>
                <a:spLocks noChangeShapeType="1"/>
              </p:cNvSpPr>
              <p:nvPr/>
            </p:nvSpPr>
            <p:spPr bwMode="auto">
              <a:xfrm flipH="1">
                <a:off x="5708011" y="3945836"/>
                <a:ext cx="45118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  <p:sp>
            <p:nvSpPr>
              <p:cNvPr id="115736" name="Line 24"/>
              <p:cNvSpPr>
                <a:spLocks noChangeShapeType="1"/>
              </p:cNvSpPr>
              <p:nvPr/>
            </p:nvSpPr>
            <p:spPr bwMode="auto">
              <a:xfrm flipH="1">
                <a:off x="5708011" y="4823124"/>
                <a:ext cx="958777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  <p:sp>
            <p:nvSpPr>
              <p:cNvPr id="115737" name="Line 25"/>
              <p:cNvSpPr>
                <a:spLocks noChangeShapeType="1"/>
              </p:cNvSpPr>
              <p:nvPr/>
            </p:nvSpPr>
            <p:spPr bwMode="auto">
              <a:xfrm flipH="1">
                <a:off x="5708011" y="5316599"/>
                <a:ext cx="1184372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  <p:sp>
            <p:nvSpPr>
              <p:cNvPr id="115746" name="Rectangle 34"/>
              <p:cNvSpPr>
                <a:spLocks noChangeArrowheads="1"/>
              </p:cNvSpPr>
              <p:nvPr/>
            </p:nvSpPr>
            <p:spPr bwMode="auto">
              <a:xfrm>
                <a:off x="6882489" y="5064571"/>
                <a:ext cx="2096645" cy="47135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18000" tIns="45720" rIns="18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0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Прочие</a:t>
                </a:r>
                <a:endParaRPr kumimoji="0" lang="ru-RU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sp>
        <p:nvSpPr>
          <p:cNvPr id="39" name="Rectangle 10">
            <a:extLst>
              <a:ext uri="{FF2B5EF4-FFF2-40B4-BE49-F238E27FC236}">
                <a16:creationId xmlns:a16="http://schemas.microsoft.com/office/drawing/2014/main" id="{5BC1291C-8EB9-4DC9-BB23-1C44F59F8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2" y="447055"/>
            <a:ext cx="93630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b="1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Параметры и характеристики</a:t>
            </a:r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C3BF9291-7DBE-47E6-9A98-CA8A597CF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98630"/>
            <a:ext cx="9518650" cy="350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b="1" kern="0" dirty="0">
                <a:solidFill>
                  <a:srgbClr val="CC3300"/>
                </a:solidFill>
                <a:latin typeface="Times New Roman" pitchFamily="18" charset="0"/>
              </a:rPr>
              <a:t>1.1. СИСТЕМА</a:t>
            </a:r>
            <a:endParaRPr kumimoji="0" lang="ru-RU" sz="2000" b="1" i="0" u="none" strike="noStrike" kern="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  <a:hlinkClick r:id="" action="ppaction://noaction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6F4794A-3014-44A9-AB51-32213263F499}"/>
              </a:ext>
            </a:extLst>
          </p:cNvPr>
          <p:cNvSpPr txBox="1"/>
          <p:nvPr/>
        </p:nvSpPr>
        <p:spPr>
          <a:xfrm>
            <a:off x="107645" y="5364215"/>
            <a:ext cx="508556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«В любом наборе исходных данных самая надежная величина, не требующая никакой проверки, является ошибочной» </a:t>
            </a:r>
            <a:r>
              <a:rPr lang="ru-RU" sz="1400" b="1" i="1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(Третий закон </a:t>
            </a:r>
            <a:r>
              <a:rPr lang="ru-RU" sz="1400" b="1" i="1" dirty="0" err="1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Финэйгла</a:t>
            </a:r>
            <a:r>
              <a:rPr lang="ru-RU" sz="1400" b="1" i="1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1400" dirty="0">
              <a:solidFill>
                <a:srgbClr val="0033CC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950B6DD4-3242-7702-A38C-516BF8254D2F}"/>
              </a:ext>
            </a:extLst>
          </p:cNvPr>
          <p:cNvGrpSpPr/>
          <p:nvPr/>
        </p:nvGrpSpPr>
        <p:grpSpPr>
          <a:xfrm>
            <a:off x="7509351" y="1682325"/>
            <a:ext cx="2202974" cy="1157212"/>
            <a:chOff x="7509351" y="1682325"/>
            <a:chExt cx="2202974" cy="1157212"/>
          </a:xfrm>
        </p:grpSpPr>
        <p:sp>
          <p:nvSpPr>
            <p:cNvPr id="3" name="Rectangle 5">
              <a:extLst>
                <a:ext uri="{FF2B5EF4-FFF2-40B4-BE49-F238E27FC236}">
                  <a16:creationId xmlns:a16="http://schemas.microsoft.com/office/drawing/2014/main" id="{66B6B048-F9D5-9908-1D3D-1C12A792B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6654" y="1682325"/>
              <a:ext cx="1623688" cy="47135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45720" rIns="1800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ru-RU" sz="2000" dirty="0">
                  <a:solidFill>
                    <a:srgbClr val="000000"/>
                  </a:solidFill>
                  <a:latin typeface="Times New Roman" pitchFamily="18" charset="0"/>
                  <a:cs typeface="Arial" pitchFamily="34" charset="0"/>
                </a:rPr>
                <a:t>качественные</a:t>
              </a:r>
              <a:endPara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1065E00-0798-FC2E-FD77-0DB89F0076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4920" y="2368187"/>
              <a:ext cx="1887405" cy="47135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45720" rIns="1800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ru-RU" sz="2000" dirty="0">
                  <a:solidFill>
                    <a:srgbClr val="000000"/>
                  </a:solidFill>
                  <a:latin typeface="Times New Roman" pitchFamily="18" charset="0"/>
                  <a:cs typeface="Arial" pitchFamily="34" charset="0"/>
                </a:rPr>
                <a:t>количественные</a:t>
              </a:r>
              <a:endPara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0EB1167B-2697-68A6-C018-E02E0546B331}"/>
                </a:ext>
              </a:extLst>
            </p:cNvPr>
            <p:cNvCxnSpPr>
              <a:stCxn id="115719" idx="3"/>
              <a:endCxn id="3" idx="1"/>
            </p:cNvCxnSpPr>
            <p:nvPr/>
          </p:nvCxnSpPr>
          <p:spPr bwMode="auto">
            <a:xfrm flipV="1">
              <a:off x="7509351" y="1918000"/>
              <a:ext cx="477303" cy="156865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Прямая соединительная линия 10">
              <a:extLst>
                <a:ext uri="{FF2B5EF4-FFF2-40B4-BE49-F238E27FC236}">
                  <a16:creationId xmlns:a16="http://schemas.microsoft.com/office/drawing/2014/main" id="{072AA3D2-585A-7369-D63F-F1BBD0637905}"/>
                </a:ext>
              </a:extLst>
            </p:cNvPr>
            <p:cNvCxnSpPr>
              <a:stCxn id="115719" idx="3"/>
              <a:endCxn id="6" idx="1"/>
            </p:cNvCxnSpPr>
            <p:nvPr/>
          </p:nvCxnSpPr>
          <p:spPr bwMode="auto">
            <a:xfrm>
              <a:off x="7509351" y="2074865"/>
              <a:ext cx="315569" cy="52899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F91B9D5-C73C-4E07-905F-F24B9F841C17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10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241550" y="6245225"/>
            <a:ext cx="5022850" cy="476250"/>
          </a:xfrm>
          <a:noFill/>
        </p:spPr>
        <p:txBody>
          <a:bodyPr/>
          <a:lstStyle/>
          <a:p>
            <a:r>
              <a:rPr lang="ru-RU" i="1"/>
              <a:t>«Моделирование»</a:t>
            </a:r>
            <a:endParaRPr lang="ru-RU" i="1" dirty="0"/>
          </a:p>
        </p:txBody>
      </p:sp>
      <p:sp>
        <p:nvSpPr>
          <p:cNvPr id="39" name="Rectangle 10">
            <a:extLst>
              <a:ext uri="{FF2B5EF4-FFF2-40B4-BE49-F238E27FC236}">
                <a16:creationId xmlns:a16="http://schemas.microsoft.com/office/drawing/2014/main" id="{5BC1291C-8EB9-4DC9-BB23-1C44F59F8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2" y="447055"/>
            <a:ext cx="93630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b="1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Взаимосвязь параметров и характеристик</a:t>
            </a:r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C3BF9291-7DBE-47E6-9A98-CA8A597CF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98630"/>
            <a:ext cx="9518650" cy="350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b="1" kern="0" dirty="0">
                <a:solidFill>
                  <a:srgbClr val="CC3300"/>
                </a:solidFill>
                <a:latin typeface="Times New Roman" pitchFamily="18" charset="0"/>
              </a:rPr>
              <a:t>1.1. СИСТЕМА</a:t>
            </a:r>
            <a:endParaRPr kumimoji="0" lang="ru-RU" sz="2000" b="1" i="0" u="none" strike="noStrike" kern="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  <a:hlinkClick r:id="" action="ppaction://noaction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6A04649-3526-4C47-B219-88596B79FE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61" y="1403775"/>
            <a:ext cx="8575209" cy="38254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3CDF06E-AD88-CF89-6645-9AF6207939F9}"/>
              </a:ext>
            </a:extLst>
          </p:cNvPr>
          <p:cNvSpPr txBox="1"/>
          <p:nvPr/>
        </p:nvSpPr>
        <p:spPr>
          <a:xfrm>
            <a:off x="4322930" y="3113965"/>
            <a:ext cx="135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33CC"/>
                </a:solidFill>
              </a:rPr>
              <a:t>(процесс)</a:t>
            </a:r>
          </a:p>
        </p:txBody>
      </p:sp>
    </p:spTree>
    <p:extLst>
      <p:ext uri="{BB962C8B-B14F-4D97-AF65-F5344CB8AC3E}">
        <p14:creationId xmlns:p14="http://schemas.microsoft.com/office/powerpoint/2010/main" val="4219057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F91B9D5-C73C-4E07-905F-F24B9F841C17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10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241550" y="6245225"/>
            <a:ext cx="5022850" cy="476250"/>
          </a:xfrm>
          <a:noFill/>
        </p:spPr>
        <p:txBody>
          <a:bodyPr/>
          <a:lstStyle/>
          <a:p>
            <a:r>
              <a:rPr lang="ru-RU" i="1" dirty="0"/>
              <a:t>«Моделирование»</a:t>
            </a:r>
          </a:p>
        </p:txBody>
      </p:sp>
      <p:sp>
        <p:nvSpPr>
          <p:cNvPr id="115715" name="Rectangle 3"/>
          <p:cNvSpPr>
            <a:spLocks noChangeArrowheads="1"/>
          </p:cNvSpPr>
          <p:nvPr/>
        </p:nvSpPr>
        <p:spPr bwMode="auto">
          <a:xfrm>
            <a:off x="1669884" y="1003466"/>
            <a:ext cx="6613486" cy="486741"/>
          </a:xfrm>
          <a:prstGeom prst="rect">
            <a:avLst/>
          </a:prstGeom>
          <a:solidFill>
            <a:srgbClr val="66FF99"/>
          </a:solidFill>
          <a:ln w="38100" cmpd="dbl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54000" tIns="45720" rIns="54000" bIns="1080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2400" b="1" dirty="0">
                <a:solidFill>
                  <a:srgbClr val="000000"/>
                </a:solidFill>
                <a:latin typeface="Times New Roman" pitchFamily="18" charset="0"/>
                <a:cs typeface="Arial" pitchFamily="34" charset="0"/>
              </a:rPr>
              <a:t>ПРОЦЕСС               Система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Rectangle 3"/>
          <p:cNvSpPr>
            <a:spLocks noChangeArrowheads="1"/>
          </p:cNvSpPr>
          <p:nvPr/>
        </p:nvSpPr>
        <p:spPr bwMode="auto">
          <a:xfrm>
            <a:off x="2162690" y="2488631"/>
            <a:ext cx="5265585" cy="486741"/>
          </a:xfrm>
          <a:prstGeom prst="rect">
            <a:avLst/>
          </a:prstGeom>
          <a:solidFill>
            <a:srgbClr val="FFFFCC"/>
          </a:solidFill>
          <a:ln w="38100" cmpd="dbl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54000" tIns="45720" rIns="54000" bIns="108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2400" b="1" dirty="0">
                <a:solidFill>
                  <a:srgbClr val="000000"/>
                </a:solidFill>
                <a:latin typeface="Times New Roman" pitchFamily="18" charset="0"/>
                <a:cs typeface="Arial" pitchFamily="34" charset="0"/>
              </a:rPr>
              <a:t>Типы процессов (систем)</a:t>
            </a:r>
            <a:endParaRPr kumimoji="0" 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C6FB33ED-923D-4A9A-948A-BCA22A38CADE}"/>
              </a:ext>
            </a:extLst>
          </p:cNvPr>
          <p:cNvGrpSpPr/>
          <p:nvPr/>
        </p:nvGrpSpPr>
        <p:grpSpPr>
          <a:xfrm>
            <a:off x="1667635" y="1490207"/>
            <a:ext cx="6615735" cy="701666"/>
            <a:chOff x="1667635" y="1490207"/>
            <a:chExt cx="6615735" cy="701666"/>
          </a:xfrm>
        </p:grpSpPr>
        <p:sp>
          <p:nvSpPr>
            <p:cNvPr id="115739" name="Line 27"/>
            <p:cNvSpPr>
              <a:spLocks noChangeShapeType="1"/>
            </p:cNvSpPr>
            <p:nvPr/>
          </p:nvSpPr>
          <p:spPr bwMode="auto">
            <a:xfrm flipV="1">
              <a:off x="7306932" y="1490207"/>
              <a:ext cx="0" cy="3838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40" name="Line 26"/>
            <p:cNvSpPr>
              <a:spLocks noChangeShapeType="1"/>
            </p:cNvSpPr>
            <p:nvPr/>
          </p:nvSpPr>
          <p:spPr bwMode="auto">
            <a:xfrm flipV="1">
              <a:off x="4781915" y="1504086"/>
              <a:ext cx="0" cy="3289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7F4AC14F-D253-4A7A-9716-DE68A5720809}"/>
                </a:ext>
              </a:extLst>
            </p:cNvPr>
            <p:cNvGrpSpPr/>
            <p:nvPr/>
          </p:nvGrpSpPr>
          <p:grpSpPr>
            <a:xfrm>
              <a:off x="1667635" y="1497490"/>
              <a:ext cx="1674120" cy="687787"/>
              <a:chOff x="1667635" y="1497490"/>
              <a:chExt cx="1674120" cy="687787"/>
            </a:xfrm>
          </p:grpSpPr>
          <p:sp>
            <p:nvSpPr>
              <p:cNvPr id="115738" name="Line 26"/>
              <p:cNvSpPr>
                <a:spLocks noChangeShapeType="1"/>
              </p:cNvSpPr>
              <p:nvPr/>
            </p:nvSpPr>
            <p:spPr bwMode="auto">
              <a:xfrm flipV="1">
                <a:off x="2486660" y="1497490"/>
                <a:ext cx="0" cy="32898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  <p:sp>
            <p:nvSpPr>
              <p:cNvPr id="115716" name="Rectangle 4"/>
              <p:cNvSpPr>
                <a:spLocks noChangeArrowheads="1"/>
              </p:cNvSpPr>
              <p:nvPr/>
            </p:nvSpPr>
            <p:spPr bwMode="auto">
              <a:xfrm>
                <a:off x="1667635" y="1723546"/>
                <a:ext cx="1674120" cy="46173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000" b="1" i="1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Состояние</a:t>
                </a:r>
                <a:endParaRPr kumimoji="0" lang="ru-RU" sz="20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15719" name="Rectangle 7"/>
            <p:cNvSpPr>
              <a:spLocks noChangeArrowheads="1"/>
            </p:cNvSpPr>
            <p:nvPr/>
          </p:nvSpPr>
          <p:spPr bwMode="auto">
            <a:xfrm>
              <a:off x="6226812" y="1733165"/>
              <a:ext cx="2056558" cy="45211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1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Переход</a:t>
              </a:r>
              <a:endParaRPr kumimoji="0" lang="ru-RU" sz="20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9" name="Rectangle 4"/>
            <p:cNvSpPr>
              <a:spLocks noChangeArrowheads="1"/>
            </p:cNvSpPr>
            <p:nvPr/>
          </p:nvSpPr>
          <p:spPr bwMode="auto">
            <a:xfrm>
              <a:off x="3962890" y="1730142"/>
              <a:ext cx="1674120" cy="4617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1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Событие</a:t>
              </a:r>
              <a:endParaRPr kumimoji="0" lang="ru-RU" sz="20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53" name="Двойная стрелка влево/вправо 52"/>
          <p:cNvSpPr/>
          <p:nvPr/>
        </p:nvSpPr>
        <p:spPr bwMode="auto">
          <a:xfrm>
            <a:off x="4817985" y="1138481"/>
            <a:ext cx="720080" cy="180020"/>
          </a:xfrm>
          <a:prstGeom prst="left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EC143CD4-556D-43AB-9F11-DF245269D4D3}"/>
              </a:ext>
            </a:extLst>
          </p:cNvPr>
          <p:cNvGrpSpPr/>
          <p:nvPr/>
        </p:nvGrpSpPr>
        <p:grpSpPr>
          <a:xfrm>
            <a:off x="1757645" y="2983680"/>
            <a:ext cx="3131269" cy="2965600"/>
            <a:chOff x="1757645" y="2893670"/>
            <a:chExt cx="3131269" cy="2965600"/>
          </a:xfrm>
        </p:grpSpPr>
        <p:sp>
          <p:nvSpPr>
            <p:cNvPr id="115718" name="Rectangle 6"/>
            <p:cNvSpPr>
              <a:spLocks noChangeArrowheads="1"/>
            </p:cNvSpPr>
            <p:nvPr/>
          </p:nvSpPr>
          <p:spPr bwMode="auto">
            <a:xfrm>
              <a:off x="2207695" y="3167828"/>
              <a:ext cx="1485164" cy="50982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45720" rIns="1800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Дискретные</a:t>
              </a:r>
              <a:endPara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40" name="Line 28"/>
            <p:cNvSpPr>
              <a:spLocks noChangeShapeType="1"/>
            </p:cNvSpPr>
            <p:nvPr/>
          </p:nvSpPr>
          <p:spPr bwMode="auto">
            <a:xfrm flipV="1">
              <a:off x="2927774" y="2893670"/>
              <a:ext cx="0" cy="2741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grpSp>
          <p:nvGrpSpPr>
            <p:cNvPr id="2" name="Группа 102"/>
            <p:cNvGrpSpPr/>
            <p:nvPr/>
          </p:nvGrpSpPr>
          <p:grpSpPr>
            <a:xfrm>
              <a:off x="1757645" y="3838781"/>
              <a:ext cx="3131269" cy="2020489"/>
              <a:chOff x="2073490" y="4149138"/>
              <a:chExt cx="2815424" cy="1570381"/>
            </a:xfrm>
          </p:grpSpPr>
          <p:sp>
            <p:nvSpPr>
              <p:cNvPr id="185347" name="Rectangle 3"/>
              <p:cNvSpPr>
                <a:spLocks noChangeArrowheads="1"/>
              </p:cNvSpPr>
              <p:nvPr/>
            </p:nvSpPr>
            <p:spPr bwMode="auto">
              <a:xfrm>
                <a:off x="2325627" y="4157396"/>
                <a:ext cx="2347351" cy="1351214"/>
              </a:xfrm>
              <a:prstGeom prst="rect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85348" name="Line 4"/>
              <p:cNvSpPr>
                <a:spLocks noChangeShapeType="1"/>
              </p:cNvSpPr>
              <p:nvPr/>
            </p:nvSpPr>
            <p:spPr bwMode="auto">
              <a:xfrm>
                <a:off x="2614600" y="4157396"/>
                <a:ext cx="0" cy="1351214"/>
              </a:xfrm>
              <a:prstGeom prst="line">
                <a:avLst/>
              </a:prstGeom>
              <a:noFill/>
              <a:ln w="9525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85349" name="Line 5"/>
              <p:cNvSpPr>
                <a:spLocks noChangeShapeType="1"/>
              </p:cNvSpPr>
              <p:nvPr/>
            </p:nvSpPr>
            <p:spPr bwMode="auto">
              <a:xfrm>
                <a:off x="3012177" y="4157396"/>
                <a:ext cx="0" cy="1351214"/>
              </a:xfrm>
              <a:prstGeom prst="line">
                <a:avLst/>
              </a:prstGeom>
              <a:noFill/>
              <a:ln w="9525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85350" name="Line 6"/>
              <p:cNvSpPr>
                <a:spLocks noChangeShapeType="1"/>
              </p:cNvSpPr>
              <p:nvPr/>
            </p:nvSpPr>
            <p:spPr bwMode="auto">
              <a:xfrm>
                <a:off x="3264314" y="4157396"/>
                <a:ext cx="0" cy="1351214"/>
              </a:xfrm>
              <a:prstGeom prst="line">
                <a:avLst/>
              </a:prstGeom>
              <a:noFill/>
              <a:ln w="9525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85351" name="Line 7"/>
              <p:cNvSpPr>
                <a:spLocks noChangeShapeType="1"/>
              </p:cNvSpPr>
              <p:nvPr/>
            </p:nvSpPr>
            <p:spPr bwMode="auto">
              <a:xfrm>
                <a:off x="3806059" y="4157396"/>
                <a:ext cx="0" cy="1351214"/>
              </a:xfrm>
              <a:prstGeom prst="line">
                <a:avLst/>
              </a:prstGeom>
              <a:noFill/>
              <a:ln w="9525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85352" name="Line 8"/>
              <p:cNvSpPr>
                <a:spLocks noChangeShapeType="1"/>
              </p:cNvSpPr>
              <p:nvPr/>
            </p:nvSpPr>
            <p:spPr bwMode="auto">
              <a:xfrm>
                <a:off x="4167434" y="4157396"/>
                <a:ext cx="0" cy="1351214"/>
              </a:xfrm>
              <a:prstGeom prst="line">
                <a:avLst/>
              </a:prstGeom>
              <a:noFill/>
              <a:ln w="9525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85353" name="Line 9"/>
              <p:cNvSpPr>
                <a:spLocks noChangeShapeType="1"/>
              </p:cNvSpPr>
              <p:nvPr/>
            </p:nvSpPr>
            <p:spPr bwMode="auto">
              <a:xfrm>
                <a:off x="2325627" y="5269114"/>
                <a:ext cx="2347351" cy="0"/>
              </a:xfrm>
              <a:prstGeom prst="line">
                <a:avLst/>
              </a:prstGeom>
              <a:noFill/>
              <a:ln w="9525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85354" name="Line 10"/>
              <p:cNvSpPr>
                <a:spLocks noChangeShapeType="1"/>
              </p:cNvSpPr>
              <p:nvPr/>
            </p:nvSpPr>
            <p:spPr bwMode="auto">
              <a:xfrm>
                <a:off x="2325627" y="5028348"/>
                <a:ext cx="2347351" cy="0"/>
              </a:xfrm>
              <a:prstGeom prst="line">
                <a:avLst/>
              </a:prstGeom>
              <a:noFill/>
              <a:ln w="9525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85355" name="Line 11"/>
              <p:cNvSpPr>
                <a:spLocks noChangeShapeType="1"/>
              </p:cNvSpPr>
              <p:nvPr/>
            </p:nvSpPr>
            <p:spPr bwMode="auto">
              <a:xfrm>
                <a:off x="2325627" y="4788217"/>
                <a:ext cx="2347351" cy="0"/>
              </a:xfrm>
              <a:prstGeom prst="line">
                <a:avLst/>
              </a:prstGeom>
              <a:noFill/>
              <a:ln w="9525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85356" name="Line 12"/>
              <p:cNvSpPr>
                <a:spLocks noChangeShapeType="1"/>
              </p:cNvSpPr>
              <p:nvPr/>
            </p:nvSpPr>
            <p:spPr bwMode="auto">
              <a:xfrm>
                <a:off x="2325627" y="4548085"/>
                <a:ext cx="2347351" cy="0"/>
              </a:xfrm>
              <a:prstGeom prst="line">
                <a:avLst/>
              </a:prstGeom>
              <a:noFill/>
              <a:ln w="9525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85357" name="Line 13"/>
              <p:cNvSpPr>
                <a:spLocks noChangeShapeType="1"/>
              </p:cNvSpPr>
              <p:nvPr/>
            </p:nvSpPr>
            <p:spPr bwMode="auto">
              <a:xfrm>
                <a:off x="2325627" y="4307319"/>
                <a:ext cx="2347351" cy="0"/>
              </a:xfrm>
              <a:prstGeom prst="line">
                <a:avLst/>
              </a:prstGeom>
              <a:noFill/>
              <a:ln w="9525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85358" name="Line 14"/>
              <p:cNvSpPr>
                <a:spLocks noChangeShapeType="1"/>
              </p:cNvSpPr>
              <p:nvPr/>
            </p:nvSpPr>
            <p:spPr bwMode="auto">
              <a:xfrm>
                <a:off x="2325627" y="5508610"/>
                <a:ext cx="288973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85359" name="Line 15"/>
              <p:cNvSpPr>
                <a:spLocks noChangeShapeType="1"/>
              </p:cNvSpPr>
              <p:nvPr/>
            </p:nvSpPr>
            <p:spPr bwMode="auto">
              <a:xfrm>
                <a:off x="2614600" y="4788217"/>
                <a:ext cx="397576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85360" name="Line 16"/>
              <p:cNvSpPr>
                <a:spLocks noChangeShapeType="1"/>
              </p:cNvSpPr>
              <p:nvPr/>
            </p:nvSpPr>
            <p:spPr bwMode="auto">
              <a:xfrm>
                <a:off x="3012177" y="5028348"/>
                <a:ext cx="252137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85361" name="Line 17"/>
              <p:cNvSpPr>
                <a:spLocks noChangeShapeType="1"/>
              </p:cNvSpPr>
              <p:nvPr/>
            </p:nvSpPr>
            <p:spPr bwMode="auto">
              <a:xfrm>
                <a:off x="3264314" y="4307319"/>
                <a:ext cx="541745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85362" name="Line 18"/>
              <p:cNvSpPr>
                <a:spLocks noChangeShapeType="1"/>
              </p:cNvSpPr>
              <p:nvPr/>
            </p:nvSpPr>
            <p:spPr bwMode="auto">
              <a:xfrm>
                <a:off x="3806059" y="5269114"/>
                <a:ext cx="361375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85363" name="Line 19"/>
              <p:cNvSpPr>
                <a:spLocks noChangeShapeType="1"/>
              </p:cNvSpPr>
              <p:nvPr/>
            </p:nvSpPr>
            <p:spPr bwMode="auto">
              <a:xfrm>
                <a:off x="4167434" y="4548085"/>
                <a:ext cx="36074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85364" name="Line 20"/>
              <p:cNvSpPr>
                <a:spLocks noChangeShapeType="1"/>
              </p:cNvSpPr>
              <p:nvPr/>
            </p:nvSpPr>
            <p:spPr bwMode="auto">
              <a:xfrm rot="5400000">
                <a:off x="2262025" y="5148413"/>
                <a:ext cx="720393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85365" name="Line 21"/>
              <p:cNvSpPr>
                <a:spLocks noChangeShapeType="1"/>
              </p:cNvSpPr>
              <p:nvPr/>
            </p:nvSpPr>
            <p:spPr bwMode="auto">
              <a:xfrm rot="5400000">
                <a:off x="3325161" y="4788217"/>
                <a:ext cx="961795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85366" name="Line 22"/>
              <p:cNvSpPr>
                <a:spLocks noChangeShapeType="1"/>
              </p:cNvSpPr>
              <p:nvPr/>
            </p:nvSpPr>
            <p:spPr bwMode="auto">
              <a:xfrm rot="5400000">
                <a:off x="2892111" y="4908282"/>
                <a:ext cx="240131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85367" name="Line 23"/>
              <p:cNvSpPr>
                <a:spLocks noChangeShapeType="1"/>
              </p:cNvSpPr>
              <p:nvPr/>
            </p:nvSpPr>
            <p:spPr bwMode="auto">
              <a:xfrm rot="5400000">
                <a:off x="2903482" y="4668151"/>
                <a:ext cx="721028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85368" name="Line 24"/>
              <p:cNvSpPr>
                <a:spLocks noChangeShapeType="1"/>
              </p:cNvSpPr>
              <p:nvPr/>
            </p:nvSpPr>
            <p:spPr bwMode="auto">
              <a:xfrm rot="5400000">
                <a:off x="3806602" y="4908917"/>
                <a:ext cx="721028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85369" name="Text Box 25"/>
              <p:cNvSpPr txBox="1">
                <a:spLocks noChangeArrowheads="1"/>
              </p:cNvSpPr>
              <p:nvPr/>
            </p:nvSpPr>
            <p:spPr bwMode="auto">
              <a:xfrm>
                <a:off x="2073490" y="5388544"/>
                <a:ext cx="252137" cy="2109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Е</a:t>
                </a:r>
                <a:r>
                  <a:rPr kumimoji="0" lang="ru-RU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1</a:t>
                </a:r>
                <a:endParaRPr kumimoji="0" lang="ru-RU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ru-RU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5370" name="Text Box 26"/>
              <p:cNvSpPr txBox="1">
                <a:spLocks noChangeArrowheads="1"/>
              </p:cNvSpPr>
              <p:nvPr/>
            </p:nvSpPr>
            <p:spPr bwMode="auto">
              <a:xfrm>
                <a:off x="2073490" y="5148413"/>
                <a:ext cx="252137" cy="2102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Е</a:t>
                </a:r>
                <a:r>
                  <a:rPr kumimoji="0" lang="ru-RU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2</a:t>
                </a:r>
                <a:endParaRPr kumimoji="0" lang="ru-RU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ru-RU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5371" name="Text Box 27"/>
              <p:cNvSpPr txBox="1">
                <a:spLocks noChangeArrowheads="1"/>
              </p:cNvSpPr>
              <p:nvPr/>
            </p:nvSpPr>
            <p:spPr bwMode="auto">
              <a:xfrm>
                <a:off x="2073490" y="4908282"/>
                <a:ext cx="252137" cy="2102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Е</a:t>
                </a:r>
                <a:r>
                  <a:rPr kumimoji="0" lang="ru-RU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3</a:t>
                </a:r>
                <a:endParaRPr kumimoji="0" lang="ru-RU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ru-RU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5372" name="Text Box 28"/>
              <p:cNvSpPr txBox="1">
                <a:spLocks noChangeArrowheads="1"/>
              </p:cNvSpPr>
              <p:nvPr/>
            </p:nvSpPr>
            <p:spPr bwMode="auto">
              <a:xfrm>
                <a:off x="2073490" y="4668151"/>
                <a:ext cx="252137" cy="2102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Е</a:t>
                </a:r>
                <a:r>
                  <a:rPr kumimoji="0" lang="ru-RU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4</a:t>
                </a:r>
                <a:endParaRPr kumimoji="0" lang="ru-RU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ru-RU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5373" name="Text Box 29"/>
              <p:cNvSpPr txBox="1">
                <a:spLocks noChangeArrowheads="1"/>
              </p:cNvSpPr>
              <p:nvPr/>
            </p:nvSpPr>
            <p:spPr bwMode="auto">
              <a:xfrm>
                <a:off x="2073490" y="4428020"/>
                <a:ext cx="252137" cy="2102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Е</a:t>
                </a:r>
                <a:r>
                  <a:rPr kumimoji="0" lang="ru-RU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5</a:t>
                </a:r>
                <a:endParaRPr kumimoji="0" lang="ru-RU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ru-RU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5374" name="Text Box 30"/>
              <p:cNvSpPr txBox="1">
                <a:spLocks noChangeArrowheads="1"/>
              </p:cNvSpPr>
              <p:nvPr/>
            </p:nvSpPr>
            <p:spPr bwMode="auto">
              <a:xfrm>
                <a:off x="2073490" y="4187889"/>
                <a:ext cx="252137" cy="2102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Е</a:t>
                </a:r>
                <a:r>
                  <a:rPr kumimoji="0" lang="ru-RU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6</a:t>
                </a:r>
                <a:endParaRPr kumimoji="0" lang="ru-RU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ru-RU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5375" name="Text Box 31"/>
              <p:cNvSpPr txBox="1">
                <a:spLocks noChangeArrowheads="1"/>
              </p:cNvSpPr>
              <p:nvPr/>
            </p:nvSpPr>
            <p:spPr bwMode="auto">
              <a:xfrm>
                <a:off x="2289426" y="5508610"/>
                <a:ext cx="181005" cy="2109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1400" b="0" i="1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t</a:t>
                </a:r>
                <a:r>
                  <a:rPr kumimoji="0" 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0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ru-RU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5376" name="Text Box 32"/>
              <p:cNvSpPr txBox="1">
                <a:spLocks noChangeArrowheads="1"/>
              </p:cNvSpPr>
              <p:nvPr/>
            </p:nvSpPr>
            <p:spPr bwMode="auto">
              <a:xfrm>
                <a:off x="2578399" y="5508610"/>
                <a:ext cx="180370" cy="2109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1400" b="0" i="1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t</a:t>
                </a:r>
                <a:r>
                  <a:rPr kumimoji="0" 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1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ru-RU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5377" name="Text Box 33"/>
              <p:cNvSpPr txBox="1">
                <a:spLocks noChangeArrowheads="1"/>
              </p:cNvSpPr>
              <p:nvPr/>
            </p:nvSpPr>
            <p:spPr bwMode="auto">
              <a:xfrm>
                <a:off x="2975975" y="5508610"/>
                <a:ext cx="180370" cy="2109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b="0" i="1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t</a:t>
                </a:r>
                <a:r>
                  <a:rPr kumimoji="0" 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2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ru-RU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5378" name="Text Box 34"/>
              <p:cNvSpPr txBox="1">
                <a:spLocks noChangeArrowheads="1"/>
              </p:cNvSpPr>
              <p:nvPr/>
            </p:nvSpPr>
            <p:spPr bwMode="auto">
              <a:xfrm>
                <a:off x="3228748" y="5508610"/>
                <a:ext cx="180370" cy="2109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b="0" i="1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t</a:t>
                </a:r>
                <a:r>
                  <a:rPr kumimoji="0" 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3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ru-RU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5379" name="Text Box 35"/>
              <p:cNvSpPr txBox="1">
                <a:spLocks noChangeArrowheads="1"/>
              </p:cNvSpPr>
              <p:nvPr/>
            </p:nvSpPr>
            <p:spPr bwMode="auto">
              <a:xfrm>
                <a:off x="3770493" y="5508610"/>
                <a:ext cx="179735" cy="2109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b="0" i="1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t</a:t>
                </a:r>
                <a:r>
                  <a:rPr kumimoji="0" 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4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ru-RU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5380" name="Text Box 36"/>
              <p:cNvSpPr txBox="1">
                <a:spLocks noChangeArrowheads="1"/>
              </p:cNvSpPr>
              <p:nvPr/>
            </p:nvSpPr>
            <p:spPr bwMode="auto">
              <a:xfrm>
                <a:off x="4131233" y="5508610"/>
                <a:ext cx="181005" cy="2109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b="0" i="1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t</a:t>
                </a:r>
                <a:r>
                  <a:rPr kumimoji="0" 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5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ru-RU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5387" name="Text Box 43"/>
              <p:cNvSpPr txBox="1">
                <a:spLocks noChangeArrowheads="1"/>
              </p:cNvSpPr>
              <p:nvPr/>
            </p:nvSpPr>
            <p:spPr bwMode="auto">
              <a:xfrm>
                <a:off x="4709179" y="5422213"/>
                <a:ext cx="179735" cy="2102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b="0" i="1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t</a:t>
                </a:r>
                <a:endParaRPr kumimoji="0" lang="ru-RU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ru-RU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5389" name="Line 45"/>
              <p:cNvSpPr>
                <a:spLocks noChangeShapeType="1"/>
              </p:cNvSpPr>
              <p:nvPr/>
            </p:nvSpPr>
            <p:spPr bwMode="auto">
              <a:xfrm>
                <a:off x="2322452" y="5502892"/>
                <a:ext cx="234735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85390" name="Line 46"/>
              <p:cNvSpPr>
                <a:spLocks noChangeShapeType="1"/>
              </p:cNvSpPr>
              <p:nvPr/>
            </p:nvSpPr>
            <p:spPr bwMode="auto">
              <a:xfrm>
                <a:off x="2322452" y="4149138"/>
                <a:ext cx="0" cy="135375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148B2A6D-CDA8-4DFB-B4BC-9BAB3FFF8A74}"/>
              </a:ext>
            </a:extLst>
          </p:cNvPr>
          <p:cNvGrpSpPr/>
          <p:nvPr/>
        </p:nvGrpSpPr>
        <p:grpSpPr>
          <a:xfrm>
            <a:off x="4806349" y="2983686"/>
            <a:ext cx="3342005" cy="2965594"/>
            <a:chOff x="4806349" y="2893676"/>
            <a:chExt cx="3342005" cy="2965594"/>
          </a:xfrm>
        </p:grpSpPr>
        <p:sp>
          <p:nvSpPr>
            <p:cNvPr id="115717" name="Rectangle 5"/>
            <p:cNvSpPr>
              <a:spLocks noChangeArrowheads="1"/>
            </p:cNvSpPr>
            <p:nvPr/>
          </p:nvSpPr>
          <p:spPr bwMode="auto">
            <a:xfrm>
              <a:off x="5718085" y="3167828"/>
              <a:ext cx="1710190" cy="471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45720" rIns="1800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Непрерывные</a:t>
              </a:r>
              <a:endPara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44" name="Line 32"/>
            <p:cNvSpPr>
              <a:spLocks noChangeShapeType="1"/>
            </p:cNvSpPr>
            <p:nvPr/>
          </p:nvSpPr>
          <p:spPr bwMode="auto">
            <a:xfrm flipV="1">
              <a:off x="6528174" y="2893676"/>
              <a:ext cx="0" cy="2741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grpSp>
          <p:nvGrpSpPr>
            <p:cNvPr id="3" name="Группа 103"/>
            <p:cNvGrpSpPr/>
            <p:nvPr/>
          </p:nvGrpSpPr>
          <p:grpSpPr>
            <a:xfrm>
              <a:off x="4806349" y="3793776"/>
              <a:ext cx="3342005" cy="2065494"/>
              <a:chOff x="4806350" y="4140879"/>
              <a:chExt cx="2852896" cy="1578640"/>
            </a:xfrm>
          </p:grpSpPr>
          <p:sp>
            <p:nvSpPr>
              <p:cNvPr id="185382" name="Rectangle 38"/>
              <p:cNvSpPr>
                <a:spLocks noChangeArrowheads="1"/>
              </p:cNvSpPr>
              <p:nvPr/>
            </p:nvSpPr>
            <p:spPr bwMode="auto">
              <a:xfrm>
                <a:off x="5135335" y="4157396"/>
                <a:ext cx="2346081" cy="135121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85383" name="Text Box 39"/>
              <p:cNvSpPr txBox="1">
                <a:spLocks noChangeArrowheads="1"/>
              </p:cNvSpPr>
              <p:nvPr/>
            </p:nvSpPr>
            <p:spPr bwMode="auto">
              <a:xfrm>
                <a:off x="4806350" y="4140879"/>
                <a:ext cx="400752" cy="2363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18000" tIns="10800" rIns="18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Е</a:t>
                </a:r>
                <a:r>
                  <a:rPr kumimoji="0" 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(</a:t>
                </a:r>
                <a:r>
                  <a:rPr kumimoji="0" lang="ru-RU" b="0" i="1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t</a:t>
                </a:r>
                <a:r>
                  <a:rPr kumimoji="0" 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)</a:t>
                </a:r>
                <a:endParaRPr kumimoji="0" lang="ru-RU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5384" name="Text Box 40"/>
              <p:cNvSpPr txBox="1">
                <a:spLocks noChangeArrowheads="1"/>
              </p:cNvSpPr>
              <p:nvPr/>
            </p:nvSpPr>
            <p:spPr bwMode="auto">
              <a:xfrm>
                <a:off x="7517617" y="5419037"/>
                <a:ext cx="141629" cy="2102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18000" tIns="10800" rIns="18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1400" b="0" i="1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t</a:t>
                </a:r>
                <a:endParaRPr kumimoji="0" lang="ru-RU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ru-RU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5385" name="Freeform 41"/>
              <p:cNvSpPr>
                <a:spLocks/>
              </p:cNvSpPr>
              <p:nvPr/>
            </p:nvSpPr>
            <p:spPr bwMode="auto">
              <a:xfrm>
                <a:off x="5135335" y="4502346"/>
                <a:ext cx="2346081" cy="1006263"/>
              </a:xfrm>
              <a:custGeom>
                <a:avLst/>
                <a:gdLst/>
                <a:ahLst/>
                <a:cxnLst>
                  <a:cxn ang="0">
                    <a:pos x="0" y="1909"/>
                  </a:cxn>
                  <a:cxn ang="0">
                    <a:pos x="342" y="1738"/>
                  </a:cxn>
                  <a:cxn ang="0">
                    <a:pos x="570" y="1282"/>
                  </a:cxn>
                  <a:cxn ang="0">
                    <a:pos x="741" y="427"/>
                  </a:cxn>
                  <a:cxn ang="0">
                    <a:pos x="1026" y="712"/>
                  </a:cxn>
                  <a:cxn ang="0">
                    <a:pos x="1197" y="769"/>
                  </a:cxn>
                  <a:cxn ang="0">
                    <a:pos x="1482" y="598"/>
                  </a:cxn>
                  <a:cxn ang="0">
                    <a:pos x="1596" y="256"/>
                  </a:cxn>
                  <a:cxn ang="0">
                    <a:pos x="2052" y="28"/>
                  </a:cxn>
                  <a:cxn ang="0">
                    <a:pos x="2337" y="85"/>
                  </a:cxn>
                  <a:cxn ang="0">
                    <a:pos x="2565" y="541"/>
                  </a:cxn>
                  <a:cxn ang="0">
                    <a:pos x="2736" y="1168"/>
                  </a:cxn>
                  <a:cxn ang="0">
                    <a:pos x="2964" y="1339"/>
                  </a:cxn>
                  <a:cxn ang="0">
                    <a:pos x="3078" y="1111"/>
                  </a:cxn>
                  <a:cxn ang="0">
                    <a:pos x="3135" y="940"/>
                  </a:cxn>
                  <a:cxn ang="0">
                    <a:pos x="3306" y="826"/>
                  </a:cxn>
                  <a:cxn ang="0">
                    <a:pos x="3534" y="1111"/>
                  </a:cxn>
                  <a:cxn ang="0">
                    <a:pos x="3705" y="427"/>
                  </a:cxn>
                </a:cxnLst>
                <a:rect l="0" t="0" r="r" b="b"/>
                <a:pathLst>
                  <a:path w="3705" h="1909">
                    <a:moveTo>
                      <a:pt x="0" y="1909"/>
                    </a:moveTo>
                    <a:cubicBezTo>
                      <a:pt x="123" y="1875"/>
                      <a:pt x="247" y="1842"/>
                      <a:pt x="342" y="1738"/>
                    </a:cubicBezTo>
                    <a:cubicBezTo>
                      <a:pt x="437" y="1634"/>
                      <a:pt x="504" y="1500"/>
                      <a:pt x="570" y="1282"/>
                    </a:cubicBezTo>
                    <a:cubicBezTo>
                      <a:pt x="636" y="1064"/>
                      <a:pt x="665" y="522"/>
                      <a:pt x="741" y="427"/>
                    </a:cubicBezTo>
                    <a:cubicBezTo>
                      <a:pt x="817" y="332"/>
                      <a:pt x="950" y="655"/>
                      <a:pt x="1026" y="712"/>
                    </a:cubicBezTo>
                    <a:cubicBezTo>
                      <a:pt x="1102" y="769"/>
                      <a:pt x="1121" y="788"/>
                      <a:pt x="1197" y="769"/>
                    </a:cubicBezTo>
                    <a:cubicBezTo>
                      <a:pt x="1273" y="750"/>
                      <a:pt x="1416" y="683"/>
                      <a:pt x="1482" y="598"/>
                    </a:cubicBezTo>
                    <a:cubicBezTo>
                      <a:pt x="1548" y="513"/>
                      <a:pt x="1501" y="351"/>
                      <a:pt x="1596" y="256"/>
                    </a:cubicBezTo>
                    <a:cubicBezTo>
                      <a:pt x="1691" y="161"/>
                      <a:pt x="1929" y="56"/>
                      <a:pt x="2052" y="28"/>
                    </a:cubicBezTo>
                    <a:cubicBezTo>
                      <a:pt x="2175" y="0"/>
                      <a:pt x="2252" y="0"/>
                      <a:pt x="2337" y="85"/>
                    </a:cubicBezTo>
                    <a:cubicBezTo>
                      <a:pt x="2422" y="170"/>
                      <a:pt x="2499" y="361"/>
                      <a:pt x="2565" y="541"/>
                    </a:cubicBezTo>
                    <a:cubicBezTo>
                      <a:pt x="2631" y="721"/>
                      <a:pt x="2670" y="1035"/>
                      <a:pt x="2736" y="1168"/>
                    </a:cubicBezTo>
                    <a:cubicBezTo>
                      <a:pt x="2802" y="1301"/>
                      <a:pt x="2907" y="1348"/>
                      <a:pt x="2964" y="1339"/>
                    </a:cubicBezTo>
                    <a:cubicBezTo>
                      <a:pt x="3021" y="1330"/>
                      <a:pt x="3050" y="1177"/>
                      <a:pt x="3078" y="1111"/>
                    </a:cubicBezTo>
                    <a:cubicBezTo>
                      <a:pt x="3106" y="1045"/>
                      <a:pt x="3097" y="987"/>
                      <a:pt x="3135" y="940"/>
                    </a:cubicBezTo>
                    <a:cubicBezTo>
                      <a:pt x="3173" y="893"/>
                      <a:pt x="3240" y="798"/>
                      <a:pt x="3306" y="826"/>
                    </a:cubicBezTo>
                    <a:cubicBezTo>
                      <a:pt x="3372" y="854"/>
                      <a:pt x="3468" y="1177"/>
                      <a:pt x="3534" y="1111"/>
                    </a:cubicBezTo>
                    <a:cubicBezTo>
                      <a:pt x="3600" y="1045"/>
                      <a:pt x="3652" y="736"/>
                      <a:pt x="3705" y="427"/>
                    </a:cubicBezTo>
                  </a:path>
                </a:pathLst>
              </a:custGeom>
              <a:noFill/>
              <a:ln w="254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85386" name="Text Box 42"/>
              <p:cNvSpPr txBox="1">
                <a:spLocks noChangeArrowheads="1"/>
              </p:cNvSpPr>
              <p:nvPr/>
            </p:nvSpPr>
            <p:spPr bwMode="auto">
              <a:xfrm>
                <a:off x="5062933" y="5508610"/>
                <a:ext cx="180370" cy="2109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36000" tIns="10800" rIns="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0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endParaRPr kumimoji="0" lang="ru-RU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ru-RU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5391" name="Line 47"/>
              <p:cNvSpPr>
                <a:spLocks noChangeShapeType="1"/>
              </p:cNvSpPr>
              <p:nvPr/>
            </p:nvSpPr>
            <p:spPr bwMode="auto">
              <a:xfrm>
                <a:off x="5132160" y="5502892"/>
                <a:ext cx="234608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85392" name="Line 48"/>
              <p:cNvSpPr>
                <a:spLocks noChangeShapeType="1"/>
              </p:cNvSpPr>
              <p:nvPr/>
            </p:nvSpPr>
            <p:spPr bwMode="auto">
              <a:xfrm>
                <a:off x="5132160" y="4149138"/>
                <a:ext cx="0" cy="135375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65" name="Rectangle 10">
            <a:extLst>
              <a:ext uri="{FF2B5EF4-FFF2-40B4-BE49-F238E27FC236}">
                <a16:creationId xmlns:a16="http://schemas.microsoft.com/office/drawing/2014/main" id="{F387EF20-184E-4A15-BF11-7621774FF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2" y="447055"/>
            <a:ext cx="93630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b="1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Процессы в системе</a:t>
            </a:r>
          </a:p>
        </p:txBody>
      </p:sp>
      <p:sp>
        <p:nvSpPr>
          <p:cNvPr id="66" name="Rectangle 3">
            <a:extLst>
              <a:ext uri="{FF2B5EF4-FFF2-40B4-BE49-F238E27FC236}">
                <a16:creationId xmlns:a16="http://schemas.microsoft.com/office/drawing/2014/main" id="{08D37F89-301C-4A4C-A0E2-3D00965B9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98630"/>
            <a:ext cx="9518650" cy="350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b="1" kern="0" dirty="0">
                <a:solidFill>
                  <a:srgbClr val="CC3300"/>
                </a:solidFill>
                <a:latin typeface="Times New Roman" pitchFamily="18" charset="0"/>
              </a:rPr>
              <a:t>1.1. СИСТЕМА</a:t>
            </a:r>
            <a:endParaRPr kumimoji="0" lang="ru-RU" sz="2000" b="1" i="0" u="none" strike="noStrike" kern="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  <a:hlinkClick r:id="" action="ppaction://noactio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F91B9D5-C73C-4E07-905F-F24B9F841C17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10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241550" y="6245225"/>
            <a:ext cx="5022850" cy="476250"/>
          </a:xfrm>
          <a:noFill/>
        </p:spPr>
        <p:txBody>
          <a:bodyPr/>
          <a:lstStyle/>
          <a:p>
            <a:r>
              <a:rPr lang="ru-RU" i="1"/>
              <a:t>«Моделирование»</a:t>
            </a:r>
            <a:endParaRPr lang="ru-RU" i="1" dirty="0"/>
          </a:p>
        </p:txBody>
      </p:sp>
      <p:sp>
        <p:nvSpPr>
          <p:cNvPr id="116739" name="Rectangle 3"/>
          <p:cNvSpPr>
            <a:spLocks noChangeArrowheads="1"/>
          </p:cNvSpPr>
          <p:nvPr/>
        </p:nvSpPr>
        <p:spPr bwMode="auto">
          <a:xfrm rot="16200000">
            <a:off x="-1697342" y="3226114"/>
            <a:ext cx="5007749" cy="709312"/>
          </a:xfrm>
          <a:prstGeom prst="rect">
            <a:avLst/>
          </a:prstGeom>
          <a:noFill/>
          <a:ln w="38100" cmpd="dbl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118800" rIns="91440" bIns="1188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Arial" pitchFamily="34" charset="0"/>
              </a:rPr>
              <a:t>Классификация   систем (процессов)</a:t>
            </a:r>
            <a:endParaRPr kumimoji="0" lang="ru-RU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6749" name="Rectangle 13"/>
          <p:cNvSpPr>
            <a:spLocks noChangeArrowheads="1"/>
          </p:cNvSpPr>
          <p:nvPr/>
        </p:nvSpPr>
        <p:spPr bwMode="auto">
          <a:xfrm>
            <a:off x="2363907" y="1133400"/>
            <a:ext cx="6540601" cy="352709"/>
          </a:xfrm>
          <a:prstGeom prst="rect">
            <a:avLst/>
          </a:prstGeom>
          <a:solidFill>
            <a:srgbClr val="FFFF99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54000" tIns="10800" rIns="54000" bIns="108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Arial" pitchFamily="34" charset="0"/>
              </a:rPr>
              <a:t>По характеру изменения состояний</a:t>
            </a:r>
            <a:endParaRPr kumimoji="0" lang="ru-RU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6750" name="Rectangle 14"/>
          <p:cNvSpPr>
            <a:spLocks noChangeArrowheads="1"/>
          </p:cNvSpPr>
          <p:nvPr/>
        </p:nvSpPr>
        <p:spPr bwMode="auto">
          <a:xfrm>
            <a:off x="2360174" y="1784113"/>
            <a:ext cx="2926844" cy="3743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Arial" pitchFamily="34" charset="0"/>
              </a:rPr>
              <a:t>Непрерывные</a:t>
            </a:r>
            <a:endParaRPr kumimoji="0" lang="ru-RU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6751" name="Line 15"/>
          <p:cNvSpPr>
            <a:spLocks noChangeShapeType="1"/>
          </p:cNvSpPr>
          <p:nvPr/>
        </p:nvSpPr>
        <p:spPr bwMode="auto">
          <a:xfrm flipV="1">
            <a:off x="3918171" y="1493785"/>
            <a:ext cx="0" cy="287206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2000"/>
          </a:p>
        </p:txBody>
      </p:sp>
      <p:sp>
        <p:nvSpPr>
          <p:cNvPr id="116752" name="Line 16"/>
          <p:cNvSpPr>
            <a:spLocks noChangeShapeType="1"/>
          </p:cNvSpPr>
          <p:nvPr/>
        </p:nvSpPr>
        <p:spPr bwMode="auto">
          <a:xfrm flipH="1">
            <a:off x="1173010" y="1294639"/>
            <a:ext cx="120583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2000"/>
          </a:p>
        </p:txBody>
      </p:sp>
      <p:sp>
        <p:nvSpPr>
          <p:cNvPr id="116753" name="Rectangle 17"/>
          <p:cNvSpPr>
            <a:spLocks noChangeArrowheads="1"/>
          </p:cNvSpPr>
          <p:nvPr/>
        </p:nvSpPr>
        <p:spPr bwMode="auto">
          <a:xfrm>
            <a:off x="5977664" y="1786992"/>
            <a:ext cx="2926844" cy="374304"/>
          </a:xfrm>
          <a:prstGeom prst="rect">
            <a:avLst/>
          </a:prstGeom>
          <a:solidFill>
            <a:srgbClr val="CCFFCC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Arial" pitchFamily="34" charset="0"/>
              </a:rPr>
              <a:t>Дискретные</a:t>
            </a:r>
            <a:endParaRPr kumimoji="0" lang="ru-RU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6754" name="Line 18"/>
          <p:cNvSpPr>
            <a:spLocks noChangeShapeType="1"/>
          </p:cNvSpPr>
          <p:nvPr/>
        </p:nvSpPr>
        <p:spPr bwMode="auto">
          <a:xfrm flipV="1">
            <a:off x="7485885" y="1502665"/>
            <a:ext cx="0" cy="287206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2000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D0D1F0C5-A5D4-4ACA-96B7-452C3A9BD884}"/>
              </a:ext>
            </a:extLst>
          </p:cNvPr>
          <p:cNvGrpSpPr/>
          <p:nvPr/>
        </p:nvGrpSpPr>
        <p:grpSpPr>
          <a:xfrm>
            <a:off x="1180477" y="3618920"/>
            <a:ext cx="8228016" cy="2450248"/>
            <a:chOff x="1180477" y="3618920"/>
            <a:chExt cx="8228016" cy="2450248"/>
          </a:xfrm>
        </p:grpSpPr>
        <p:sp>
          <p:nvSpPr>
            <p:cNvPr id="116743" name="Rectangle 7"/>
            <p:cNvSpPr>
              <a:spLocks noChangeArrowheads="1"/>
            </p:cNvSpPr>
            <p:nvPr/>
          </p:nvSpPr>
          <p:spPr bwMode="auto">
            <a:xfrm>
              <a:off x="5861934" y="5690546"/>
              <a:ext cx="2677963" cy="37862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Нестационарный режим</a:t>
              </a:r>
              <a:endPara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6744" name="Rectangle 8"/>
            <p:cNvSpPr>
              <a:spLocks noChangeArrowheads="1"/>
            </p:cNvSpPr>
            <p:nvPr/>
          </p:nvSpPr>
          <p:spPr bwMode="auto">
            <a:xfrm>
              <a:off x="7327845" y="5125491"/>
              <a:ext cx="2080648" cy="36350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Режим перегрузки</a:t>
              </a:r>
              <a:endParaRPr kumimoji="0" 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6745" name="Rectangle 9"/>
            <p:cNvSpPr>
              <a:spLocks noChangeArrowheads="1"/>
            </p:cNvSpPr>
            <p:nvPr/>
          </p:nvSpPr>
          <p:spPr bwMode="auto">
            <a:xfrm>
              <a:off x="4551574" y="5125491"/>
              <a:ext cx="2516190" cy="36350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Переходной режим</a:t>
              </a:r>
              <a:endPara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6755" name="Rectangle 19"/>
            <p:cNvSpPr>
              <a:spLocks noChangeArrowheads="1"/>
            </p:cNvSpPr>
            <p:nvPr/>
          </p:nvSpPr>
          <p:spPr bwMode="auto">
            <a:xfrm>
              <a:off x="2371374" y="3618920"/>
              <a:ext cx="6540601" cy="352709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54000" tIns="10800" rIns="54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По режиму функционирования</a:t>
              </a:r>
              <a:endPara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6756" name="Rectangle 20"/>
            <p:cNvSpPr>
              <a:spLocks noChangeArrowheads="1"/>
            </p:cNvSpPr>
            <p:nvPr/>
          </p:nvSpPr>
          <p:spPr bwMode="auto">
            <a:xfrm>
              <a:off x="2367641" y="4269632"/>
              <a:ext cx="3068707" cy="649992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С установившимся </a:t>
              </a:r>
              <a:r>
                <a:rPr kumimoji="0" lang="en-US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(</a:t>
              </a:r>
              <a:r>
                <a:rPr kumimoji="0" lang="ru-RU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стационарным</a:t>
              </a:r>
              <a:r>
                <a:rPr kumimoji="0" lang="en-US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)</a:t>
              </a:r>
              <a:r>
                <a:rPr kumimoji="0" lang="ru-RU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 режимом</a:t>
              </a:r>
              <a:endParaRPr kumimoji="0" 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6757" name="Line 21"/>
            <p:cNvSpPr>
              <a:spLocks noChangeShapeType="1"/>
            </p:cNvSpPr>
            <p:nvPr/>
          </p:nvSpPr>
          <p:spPr bwMode="auto">
            <a:xfrm flipV="1">
              <a:off x="3946793" y="3985305"/>
              <a:ext cx="0" cy="28720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16758" name="Line 22"/>
            <p:cNvSpPr>
              <a:spLocks noChangeShapeType="1"/>
            </p:cNvSpPr>
            <p:nvPr/>
          </p:nvSpPr>
          <p:spPr bwMode="auto">
            <a:xfrm flipH="1">
              <a:off x="1180477" y="3780158"/>
              <a:ext cx="120583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16760" name="Line 24"/>
            <p:cNvSpPr>
              <a:spLocks noChangeShapeType="1"/>
            </p:cNvSpPr>
            <p:nvPr/>
          </p:nvSpPr>
          <p:spPr bwMode="auto">
            <a:xfrm flipV="1">
              <a:off x="7280558" y="3988184"/>
              <a:ext cx="0" cy="28720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16761" name="Line 25"/>
            <p:cNvSpPr>
              <a:spLocks noChangeShapeType="1"/>
            </p:cNvSpPr>
            <p:nvPr/>
          </p:nvSpPr>
          <p:spPr bwMode="auto">
            <a:xfrm flipV="1">
              <a:off x="6003797" y="4644655"/>
              <a:ext cx="0" cy="49235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16762" name="Line 26"/>
            <p:cNvSpPr>
              <a:spLocks noChangeShapeType="1"/>
            </p:cNvSpPr>
            <p:nvPr/>
          </p:nvSpPr>
          <p:spPr bwMode="auto">
            <a:xfrm flipV="1">
              <a:off x="8415457" y="4644655"/>
              <a:ext cx="0" cy="49235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16763" name="Line 27"/>
            <p:cNvSpPr>
              <a:spLocks noChangeShapeType="1"/>
            </p:cNvSpPr>
            <p:nvPr/>
          </p:nvSpPr>
          <p:spPr bwMode="auto">
            <a:xfrm>
              <a:off x="7209627" y="4644655"/>
              <a:ext cx="0" cy="10458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16759" name="Rectangle 23"/>
            <p:cNvSpPr>
              <a:spLocks noChangeArrowheads="1"/>
            </p:cNvSpPr>
            <p:nvPr/>
          </p:nvSpPr>
          <p:spPr bwMode="auto">
            <a:xfrm>
              <a:off x="5578210" y="4272511"/>
              <a:ext cx="3333765" cy="64711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С неустановившимся режимом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00A365E-48CB-4B35-8364-92E6F95F7CE0}"/>
              </a:ext>
            </a:extLst>
          </p:cNvPr>
          <p:cNvGrpSpPr/>
          <p:nvPr/>
        </p:nvGrpSpPr>
        <p:grpSpPr>
          <a:xfrm>
            <a:off x="1180477" y="2403153"/>
            <a:ext cx="7838517" cy="981107"/>
            <a:chOff x="1180477" y="2403153"/>
            <a:chExt cx="7838517" cy="981107"/>
          </a:xfrm>
        </p:grpSpPr>
        <p:sp>
          <p:nvSpPr>
            <p:cNvPr id="116741" name="Rectangle 5"/>
            <p:cNvSpPr>
              <a:spLocks noChangeArrowheads="1"/>
            </p:cNvSpPr>
            <p:nvPr/>
          </p:nvSpPr>
          <p:spPr bwMode="auto">
            <a:xfrm>
              <a:off x="2367641" y="2988362"/>
              <a:ext cx="3215547" cy="3743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Детерминированные</a:t>
              </a:r>
              <a:endParaRPr kumimoji="0" 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6742" name="Rectangle 6"/>
            <p:cNvSpPr>
              <a:spLocks noChangeArrowheads="1"/>
            </p:cNvSpPr>
            <p:nvPr/>
          </p:nvSpPr>
          <p:spPr bwMode="auto">
            <a:xfrm>
              <a:off x="5763626" y="2981164"/>
              <a:ext cx="3255368" cy="403096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54000" tIns="10800" rIns="54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Стохастические </a:t>
              </a:r>
              <a:r>
                <a:rPr kumimoji="0" lang="en-US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(</a:t>
              </a:r>
              <a:r>
                <a:rPr kumimoji="0" lang="ru-RU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случайные</a:t>
              </a:r>
              <a:r>
                <a:rPr kumimoji="0" lang="en-US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)</a:t>
              </a:r>
              <a:endPara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6746" name="Line 10"/>
            <p:cNvSpPr>
              <a:spLocks noChangeShapeType="1"/>
            </p:cNvSpPr>
            <p:nvPr/>
          </p:nvSpPr>
          <p:spPr bwMode="auto">
            <a:xfrm flipV="1">
              <a:off x="4052567" y="2704035"/>
              <a:ext cx="0" cy="28720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16747" name="Line 11"/>
            <p:cNvSpPr>
              <a:spLocks noChangeShapeType="1"/>
            </p:cNvSpPr>
            <p:nvPr/>
          </p:nvSpPr>
          <p:spPr bwMode="auto">
            <a:xfrm flipV="1">
              <a:off x="7293002" y="2721311"/>
              <a:ext cx="0" cy="24617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16740" name="Rectangle 4"/>
            <p:cNvSpPr>
              <a:spLocks noChangeArrowheads="1"/>
            </p:cNvSpPr>
            <p:nvPr/>
          </p:nvSpPr>
          <p:spPr bwMode="auto">
            <a:xfrm>
              <a:off x="2371374" y="2403153"/>
              <a:ext cx="6540601" cy="352709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54000" tIns="10800" rIns="54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По характеру функционирования</a:t>
              </a:r>
              <a:endPara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6748" name="Line 12"/>
            <p:cNvSpPr>
              <a:spLocks noChangeShapeType="1"/>
            </p:cNvSpPr>
            <p:nvPr/>
          </p:nvSpPr>
          <p:spPr bwMode="auto">
            <a:xfrm flipH="1">
              <a:off x="1180477" y="2564391"/>
              <a:ext cx="120583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</p:grpSp>
      <p:sp>
        <p:nvSpPr>
          <p:cNvPr id="32" name="Rectangle 10">
            <a:extLst>
              <a:ext uri="{FF2B5EF4-FFF2-40B4-BE49-F238E27FC236}">
                <a16:creationId xmlns:a16="http://schemas.microsoft.com/office/drawing/2014/main" id="{9F5354AE-9333-4A80-85C1-AB7CA672E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2" y="447055"/>
            <a:ext cx="93630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b="1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систем и процессов</a:t>
            </a: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B8EF3722-41D3-4A9F-9E00-88D7CC2E3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98630"/>
            <a:ext cx="9518650" cy="350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b="1" kern="0" dirty="0">
                <a:solidFill>
                  <a:srgbClr val="CC3300"/>
                </a:solidFill>
                <a:latin typeface="Times New Roman" pitchFamily="18" charset="0"/>
              </a:rPr>
              <a:t>1.1. СИСТЕМА</a:t>
            </a:r>
            <a:endParaRPr kumimoji="0" lang="ru-RU" sz="2000" b="1" i="0" u="none" strike="noStrike" kern="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  <a:hlinkClick r:id="" action="ppaction://noactio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F91B9D5-C73C-4E07-905F-F24B9F841C17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3082" name="Rectangle 10"/>
          <p:cNvSpPr>
            <a:spLocks noChangeArrowheads="1"/>
          </p:cNvSpPr>
          <p:nvPr/>
        </p:nvSpPr>
        <p:spPr bwMode="auto">
          <a:xfrm>
            <a:off x="330200" y="447055"/>
            <a:ext cx="93630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b="1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моделям и типы моделей</a:t>
            </a:r>
            <a:endParaRPr lang="ru-RU" sz="24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241550" y="6245225"/>
            <a:ext cx="5022850" cy="476250"/>
          </a:xfrm>
          <a:noFill/>
        </p:spPr>
        <p:txBody>
          <a:bodyPr/>
          <a:lstStyle/>
          <a:p>
            <a:r>
              <a:rPr lang="ru-RU" i="1"/>
              <a:t>«Моделирование»</a:t>
            </a:r>
            <a:endParaRPr lang="ru-RU" i="1" dirty="0"/>
          </a:p>
        </p:txBody>
      </p:sp>
      <p:sp>
        <p:nvSpPr>
          <p:cNvPr id="117763" name="Rectangle 3"/>
          <p:cNvSpPr>
            <a:spLocks noChangeArrowheads="1"/>
          </p:cNvSpPr>
          <p:nvPr/>
        </p:nvSpPr>
        <p:spPr bwMode="auto">
          <a:xfrm>
            <a:off x="840847" y="1718810"/>
            <a:ext cx="2112000" cy="102112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Arial" pitchFamily="34" charset="0"/>
              </a:rPr>
              <a:t>Простота</a:t>
            </a:r>
            <a:endParaRPr kumimoji="0" lang="ru-RU" sz="2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7764" name="Rectangle 4"/>
          <p:cNvSpPr>
            <a:spLocks noChangeArrowheads="1"/>
          </p:cNvSpPr>
          <p:nvPr/>
        </p:nvSpPr>
        <p:spPr bwMode="auto">
          <a:xfrm>
            <a:off x="3734352" y="1718810"/>
            <a:ext cx="2517823" cy="1021122"/>
          </a:xfrm>
          <a:prstGeom prst="rect">
            <a:avLst/>
          </a:prstGeom>
          <a:solidFill>
            <a:srgbClr val="FFFFFF"/>
          </a:solidFill>
          <a:ln w="38100" cmpd="dbl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Arial" pitchFamily="34" charset="0"/>
              </a:rPr>
              <a:t>Модель</a:t>
            </a:r>
            <a:endParaRPr kumimoji="0" lang="ru-RU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7765" name="Rectangle 5"/>
          <p:cNvSpPr>
            <a:spLocks noChangeArrowheads="1"/>
          </p:cNvSpPr>
          <p:nvPr/>
        </p:nvSpPr>
        <p:spPr bwMode="auto">
          <a:xfrm>
            <a:off x="7037986" y="1718810"/>
            <a:ext cx="2131377" cy="1021122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Arial" pitchFamily="34" charset="0"/>
              </a:rPr>
              <a:t>Адекватность</a:t>
            </a:r>
            <a:endParaRPr kumimoji="0" lang="ru-RU" sz="2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7769" name="Line 9"/>
          <p:cNvSpPr>
            <a:spLocks noChangeShapeType="1"/>
          </p:cNvSpPr>
          <p:nvPr/>
        </p:nvSpPr>
        <p:spPr bwMode="auto">
          <a:xfrm flipH="1">
            <a:off x="2991600" y="2204788"/>
            <a:ext cx="745982" cy="1891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ru-RU" sz="2400"/>
          </a:p>
        </p:txBody>
      </p:sp>
      <p:sp>
        <p:nvSpPr>
          <p:cNvPr id="117773" name="Line 13"/>
          <p:cNvSpPr>
            <a:spLocks noChangeShapeType="1"/>
          </p:cNvSpPr>
          <p:nvPr/>
        </p:nvSpPr>
        <p:spPr bwMode="auto">
          <a:xfrm flipH="1">
            <a:off x="6258634" y="2206679"/>
            <a:ext cx="745982" cy="1891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round/>
            <a:headEnd type="triangle" w="med" len="med"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ru-RU" sz="2400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17328205-82D1-40D7-ADA0-062F38644BF9}"/>
              </a:ext>
            </a:extLst>
          </p:cNvPr>
          <p:cNvGrpSpPr/>
          <p:nvPr/>
        </p:nvGrpSpPr>
        <p:grpSpPr>
          <a:xfrm>
            <a:off x="272480" y="2745605"/>
            <a:ext cx="9406045" cy="3023655"/>
            <a:chOff x="272480" y="2745605"/>
            <a:chExt cx="9406045" cy="3023655"/>
          </a:xfrm>
        </p:grpSpPr>
        <p:sp>
          <p:nvSpPr>
            <p:cNvPr id="117766" name="Rectangle 6"/>
            <p:cNvSpPr>
              <a:spLocks noChangeArrowheads="1"/>
            </p:cNvSpPr>
            <p:nvPr/>
          </p:nvSpPr>
          <p:spPr bwMode="auto">
            <a:xfrm>
              <a:off x="272480" y="4067390"/>
              <a:ext cx="2470459" cy="170187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45720" rIns="1800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Концептуальная</a:t>
              </a:r>
              <a:r>
                <a:rPr kumimoji="0" lang="en-US" sz="24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ru-RU" sz="24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(</a:t>
              </a:r>
              <a:r>
                <a:rPr kumimoji="0" lang="ru-RU" sz="2400" b="1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содерж</a:t>
              </a:r>
              <a:r>
                <a:rPr kumimoji="0" lang="en-US" sz="24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а</a:t>
              </a:r>
              <a:r>
                <a:rPr kumimoji="0" lang="ru-RU" sz="24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те</a:t>
              </a:r>
              <a:r>
                <a:rPr kumimoji="0" lang="en-US" sz="2400" b="1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льная</a:t>
              </a:r>
              <a:r>
                <a:rPr kumimoji="0" lang="en-US" sz="24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)</a:t>
              </a:r>
              <a:endParaRPr kumimoji="0" 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7767" name="Rectangle 7"/>
            <p:cNvSpPr>
              <a:spLocks noChangeArrowheads="1"/>
            </p:cNvSpPr>
            <p:nvPr/>
          </p:nvSpPr>
          <p:spPr bwMode="auto">
            <a:xfrm>
              <a:off x="5015331" y="4067390"/>
              <a:ext cx="2457542" cy="1699979"/>
            </a:xfrm>
            <a:prstGeom prst="rect">
              <a:avLst/>
            </a:prstGeom>
            <a:solidFill>
              <a:srgbClr val="99FF99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45720" rIns="1800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Математическая (</a:t>
              </a:r>
              <a:r>
                <a:rPr kumimoji="0" lang="en-US" sz="2400" b="1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абстрактная</a:t>
              </a:r>
              <a:r>
                <a:rPr kumimoji="0" lang="ru-RU" sz="24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)</a:t>
              </a:r>
              <a:endParaRPr kumimoji="0" 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7768" name="Rectangle 8"/>
            <p:cNvSpPr>
              <a:spLocks noChangeArrowheads="1"/>
            </p:cNvSpPr>
            <p:nvPr/>
          </p:nvSpPr>
          <p:spPr bwMode="auto">
            <a:xfrm>
              <a:off x="7563295" y="4067390"/>
              <a:ext cx="2115230" cy="1699979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45720" rIns="1800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Программная (компьютерная)</a:t>
              </a:r>
              <a:endPara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7770" name="Line 10"/>
            <p:cNvSpPr>
              <a:spLocks noChangeShapeType="1"/>
            </p:cNvSpPr>
            <p:nvPr/>
          </p:nvSpPr>
          <p:spPr bwMode="auto">
            <a:xfrm>
              <a:off x="1517936" y="3384751"/>
              <a:ext cx="1076" cy="682639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17771" name="Line 11"/>
            <p:cNvSpPr>
              <a:spLocks noChangeShapeType="1"/>
            </p:cNvSpPr>
            <p:nvPr/>
          </p:nvSpPr>
          <p:spPr bwMode="auto">
            <a:xfrm>
              <a:off x="8634366" y="3392315"/>
              <a:ext cx="1076" cy="71100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17772" name="Line 12"/>
            <p:cNvSpPr>
              <a:spLocks noChangeShapeType="1"/>
            </p:cNvSpPr>
            <p:nvPr/>
          </p:nvSpPr>
          <p:spPr bwMode="auto">
            <a:xfrm>
              <a:off x="4953973" y="2745605"/>
              <a:ext cx="0" cy="675075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17774" name="Line 14"/>
            <p:cNvSpPr>
              <a:spLocks noChangeShapeType="1"/>
            </p:cNvSpPr>
            <p:nvPr/>
          </p:nvSpPr>
          <p:spPr bwMode="auto">
            <a:xfrm>
              <a:off x="1517936" y="3392315"/>
              <a:ext cx="7117506" cy="189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17777" name="Rectangle 17"/>
            <p:cNvSpPr>
              <a:spLocks noChangeArrowheads="1"/>
            </p:cNvSpPr>
            <p:nvPr/>
          </p:nvSpPr>
          <p:spPr bwMode="auto">
            <a:xfrm>
              <a:off x="2833361" y="4067390"/>
              <a:ext cx="2074325" cy="170187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45720" rIns="1800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Физическая</a:t>
              </a: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ru-RU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(</a:t>
              </a:r>
              <a:r>
                <a:rPr kumimoji="0" lang="en-US" sz="24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материальная</a:t>
              </a: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cs typeface="Arial" pitchFamily="34" charset="0"/>
                </a:rPr>
                <a:t>)</a:t>
              </a:r>
              <a:endPara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7778" name="Line 18"/>
            <p:cNvSpPr>
              <a:spLocks noChangeShapeType="1"/>
            </p:cNvSpPr>
            <p:nvPr/>
          </p:nvSpPr>
          <p:spPr bwMode="auto">
            <a:xfrm>
              <a:off x="3848456" y="3384751"/>
              <a:ext cx="1076" cy="682639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17779" name="Line 19"/>
            <p:cNvSpPr>
              <a:spLocks noChangeShapeType="1"/>
            </p:cNvSpPr>
            <p:nvPr/>
          </p:nvSpPr>
          <p:spPr bwMode="auto">
            <a:xfrm>
              <a:off x="6242488" y="3384751"/>
              <a:ext cx="1076" cy="682639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</p:grpSp>
      <p:sp>
        <p:nvSpPr>
          <p:cNvPr id="23" name="Rectangle 3">
            <a:extLst>
              <a:ext uri="{FF2B5EF4-FFF2-40B4-BE49-F238E27FC236}">
                <a16:creationId xmlns:a16="http://schemas.microsoft.com/office/drawing/2014/main" id="{4B6ACCEA-E9F0-4D24-B576-DA810648B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98630"/>
            <a:ext cx="9518650" cy="350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b="1" kern="0" dirty="0">
                <a:solidFill>
                  <a:srgbClr val="CC3300"/>
                </a:solidFill>
                <a:latin typeface="Times New Roman" pitchFamily="18" charset="0"/>
              </a:rPr>
              <a:t>1.2. МОДЕЛЬ</a:t>
            </a:r>
            <a:endParaRPr kumimoji="0" lang="ru-RU" sz="2000" b="1" i="0" u="none" strike="noStrike" kern="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  <a:hlinkClick r:id="" action="ppaction://noaction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39712A-6258-4328-9AC0-E12ADC7D0DA5}"/>
              </a:ext>
            </a:extLst>
          </p:cNvPr>
          <p:cNvSpPr txBox="1"/>
          <p:nvPr/>
        </p:nvSpPr>
        <p:spPr>
          <a:xfrm>
            <a:off x="4939371" y="1004060"/>
            <a:ext cx="49666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i="1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«Усложнять - просто, упрощать – сложно» </a:t>
            </a:r>
            <a:r>
              <a:rPr lang="ru-RU" sz="1400" b="1" i="1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(Закон Мейера)</a:t>
            </a:r>
            <a:endParaRPr lang="ru-RU" sz="1400" i="1" dirty="0">
              <a:solidFill>
                <a:srgbClr val="0033CC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F6202-0FCE-4C39-BD2E-94E16F40411F}" type="slidenum">
              <a:rPr lang="ru-RU"/>
              <a:pPr/>
              <a:t>15</a:t>
            </a:fld>
            <a:endParaRPr lang="ru-RU"/>
          </a:p>
        </p:txBody>
      </p:sp>
      <p:grpSp>
        <p:nvGrpSpPr>
          <p:cNvPr id="2" name="Group 60"/>
          <p:cNvGrpSpPr>
            <a:grpSpLocks/>
          </p:cNvGrpSpPr>
          <p:nvPr/>
        </p:nvGrpSpPr>
        <p:grpSpPr bwMode="auto">
          <a:xfrm>
            <a:off x="388674" y="965200"/>
            <a:ext cx="9283435" cy="5119095"/>
            <a:chOff x="544" y="1389"/>
            <a:chExt cx="4831" cy="2381"/>
          </a:xfrm>
        </p:grpSpPr>
        <p:sp>
          <p:nvSpPr>
            <p:cNvPr id="167960" name="Rectangle 24"/>
            <p:cNvSpPr>
              <a:spLocks noChangeArrowheads="1"/>
            </p:cNvSpPr>
            <p:nvPr/>
          </p:nvSpPr>
          <p:spPr bwMode="auto">
            <a:xfrm rot="16200000">
              <a:off x="-443" y="2376"/>
              <a:ext cx="2359" cy="386"/>
            </a:xfrm>
            <a:prstGeom prst="rect">
              <a:avLst/>
            </a:prstGeom>
            <a:solidFill>
              <a:srgbClr val="FFFFFF"/>
            </a:solidFill>
            <a:ln w="38100" cmpd="dbl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ru-RU" dirty="0"/>
                <a:t>Классификация  </a:t>
              </a:r>
              <a:r>
                <a:rPr lang="ru-RU" i="1" dirty="0"/>
                <a:t>математических</a:t>
              </a:r>
              <a:r>
                <a:rPr lang="ru-RU" dirty="0"/>
                <a:t>  моделей</a:t>
              </a:r>
            </a:p>
          </p:txBody>
        </p:sp>
        <p:sp>
          <p:nvSpPr>
            <p:cNvPr id="167964" name="Rectangle 28"/>
            <p:cNvSpPr>
              <a:spLocks noChangeArrowheads="1"/>
            </p:cNvSpPr>
            <p:nvPr/>
          </p:nvSpPr>
          <p:spPr bwMode="auto">
            <a:xfrm>
              <a:off x="1313" y="2012"/>
              <a:ext cx="4062" cy="196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ru-RU" b="1" dirty="0"/>
                <a:t>По характеру функционирования</a:t>
              </a:r>
            </a:p>
          </p:txBody>
        </p:sp>
        <p:sp>
          <p:nvSpPr>
            <p:cNvPr id="167965" name="Rectangle 29"/>
            <p:cNvSpPr>
              <a:spLocks noChangeArrowheads="1"/>
            </p:cNvSpPr>
            <p:nvPr/>
          </p:nvSpPr>
          <p:spPr bwMode="auto">
            <a:xfrm>
              <a:off x="1312" y="2329"/>
              <a:ext cx="2076" cy="18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ru-RU"/>
                <a:t>Детерминированные (неслучайные)</a:t>
              </a:r>
            </a:p>
          </p:txBody>
        </p:sp>
        <p:sp>
          <p:nvSpPr>
            <p:cNvPr id="167966" name="Rectangle 30"/>
            <p:cNvSpPr>
              <a:spLocks noChangeArrowheads="1"/>
            </p:cNvSpPr>
            <p:nvPr/>
          </p:nvSpPr>
          <p:spPr bwMode="auto">
            <a:xfrm>
              <a:off x="3434" y="2320"/>
              <a:ext cx="1941" cy="190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54000" tIns="10800" rIns="54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ru-RU" dirty="0"/>
                <a:t>Стохастические (вероятностные)</a:t>
              </a:r>
            </a:p>
          </p:txBody>
        </p:sp>
        <p:sp>
          <p:nvSpPr>
            <p:cNvPr id="167967" name="Line 31"/>
            <p:cNvSpPr>
              <a:spLocks noChangeShapeType="1"/>
            </p:cNvSpPr>
            <p:nvPr/>
          </p:nvSpPr>
          <p:spPr bwMode="auto">
            <a:xfrm flipV="1">
              <a:off x="2268" y="2215"/>
              <a:ext cx="0" cy="11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anchor="ctr" anchorCtr="0"/>
            <a:lstStyle/>
            <a:p>
              <a:endParaRPr lang="ru-RU"/>
            </a:p>
          </p:txBody>
        </p:sp>
        <p:sp>
          <p:nvSpPr>
            <p:cNvPr id="167968" name="Line 32"/>
            <p:cNvSpPr>
              <a:spLocks noChangeShapeType="1"/>
            </p:cNvSpPr>
            <p:nvPr/>
          </p:nvSpPr>
          <p:spPr bwMode="auto">
            <a:xfrm flipV="1">
              <a:off x="4490" y="2193"/>
              <a:ext cx="0" cy="13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anchor="ctr" anchorCtr="0"/>
            <a:lstStyle/>
            <a:p>
              <a:endParaRPr lang="ru-RU"/>
            </a:p>
          </p:txBody>
        </p:sp>
        <p:sp>
          <p:nvSpPr>
            <p:cNvPr id="167969" name="Line 33"/>
            <p:cNvSpPr>
              <a:spLocks noChangeShapeType="1"/>
            </p:cNvSpPr>
            <p:nvPr/>
          </p:nvSpPr>
          <p:spPr bwMode="auto">
            <a:xfrm flipH="1">
              <a:off x="930" y="2101"/>
              <a:ext cx="38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anchor="ctr" anchorCtr="0"/>
            <a:lstStyle/>
            <a:p>
              <a:endParaRPr lang="ru-RU"/>
            </a:p>
          </p:txBody>
        </p:sp>
        <p:sp>
          <p:nvSpPr>
            <p:cNvPr id="167971" name="Rectangle 35"/>
            <p:cNvSpPr>
              <a:spLocks noChangeArrowheads="1"/>
            </p:cNvSpPr>
            <p:nvPr/>
          </p:nvSpPr>
          <p:spPr bwMode="auto">
            <a:xfrm>
              <a:off x="1313" y="2624"/>
              <a:ext cx="4062" cy="196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 anchor="ctr" anchorCtr="0"/>
            <a:lstStyle/>
            <a:p>
              <a:r>
                <a:rPr lang="ru-RU" b="1" dirty="0"/>
                <a:t>По виду протекающих в системе процессов</a:t>
              </a:r>
            </a:p>
          </p:txBody>
        </p:sp>
        <p:sp>
          <p:nvSpPr>
            <p:cNvPr id="167972" name="Rectangle 36"/>
            <p:cNvSpPr>
              <a:spLocks noChangeArrowheads="1"/>
            </p:cNvSpPr>
            <p:nvPr/>
          </p:nvSpPr>
          <p:spPr bwMode="auto">
            <a:xfrm>
              <a:off x="1315" y="2959"/>
              <a:ext cx="1928" cy="18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ru-RU"/>
                <a:t>Непрерывные</a:t>
              </a:r>
            </a:p>
          </p:txBody>
        </p:sp>
        <p:sp>
          <p:nvSpPr>
            <p:cNvPr id="167973" name="Line 37"/>
            <p:cNvSpPr>
              <a:spLocks noChangeShapeType="1"/>
            </p:cNvSpPr>
            <p:nvPr/>
          </p:nvSpPr>
          <p:spPr bwMode="auto">
            <a:xfrm flipV="1">
              <a:off x="2266" y="2828"/>
              <a:ext cx="0" cy="1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anchor="ctr" anchorCtr="0"/>
            <a:lstStyle/>
            <a:p>
              <a:endParaRPr lang="ru-RU"/>
            </a:p>
          </p:txBody>
        </p:sp>
        <p:sp>
          <p:nvSpPr>
            <p:cNvPr id="167974" name="Line 38"/>
            <p:cNvSpPr>
              <a:spLocks noChangeShapeType="1"/>
            </p:cNvSpPr>
            <p:nvPr/>
          </p:nvSpPr>
          <p:spPr bwMode="auto">
            <a:xfrm flipH="1">
              <a:off x="930" y="2712"/>
              <a:ext cx="38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anchor="ctr" anchorCtr="0"/>
            <a:lstStyle/>
            <a:p>
              <a:endParaRPr lang="ru-RU"/>
            </a:p>
          </p:txBody>
        </p:sp>
        <p:sp>
          <p:nvSpPr>
            <p:cNvPr id="167975" name="Rectangle 39"/>
            <p:cNvSpPr>
              <a:spLocks noChangeArrowheads="1"/>
            </p:cNvSpPr>
            <p:nvPr/>
          </p:nvSpPr>
          <p:spPr bwMode="auto">
            <a:xfrm>
              <a:off x="3606" y="2959"/>
              <a:ext cx="1769" cy="182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ru-RU" dirty="0"/>
                <a:t>Дискретные</a:t>
              </a:r>
            </a:p>
          </p:txBody>
        </p:sp>
        <p:sp>
          <p:nvSpPr>
            <p:cNvPr id="167976" name="Line 40"/>
            <p:cNvSpPr>
              <a:spLocks noChangeShapeType="1"/>
            </p:cNvSpPr>
            <p:nvPr/>
          </p:nvSpPr>
          <p:spPr bwMode="auto">
            <a:xfrm flipV="1">
              <a:off x="4511" y="2829"/>
              <a:ext cx="0" cy="13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anchor="ctr" anchorCtr="0"/>
            <a:lstStyle/>
            <a:p>
              <a:endParaRPr lang="ru-RU"/>
            </a:p>
          </p:txBody>
        </p:sp>
        <p:sp>
          <p:nvSpPr>
            <p:cNvPr id="167977" name="Rectangle 41"/>
            <p:cNvSpPr>
              <a:spLocks noChangeArrowheads="1"/>
            </p:cNvSpPr>
            <p:nvPr/>
          </p:nvSpPr>
          <p:spPr bwMode="auto">
            <a:xfrm>
              <a:off x="1313" y="3231"/>
              <a:ext cx="4062" cy="196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ru-RU" b="1"/>
                <a:t>По режиму функционирования</a:t>
              </a:r>
            </a:p>
          </p:txBody>
        </p:sp>
        <p:sp>
          <p:nvSpPr>
            <p:cNvPr id="167978" name="Rectangle 42"/>
            <p:cNvSpPr>
              <a:spLocks noChangeArrowheads="1"/>
            </p:cNvSpPr>
            <p:nvPr/>
          </p:nvSpPr>
          <p:spPr bwMode="auto">
            <a:xfrm>
              <a:off x="1312" y="3592"/>
              <a:ext cx="1863" cy="178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ru-RU"/>
                <a:t>С установившимся режимом</a:t>
              </a:r>
            </a:p>
          </p:txBody>
        </p:sp>
        <p:sp>
          <p:nvSpPr>
            <p:cNvPr id="167979" name="Line 43"/>
            <p:cNvSpPr>
              <a:spLocks noChangeShapeType="1"/>
            </p:cNvSpPr>
            <p:nvPr/>
          </p:nvSpPr>
          <p:spPr bwMode="auto">
            <a:xfrm flipV="1">
              <a:off x="2222" y="3434"/>
              <a:ext cx="0" cy="1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anchor="ctr" anchorCtr="0"/>
            <a:lstStyle/>
            <a:p>
              <a:endParaRPr lang="ru-RU"/>
            </a:p>
          </p:txBody>
        </p:sp>
        <p:sp>
          <p:nvSpPr>
            <p:cNvPr id="167980" name="Line 44"/>
            <p:cNvSpPr>
              <a:spLocks noChangeShapeType="1"/>
            </p:cNvSpPr>
            <p:nvPr/>
          </p:nvSpPr>
          <p:spPr bwMode="auto">
            <a:xfrm flipH="1">
              <a:off x="930" y="3320"/>
              <a:ext cx="38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anchor="ctr" anchorCtr="0"/>
            <a:lstStyle/>
            <a:p>
              <a:endParaRPr lang="ru-RU"/>
            </a:p>
          </p:txBody>
        </p:sp>
        <p:sp>
          <p:nvSpPr>
            <p:cNvPr id="167981" name="Rectangle 45"/>
            <p:cNvSpPr>
              <a:spLocks noChangeArrowheads="1"/>
            </p:cNvSpPr>
            <p:nvPr/>
          </p:nvSpPr>
          <p:spPr bwMode="auto">
            <a:xfrm>
              <a:off x="3447" y="3594"/>
              <a:ext cx="1928" cy="17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100000"/>
                </a:lnSpc>
              </a:pPr>
              <a:endParaRPr lang="en-US" dirty="0"/>
            </a:p>
            <a:p>
              <a:pPr algn="ctr">
                <a:lnSpc>
                  <a:spcPct val="100000"/>
                </a:lnSpc>
              </a:pPr>
              <a:r>
                <a:rPr lang="ru-RU" dirty="0"/>
                <a:t>С неустановившимся режимом</a:t>
              </a:r>
            </a:p>
            <a:p>
              <a:pPr>
                <a:lnSpc>
                  <a:spcPct val="100000"/>
                </a:lnSpc>
              </a:pPr>
              <a:endParaRPr lang="ru-RU" dirty="0"/>
            </a:p>
          </p:txBody>
        </p:sp>
        <p:sp>
          <p:nvSpPr>
            <p:cNvPr id="167982" name="Line 46"/>
            <p:cNvSpPr>
              <a:spLocks noChangeShapeType="1"/>
            </p:cNvSpPr>
            <p:nvPr/>
          </p:nvSpPr>
          <p:spPr bwMode="auto">
            <a:xfrm flipV="1">
              <a:off x="4418" y="3436"/>
              <a:ext cx="0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anchor="ctr" anchorCtr="0"/>
            <a:lstStyle/>
            <a:p>
              <a:endParaRPr lang="ru-RU"/>
            </a:p>
          </p:txBody>
        </p:sp>
        <p:sp>
          <p:nvSpPr>
            <p:cNvPr id="167986" name="Rectangle 50"/>
            <p:cNvSpPr>
              <a:spLocks noChangeArrowheads="1"/>
            </p:cNvSpPr>
            <p:nvPr/>
          </p:nvSpPr>
          <p:spPr bwMode="auto">
            <a:xfrm>
              <a:off x="1313" y="1440"/>
              <a:ext cx="4062" cy="196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ru-RU" b="1" dirty="0"/>
                <a:t>По назначению</a:t>
              </a:r>
            </a:p>
          </p:txBody>
        </p:sp>
        <p:sp>
          <p:nvSpPr>
            <p:cNvPr id="167987" name="Rectangle 51"/>
            <p:cNvSpPr>
              <a:spLocks noChangeArrowheads="1"/>
            </p:cNvSpPr>
            <p:nvPr/>
          </p:nvSpPr>
          <p:spPr bwMode="auto">
            <a:xfrm>
              <a:off x="1312" y="1757"/>
              <a:ext cx="910" cy="18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ru-RU"/>
                <a:t>Структурные</a:t>
              </a:r>
            </a:p>
          </p:txBody>
        </p:sp>
        <p:sp>
          <p:nvSpPr>
            <p:cNvPr id="167988" name="Rectangle 52"/>
            <p:cNvSpPr>
              <a:spLocks noChangeArrowheads="1"/>
            </p:cNvSpPr>
            <p:nvPr/>
          </p:nvSpPr>
          <p:spPr bwMode="auto">
            <a:xfrm>
              <a:off x="3606" y="1748"/>
              <a:ext cx="1769" cy="190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ru-RU"/>
                <a:t>Структурно-функциональные</a:t>
              </a:r>
            </a:p>
          </p:txBody>
        </p:sp>
        <p:sp>
          <p:nvSpPr>
            <p:cNvPr id="167989" name="Line 53"/>
            <p:cNvSpPr>
              <a:spLocks noChangeShapeType="1"/>
            </p:cNvSpPr>
            <p:nvPr/>
          </p:nvSpPr>
          <p:spPr bwMode="auto">
            <a:xfrm flipV="1">
              <a:off x="1791" y="1643"/>
              <a:ext cx="0" cy="11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anchor="ctr" anchorCtr="0"/>
            <a:lstStyle/>
            <a:p>
              <a:endParaRPr lang="ru-RU"/>
            </a:p>
          </p:txBody>
        </p:sp>
        <p:sp>
          <p:nvSpPr>
            <p:cNvPr id="167990" name="Line 54"/>
            <p:cNvSpPr>
              <a:spLocks noChangeShapeType="1"/>
            </p:cNvSpPr>
            <p:nvPr/>
          </p:nvSpPr>
          <p:spPr bwMode="auto">
            <a:xfrm flipV="1">
              <a:off x="4490" y="1621"/>
              <a:ext cx="0" cy="13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anchor="ctr" anchorCtr="0"/>
            <a:lstStyle/>
            <a:p>
              <a:endParaRPr lang="ru-RU"/>
            </a:p>
          </p:txBody>
        </p:sp>
        <p:sp>
          <p:nvSpPr>
            <p:cNvPr id="167991" name="Rectangle 55"/>
            <p:cNvSpPr>
              <a:spLocks noChangeArrowheads="1"/>
            </p:cNvSpPr>
            <p:nvPr/>
          </p:nvSpPr>
          <p:spPr bwMode="auto">
            <a:xfrm>
              <a:off x="2357" y="1752"/>
              <a:ext cx="1101" cy="18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ru-RU" dirty="0"/>
                <a:t>Функциональные</a:t>
              </a:r>
            </a:p>
          </p:txBody>
        </p:sp>
        <p:sp>
          <p:nvSpPr>
            <p:cNvPr id="167992" name="Line 56"/>
            <p:cNvSpPr>
              <a:spLocks noChangeShapeType="1"/>
            </p:cNvSpPr>
            <p:nvPr/>
          </p:nvSpPr>
          <p:spPr bwMode="auto">
            <a:xfrm flipV="1">
              <a:off x="2925" y="1638"/>
              <a:ext cx="0" cy="11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anchor="ctr" anchorCtr="0"/>
            <a:lstStyle/>
            <a:p>
              <a:endParaRPr lang="ru-RU"/>
            </a:p>
          </p:txBody>
        </p:sp>
      </p:grpSp>
      <p:cxnSp>
        <p:nvCxnSpPr>
          <p:cNvPr id="37" name="Прямая соединительная линия 36"/>
          <p:cNvCxnSpPr/>
          <p:nvPr/>
        </p:nvCxnSpPr>
        <p:spPr bwMode="auto">
          <a:xfrm rot="10800000" flipV="1">
            <a:off x="1130300" y="1268760"/>
            <a:ext cx="736114" cy="4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6" name="Нижний колонтитул 3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i="1"/>
              <a:t>«Моделирование»</a:t>
            </a:r>
            <a:endParaRPr lang="ru-RU" i="1" dirty="0"/>
          </a:p>
        </p:txBody>
      </p:sp>
      <p:sp>
        <p:nvSpPr>
          <p:cNvPr id="38" name="Rectangle 10">
            <a:extLst>
              <a:ext uri="{FF2B5EF4-FFF2-40B4-BE49-F238E27FC236}">
                <a16:creationId xmlns:a16="http://schemas.microsoft.com/office/drawing/2014/main" id="{C9E3CA40-8A53-4C47-90F8-E170A6F95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" y="447055"/>
            <a:ext cx="93630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b="1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моделей</a:t>
            </a:r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02986A21-3781-4F22-BF13-F675752C2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98630"/>
            <a:ext cx="9518650" cy="350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b="1" kern="0" dirty="0">
                <a:solidFill>
                  <a:srgbClr val="CC3300"/>
                </a:solidFill>
                <a:latin typeface="Times New Roman" pitchFamily="18" charset="0"/>
              </a:rPr>
              <a:t>1.2. МОДЕЛЬ</a:t>
            </a:r>
            <a:endParaRPr kumimoji="0" lang="ru-RU" sz="2000" b="1" i="0" u="none" strike="noStrike" kern="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  <a:hlinkClick r:id="" action="ppaction://noactio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F8006-4245-4B49-9346-C520ABDC7877}" type="datetime1">
              <a:rPr lang="ru-RU"/>
              <a:pPr/>
              <a:t>11.09.2023</a:t>
            </a:fld>
            <a:endParaRPr lang="ru-RU"/>
          </a:p>
        </p:txBody>
      </p:sp>
      <p:sp>
        <p:nvSpPr>
          <p:cNvPr id="12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68F2F-AB78-4071-82B0-EEA23A6E22EB}" type="slidenum">
              <a:rPr lang="ru-RU"/>
              <a:pPr/>
              <a:t>16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1393006" y="4389201"/>
            <a:ext cx="750694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u="sng" dirty="0"/>
              <a:t>Задачи исследования</a:t>
            </a:r>
            <a:r>
              <a:rPr lang="ru-RU" sz="1800" b="1" u="sng" dirty="0">
                <a:latin typeface="+mj-lt"/>
              </a:rPr>
              <a:t> </a:t>
            </a:r>
            <a:r>
              <a:rPr lang="ru-RU" sz="1800" b="1" u="sng" dirty="0">
                <a:latin typeface="+mj-lt"/>
                <a:cs typeface="Times New Roman" pitchFamily="18" charset="0"/>
              </a:rPr>
              <a:t>систем и процессов</a:t>
            </a:r>
            <a:r>
              <a:rPr lang="ru-RU" sz="1800" b="1" u="sng" dirty="0"/>
              <a:t>:</a:t>
            </a:r>
          </a:p>
          <a:p>
            <a:pPr>
              <a:buFont typeface="Arial" pitchFamily="34" charset="0"/>
              <a:buChar char="•"/>
            </a:pPr>
            <a:r>
              <a:rPr lang="ru-RU" sz="1800" dirty="0">
                <a:solidFill>
                  <a:srgbClr val="0033CC"/>
                </a:solidFill>
              </a:rPr>
              <a:t>анализ свойств системы</a:t>
            </a:r>
            <a:r>
              <a:rPr lang="ru-RU" sz="1800" dirty="0"/>
              <a:t>;</a:t>
            </a:r>
          </a:p>
          <a:p>
            <a:pPr>
              <a:buFont typeface="Arial" pitchFamily="34" charset="0"/>
              <a:buChar char="•"/>
            </a:pPr>
            <a:r>
              <a:rPr lang="ru-RU" sz="1800" dirty="0"/>
              <a:t>синтез (оптимальный).</a:t>
            </a:r>
          </a:p>
          <a:p>
            <a:r>
              <a:rPr lang="ru-RU" sz="1800" b="1" u="sng" dirty="0"/>
              <a:t>Методы исследования систем (процессов)</a:t>
            </a:r>
            <a:r>
              <a:rPr lang="ru-RU" sz="1800" b="1" dirty="0"/>
              <a:t>:</a:t>
            </a:r>
          </a:p>
          <a:p>
            <a:pPr>
              <a:buFont typeface="Arial" pitchFamily="34" charset="0"/>
              <a:buChar char="•"/>
            </a:pPr>
            <a:r>
              <a:rPr lang="ru-RU" sz="1800" dirty="0"/>
              <a:t>экспериментальные (измерение);</a:t>
            </a:r>
          </a:p>
          <a:p>
            <a:pPr>
              <a:buFont typeface="Arial" pitchFamily="34" charset="0"/>
              <a:buChar char="•"/>
            </a:pPr>
            <a:r>
              <a:rPr lang="ru-RU" sz="1800" dirty="0">
                <a:solidFill>
                  <a:srgbClr val="0033CC"/>
                </a:solidFill>
              </a:rPr>
              <a:t>моделирование (математическое)</a:t>
            </a:r>
            <a:r>
              <a:rPr lang="ru-RU" sz="1800" dirty="0"/>
              <a:t>.</a:t>
            </a:r>
          </a:p>
        </p:txBody>
      </p:sp>
      <p:grpSp>
        <p:nvGrpSpPr>
          <p:cNvPr id="2" name="Группа 45"/>
          <p:cNvGrpSpPr/>
          <p:nvPr/>
        </p:nvGrpSpPr>
        <p:grpSpPr>
          <a:xfrm>
            <a:off x="154748" y="953725"/>
            <a:ext cx="9596506" cy="1684348"/>
            <a:chOff x="142844" y="2744786"/>
            <a:chExt cx="8858313" cy="1684348"/>
          </a:xfrm>
        </p:grpSpPr>
        <p:grpSp>
          <p:nvGrpSpPr>
            <p:cNvPr id="3" name="Группа 19"/>
            <p:cNvGrpSpPr/>
            <p:nvPr/>
          </p:nvGrpSpPr>
          <p:grpSpPr>
            <a:xfrm>
              <a:off x="142844" y="2857495"/>
              <a:ext cx="1665288" cy="1015703"/>
              <a:chOff x="2152628" y="3000372"/>
              <a:chExt cx="1665288" cy="1015703"/>
            </a:xfrm>
          </p:grpSpPr>
          <p:sp>
            <p:nvSpPr>
              <p:cNvPr id="96263" name="AutoShape 7"/>
              <p:cNvSpPr>
                <a:spLocks noChangeAspect="1" noChangeArrowheads="1"/>
              </p:cNvSpPr>
              <p:nvPr/>
            </p:nvSpPr>
            <p:spPr bwMode="auto">
              <a:xfrm>
                <a:off x="2152628" y="3001968"/>
                <a:ext cx="1665288" cy="1008063"/>
              </a:xfrm>
              <a:prstGeom prst="plaque">
                <a:avLst>
                  <a:gd name="adj" fmla="val 16667"/>
                </a:avLst>
              </a:prstGeom>
              <a:solidFill>
                <a:srgbClr val="99FF99"/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96264" name="Text Box 8"/>
              <p:cNvSpPr txBox="1">
                <a:spLocks noChangeAspect="1" noChangeArrowheads="1"/>
              </p:cNvSpPr>
              <p:nvPr/>
            </p:nvSpPr>
            <p:spPr bwMode="auto">
              <a:xfrm>
                <a:off x="2224066" y="3000372"/>
                <a:ext cx="1500198" cy="10157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eaLnBrk="0" hangingPunct="0"/>
                <a:r>
                  <a:rPr lang="ru-RU" sz="1400" b="1" dirty="0">
                    <a:latin typeface="Times New Roman" pitchFamily="18" charset="0"/>
                  </a:rPr>
                  <a:t>ИСХОДНЫЙ</a:t>
                </a:r>
                <a:r>
                  <a:rPr lang="ru-RU" sz="1400" dirty="0">
                    <a:latin typeface="Times New Roman" pitchFamily="18" charset="0"/>
                  </a:rPr>
                  <a:t> </a:t>
                </a:r>
                <a:r>
                  <a:rPr lang="ru-RU" sz="1400" b="1" dirty="0">
                    <a:latin typeface="Times New Roman" pitchFamily="18" charset="0"/>
                  </a:rPr>
                  <a:t>ОБЪЕКТ</a:t>
                </a:r>
                <a:endParaRPr lang="ru-RU" sz="1400" dirty="0">
                  <a:latin typeface="Times New Roman" pitchFamily="18" charset="0"/>
                </a:endParaRPr>
              </a:p>
              <a:p>
                <a:pPr eaLnBrk="0" hangingPunct="0"/>
                <a:r>
                  <a:rPr lang="ru-RU" sz="1400" b="1" dirty="0">
                    <a:latin typeface="Times New Roman" pitchFamily="18" charset="0"/>
                  </a:rPr>
                  <a:t>(система,</a:t>
                </a:r>
              </a:p>
              <a:p>
                <a:pPr eaLnBrk="0" hangingPunct="0"/>
                <a:r>
                  <a:rPr lang="ru-RU" sz="1400" b="1" dirty="0">
                    <a:latin typeface="Times New Roman" pitchFamily="18" charset="0"/>
                  </a:rPr>
                  <a:t>процесс)</a:t>
                </a:r>
              </a:p>
            </p:txBody>
          </p:sp>
        </p:grpSp>
        <p:sp>
          <p:nvSpPr>
            <p:cNvPr id="96266" name="AutoShape 10"/>
            <p:cNvSpPr>
              <a:spLocks noChangeAspect="1" noChangeArrowheads="1"/>
            </p:cNvSpPr>
            <p:nvPr/>
          </p:nvSpPr>
          <p:spPr bwMode="auto">
            <a:xfrm>
              <a:off x="7215207" y="2857495"/>
              <a:ext cx="1785950" cy="925326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ru-RU"/>
            </a:p>
          </p:txBody>
        </p:sp>
        <p:sp>
          <p:nvSpPr>
            <p:cNvPr id="96267" name="Text Box 11"/>
            <p:cNvSpPr txBox="1">
              <a:spLocks noChangeAspect="1" noChangeArrowheads="1"/>
            </p:cNvSpPr>
            <p:nvPr/>
          </p:nvSpPr>
          <p:spPr bwMode="auto">
            <a:xfrm>
              <a:off x="7215206" y="3071809"/>
              <a:ext cx="1785950" cy="4968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8000" rIns="18000"/>
            <a:lstStyle/>
            <a:p>
              <a:pPr eaLnBrk="0" hangingPunct="0"/>
              <a:r>
                <a:rPr lang="ru-RU" sz="1800" dirty="0">
                  <a:latin typeface="Times New Roman" pitchFamily="18" charset="0"/>
                </a:rPr>
                <a:t>Математическая модель</a:t>
              </a:r>
            </a:p>
          </p:txBody>
        </p:sp>
        <p:cxnSp>
          <p:nvCxnSpPr>
            <p:cNvPr id="19" name="Прямая соединительная линия 18"/>
            <p:cNvCxnSpPr/>
            <p:nvPr/>
          </p:nvCxnSpPr>
          <p:spPr bwMode="auto">
            <a:xfrm rot="5400000">
              <a:off x="7965304" y="4107660"/>
              <a:ext cx="642942" cy="0"/>
            </a:xfrm>
            <a:prstGeom prst="line">
              <a:avLst/>
            </a:prstGeom>
            <a:solidFill>
              <a:schemeClr val="accent1"/>
            </a:solidFill>
            <a:ln w="79375" cap="flat" cmpd="dbl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Прямая соединительная линия 20"/>
            <p:cNvCxnSpPr/>
            <p:nvPr/>
          </p:nvCxnSpPr>
          <p:spPr bwMode="auto">
            <a:xfrm rot="10800000">
              <a:off x="957753" y="4429132"/>
              <a:ext cx="7358114" cy="2"/>
            </a:xfrm>
            <a:prstGeom prst="line">
              <a:avLst/>
            </a:prstGeom>
            <a:solidFill>
              <a:schemeClr val="accent1"/>
            </a:solidFill>
            <a:ln w="79375" cap="flat" cmpd="dbl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Прямая со стрелкой 22"/>
            <p:cNvCxnSpPr/>
            <p:nvPr/>
          </p:nvCxnSpPr>
          <p:spPr bwMode="auto">
            <a:xfrm rot="16200000" flipV="1">
              <a:off x="737362" y="4166393"/>
              <a:ext cx="498486" cy="26991"/>
            </a:xfrm>
            <a:prstGeom prst="straightConnector1">
              <a:avLst/>
            </a:prstGeom>
            <a:solidFill>
              <a:schemeClr val="accent1"/>
            </a:solidFill>
            <a:ln w="79375" cap="flat" cmpd="dbl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/>
            </a:ln>
            <a:effectLst/>
          </p:spPr>
        </p:cxnSp>
        <p:sp>
          <p:nvSpPr>
            <p:cNvPr id="32" name="TextBox 31"/>
            <p:cNvSpPr txBox="1"/>
            <p:nvPr/>
          </p:nvSpPr>
          <p:spPr>
            <a:xfrm>
              <a:off x="3571868" y="3857627"/>
              <a:ext cx="22145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{H} </a:t>
              </a:r>
              <a:r>
                <a:rPr lang="ru-RU" dirty="0"/>
                <a:t>       </a:t>
              </a:r>
              <a:r>
                <a:rPr lang="en-US" dirty="0"/>
                <a:t>    {H</a:t>
              </a:r>
              <a:r>
                <a:rPr lang="ru-RU" baseline="-25000" dirty="0"/>
                <a:t>м</a:t>
              </a:r>
              <a:r>
                <a:rPr lang="en-US" dirty="0"/>
                <a:t>}</a:t>
              </a:r>
              <a:endParaRPr lang="ru-RU" dirty="0"/>
            </a:p>
          </p:txBody>
        </p:sp>
        <p:grpSp>
          <p:nvGrpSpPr>
            <p:cNvPr id="4" name="Группа 23"/>
            <p:cNvGrpSpPr/>
            <p:nvPr/>
          </p:nvGrpSpPr>
          <p:grpSpPr>
            <a:xfrm>
              <a:off x="5214942" y="2786057"/>
              <a:ext cx="2214578" cy="684213"/>
              <a:chOff x="3714744" y="2928934"/>
              <a:chExt cx="2214578" cy="684213"/>
            </a:xfrm>
          </p:grpSpPr>
          <p:sp>
            <p:nvSpPr>
              <p:cNvPr id="96265" name="AutoShape 9"/>
              <p:cNvSpPr>
                <a:spLocks noChangeAspect="1" noChangeArrowheads="1"/>
              </p:cNvSpPr>
              <p:nvPr/>
            </p:nvSpPr>
            <p:spPr bwMode="auto">
              <a:xfrm>
                <a:off x="3998891" y="3346331"/>
                <a:ext cx="1644679" cy="266816"/>
              </a:xfrm>
              <a:prstGeom prst="rightArrow">
                <a:avLst>
                  <a:gd name="adj1" fmla="val 50000"/>
                  <a:gd name="adj2" fmla="val 87167"/>
                </a:avLst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3714744" y="2928934"/>
                <a:ext cx="22145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{</a:t>
                </a:r>
                <a:r>
                  <a:rPr lang="ru-RU" dirty="0"/>
                  <a:t>Р</a:t>
                </a:r>
                <a:r>
                  <a:rPr lang="en-US" dirty="0"/>
                  <a:t>’} </a:t>
                </a:r>
                <a:r>
                  <a:rPr lang="ru-RU" dirty="0"/>
                  <a:t>  </a:t>
                </a:r>
                <a:r>
                  <a:rPr lang="en-US" dirty="0"/>
                  <a:t>     {P</a:t>
                </a:r>
                <a:r>
                  <a:rPr lang="ru-RU" baseline="-25000" dirty="0"/>
                  <a:t>м</a:t>
                </a:r>
                <a:r>
                  <a:rPr lang="en-US" dirty="0"/>
                  <a:t>}</a:t>
                </a:r>
                <a:endParaRPr lang="ru-RU" dirty="0"/>
              </a:p>
            </p:txBody>
          </p:sp>
          <p:cxnSp>
            <p:nvCxnSpPr>
              <p:cNvPr id="37" name="Прямая со стрелкой 36"/>
              <p:cNvCxnSpPr/>
              <p:nvPr/>
            </p:nvCxnSpPr>
            <p:spPr bwMode="auto">
              <a:xfrm>
                <a:off x="4643438" y="3143249"/>
                <a:ext cx="357190" cy="1588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arrow"/>
              </a:ln>
              <a:effectLst/>
            </p:spPr>
          </p:cxnSp>
        </p:grpSp>
        <p:cxnSp>
          <p:nvCxnSpPr>
            <p:cNvPr id="39" name="Прямая со стрелкой 38"/>
            <p:cNvCxnSpPr/>
            <p:nvPr/>
          </p:nvCxnSpPr>
          <p:spPr bwMode="auto">
            <a:xfrm rot="10800000">
              <a:off x="4332841" y="4071941"/>
              <a:ext cx="571504" cy="1588"/>
            </a:xfrm>
            <a:prstGeom prst="straightConnector1">
              <a:avLst/>
            </a:prstGeom>
            <a:solidFill>
              <a:schemeClr val="accent1"/>
            </a:solidFill>
            <a:ln w="317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  <p:grpSp>
          <p:nvGrpSpPr>
            <p:cNvPr id="5" name="Группа 24"/>
            <p:cNvGrpSpPr/>
            <p:nvPr/>
          </p:nvGrpSpPr>
          <p:grpSpPr>
            <a:xfrm>
              <a:off x="1857356" y="2744786"/>
              <a:ext cx="1714512" cy="684213"/>
              <a:chOff x="3929058" y="2928934"/>
              <a:chExt cx="1714512" cy="684213"/>
            </a:xfrm>
          </p:grpSpPr>
          <p:sp>
            <p:nvSpPr>
              <p:cNvPr id="26" name="AutoShape 9"/>
              <p:cNvSpPr>
                <a:spLocks noChangeAspect="1" noChangeArrowheads="1"/>
              </p:cNvSpPr>
              <p:nvPr/>
            </p:nvSpPr>
            <p:spPr bwMode="auto">
              <a:xfrm>
                <a:off x="3998891" y="3346331"/>
                <a:ext cx="1644679" cy="266816"/>
              </a:xfrm>
              <a:prstGeom prst="rightArrow">
                <a:avLst>
                  <a:gd name="adj1" fmla="val 50000"/>
                  <a:gd name="adj2" fmla="val 87167"/>
                </a:avLst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3929058" y="2928934"/>
                <a:ext cx="17145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{</a:t>
                </a:r>
                <a:r>
                  <a:rPr lang="ru-RU" dirty="0"/>
                  <a:t>Р, Н</a:t>
                </a:r>
                <a:r>
                  <a:rPr lang="en-US" dirty="0"/>
                  <a:t>}</a:t>
                </a:r>
                <a:endParaRPr lang="ru-RU" dirty="0"/>
              </a:p>
            </p:txBody>
          </p:sp>
        </p:grpSp>
        <p:sp>
          <p:nvSpPr>
            <p:cNvPr id="34" name="TextBox 33"/>
            <p:cNvSpPr txBox="1"/>
            <p:nvPr/>
          </p:nvSpPr>
          <p:spPr>
            <a:xfrm>
              <a:off x="3643306" y="2928933"/>
              <a:ext cx="1785950" cy="646331"/>
            </a:xfrm>
            <a:prstGeom prst="rect">
              <a:avLst/>
            </a:prstGeom>
            <a:noFill/>
            <a:ln w="38100"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sz="1800" dirty="0">
                  <a:latin typeface="Times New Roman" pitchFamily="18" charset="0"/>
                  <a:cs typeface="Times New Roman" pitchFamily="18" charset="0"/>
                </a:rPr>
                <a:t>Концептуальная модель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612011" y="2843935"/>
            <a:ext cx="8931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–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множество характеристик (показателей качества) системы;</a:t>
            </a:r>
          </a:p>
          <a:p>
            <a:pPr algn="l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–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множество параметров (структурных, функциональных, нагрузочных, …);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9403" y="3564809"/>
            <a:ext cx="65008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</a:t>
            </a:r>
            <a:r>
              <a:rPr lang="ru-RU" sz="2000" baseline="-25000" dirty="0">
                <a:latin typeface="Times New Roman" pitchFamily="18" charset="0"/>
                <a:cs typeface="Times New Roman" pitchFamily="18" charset="0"/>
              </a:rPr>
              <a:t>м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–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множество модельных характеристик ;</a:t>
            </a:r>
          </a:p>
          <a:p>
            <a:pPr algn="l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Р</a:t>
            </a:r>
            <a:r>
              <a:rPr lang="ru-RU" sz="2000" baseline="-25000" dirty="0" err="1">
                <a:latin typeface="Times New Roman" pitchFamily="18" charset="0"/>
                <a:cs typeface="Times New Roman" pitchFamily="18" charset="0"/>
              </a:rPr>
              <a:t>м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–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множество модельных параметров.</a:t>
            </a: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A98AD791-9DDB-371F-E5EB-FDED27AC1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" y="447055"/>
            <a:ext cx="93630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b="1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Схема моделирования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339D0D1-E1ED-94D3-E9A6-87892EB6E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98630"/>
            <a:ext cx="9518650" cy="350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b="1" kern="0" dirty="0">
                <a:solidFill>
                  <a:srgbClr val="CC3300"/>
                </a:solidFill>
                <a:latin typeface="Times New Roman" pitchFamily="18" charset="0"/>
              </a:rPr>
              <a:t>1.2. МОДЕЛЬ</a:t>
            </a:r>
            <a:endParaRPr kumimoji="0" lang="ru-RU" sz="2000" b="1" i="0" u="none" strike="noStrike" kern="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  <a:hlinkClick r:id="" action="ppaction://noaction"/>
            </a:endParaRPr>
          </a:p>
        </p:txBody>
      </p:sp>
    </p:spTree>
    <p:extLst>
      <p:ext uri="{BB962C8B-B14F-4D97-AF65-F5344CB8AC3E}">
        <p14:creationId xmlns:p14="http://schemas.microsoft.com/office/powerpoint/2010/main" val="2936625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1017E-FBA9-45D2-BB79-EFB421FDBC1A}" type="slidenum">
              <a:rPr lang="ru-RU"/>
              <a:pPr/>
              <a:t>17</a:t>
            </a:fld>
            <a:endParaRPr lang="ru-RU"/>
          </a:p>
        </p:txBody>
      </p: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874546" y="1714806"/>
            <a:ext cx="8262722" cy="4271692"/>
            <a:chOff x="2074" y="2379"/>
            <a:chExt cx="8493" cy="5787"/>
          </a:xfrm>
        </p:grpSpPr>
        <p:sp>
          <p:nvSpPr>
            <p:cNvPr id="170011" name="Rectangle 27"/>
            <p:cNvSpPr>
              <a:spLocks noChangeArrowheads="1"/>
            </p:cNvSpPr>
            <p:nvPr/>
          </p:nvSpPr>
          <p:spPr bwMode="auto">
            <a:xfrm>
              <a:off x="6292" y="6399"/>
              <a:ext cx="4275" cy="738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prstDash val="sysDot"/>
              <a:miter lim="800000"/>
              <a:headEnd/>
              <a:tailEnd/>
            </a:ln>
          </p:spPr>
          <p:txBody>
            <a:bodyPr lIns="54000" tIns="10800" rIns="54000" bIns="10800"/>
            <a:lstStyle/>
            <a:p>
              <a:pPr>
                <a:lnSpc>
                  <a:spcPct val="100000"/>
                </a:lnSpc>
              </a:pPr>
              <a:r>
                <a:rPr lang="ru-RU">
                  <a:latin typeface="Times New Roman" panose="02020603050405020304" pitchFamily="18" charset="0"/>
                  <a:cs typeface="Times New Roman" panose="02020603050405020304" pitchFamily="18" charset="0"/>
                </a:rPr>
                <a:t>Результаты          …отрицательные анализа …           …положительные</a:t>
              </a:r>
            </a:p>
          </p:txBody>
        </p:sp>
        <p:sp>
          <p:nvSpPr>
            <p:cNvPr id="170012" name="Rectangle 28"/>
            <p:cNvSpPr>
              <a:spLocks noChangeArrowheads="1"/>
            </p:cNvSpPr>
            <p:nvPr/>
          </p:nvSpPr>
          <p:spPr bwMode="auto">
            <a:xfrm>
              <a:off x="2074" y="2379"/>
              <a:ext cx="2340" cy="828"/>
            </a:xfrm>
            <a:prstGeom prst="rect">
              <a:avLst/>
            </a:prstGeom>
            <a:solidFill>
              <a:srgbClr val="FFFF99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1.Разработка модели</a:t>
              </a:r>
            </a:p>
            <a:p>
              <a:pPr algn="ctr">
                <a:lnSpc>
                  <a:spcPct val="100000"/>
                </a:lnSpc>
              </a:pPr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ru-RU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параметризация</a:t>
              </a:r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70013" name="Rectangle 29"/>
            <p:cNvSpPr>
              <a:spLocks noChangeArrowheads="1"/>
            </p:cNvSpPr>
            <p:nvPr/>
          </p:nvSpPr>
          <p:spPr bwMode="auto">
            <a:xfrm>
              <a:off x="2074" y="3663"/>
              <a:ext cx="2340" cy="1080"/>
            </a:xfrm>
            <a:prstGeom prst="rect">
              <a:avLst/>
            </a:prstGeom>
            <a:solidFill>
              <a:srgbClr val="FFFF99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Анализ свойств системы</a:t>
              </a:r>
            </a:p>
          </p:txBody>
        </p:sp>
        <p:sp>
          <p:nvSpPr>
            <p:cNvPr id="170014" name="Rectangle 30"/>
            <p:cNvSpPr>
              <a:spLocks noChangeArrowheads="1"/>
            </p:cNvSpPr>
            <p:nvPr/>
          </p:nvSpPr>
          <p:spPr bwMode="auto">
            <a:xfrm>
              <a:off x="2074" y="5202"/>
              <a:ext cx="2337" cy="720"/>
            </a:xfrm>
            <a:prstGeom prst="rect">
              <a:avLst/>
            </a:prstGeom>
            <a:solidFill>
              <a:srgbClr val="FFFF99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ru-RU">
                  <a:latin typeface="Times New Roman" panose="02020603050405020304" pitchFamily="18" charset="0"/>
                  <a:cs typeface="Times New Roman" panose="02020603050405020304" pitchFamily="18" charset="0"/>
                </a:rPr>
                <a:t>3. Синтез системы</a:t>
              </a:r>
            </a:p>
          </p:txBody>
        </p:sp>
        <p:sp>
          <p:nvSpPr>
            <p:cNvPr id="170015" name="Rectangle 31"/>
            <p:cNvSpPr>
              <a:spLocks noChangeArrowheads="1"/>
            </p:cNvSpPr>
            <p:nvPr/>
          </p:nvSpPr>
          <p:spPr bwMode="auto">
            <a:xfrm>
              <a:off x="2074" y="6372"/>
              <a:ext cx="3477" cy="950"/>
            </a:xfrm>
            <a:prstGeom prst="rect">
              <a:avLst/>
            </a:prstGeom>
            <a:solidFill>
              <a:srgbClr val="FFFF99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ru-RU">
                  <a:latin typeface="Times New Roman" panose="02020603050405020304" pitchFamily="18" charset="0"/>
                  <a:cs typeface="Times New Roman" panose="02020603050405020304" pitchFamily="18" charset="0"/>
                </a:rPr>
                <a:t>4. Детальный анализ спроектированной системы</a:t>
              </a:r>
            </a:p>
          </p:txBody>
        </p:sp>
        <p:sp>
          <p:nvSpPr>
            <p:cNvPr id="170016" name="Text Box 32"/>
            <p:cNvSpPr txBox="1">
              <a:spLocks noChangeArrowheads="1"/>
            </p:cNvSpPr>
            <p:nvPr/>
          </p:nvSpPr>
          <p:spPr bwMode="auto">
            <a:xfrm>
              <a:off x="5155" y="2523"/>
              <a:ext cx="2337" cy="741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prstDash val="sysDot"/>
              <a:miter lim="800000"/>
              <a:headEnd/>
              <a:tailEnd/>
            </a:ln>
          </p:spPr>
          <p:txBody>
            <a:bodyPr anchor="ctr" anchorCtr="0"/>
            <a:lstStyle/>
            <a:p>
              <a:pPr algn="ctr">
                <a:lnSpc>
                  <a:spcPct val="100000"/>
                </a:lnSpc>
              </a:pPr>
              <a:r>
                <a:rPr lang="ru-RU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Модель</a:t>
              </a:r>
            </a:p>
          </p:txBody>
        </p:sp>
        <p:sp>
          <p:nvSpPr>
            <p:cNvPr id="170017" name="Line 33"/>
            <p:cNvSpPr>
              <a:spLocks noChangeShapeType="1"/>
            </p:cNvSpPr>
            <p:nvPr/>
          </p:nvSpPr>
          <p:spPr bwMode="auto">
            <a:xfrm>
              <a:off x="4411" y="2865"/>
              <a:ext cx="74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70018" name="Rectangle 34"/>
            <p:cNvSpPr>
              <a:spLocks noChangeArrowheads="1"/>
            </p:cNvSpPr>
            <p:nvPr/>
          </p:nvSpPr>
          <p:spPr bwMode="auto">
            <a:xfrm>
              <a:off x="5149" y="3666"/>
              <a:ext cx="2340" cy="108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prstDash val="sysDot"/>
              <a:miter lim="800000"/>
              <a:headEnd/>
              <a:tailEnd/>
            </a:ln>
          </p:spPr>
          <p:txBody>
            <a:bodyPr lIns="54000" tIns="10800" rIns="54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Рекомендации по проектированию</a:t>
              </a:r>
            </a:p>
          </p:txBody>
        </p:sp>
        <p:sp>
          <p:nvSpPr>
            <p:cNvPr id="170019" name="Rectangle 35"/>
            <p:cNvSpPr>
              <a:spLocks noChangeArrowheads="1"/>
            </p:cNvSpPr>
            <p:nvPr/>
          </p:nvSpPr>
          <p:spPr bwMode="auto">
            <a:xfrm>
              <a:off x="5155" y="5205"/>
              <a:ext cx="2340" cy="73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prstDash val="sysDot"/>
              <a:miter lim="800000"/>
              <a:headEnd/>
              <a:tailEnd/>
            </a:ln>
          </p:spPr>
          <p:txBody>
            <a:bodyPr lIns="54000" tIns="10800" rIns="54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Вариант проекта системы</a:t>
              </a:r>
            </a:p>
          </p:txBody>
        </p:sp>
        <p:sp>
          <p:nvSpPr>
            <p:cNvPr id="170020" name="Line 36"/>
            <p:cNvSpPr>
              <a:spLocks noChangeShapeType="1"/>
            </p:cNvSpPr>
            <p:nvPr/>
          </p:nvSpPr>
          <p:spPr bwMode="auto">
            <a:xfrm flipH="1">
              <a:off x="3214" y="3264"/>
              <a:ext cx="1938" cy="39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70021" name="Line 37"/>
            <p:cNvSpPr>
              <a:spLocks noChangeShapeType="1"/>
            </p:cNvSpPr>
            <p:nvPr/>
          </p:nvSpPr>
          <p:spPr bwMode="auto">
            <a:xfrm flipH="1">
              <a:off x="3214" y="4746"/>
              <a:ext cx="1938" cy="4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70022" name="Line 38"/>
            <p:cNvSpPr>
              <a:spLocks noChangeShapeType="1"/>
            </p:cNvSpPr>
            <p:nvPr/>
          </p:nvSpPr>
          <p:spPr bwMode="auto">
            <a:xfrm>
              <a:off x="4411" y="4175"/>
              <a:ext cx="74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70023" name="Line 39"/>
            <p:cNvSpPr>
              <a:spLocks noChangeShapeType="1"/>
            </p:cNvSpPr>
            <p:nvPr/>
          </p:nvSpPr>
          <p:spPr bwMode="auto">
            <a:xfrm>
              <a:off x="4411" y="5544"/>
              <a:ext cx="74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70024" name="Rectangle 40"/>
            <p:cNvSpPr>
              <a:spLocks noChangeArrowheads="1"/>
            </p:cNvSpPr>
            <p:nvPr/>
          </p:nvSpPr>
          <p:spPr bwMode="auto">
            <a:xfrm>
              <a:off x="8173" y="2437"/>
              <a:ext cx="2340" cy="827"/>
            </a:xfrm>
            <a:prstGeom prst="rect">
              <a:avLst/>
            </a:prstGeom>
            <a:solidFill>
              <a:srgbClr val="FFFF99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5. Корректировка модели</a:t>
              </a:r>
            </a:p>
          </p:txBody>
        </p:sp>
        <p:sp>
          <p:nvSpPr>
            <p:cNvPr id="170025" name="Line 41"/>
            <p:cNvSpPr>
              <a:spLocks noChangeShapeType="1"/>
            </p:cNvSpPr>
            <p:nvPr/>
          </p:nvSpPr>
          <p:spPr bwMode="auto">
            <a:xfrm flipH="1">
              <a:off x="3841" y="5943"/>
              <a:ext cx="1311" cy="39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70026" name="Line 42"/>
            <p:cNvSpPr>
              <a:spLocks noChangeShapeType="1"/>
            </p:cNvSpPr>
            <p:nvPr/>
          </p:nvSpPr>
          <p:spPr bwMode="auto">
            <a:xfrm>
              <a:off x="5551" y="6741"/>
              <a:ext cx="74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70027" name="Rectangle 43"/>
            <p:cNvSpPr>
              <a:spLocks noChangeArrowheads="1"/>
            </p:cNvSpPr>
            <p:nvPr/>
          </p:nvSpPr>
          <p:spPr bwMode="auto">
            <a:xfrm>
              <a:off x="4411" y="7656"/>
              <a:ext cx="6156" cy="510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99"/>
                </a:gs>
              </a:gsLst>
              <a:lin ang="5400000" scaled="1"/>
            </a:gradFill>
            <a:ln w="19050">
              <a:solidFill>
                <a:srgbClr val="000000"/>
              </a:solidFill>
              <a:prstDash val="sysDot"/>
              <a:miter lim="800000"/>
              <a:headEnd/>
              <a:tailEnd/>
            </a:ln>
          </p:spPr>
          <p:txBody>
            <a:bodyPr lIns="54000" tIns="10800" rIns="54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ru-RU" b="1" dirty="0"/>
                <a:t>Окончательный вариант проекта системы</a:t>
              </a:r>
            </a:p>
          </p:txBody>
        </p:sp>
        <p:sp>
          <p:nvSpPr>
            <p:cNvPr id="170028" name="Line 44"/>
            <p:cNvSpPr>
              <a:spLocks noChangeShapeType="1"/>
            </p:cNvSpPr>
            <p:nvPr/>
          </p:nvSpPr>
          <p:spPr bwMode="auto">
            <a:xfrm>
              <a:off x="9312" y="7140"/>
              <a:ext cx="1" cy="5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70029" name="Line 45"/>
            <p:cNvSpPr>
              <a:spLocks noChangeShapeType="1"/>
            </p:cNvSpPr>
            <p:nvPr/>
          </p:nvSpPr>
          <p:spPr bwMode="auto">
            <a:xfrm flipV="1">
              <a:off x="9313" y="3264"/>
              <a:ext cx="0" cy="31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70030" name="Line 46"/>
            <p:cNvSpPr>
              <a:spLocks noChangeShapeType="1"/>
            </p:cNvSpPr>
            <p:nvPr/>
          </p:nvSpPr>
          <p:spPr bwMode="auto">
            <a:xfrm flipH="1">
              <a:off x="7489" y="2865"/>
              <a:ext cx="68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70031" name="Line 47"/>
            <p:cNvSpPr>
              <a:spLocks noChangeShapeType="1"/>
            </p:cNvSpPr>
            <p:nvPr/>
          </p:nvSpPr>
          <p:spPr bwMode="auto">
            <a:xfrm>
              <a:off x="8173" y="6399"/>
              <a:ext cx="0" cy="74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70032" name="Line 48"/>
            <p:cNvSpPr>
              <a:spLocks noChangeShapeType="1"/>
            </p:cNvSpPr>
            <p:nvPr/>
          </p:nvSpPr>
          <p:spPr bwMode="auto">
            <a:xfrm>
              <a:off x="8173" y="6798"/>
              <a:ext cx="239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34" name="Нижний колонтитул 3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i="1"/>
              <a:t>«Моделирование»</a:t>
            </a:r>
            <a:endParaRPr lang="ru-RU" i="1" dirty="0"/>
          </a:p>
        </p:txBody>
      </p:sp>
      <p:sp>
        <p:nvSpPr>
          <p:cNvPr id="36" name="Rectangle 10">
            <a:extLst>
              <a:ext uri="{FF2B5EF4-FFF2-40B4-BE49-F238E27FC236}">
                <a16:creationId xmlns:a16="http://schemas.microsoft.com/office/drawing/2014/main" id="{C18A9EFD-3C0B-4B6F-B8DB-C0890F36A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" y="492060"/>
            <a:ext cx="93630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b="1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моделирования</a:t>
            </a: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BA9FB54E-EEA6-40E1-80EE-0468215C0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53625"/>
            <a:ext cx="9518650" cy="350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ru-RU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1.3. Типовые задачи и методы моделирования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3F8BAF-C373-44C6-B6A1-67A64F3754ED}"/>
              </a:ext>
            </a:extLst>
          </p:cNvPr>
          <p:cNvSpPr txBox="1"/>
          <p:nvPr/>
        </p:nvSpPr>
        <p:spPr>
          <a:xfrm>
            <a:off x="4097905" y="953725"/>
            <a:ext cx="5490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«Нет невыполнимой работы для человека, который не обязан делать ее сам» (</a:t>
            </a:r>
            <a:r>
              <a:rPr lang="ru-RU" sz="1400" b="1" i="1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 </a:t>
            </a:r>
            <a:r>
              <a:rPr lang="ru-RU" sz="1400" b="1" i="1" dirty="0" err="1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Вейлера</a:t>
            </a:r>
            <a:r>
              <a:rPr lang="ru-RU" sz="14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BCD0-6E91-44B3-B4DB-F1FA527F8DCC}" type="slidenum">
              <a:rPr lang="ru-RU"/>
              <a:pPr/>
              <a:t>18</a:t>
            </a:fld>
            <a:endParaRPr lang="ru-RU"/>
          </a:p>
        </p:txBody>
      </p:sp>
      <p:grpSp>
        <p:nvGrpSpPr>
          <p:cNvPr id="2" name="Group 63"/>
          <p:cNvGrpSpPr>
            <a:grpSpLocks/>
          </p:cNvGrpSpPr>
          <p:nvPr/>
        </p:nvGrpSpPr>
        <p:grpSpPr bwMode="auto">
          <a:xfrm>
            <a:off x="767535" y="1998339"/>
            <a:ext cx="8151813" cy="3314700"/>
            <a:chOff x="431" y="1412"/>
            <a:chExt cx="4740" cy="2088"/>
          </a:xfrm>
        </p:grpSpPr>
        <p:grpSp>
          <p:nvGrpSpPr>
            <p:cNvPr id="3" name="Group 41"/>
            <p:cNvGrpSpPr>
              <a:grpSpLocks/>
            </p:cNvGrpSpPr>
            <p:nvPr/>
          </p:nvGrpSpPr>
          <p:grpSpPr bwMode="auto">
            <a:xfrm>
              <a:off x="2154" y="1412"/>
              <a:ext cx="1293" cy="830"/>
              <a:chOff x="1390" y="2533"/>
              <a:chExt cx="1231" cy="830"/>
            </a:xfrm>
          </p:grpSpPr>
          <p:sp>
            <p:nvSpPr>
              <p:cNvPr id="168996" name="AutoShape 36"/>
              <p:cNvSpPr>
                <a:spLocks noChangeAspect="1" noChangeArrowheads="1"/>
              </p:cNvSpPr>
              <p:nvPr/>
            </p:nvSpPr>
            <p:spPr bwMode="auto">
              <a:xfrm>
                <a:off x="1390" y="2533"/>
                <a:ext cx="1231" cy="830"/>
              </a:xfrm>
              <a:prstGeom prst="plaque">
                <a:avLst>
                  <a:gd name="adj" fmla="val 16667"/>
                </a:avLst>
              </a:prstGeom>
              <a:solidFill>
                <a:srgbClr val="FFFF99"/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ru-RU" sz="2000"/>
              </a:p>
            </p:txBody>
          </p:sp>
          <p:sp>
            <p:nvSpPr>
              <p:cNvPr id="168997" name="Text Box 37"/>
              <p:cNvSpPr txBox="1">
                <a:spLocks noChangeAspect="1" noChangeArrowheads="1"/>
              </p:cNvSpPr>
              <p:nvPr/>
            </p:nvSpPr>
            <p:spPr bwMode="auto">
              <a:xfrm>
                <a:off x="1497" y="2591"/>
                <a:ext cx="1020" cy="6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18000" rIns="18000"/>
              <a:lstStyle/>
              <a:p>
                <a:pPr algn="ctr">
                  <a:lnSpc>
                    <a:spcPct val="100000"/>
                  </a:lnSpc>
                </a:pPr>
                <a:endParaRPr lang="ru-RU" sz="2000" b="1" dirty="0"/>
              </a:p>
              <a:p>
                <a:pPr algn="ctr">
                  <a:lnSpc>
                    <a:spcPct val="100000"/>
                  </a:lnSpc>
                </a:pPr>
                <a:r>
                  <a:rPr lang="ru-RU" sz="2400" b="1" dirty="0"/>
                  <a:t>Система</a:t>
                </a:r>
              </a:p>
            </p:txBody>
          </p:sp>
        </p:grpSp>
        <p:grpSp>
          <p:nvGrpSpPr>
            <p:cNvPr id="4" name="Group 61"/>
            <p:cNvGrpSpPr>
              <a:grpSpLocks/>
            </p:cNvGrpSpPr>
            <p:nvPr/>
          </p:nvGrpSpPr>
          <p:grpSpPr bwMode="auto">
            <a:xfrm>
              <a:off x="2132" y="2728"/>
              <a:ext cx="1338" cy="772"/>
              <a:chOff x="2132" y="2728"/>
              <a:chExt cx="1338" cy="772"/>
            </a:xfrm>
          </p:grpSpPr>
          <p:sp>
            <p:nvSpPr>
              <p:cNvPr id="168999" name="AutoShape 39"/>
              <p:cNvSpPr>
                <a:spLocks noChangeAspect="1" noChangeArrowheads="1"/>
              </p:cNvSpPr>
              <p:nvPr/>
            </p:nvSpPr>
            <p:spPr bwMode="auto">
              <a:xfrm>
                <a:off x="2132" y="2728"/>
                <a:ext cx="1338" cy="772"/>
              </a:xfrm>
              <a:prstGeom prst="roundRect">
                <a:avLst>
                  <a:gd name="adj" fmla="val 16667"/>
                </a:avLst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ru-RU" sz="2000"/>
              </a:p>
            </p:txBody>
          </p:sp>
          <p:sp>
            <p:nvSpPr>
              <p:cNvPr id="169000" name="Text Box 40"/>
              <p:cNvSpPr txBox="1">
                <a:spLocks noChangeAspect="1" noChangeArrowheads="1"/>
              </p:cNvSpPr>
              <p:nvPr/>
            </p:nvSpPr>
            <p:spPr bwMode="auto">
              <a:xfrm>
                <a:off x="2132" y="2880"/>
                <a:ext cx="1338" cy="4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8000" tIns="10800" rIns="18000"/>
              <a:lstStyle/>
              <a:p>
                <a:pPr algn="ctr">
                  <a:spcAft>
                    <a:spcPts val="600"/>
                  </a:spcAft>
                </a:pPr>
                <a:r>
                  <a:rPr lang="ru-RU" sz="2000" b="1" dirty="0"/>
                  <a:t>Математическая модель</a:t>
                </a:r>
                <a:endParaRPr lang="ru-RU" sz="2000" dirty="0"/>
              </a:p>
            </p:txBody>
          </p:sp>
        </p:grpSp>
        <p:grpSp>
          <p:nvGrpSpPr>
            <p:cNvPr id="5" name="Group 58"/>
            <p:cNvGrpSpPr>
              <a:grpSpLocks/>
            </p:cNvGrpSpPr>
            <p:nvPr/>
          </p:nvGrpSpPr>
          <p:grpSpPr bwMode="auto">
            <a:xfrm>
              <a:off x="431" y="1568"/>
              <a:ext cx="1633" cy="474"/>
              <a:chOff x="431" y="1568"/>
              <a:chExt cx="1633" cy="474"/>
            </a:xfrm>
          </p:grpSpPr>
          <p:sp>
            <p:nvSpPr>
              <p:cNvPr id="169007" name="AutoShape 47"/>
              <p:cNvSpPr>
                <a:spLocks noChangeArrowheads="1"/>
              </p:cNvSpPr>
              <p:nvPr/>
            </p:nvSpPr>
            <p:spPr bwMode="auto">
              <a:xfrm>
                <a:off x="431" y="1588"/>
                <a:ext cx="1633" cy="454"/>
              </a:xfrm>
              <a:prstGeom prst="homePlate">
                <a:avLst>
                  <a:gd name="adj" fmla="val 62044"/>
                </a:avLst>
              </a:prstGeom>
              <a:noFill/>
              <a:ln w="222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ru-RU" sz="2000"/>
              </a:p>
            </p:txBody>
          </p:sp>
          <p:sp>
            <p:nvSpPr>
              <p:cNvPr id="169008" name="Text Box 48"/>
              <p:cNvSpPr txBox="1">
                <a:spLocks noChangeArrowheads="1"/>
              </p:cNvSpPr>
              <p:nvPr/>
            </p:nvSpPr>
            <p:spPr bwMode="auto">
              <a:xfrm>
                <a:off x="545" y="1568"/>
                <a:ext cx="1202" cy="446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2000" b="1" dirty="0"/>
                  <a:t>Р</a:t>
                </a:r>
                <a:r>
                  <a:rPr lang="ru-RU" sz="2000" baseline="-25000" dirty="0"/>
                  <a:t>С</a:t>
                </a:r>
                <a:r>
                  <a:rPr lang="ru-RU" sz="2000" dirty="0"/>
                  <a:t> – системные                    параметры</a:t>
                </a:r>
              </a:p>
            </p:txBody>
          </p:sp>
        </p:grpSp>
        <p:grpSp>
          <p:nvGrpSpPr>
            <p:cNvPr id="6" name="Group 60"/>
            <p:cNvGrpSpPr>
              <a:grpSpLocks/>
            </p:cNvGrpSpPr>
            <p:nvPr/>
          </p:nvGrpSpPr>
          <p:grpSpPr bwMode="auto">
            <a:xfrm>
              <a:off x="431" y="2863"/>
              <a:ext cx="1633" cy="455"/>
              <a:chOff x="431" y="2863"/>
              <a:chExt cx="1633" cy="455"/>
            </a:xfrm>
          </p:grpSpPr>
          <p:sp>
            <p:nvSpPr>
              <p:cNvPr id="169009" name="AutoShape 49"/>
              <p:cNvSpPr>
                <a:spLocks noChangeArrowheads="1"/>
              </p:cNvSpPr>
              <p:nvPr/>
            </p:nvSpPr>
            <p:spPr bwMode="auto">
              <a:xfrm>
                <a:off x="431" y="2864"/>
                <a:ext cx="1633" cy="454"/>
              </a:xfrm>
              <a:prstGeom prst="homePlate">
                <a:avLst>
                  <a:gd name="adj" fmla="val 62044"/>
                </a:avLst>
              </a:prstGeom>
              <a:noFill/>
              <a:ln w="222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ru-RU" sz="2000"/>
              </a:p>
            </p:txBody>
          </p:sp>
          <p:sp>
            <p:nvSpPr>
              <p:cNvPr id="169010" name="Text Box 50"/>
              <p:cNvSpPr txBox="1">
                <a:spLocks noChangeArrowheads="1"/>
              </p:cNvSpPr>
              <p:nvPr/>
            </p:nvSpPr>
            <p:spPr bwMode="auto">
              <a:xfrm>
                <a:off x="545" y="2863"/>
                <a:ext cx="1246" cy="446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2000" b="1"/>
                  <a:t>Р</a:t>
                </a:r>
                <a:r>
                  <a:rPr lang="ru-RU" sz="2000" baseline="-25000"/>
                  <a:t>М</a:t>
                </a:r>
                <a:r>
                  <a:rPr lang="ru-RU" sz="2000"/>
                  <a:t> – модельные                    параметры</a:t>
                </a:r>
              </a:p>
            </p:txBody>
          </p:sp>
        </p:grpSp>
        <p:sp>
          <p:nvSpPr>
            <p:cNvPr id="169011" name="AutoShape 51"/>
            <p:cNvSpPr>
              <a:spLocks noChangeArrowheads="1"/>
            </p:cNvSpPr>
            <p:nvPr/>
          </p:nvSpPr>
          <p:spPr bwMode="auto">
            <a:xfrm>
              <a:off x="995" y="2312"/>
              <a:ext cx="213" cy="279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99FF99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ru-RU" sz="2000"/>
            </a:p>
          </p:txBody>
        </p:sp>
        <p:grpSp>
          <p:nvGrpSpPr>
            <p:cNvPr id="7" name="Group 59"/>
            <p:cNvGrpSpPr>
              <a:grpSpLocks/>
            </p:cNvGrpSpPr>
            <p:nvPr/>
          </p:nvGrpSpPr>
          <p:grpSpPr bwMode="auto">
            <a:xfrm>
              <a:off x="3538" y="1570"/>
              <a:ext cx="1633" cy="472"/>
              <a:chOff x="3538" y="1570"/>
              <a:chExt cx="1633" cy="472"/>
            </a:xfrm>
          </p:grpSpPr>
          <p:sp>
            <p:nvSpPr>
              <p:cNvPr id="169012" name="AutoShape 52"/>
              <p:cNvSpPr>
                <a:spLocks noChangeArrowheads="1"/>
              </p:cNvSpPr>
              <p:nvPr/>
            </p:nvSpPr>
            <p:spPr bwMode="auto">
              <a:xfrm>
                <a:off x="3538" y="1588"/>
                <a:ext cx="1633" cy="454"/>
              </a:xfrm>
              <a:prstGeom prst="homePlate">
                <a:avLst>
                  <a:gd name="adj" fmla="val 62044"/>
                </a:avLst>
              </a:prstGeom>
              <a:noFill/>
              <a:ln w="222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ru-RU" sz="2000"/>
              </a:p>
            </p:txBody>
          </p:sp>
          <p:sp>
            <p:nvSpPr>
              <p:cNvPr id="169013" name="Text Box 53"/>
              <p:cNvSpPr txBox="1">
                <a:spLocks noChangeArrowheads="1"/>
              </p:cNvSpPr>
              <p:nvPr/>
            </p:nvSpPr>
            <p:spPr bwMode="auto">
              <a:xfrm>
                <a:off x="3652" y="1570"/>
                <a:ext cx="1202" cy="446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2000" b="1"/>
                  <a:t>Н</a:t>
                </a:r>
                <a:r>
                  <a:rPr lang="ru-RU" sz="2000" baseline="-25000"/>
                  <a:t>С</a:t>
                </a:r>
                <a:r>
                  <a:rPr lang="ru-RU" sz="2000"/>
                  <a:t> – системные                    характеристики</a:t>
                </a:r>
              </a:p>
            </p:txBody>
          </p:sp>
        </p:grpSp>
        <p:grpSp>
          <p:nvGrpSpPr>
            <p:cNvPr id="8" name="Group 62"/>
            <p:cNvGrpSpPr>
              <a:grpSpLocks/>
            </p:cNvGrpSpPr>
            <p:nvPr/>
          </p:nvGrpSpPr>
          <p:grpSpPr bwMode="auto">
            <a:xfrm>
              <a:off x="3538" y="2863"/>
              <a:ext cx="1633" cy="483"/>
              <a:chOff x="3538" y="2863"/>
              <a:chExt cx="1633" cy="483"/>
            </a:xfrm>
          </p:grpSpPr>
          <p:sp>
            <p:nvSpPr>
              <p:cNvPr id="169014" name="AutoShape 54"/>
              <p:cNvSpPr>
                <a:spLocks noChangeArrowheads="1"/>
              </p:cNvSpPr>
              <p:nvPr/>
            </p:nvSpPr>
            <p:spPr bwMode="auto">
              <a:xfrm>
                <a:off x="3538" y="2892"/>
                <a:ext cx="1633" cy="454"/>
              </a:xfrm>
              <a:prstGeom prst="homePlate">
                <a:avLst>
                  <a:gd name="adj" fmla="val 62044"/>
                </a:avLst>
              </a:prstGeom>
              <a:noFill/>
              <a:ln w="222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ru-RU" sz="2000"/>
              </a:p>
            </p:txBody>
          </p:sp>
          <p:sp>
            <p:nvSpPr>
              <p:cNvPr id="169015" name="Text Box 55"/>
              <p:cNvSpPr txBox="1">
                <a:spLocks noChangeArrowheads="1"/>
              </p:cNvSpPr>
              <p:nvPr/>
            </p:nvSpPr>
            <p:spPr bwMode="auto">
              <a:xfrm>
                <a:off x="3652" y="2863"/>
                <a:ext cx="1246" cy="446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2000" b="1"/>
                  <a:t>Н</a:t>
                </a:r>
                <a:r>
                  <a:rPr lang="ru-RU" sz="2000" baseline="-25000"/>
                  <a:t>М</a:t>
                </a:r>
                <a:r>
                  <a:rPr lang="ru-RU" sz="2000"/>
                  <a:t> – модельные                    характеристики</a:t>
                </a:r>
              </a:p>
            </p:txBody>
          </p:sp>
        </p:grpSp>
        <p:sp>
          <p:nvSpPr>
            <p:cNvPr id="169016" name="AutoShape 56"/>
            <p:cNvSpPr>
              <a:spLocks noChangeArrowheads="1"/>
            </p:cNvSpPr>
            <p:nvPr/>
          </p:nvSpPr>
          <p:spPr bwMode="auto">
            <a:xfrm rot="10800000">
              <a:off x="4150" y="2256"/>
              <a:ext cx="213" cy="279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99FF99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ru-RU" sz="2000"/>
            </a:p>
          </p:txBody>
        </p:sp>
      </p:grpSp>
      <p:sp>
        <p:nvSpPr>
          <p:cNvPr id="28" name="Нижний колонтитул 2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i="1"/>
              <a:t>«Моделирование»</a:t>
            </a:r>
            <a:endParaRPr lang="ru-RU" i="1" dirty="0"/>
          </a:p>
        </p:txBody>
      </p:sp>
      <p:sp>
        <p:nvSpPr>
          <p:cNvPr id="30" name="Rectangle 10">
            <a:extLst>
              <a:ext uri="{FF2B5EF4-FFF2-40B4-BE49-F238E27FC236}">
                <a16:creationId xmlns:a16="http://schemas.microsoft.com/office/drawing/2014/main" id="{F2CFCEAC-55F7-4A34-AA7F-373268A18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" y="447055"/>
            <a:ext cx="93630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b="1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Параметризация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6DE9E09-6DE1-433A-A8F7-CFEB90FE6FB0}"/>
              </a:ext>
            </a:extLst>
          </p:cNvPr>
          <p:cNvSpPr txBox="1"/>
          <p:nvPr/>
        </p:nvSpPr>
        <p:spPr>
          <a:xfrm>
            <a:off x="4614719" y="1015570"/>
            <a:ext cx="49691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«Если кажется, что работу сделать легко, это непременно будет трудно» (</a:t>
            </a:r>
            <a:r>
              <a:rPr lang="ru-RU" sz="1400" b="1" i="1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Теорема </a:t>
            </a:r>
            <a:r>
              <a:rPr lang="ru-RU" sz="1400" b="1" i="1" dirty="0" err="1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Стакмайера</a:t>
            </a:r>
            <a:r>
              <a:rPr lang="ru-RU" sz="14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7C67A205-3778-4193-B1B8-01976703A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53625"/>
            <a:ext cx="9518650" cy="350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ru-RU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1.3. Типовые задачи и методы моделирования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6917E-6962-41E5-9619-1A093DC77BDF}" type="slidenum">
              <a:rPr lang="ru-RU"/>
              <a:pPr/>
              <a:t>19</a:t>
            </a:fld>
            <a:endParaRPr lang="ru-RU" dirty="0"/>
          </a:p>
        </p:txBody>
      </p: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817785" y="1708602"/>
            <a:ext cx="8592287" cy="3746502"/>
            <a:chOff x="2508" y="2908"/>
            <a:chExt cx="7905" cy="4625"/>
          </a:xfrm>
        </p:grpSpPr>
        <p:sp>
          <p:nvSpPr>
            <p:cNvPr id="171040" name="Rectangle 32"/>
            <p:cNvSpPr>
              <a:spLocks noChangeArrowheads="1"/>
            </p:cNvSpPr>
            <p:nvPr/>
          </p:nvSpPr>
          <p:spPr bwMode="auto">
            <a:xfrm>
              <a:off x="2508" y="2908"/>
              <a:ext cx="7905" cy="621"/>
            </a:xfrm>
            <a:prstGeom prst="rect">
              <a:avLst/>
            </a:prstGeom>
            <a:solidFill>
              <a:srgbClr val="FFFF99"/>
            </a:solidFill>
            <a:ln w="38100" cmpd="dbl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rIns="18000"/>
            <a:lstStyle/>
            <a:p>
              <a:pPr algn="ctr">
                <a:lnSpc>
                  <a:spcPct val="100000"/>
                </a:lnSpc>
              </a:pPr>
              <a:r>
                <a:rPr lang="ru-RU" sz="2000" b="1" i="1" dirty="0"/>
                <a:t>Классификация методов моделирования</a:t>
              </a:r>
            </a:p>
          </p:txBody>
        </p:sp>
        <p:sp>
          <p:nvSpPr>
            <p:cNvPr id="171041" name="Rectangle 33"/>
            <p:cNvSpPr>
              <a:spLocks noChangeArrowheads="1"/>
            </p:cNvSpPr>
            <p:nvPr/>
          </p:nvSpPr>
          <p:spPr bwMode="auto">
            <a:xfrm>
              <a:off x="4095" y="6930"/>
              <a:ext cx="4389" cy="603"/>
            </a:xfrm>
            <a:prstGeom prst="rect">
              <a:avLst/>
            </a:prstGeom>
            <a:solidFill>
              <a:srgbClr val="66FF99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rIns="18000"/>
            <a:lstStyle/>
            <a:p>
              <a:pPr algn="ctr">
                <a:lnSpc>
                  <a:spcPct val="100000"/>
                </a:lnSpc>
              </a:pPr>
              <a:r>
                <a:rPr lang="ru-RU" sz="2000" dirty="0"/>
                <a:t>Комбинированные</a:t>
              </a:r>
            </a:p>
          </p:txBody>
        </p:sp>
        <p:sp>
          <p:nvSpPr>
            <p:cNvPr id="171042" name="Rectangle 34"/>
            <p:cNvSpPr>
              <a:spLocks noChangeArrowheads="1"/>
            </p:cNvSpPr>
            <p:nvPr/>
          </p:nvSpPr>
          <p:spPr bwMode="auto">
            <a:xfrm>
              <a:off x="2508" y="4328"/>
              <a:ext cx="3432" cy="98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rIns="18000"/>
            <a:lstStyle/>
            <a:p>
              <a:pPr algn="ctr">
                <a:lnSpc>
                  <a:spcPct val="100000"/>
                </a:lnSpc>
              </a:pPr>
              <a:r>
                <a:rPr lang="ru-RU" sz="2000" b="1" u="sng" dirty="0"/>
                <a:t>Аналитические</a:t>
              </a:r>
              <a:r>
                <a:rPr lang="ru-RU" sz="2000" b="1" dirty="0"/>
                <a:t>: </a:t>
              </a:r>
            </a:p>
            <a:p>
              <a:pPr algn="ctr">
                <a:lnSpc>
                  <a:spcPct val="100000"/>
                </a:lnSpc>
              </a:pPr>
              <a:r>
                <a: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ТВ, ТМО, </a:t>
              </a:r>
              <a:r>
                <a:rPr lang="ru-RU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МатСтат</a:t>
              </a:r>
              <a:r>
                <a: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МОпт</a:t>
              </a:r>
              <a:r>
                <a: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…</a:t>
              </a:r>
            </a:p>
            <a:p>
              <a:pPr algn="ctr">
                <a:lnSpc>
                  <a:spcPct val="100000"/>
                </a:lnSpc>
              </a:pPr>
              <a:endParaRPr lang="ru-RU" sz="2000" dirty="0"/>
            </a:p>
          </p:txBody>
        </p:sp>
        <p:sp>
          <p:nvSpPr>
            <p:cNvPr id="171043" name="Rectangle 35"/>
            <p:cNvSpPr>
              <a:spLocks noChangeArrowheads="1"/>
            </p:cNvSpPr>
            <p:nvPr/>
          </p:nvSpPr>
          <p:spPr bwMode="auto">
            <a:xfrm>
              <a:off x="6395" y="4328"/>
              <a:ext cx="4018" cy="98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rIns="18000"/>
            <a:lstStyle/>
            <a:p>
              <a:pPr algn="ctr">
                <a:lnSpc>
                  <a:spcPct val="100000"/>
                </a:lnSpc>
              </a:pPr>
              <a:r>
                <a:rPr lang="ru-RU" sz="2000" b="1" u="sng" dirty="0"/>
                <a:t>Статистические</a:t>
              </a:r>
              <a:r>
                <a:rPr lang="ru-RU" sz="2000" dirty="0"/>
                <a:t> (</a:t>
              </a:r>
              <a:r>
                <a:rPr lang="ru-RU" sz="2000" b="1" u="sng" dirty="0"/>
                <a:t>имитационные</a:t>
              </a:r>
              <a:r>
                <a:rPr lang="ru-RU" sz="2000" dirty="0"/>
                <a:t>):</a:t>
              </a:r>
            </a:p>
            <a:p>
              <a:pPr algn="ctr">
                <a:lnSpc>
                  <a:spcPct val="100000"/>
                </a:lnSpc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GPSS, Any Logic, Arena, …</a:t>
              </a:r>
              <a:endParaRPr lang="ru-RU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045" name="Line 37"/>
            <p:cNvSpPr>
              <a:spLocks noChangeShapeType="1"/>
            </p:cNvSpPr>
            <p:nvPr/>
          </p:nvSpPr>
          <p:spPr bwMode="auto">
            <a:xfrm>
              <a:off x="4290" y="3813"/>
              <a:ext cx="4080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 sz="2000"/>
            </a:p>
          </p:txBody>
        </p:sp>
        <p:sp>
          <p:nvSpPr>
            <p:cNvPr id="171046" name="Line 38"/>
            <p:cNvSpPr>
              <a:spLocks noChangeShapeType="1"/>
            </p:cNvSpPr>
            <p:nvPr/>
          </p:nvSpPr>
          <p:spPr bwMode="auto">
            <a:xfrm>
              <a:off x="4290" y="3813"/>
              <a:ext cx="0" cy="515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 sz="2000"/>
            </a:p>
          </p:txBody>
        </p:sp>
        <p:sp>
          <p:nvSpPr>
            <p:cNvPr id="171047" name="Line 39"/>
            <p:cNvSpPr>
              <a:spLocks noChangeShapeType="1"/>
            </p:cNvSpPr>
            <p:nvPr/>
          </p:nvSpPr>
          <p:spPr bwMode="auto">
            <a:xfrm>
              <a:off x="8376" y="3813"/>
              <a:ext cx="0" cy="515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 sz="2000"/>
            </a:p>
          </p:txBody>
        </p:sp>
        <p:sp>
          <p:nvSpPr>
            <p:cNvPr id="171050" name="Line 42"/>
            <p:cNvSpPr>
              <a:spLocks noChangeShapeType="1"/>
            </p:cNvSpPr>
            <p:nvPr/>
          </p:nvSpPr>
          <p:spPr bwMode="auto">
            <a:xfrm>
              <a:off x="2580" y="5310"/>
              <a:ext cx="0" cy="11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 sz="2000"/>
            </a:p>
          </p:txBody>
        </p:sp>
        <p:sp>
          <p:nvSpPr>
            <p:cNvPr id="171051" name="Line 43"/>
            <p:cNvSpPr>
              <a:spLocks noChangeShapeType="1"/>
            </p:cNvSpPr>
            <p:nvPr/>
          </p:nvSpPr>
          <p:spPr bwMode="auto">
            <a:xfrm>
              <a:off x="2580" y="5865"/>
              <a:ext cx="17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 sz="2000"/>
            </a:p>
          </p:txBody>
        </p:sp>
        <p:sp>
          <p:nvSpPr>
            <p:cNvPr id="171052" name="Line 44"/>
            <p:cNvSpPr>
              <a:spLocks noChangeShapeType="1"/>
            </p:cNvSpPr>
            <p:nvPr/>
          </p:nvSpPr>
          <p:spPr bwMode="auto">
            <a:xfrm>
              <a:off x="2580" y="6417"/>
              <a:ext cx="28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 sz="2000"/>
            </a:p>
          </p:txBody>
        </p:sp>
        <p:sp>
          <p:nvSpPr>
            <p:cNvPr id="171053" name="Line 45"/>
            <p:cNvSpPr>
              <a:spLocks noChangeShapeType="1"/>
            </p:cNvSpPr>
            <p:nvPr/>
          </p:nvSpPr>
          <p:spPr bwMode="auto">
            <a:xfrm>
              <a:off x="5236" y="5325"/>
              <a:ext cx="0" cy="159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lg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 sz="2000"/>
            </a:p>
          </p:txBody>
        </p:sp>
        <p:sp>
          <p:nvSpPr>
            <p:cNvPr id="171054" name="Line 46"/>
            <p:cNvSpPr>
              <a:spLocks noChangeShapeType="1"/>
            </p:cNvSpPr>
            <p:nvPr/>
          </p:nvSpPr>
          <p:spPr bwMode="auto">
            <a:xfrm>
              <a:off x="6975" y="5313"/>
              <a:ext cx="0" cy="166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lg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 sz="2000"/>
            </a:p>
          </p:txBody>
        </p:sp>
        <p:sp>
          <p:nvSpPr>
            <p:cNvPr id="171048" name="Rectangle 40"/>
            <p:cNvSpPr>
              <a:spLocks noChangeArrowheads="1"/>
            </p:cNvSpPr>
            <p:nvPr/>
          </p:nvSpPr>
          <p:spPr bwMode="auto">
            <a:xfrm>
              <a:off x="2727" y="5633"/>
              <a:ext cx="2209" cy="53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rIns="18000"/>
            <a:lstStyle/>
            <a:p>
              <a:pPr algn="ctr">
                <a:lnSpc>
                  <a:spcPct val="100000"/>
                </a:lnSpc>
              </a:pPr>
              <a:r>
                <a:rPr lang="ru-RU" sz="2000"/>
                <a:t>Точные</a:t>
              </a:r>
            </a:p>
          </p:txBody>
        </p:sp>
        <p:sp>
          <p:nvSpPr>
            <p:cNvPr id="171049" name="Rectangle 41"/>
            <p:cNvSpPr>
              <a:spLocks noChangeArrowheads="1"/>
            </p:cNvSpPr>
            <p:nvPr/>
          </p:nvSpPr>
          <p:spPr bwMode="auto">
            <a:xfrm>
              <a:off x="2850" y="6169"/>
              <a:ext cx="2096" cy="53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rIns="18000"/>
            <a:lstStyle/>
            <a:p>
              <a:pPr algn="ctr">
                <a:lnSpc>
                  <a:spcPct val="100000"/>
                </a:lnSpc>
              </a:pPr>
              <a:r>
                <a:rPr lang="ru-RU" sz="2000"/>
                <a:t>Приближенные</a:t>
              </a:r>
            </a:p>
          </p:txBody>
        </p:sp>
      </p:grpSp>
      <p:sp>
        <p:nvSpPr>
          <p:cNvPr id="25" name="Нижний колонтитул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i="1"/>
              <a:t>«Моделирование»</a:t>
            </a:r>
            <a:endParaRPr lang="ru-RU" i="1" dirty="0"/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A25ECD0C-623C-4B4F-970A-ED7A3C986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" y="492060"/>
            <a:ext cx="93630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b="1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и средства моделирования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60712997-7F35-4F57-AC18-3CC4D4FFB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53625"/>
            <a:ext cx="9518650" cy="350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ru-RU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1.3. Типовые задачи и методы моделирования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133657-FB3F-4B1C-9366-A6B6ABF3767C}"/>
              </a:ext>
            </a:extLst>
          </p:cNvPr>
          <p:cNvSpPr txBox="1"/>
          <p:nvPr/>
        </p:nvSpPr>
        <p:spPr>
          <a:xfrm>
            <a:off x="4848171" y="990398"/>
            <a:ext cx="4955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«Все не так легко, как кажется» (</a:t>
            </a:r>
            <a:r>
              <a:rPr lang="ru-RU" sz="1400" b="1" i="1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Следствие закона </a:t>
            </a:r>
            <a:r>
              <a:rPr lang="ru-RU" sz="1400" b="1" i="1" dirty="0" err="1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Мэрфи</a:t>
            </a:r>
            <a:r>
              <a:rPr lang="ru-RU" sz="14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F76B4B-3737-C959-5152-1BED39859971}"/>
              </a:ext>
            </a:extLst>
          </p:cNvPr>
          <p:cNvSpPr txBox="1"/>
          <p:nvPr/>
        </p:nvSpPr>
        <p:spPr>
          <a:xfrm>
            <a:off x="5628075" y="3692142"/>
            <a:ext cx="363796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GPSS</a:t>
            </a:r>
            <a:r>
              <a:rPr lang="ru-R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(General </a:t>
            </a:r>
            <a:r>
              <a:rPr lang="ru-RU" sz="1800" i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Purpose</a:t>
            </a:r>
            <a:r>
              <a:rPr lang="ru-RU" sz="1800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i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Simulation</a:t>
            </a:r>
            <a:r>
              <a:rPr lang="ru-RU" sz="1800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System) </a:t>
            </a:r>
            <a:endParaRPr lang="ru-RU" i="1" dirty="0">
              <a:solidFill>
                <a:srgbClr val="C00000"/>
              </a:solidFill>
            </a:endParaRPr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D8739760-9777-43FE-9998-44E959BE5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832" y="3807605"/>
            <a:ext cx="1569232" cy="415512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lIns="18000" rIns="18000"/>
          <a:lstStyle/>
          <a:p>
            <a:pPr algn="ctr">
              <a:lnSpc>
                <a:spcPct val="100000"/>
              </a:lnSpc>
            </a:pPr>
            <a:r>
              <a:rPr lang="ru-RU" b="1" u="sng" dirty="0"/>
              <a:t>Численные</a:t>
            </a:r>
            <a:r>
              <a:rPr lang="ru-RU" sz="1600" b="1" dirty="0"/>
              <a:t> </a:t>
            </a:r>
          </a:p>
          <a:p>
            <a:pPr algn="ctr">
              <a:lnSpc>
                <a:spcPct val="100000"/>
              </a:lnSpc>
            </a:pPr>
            <a:endParaRPr lang="ru-RU" sz="2000" dirty="0"/>
          </a:p>
        </p:txBody>
      </p:sp>
      <p:sp>
        <p:nvSpPr>
          <p:cNvPr id="30" name="Line 38">
            <a:extLst>
              <a:ext uri="{FF2B5EF4-FFF2-40B4-BE49-F238E27FC236}">
                <a16:creationId xmlns:a16="http://schemas.microsoft.com/office/drawing/2014/main" id="{FA505FB0-9B62-4C69-B0AB-D7BF525F8A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7061" y="2211647"/>
            <a:ext cx="0" cy="159595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 sz="2000"/>
          </a:p>
        </p:txBody>
      </p:sp>
      <p:sp>
        <p:nvSpPr>
          <p:cNvPr id="31" name="Line 45">
            <a:extLst>
              <a:ext uri="{FF2B5EF4-FFF2-40B4-BE49-F238E27FC236}">
                <a16:creationId xmlns:a16="http://schemas.microsoft.com/office/drawing/2014/main" id="{EFA7382C-D966-4D89-9A90-45442B7592C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5794" y="4223118"/>
            <a:ext cx="0" cy="743524"/>
          </a:xfrm>
          <a:prstGeom prst="line">
            <a:avLst/>
          </a:prstGeom>
          <a:noFill/>
          <a:ln w="15875">
            <a:solidFill>
              <a:srgbClr val="000000"/>
            </a:solidFill>
            <a:prstDash val="lgDash"/>
            <a:round/>
            <a:headEnd/>
            <a:tailEnd type="triangle" w="med" len="med"/>
          </a:ln>
        </p:spPr>
        <p:txBody>
          <a:bodyPr/>
          <a:lstStyle/>
          <a:p>
            <a:endParaRPr lang="ru-RU"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B283C-09DE-4844-A408-F17C03304308}" type="slidenum">
              <a:rPr lang="ru-RU"/>
              <a:pPr/>
              <a:t>20</a:t>
            </a:fld>
            <a:endParaRPr lang="ru-RU" dirty="0"/>
          </a:p>
        </p:txBody>
      </p:sp>
      <p:graphicFrame>
        <p:nvGraphicFramePr>
          <p:cNvPr id="184653" name="Group 333"/>
          <p:cNvGraphicFramePr>
            <a:graphicFrameLocks noGrp="1"/>
          </p:cNvGraphicFramePr>
          <p:nvPr/>
        </p:nvGraphicFramePr>
        <p:xfrm>
          <a:off x="385698" y="1032925"/>
          <a:ext cx="9067802" cy="1737360"/>
        </p:xfrm>
        <a:graphic>
          <a:graphicData uri="http://schemas.openxmlformats.org/drawingml/2006/table">
            <a:tbl>
              <a:tblPr/>
              <a:tblGrid>
                <a:gridCol w="2044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7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64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16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68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Метод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моделирования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Сложность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метода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36000" marR="36000" marT="36000" marB="3600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Общность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рез-тов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Точность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рез-тов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Затраты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времени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Матер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затраты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Задачи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синтеза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Аналитический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{+}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{++++}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{+}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{+}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{+}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Имитационный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+++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{++++}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++++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++++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++++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Комбинированный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++++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++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+++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+++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+++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+++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i="1"/>
              <a:t>«Моделирование»</a:t>
            </a:r>
            <a:endParaRPr lang="ru-RU" i="1" dirty="0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6F75461E-BB6A-450F-8F25-3B3D4675B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" y="492060"/>
            <a:ext cx="93630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b="1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Сравнительный анализ методов моделирования 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B07D1D02-0717-49C4-9F57-C95A63C007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53625"/>
            <a:ext cx="9518650" cy="350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ru-RU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1.3. Типовые задачи и методы моделирования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357C3A-BF69-EA88-98D5-BC7A22DED8D3}"/>
              </a:ext>
            </a:extLst>
          </p:cNvPr>
          <p:cNvSpPr txBox="1"/>
          <p:nvPr/>
        </p:nvSpPr>
        <p:spPr>
          <a:xfrm>
            <a:off x="137465" y="2940745"/>
            <a:ext cx="963107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None/>
            </a:pPr>
            <a:r>
              <a:rPr lang="ru-RU" sz="1800" b="1" u="sng" dirty="0">
                <a:latin typeface="Times New Roman" pitchFamily="18" charset="0"/>
                <a:ea typeface="+mj-ea"/>
                <a:cs typeface="Times New Roman" pitchFamily="18" charset="0"/>
              </a:rPr>
              <a:t>Проблемы (недостатки) имитационного моделирования: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экспоненциальной рост 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сложности модели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увеличении количества параметров системы;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большие временн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ы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 затраты на 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модели и 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проведение многочисленных экспериментов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высокие требования к 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техническим средствам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моделирования (компьютеру);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наличие методической (и не только) 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погрешност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и;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необходимость грамотного </a:t>
            </a:r>
            <a:r>
              <a:rPr lang="ru-RU" sz="1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планирования экспериментов из-за необходимости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выполнения большого числа экспериментов для решения задач анализа свойств исследуемой системы;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значительные проблемы при попытке решения задач 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оптимального синтеза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(проектирования) больших систем (процессов с большим числом состояний); 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моделирования и </a:t>
            </a:r>
            <a:r>
              <a:rPr lang="ru-RU" sz="1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высоконагруженных систем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(а также малонагруженных).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E4BE07-116A-9823-66CE-482F43F80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6F76E1-8C9D-555E-CB57-B797B5A3B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E1917F-E5EC-46C2-BC88-F8C491AA6CDA}" type="slidenum">
              <a:rPr lang="ru-RU" smtClean="0"/>
              <a:pPr>
                <a:defRPr/>
              </a:pPr>
              <a:t>21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EBE272-D71C-D1CE-9461-B8C7D59A37F5}"/>
              </a:ext>
            </a:extLst>
          </p:cNvPr>
          <p:cNvSpPr txBox="1"/>
          <p:nvPr/>
        </p:nvSpPr>
        <p:spPr>
          <a:xfrm>
            <a:off x="204972" y="1133745"/>
            <a:ext cx="949605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l"/>
            <a:r>
              <a:rPr lang="ru-RU" sz="1600" b="1" i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GPSS World</a:t>
            </a:r>
            <a:r>
              <a:rPr lang="ru-RU" sz="1600" i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среда имитационного моделирования общего назначения, охватывает области дискретного и непрерывного моделирования. Включает язык </a:t>
            </a:r>
            <a:r>
              <a:rPr lang="ru-RU" sz="16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PLUS —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язык программирования нижнего уровня. Система </a:t>
            </a:r>
            <a:r>
              <a:rPr lang="ru-RU" sz="16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GPSS World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допускает многозадачность, позволяя нескольким имитационным моделям выполняться одновременно.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/>
            <a:r>
              <a:rPr lang="ru-RU" sz="16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Разработчик: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компания </a:t>
            </a:r>
            <a:r>
              <a:rPr lang="ru-RU" sz="16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Minuteman</a:t>
            </a:r>
            <a:r>
              <a:rPr lang="ru-RU" sz="16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Software Corp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., США. Сайт: </a:t>
            </a:r>
            <a:r>
              <a:rPr lang="en-US" sz="16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</a:t>
            </a:r>
            <a:r>
              <a:rPr lang="ru-RU" sz="16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.</a:t>
            </a:r>
            <a:r>
              <a:rPr lang="en-US" sz="16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minutemansoftware</a:t>
            </a:r>
            <a:r>
              <a:rPr lang="ru-RU" sz="16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.</a:t>
            </a:r>
            <a:r>
              <a:rPr lang="en-US" sz="16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com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/>
            <a:endParaRPr lang="ru-RU" sz="1600" b="1" i="1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l"/>
            <a:r>
              <a:rPr lang="ru-RU" sz="1600" b="1" i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GPSS/H</a:t>
            </a:r>
            <a:r>
              <a:rPr lang="ru-RU" sz="16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моделирование дискретных и непрерывных систем.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/>
            <a:r>
              <a:rPr lang="ru-RU" sz="16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Разработчик: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компания </a:t>
            </a:r>
            <a:r>
              <a:rPr lang="ru-RU" sz="16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Wolverine</a:t>
            </a:r>
            <a:r>
              <a:rPr lang="ru-RU" sz="16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Software Corp.,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США. Сайт: </a:t>
            </a:r>
            <a:r>
              <a:rPr lang="ru-RU" sz="16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www.wolverinesoftware.com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/>
            <a:endParaRPr lang="ru-RU" sz="1600" b="1" dirty="0">
              <a:effectLst/>
              <a:highlight>
                <a:srgbClr val="00FF00"/>
              </a:highligh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l"/>
            <a:r>
              <a:rPr lang="ru-RU" sz="16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Расширенный редактор </a:t>
            </a:r>
            <a:r>
              <a:rPr lang="ru-RU" sz="1600" b="1" i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GPSS World</a:t>
            </a:r>
            <a:r>
              <a:rPr lang="ru-RU" sz="1600" i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универсальная система имитационного моделирования, охватывающая весь цикл имитационных исследований, от постановки задачи до документирования результатов. Основные особенности системы: </a:t>
            </a:r>
          </a:p>
          <a:p>
            <a:pPr marL="540000" indent="-285750" algn="l">
              <a:buFont typeface="Arial" panose="020B0604020202020204" pitchFamily="34" charset="0"/>
              <a:buChar char="•"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высокий уровень интерактивности при проведении исследования; </a:t>
            </a:r>
          </a:p>
          <a:p>
            <a:pPr marL="540000" indent="-285750" algn="l">
              <a:buFont typeface="Arial" panose="020B0604020202020204" pitchFamily="34" charset="0"/>
              <a:buChar char="•"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упрощение разработки моделей и проведения исследований;</a:t>
            </a:r>
          </a:p>
          <a:p>
            <a:pPr marL="540000" indent="-285750" algn="l">
              <a:buFont typeface="Arial" panose="020B0604020202020204" pitchFamily="34" charset="0"/>
              <a:buChar char="•"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большой объем текстовой документации и оперативных подсказок. </a:t>
            </a:r>
          </a:p>
          <a:p>
            <a:pPr indent="450215" algn="l"/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Возможна организация облачного моделирования в сети Интернет. Имеется бесплатная студенческая версия системы.</a:t>
            </a:r>
          </a:p>
          <a:p>
            <a:pPr indent="450215" algn="l"/>
            <a:r>
              <a:rPr lang="ru-RU" sz="16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Разработчик: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компания ООО «Элина-компьютер», Казань, Россия. Сайт: </a:t>
            </a:r>
            <a:r>
              <a:rPr lang="ru-RU" sz="16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www.elina-computer.ru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E279BC-9A32-FDB9-3547-2E43258F4BAE}"/>
              </a:ext>
            </a:extLst>
          </p:cNvPr>
          <p:cNvSpPr txBox="1"/>
          <p:nvPr/>
        </p:nvSpPr>
        <p:spPr>
          <a:xfrm>
            <a:off x="631416" y="492060"/>
            <a:ext cx="8643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имитационного моделирования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D53D9941-5F0C-57A9-BF6B-E468667DA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53625"/>
            <a:ext cx="9518650" cy="350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ru-RU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1.3. Типовые задачи и методы моделирования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95689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F356F1-5D78-E839-0659-DD7044790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8FF1A4-8A77-C66A-A902-B31D0BAE0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E1917F-E5EC-46C2-BC88-F8C491AA6CDA}" type="slidenum">
              <a:rPr lang="ru-RU" smtClean="0"/>
              <a:pPr>
                <a:defRPr/>
              </a:pPr>
              <a:t>22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249DCF-503A-C3F7-0C3C-660CFAEED76C}"/>
              </a:ext>
            </a:extLst>
          </p:cNvPr>
          <p:cNvSpPr txBox="1"/>
          <p:nvPr/>
        </p:nvSpPr>
        <p:spPr>
          <a:xfrm>
            <a:off x="182470" y="1147966"/>
            <a:ext cx="954106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l"/>
            <a:r>
              <a:rPr lang="ru-RU" sz="1800" b="1" i="1" u="sng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AnyLogic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поддерживает три подхода к созданию имитационных моделей: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дискретно-событийный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(процессно-ориентированный),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системно-динамический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агентный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а также любую их комбинацию. Графический интерфейс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инструменты и библиотеки позволяют создавать модели для широкого круга задач в различных областях.  </a:t>
            </a:r>
            <a:r>
              <a:rPr lang="ru-RU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AnyLogic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широко применяется для бизнес-моделирования во многих международных компаниях, используется в образовании. </a:t>
            </a:r>
          </a:p>
          <a:p>
            <a:pPr indent="450215" algn="l"/>
            <a:r>
              <a:rPr lang="ru-RU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Разработчик</a:t>
            </a:r>
            <a:r>
              <a:rPr lang="en-US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AnyLogic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Company.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Сайт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www.anylogic.ru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l"/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/>
            <a:r>
              <a:rPr lang="ru-RU" sz="1800" b="1" i="1" u="sng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Arena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система дискретного моделирования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производственных технологических процессов и операций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складской учет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банковская деятельность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оптимизация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обслуживания клиентов в сфере услуг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транспортные задачи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 Имеет удобный объектно-ориентированный интерфейс и может адаптироваться к различным предметным областям, не требует написания программного кода, проста в использовании, но для ее освоения требуются значительное время и достаточно глубокие знания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теории вероятностей, математической статистики, теории систем массового обслуживания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сетей Петри.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Разработчик</a:t>
            </a:r>
            <a:r>
              <a:rPr lang="en-US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Rockwell Automation Inc., Wexford, PA,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США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Сайт: </a:t>
            </a:r>
            <a:r>
              <a:rPr lang="ru-RU" sz="18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www.arenasimulation.com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.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6576A1-C484-7F2D-BA6A-240C5BACF30B}"/>
              </a:ext>
            </a:extLst>
          </p:cNvPr>
          <p:cNvSpPr txBox="1"/>
          <p:nvPr/>
        </p:nvSpPr>
        <p:spPr>
          <a:xfrm>
            <a:off x="631416" y="492060"/>
            <a:ext cx="8643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имитационного моделирования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F74809A4-4BBB-6B20-90F0-739594A0F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53625"/>
            <a:ext cx="9518650" cy="350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ru-RU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1.3. Типовые задачи и методы моделирования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2853756547"/>
      </p:ext>
    </p:extLst>
  </p:cSld>
  <p:clrMapOvr>
    <a:masterClrMapping/>
  </p:clrMapOvr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6934</TotalTime>
  <Words>1877</Words>
  <Application>Microsoft Office PowerPoint</Application>
  <PresentationFormat>Лист A4 (210x297 мм)</PresentationFormat>
  <Paragraphs>426</Paragraphs>
  <Slides>22</Slides>
  <Notes>4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0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Cambria Math</vt:lpstr>
      <vt:lpstr>Courier New</vt:lpstr>
      <vt:lpstr>Times New Roman</vt:lpstr>
      <vt:lpstr>Оформление по умолчанию</vt:lpstr>
      <vt:lpstr>«Моделирование»</vt:lpstr>
      <vt:lpstr>Рекомендуемая литература</vt:lpstr>
      <vt:lpstr>Разделы дисциплины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loniis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Сети ЭВМ и телекоммуникации</dc:title>
  <dc:creator>Владелец</dc:creator>
  <cp:lastModifiedBy>Taufik Aliev</cp:lastModifiedBy>
  <cp:revision>523</cp:revision>
  <dcterms:created xsi:type="dcterms:W3CDTF">2006-11-07T10:25:58Z</dcterms:created>
  <dcterms:modified xsi:type="dcterms:W3CDTF">2023-09-11T09:57:39Z</dcterms:modified>
</cp:coreProperties>
</file>