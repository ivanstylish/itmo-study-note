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Замедление (×, меньше = лучше)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8CC-48C8-9A77-8AB19C0F5D15}"/>
              </c:ext>
            </c:extLst>
          </c:dPt>
          <c:dPt>
            <c:idx val="1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8CC-48C8-9A77-8AB19C0F5D15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8CC-48C8-9A77-8AB19C0F5D15}"/>
              </c:ext>
            </c:extLst>
          </c:dPt>
          <c:dPt>
            <c:idx val="3"/>
            <c:invertIfNegative val="0"/>
            <c:bubble3D val="0"/>
            <c:spPr>
              <a:solidFill>
                <a:srgbClr val="00D4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8CC-48C8-9A77-8AB19C0F5D15}"/>
              </c:ext>
            </c:extLst>
          </c:dPt>
          <c:dPt>
            <c:idx val="4"/>
            <c:invertIfNegative val="0"/>
            <c:bubble3D val="0"/>
            <c:spPr>
              <a:solidFill>
                <a:srgbClr val="0D6E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8CC-48C8-9A77-8AB19C0F5D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ASan</c:v>
                </c:pt>
                <c:pt idx="1">
                  <c:v>HWASan</c:v>
                </c:pt>
                <c:pt idx="2">
                  <c:v>MTE SYNC</c:v>
                </c:pt>
                <c:pt idx="3">
                  <c:v>MTE ASYNC</c:v>
                </c:pt>
                <c:pt idx="4">
                  <c:v>MTE ASYMM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1.45</c:v>
                </c:pt>
                <c:pt idx="2">
                  <c:v>1.2</c:v>
                </c:pt>
                <c:pt idx="3">
                  <c:v>1.02</c:v>
                </c:pt>
                <c:pt idx="4">
                  <c:v>1.05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8CC-48C8-9A77-8AB19C0F5D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791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132040"/>
          </a:solidFill>
          <a:ln w="25400">
            <a:solidFill>
              <a:srgbClr val="0D6E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200400"/>
            <a:ext cx="1828800" cy="1828800"/>
          </a:xfrm>
          <a:prstGeom prst="ellipse">
            <a:avLst/>
          </a:prstGeom>
          <a:solidFill>
            <a:srgbClr val="091529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89834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868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</a:rPr>
              <a:t>КОМПЬЮТЕРНАЯ АРХИТЕКТУРА · СЕМИНАР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13258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Memory Tagging Extension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11480" y="2697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Аппаратная защита памяти: обнаружение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пространственных и временных ошибок в Armv8.5-A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11480" y="4114800"/>
            <a:ext cx="8321040" cy="731520"/>
          </a:xfrm>
          <a:prstGeom prst="rect">
            <a:avLst/>
          </a:prstGeom>
          <a:solidFill>
            <a:srgbClr val="132040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2062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Armv8.5-A / Armv9  </a:t>
            </a: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Android &amp; Linux  </a:t>
            </a: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SYNC / ASYNC / ASYMM modes</a:t>
            </a:r>
            <a:endParaRPr lang="en-US" sz="13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C64FAA-D640-AA6B-A77B-4E7147A0DB20}"/>
              </a:ext>
            </a:extLst>
          </p:cNvPr>
          <p:cNvSpPr txBox="1"/>
          <p:nvPr/>
        </p:nvSpPr>
        <p:spPr>
          <a:xfrm>
            <a:off x="7421432" y="4497169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Выполнил</a:t>
            </a:r>
            <a:r>
              <a:rPr lang="en-US" dirty="0">
                <a:solidFill>
                  <a:schemeClr val="bg1"/>
                </a:solidFill>
              </a:rPr>
              <a:t>: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Чжун Цзяцзюнь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C3E"/>
          </a:solidFill>
          <a:ln w="12700">
            <a:solidFill>
              <a:srgbClr val="0B1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проблемы: нарушения безопасности памяти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28803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всех уязвимостей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продуктах Microsoft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связаны с памятью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188720"/>
            <a:ext cx="27432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188720"/>
            <a:ext cx="27432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3716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</a:t>
            </a:r>
            <a:endParaRPr lang="en-US" sz="5200" dirty="0"/>
          </a:p>
        </p:txBody>
      </p:sp>
      <p:sp>
        <p:nvSpPr>
          <p:cNvPr id="13" name="Text 9"/>
          <p:cNvSpPr/>
          <p:nvPr/>
        </p:nvSpPr>
        <p:spPr>
          <a:xfrm>
            <a:off x="3337560" y="28803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уязвимостей Android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нарушения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безопасности памяти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7432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188720"/>
            <a:ext cx="2743200" cy="10972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3716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5200" dirty="0"/>
          </a:p>
        </p:txBody>
      </p:sp>
      <p:sp>
        <p:nvSpPr>
          <p:cNvPr id="18" name="Text 13"/>
          <p:cNvSpPr/>
          <p:nvPr/>
        </p:nvSpPr>
        <p:spPr>
          <a:xfrm>
            <a:off x="6309360" y="28803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C/C++ кода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 Debian Linux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наследие unsafe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6576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C3E"/>
                </a:solidFill>
              </a:rPr>
              <a:t>Два класса нарушений памяти: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65760" y="4754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safety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выход за границы объекта (buffer overflow)
</a:t>
            </a: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safety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обращение к освобождённой памяти (use-after-free)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работы MTE: механизм Lock &amp; Key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840480" cy="10058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8C8"/>
                </a:solidFill>
              </a:rPr>
              <a:t>УКАЗАТЕЛЬ (64-bit virtual address)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TAG: 4 bit 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 адрес: 56 bit 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2240280"/>
            <a:ext cx="0" cy="36576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651760"/>
            <a:ext cx="3840480" cy="1005840"/>
          </a:xfrm>
          <a:prstGeom prst="rect">
            <a:avLst/>
          </a:prstGeom>
          <a:solidFill>
            <a:srgbClr val="1320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8C8"/>
                </a:solidFill>
              </a:rPr>
              <a:t>ПАМЯТЬ (Normal Tagged Memory)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ALLOC TAG: 4 bit 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+ 16 байт данных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✓  TAG совпал → доступ разрешён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✗  TAG не совпал → исключение (SIGSEGV)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023360" cy="1188720"/>
          </a:xfrm>
          <a:prstGeom prst="rect">
            <a:avLst/>
          </a:prstGeom>
          <a:solidFill>
            <a:srgbClr val="132040"/>
          </a:solidFill>
          <a:ln w="12700">
            <a:solidFill>
              <a:srgbClr val="0D6EF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6304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40680" y="1252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Granule = 16 байт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40680" y="16184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каждые 16 байт памяти хранится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4-битный allocation tag (замок)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2468880"/>
            <a:ext cx="4023360" cy="1188720"/>
          </a:xfrm>
          <a:prstGeom prst="rect">
            <a:avLst/>
          </a:prstGeom>
          <a:solidFill>
            <a:srgbClr val="132040"/>
          </a:solidFill>
          <a:ln w="12700">
            <a:solidFill>
              <a:srgbClr val="0D6EFD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78892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40680" y="2578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Byte Ignore (TBI)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440680" y="29443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tag размещается в старшем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байте указателя — без расширения ABI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754880" y="3794760"/>
            <a:ext cx="4023360" cy="1188720"/>
          </a:xfrm>
          <a:prstGeom prst="rect">
            <a:avLst/>
          </a:prstGeom>
          <a:solidFill>
            <a:srgbClr val="132040"/>
          </a:solidFill>
          <a:ln w="12700">
            <a:solidFill>
              <a:srgbClr val="0D6EFD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11480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40680" y="3904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тип памяти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440680" y="42702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«Normal Tagged Memory» — отдельный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в архитектуре Armv8.5-A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C3E"/>
          </a:solidFill>
          <a:ln w="12700">
            <a:solidFill>
              <a:srgbClr val="0B1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инструкции Armv8.5-A для MTE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834640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тегами памяти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572768"/>
            <a:ext cx="28346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18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случайного тега в регистр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231136"/>
            <a:ext cx="28346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276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 / STZG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2532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тега (с обнулением или без)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889504"/>
            <a:ext cx="28346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935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31912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тега из памяти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547872"/>
            <a:ext cx="28346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593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ST2G / STZ2G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" y="38496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Двойные гранулы — эффективнее для крупных блоков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206240"/>
            <a:ext cx="28346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45079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данных и тега одновременно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1097280"/>
            <a:ext cx="283464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Арифметика указателей / стек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8688" y="1572768"/>
            <a:ext cx="28346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10128" y="1618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ADDG / SUBG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10128" y="18745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Раздельная арифметика над адресом и тегом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2231136"/>
            <a:ext cx="28346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10128" y="2276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SUBP(S)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0128" y="2532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56-битное вычитание (игнорирует тег)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18688" y="2889504"/>
            <a:ext cx="28346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10128" y="2935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10128" y="31912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excluded-множеством тегов (IRG)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08776" y="1097280"/>
            <a:ext cx="2834640" cy="38404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Системный уровень (только EL1+)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08776" y="1572768"/>
            <a:ext cx="28346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0216" y="1618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LDGM / STGM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00216" y="18745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Массовое чтение/запись тегов (kernel only)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08776" y="2231136"/>
            <a:ext cx="28346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00216" y="2276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STZGM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00216" y="2532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инициализация + обнуление тегов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C3E"/>
                </a:solidFill>
              </a:rPr>
              <a:t>Плюс cache maintenance operations для тегов (работа с cache-линиями)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режима работы MTE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1371600"/>
          </a:xfrm>
          <a:prstGeom prst="rect">
            <a:avLst/>
          </a:prstGeom>
          <a:solidFill>
            <a:srgbClr val="132040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143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286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8C8"/>
                </a:solidFill>
              </a:rPr>
              <a:t>Synchronous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1828800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C3E"/>
                </a:solidFill>
              </a:rPr>
              <a:t>Overhead: ~5–25%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8C8"/>
                </a:solidFill>
              </a:rPr>
              <a:t>Применение: Разработка / Тестирование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Точное исключение сразу при несовпадении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Известна точная инструкция-нарушитель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886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SIGSEGV с si_code SEGV_MTESERR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диагностика, выше overhead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72968" y="1097280"/>
            <a:ext cx="2743200" cy="1371600"/>
          </a:xfrm>
          <a:prstGeom prst="rect">
            <a:avLst/>
          </a:prstGeom>
          <a:solidFill>
            <a:srgbClr val="132040"/>
          </a:solidFill>
          <a:ln w="25400">
            <a:solidFill>
              <a:srgbClr val="0D6E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143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172968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8C8"/>
                </a:solidFill>
              </a:rPr>
              <a:t>Asynchronous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30168" y="2057400"/>
            <a:ext cx="1828800" cy="34747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C3E"/>
                </a:solidFill>
              </a:rPr>
              <a:t>Overhead: ~1–2%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72968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8C8"/>
                </a:solidFill>
              </a:rPr>
              <a:t>Применение: Продакшен (production)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Несоответствие тегов копится в регистре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64408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при system call или context switch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64408" y="3886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Точная инструкция неизвестна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overhead для прод-среды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17336" y="1097280"/>
            <a:ext cx="2743200" cy="1371600"/>
          </a:xfrm>
          <a:prstGeom prst="rect">
            <a:avLst/>
          </a:prstGeom>
          <a:solidFill>
            <a:srgbClr val="132040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7336" y="1143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6117336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8C8"/>
                </a:solidFill>
              </a:rPr>
              <a:t>Asymmetric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74536" y="2057400"/>
            <a:ext cx="182880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4536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C3E"/>
                </a:solidFill>
              </a:rPr>
              <a:t>Overhead: 1–5%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17336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8C8"/>
                </a:solidFill>
              </a:rPr>
              <a:t>Применение: Баланс точности и скорости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08776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Нагрузки: sync на reads, async на writes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08776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Компромисс между диагностикой и скоростью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08776" y="3886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поддержан на всех процессорах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08776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Актуален для специфических паттернов доступа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C3E"/>
          </a:solidFill>
          <a:ln w="12700">
            <a:solidFill>
              <a:srgbClr val="0B1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обнаруживает MTE: Spatial vs Temporal ошибки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3385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C3E"/>
                </a:solidFill>
              </a:rPr>
              <a:t>Spatial Safety  (пространственная)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Нарушение: объект accessed вне своих границ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Пример: buffer overflow на стеке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→ перезапись return address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→ основа ROP/stack smashing атак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Как MTE помогает: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0632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Аллокатор даёт соседним блокам разные теги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204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Последовательный overflow = ВСЕГДА обнаружен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9776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«Дикий» (wild) доступ = вероятностно (1/16)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3385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Temporal Safety  (временная)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Нарушение: ссылка используется после free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Пример: use-after-free, use-after-return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→ перезапись function pointer vtable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→ основа type confusion атак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Как MTE помогает: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0632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free() тег памяти меняется на новый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5204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Висячий указатель содержит старый тег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→ несовпадение → исключение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 MTE в программном обеспечении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7490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618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</a:rPr>
              <a:t>Heap Tagging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1148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Без перекомпиляции в динамически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слинкованных бинарях!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331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/ free / calloc / realloc → модификация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788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kernel: tagged memory mapping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246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SIGSEGV при tag mismatch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3703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тегов при syscall address space ops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4160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copy/string функции: защита от overread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1097280"/>
            <a:ext cx="3931920" cy="3749040"/>
          </a:xfrm>
          <a:prstGeom prst="rect">
            <a:avLst/>
          </a:prstGeom>
          <a:solidFill>
            <a:srgbClr val="132040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344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2618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</a:rPr>
              <a:t>Stack Tagging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9834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Требуется перекомпиляция!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2331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IRG при входе в функцию: случайный тег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937760" y="2788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ADDG/SUBG: создание адресов на стеке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3246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Соседние объекты получают разные теги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937760" y="3703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увеличивается до 16 байт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37760" y="4160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Unchecked: SP-based immediate (статически верны)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C3E"/>
          </a:solidFill>
          <a:ln w="12700">
            <a:solidFill>
              <a:srgbClr val="0B1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MTE vs ASan: производительность и покрытие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143000"/>
          <a:ext cx="3200400" cy="32004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MTE ASYNC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 CPU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~1–2%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 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+50–100%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Изменение кода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Recompile+инструмент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Heap: без перекомп.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Продакшен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Точность диагностики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потоку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ошибки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ошибки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* Данные: arXiv:2601.11786 (2026) — Pixel 8/9 &amp; AmpereOne; до 6.64× на отдельных microbenchmarks (store-heavy)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C3E"/>
                </a:solidFill>
              </a:rPr>
              <a:t>MTE ASYNC достигает &lt;2% overhead — приемлемо для продакшена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MTE: Android и Linux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2176272"/>
            <a:ext cx="219456" cy="21945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2019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-365760" y="27249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</a:rPr>
              <a:t>Armv8.5-A spec опубликована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</a:rPr>
              <a:t>(август 2019)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59152" y="2176272"/>
            <a:ext cx="219456" cy="21945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2021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7249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</a:rPr>
              <a:t>Первые Armv9 CPU с MTE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</a:rPr>
              <a:t>(май 2021)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832" y="2176272"/>
            <a:ext cx="219456" cy="21945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2023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7249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</a:rPr>
              <a:t>Google Pixel 8 — первый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</a:rPr>
              <a:t>Android телефон с MTE HW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82512" y="2176272"/>
            <a:ext cx="219456" cy="21945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2025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7249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</a:rPr>
              <a:t>Apple A19 (iPhone 17)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</a:rPr>
              <a:t>поддержка MTE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94192" y="2176272"/>
            <a:ext cx="219456" cy="21945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27249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</a:rPr>
              <a:t>arXiv:2601.11786 — первый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</a:rPr>
              <a:t>глубокий perf-анализ MTE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143000"/>
            <a:ext cx="4114800" cy="10058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</a:rPr>
              <a:t>Android NDK MTE API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60120" y="15819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android_mallopt(M_BIONIC_SET_HEAP_TAGGING_LEVEL, 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 — debug, ASYNC — release with protection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1143000"/>
            <a:ext cx="4114800" cy="1005840"/>
          </a:xfrm>
          <a:prstGeom prst="rect">
            <a:avLst/>
          </a:prstGeom>
          <a:solidFill>
            <a:srgbClr val="132040"/>
          </a:solidFill>
          <a:ln w="12700">
            <a:solidFill>
              <a:srgbClr val="0D6EFD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9844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40680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6EFD"/>
                </a:solidFill>
              </a:rPr>
              <a:t>Linux Kernel поддержка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5440680" y="15819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prctl(PR_SET_TAGGED_ADDR_CTRL, 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Системный уровень: mmap, SIGSEGV, context switch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20040" y="3474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Жизненный цикл продукта → конфигурация MTE: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320040" y="3840480"/>
            <a:ext cx="8503920" cy="338328"/>
          </a:xfrm>
          <a:prstGeom prst="rect">
            <a:avLst/>
          </a:prstGeom>
          <a:solidFill>
            <a:srgbClr val="1320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" y="3877056"/>
            <a:ext cx="8321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Тестирование: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+ аккумуляция ошибок (не завершать процесс)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20040" y="4233672"/>
            <a:ext cx="8503920" cy="338328"/>
          </a:xfrm>
          <a:prstGeom prst="rect">
            <a:avLst/>
          </a:prstGeom>
          <a:solidFill>
            <a:srgbClr val="132040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7200" y="4270248"/>
            <a:ext cx="8321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Продакшен: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+ завершение при tag mismatch (баланс)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320040" y="4626864"/>
            <a:ext cx="8503920" cy="338328"/>
          </a:xfrm>
          <a:prstGeom prst="rect">
            <a:avLst/>
          </a:prstGeom>
          <a:solidFill>
            <a:srgbClr val="1320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57200" y="4663440"/>
            <a:ext cx="8321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Адаптивно:  </a:t>
            </a: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crash → рестарт в SYNC для диагностики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C3E"/>
          </a:solidFill>
          <a:ln w="12700">
            <a:solidFill>
              <a:srgbClr val="0B1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Оптимизации и ограничения MTE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Рекомендации по оптимизации: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184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5179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C3E"/>
                </a:solidFill>
              </a:rPr>
              <a:t>Записывать теги и данные вместе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8105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STZGM для zero+tag: инициализация страниц OS одной инструкцией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2304288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5973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23591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C3E"/>
                </a:solidFill>
              </a:rPr>
              <a:t>Не переаллоцировать лишнее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Чрезмерный malloc/free усиливает overhead — теги пишутся даже для неиспользуемой памяти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3145536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30098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" y="3200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C3E"/>
                </a:solidFill>
              </a:rPr>
              <a:t>Избегать больших стек-буферов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22960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PATH_MAX-буферы — антипаттерн: выравнивание до 16 байт = впустую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4320" y="3986784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14223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4041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C3E"/>
                </a:solidFill>
              </a:rPr>
              <a:t>Избегать over-allocation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" y="43342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Virtual address space без записей — дороже с MTE, чем без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754880" y="1097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Ограничения MTE: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754880" y="14630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618488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03520" y="15179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C3E"/>
                </a:solidFill>
              </a:rPr>
              <a:t>Вероятностная защита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303520" y="18105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4 бита → 1/16 шанс совпадения тегов при 'диком' доступе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754880" y="2304288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459736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03520" y="23591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C3E"/>
                </a:solidFill>
              </a:rPr>
              <a:t>Не защита от алгоритм. уязвимостей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5303520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MTE не закрывает логические ошибки и вредоносный код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754880" y="3145536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300984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303520" y="3200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C3E"/>
                </a:solidFill>
              </a:rPr>
              <a:t>Стек требует перекомпиляции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5303520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И BTI + PAC для полной защиты stack pointer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4754880" y="3986784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4142232"/>
            <a:ext cx="365760" cy="36576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303520" y="4041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C3E"/>
                </a:solidFill>
              </a:rPr>
              <a:t>Не все архитектуры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5303520" y="43342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Только Armv8.5-A+. x86/RISC-V — без аналога в HW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91529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914400"/>
            <a:ext cx="2743200" cy="2743200"/>
          </a:xfrm>
          <a:prstGeom prst="ellipse">
            <a:avLst/>
          </a:prstGeom>
          <a:solidFill>
            <a:srgbClr val="091529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5943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Итоги: Что даёт MTE архитектурно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20040" y="1417320"/>
            <a:ext cx="502920" cy="5303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4630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C3E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1490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&amp; Key на уровне HW: 4-битный тег на каждые 16 байт без изменения ABI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103120"/>
            <a:ext cx="502920" cy="5303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1488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C3E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21762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режима: SYNC (диагностика), ASYNC (~1-2% overhead, прод), ASYMM (баланс)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" y="2788920"/>
            <a:ext cx="502920" cy="5303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8346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C3E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28620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tagging без перекомпиляции; stack требует BTI + PAC + recompile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0040" y="3474720"/>
            <a:ext cx="502920" cy="5303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35204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C3E"/>
                </a:solidFill>
              </a:rPr>
              <a:t>04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35478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Обнаруживает buffer overflow, use-after-free, use-after-return детерминировано или вероятностно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20040" y="4160520"/>
            <a:ext cx="502920" cy="5303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42062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C3E"/>
                </a:solidFill>
              </a:rPr>
              <a:t>05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60120" y="42336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устройства: Pixel 8/9, AmpereOne, Apple A19 — широкое внедрение 2023–2025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C8"/>
                </a:solidFill>
              </a:rPr>
              <a:t>Источники: Arm Whitepaper · AOSP docs · arXiv:2601.11786 · Project Zero Blog · Android NDK Guide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994A33-EDFA-B326-F2D5-A40E3EC88FF1}"/>
              </a:ext>
            </a:extLst>
          </p:cNvPr>
          <p:cNvSpPr txBox="1"/>
          <p:nvPr/>
        </p:nvSpPr>
        <p:spPr>
          <a:xfrm>
            <a:off x="1887794" y="2217807"/>
            <a:ext cx="6157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051655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1130</Words>
  <Application>Microsoft Office PowerPoint</Application>
  <PresentationFormat>全屏显示(16:9)</PresentationFormat>
  <Paragraphs>219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MTE — Аппаратная безопасность памяти</dc:title>
  <dc:subject>PptxGenJS Presentation</dc:subject>
  <dc:creator>PptxGenJS</dc:creator>
  <cp:lastModifiedBy>stylish ivan</cp:lastModifiedBy>
  <cp:revision>2</cp:revision>
  <dcterms:created xsi:type="dcterms:W3CDTF">2026-04-19T11:26:04Z</dcterms:created>
  <dcterms:modified xsi:type="dcterms:W3CDTF">2026-04-19T18:23:09Z</dcterms:modified>
</cp:coreProperties>
</file>