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400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Сегодня мы погрузимся в Arm Memory Tagging Extension, или MTE. Это аппаратный механизм, который радикально меняет подход к безопасности памяти в Arm-процессорах. Мы видим, что проблемы с безопасностью памяти — это не просто теоретические риски, а реальная угроза. Например, 70% уязвимостей Microsoft и более 75% уязвимостей Android связаны именно с ошибками памяти. MTE предлагает решение, работающее на уровне железа, с минимальными накладными расходами, менее 2% в асинхронном режиме. Это делает его первым по-настоящему продакшен-готовым инструментом для обнаружения таких ошибок. Давайте глубже разберемся, почему это так важно.</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Как я уже упомянул, масштаб проблемы с ошибками памяти огромен. Эти цифры не просто статистика; они показывают, что традиционные подходы не справляются. Мы видим, что 70-75% всех критических уязвимостей в продуктах Microsoft и Android — это именно memory safety issues. Переписать сотни миллионов строк кода на C/C++ просто невозможно. MTE нацелен на два основных класса ошибок: пространственные, такие как buffer overflows, и временные, например, use-after-free. Эти ошибки лежат в основе большинства современных эксплойтов. MTE — это первый аппаратный инструмент, который может обнаруживать оба этих класса ошибок с очень низкими накладными расходами, что делает его революционным для продакшен-среды. Теперь давайте посмотрим, как MTE работает на низком уровне.</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 основе MTE лежит элегантный принцип Lock &amp; Key. Каждые 16 байт памяти получают 4-битный тег, который также хранится в старших битах указателя. Когда программа обращается к памяти, аппаратное обеспечение сравнивает тег указателя с тегом памяти. Если они совпадают, доступ разрешен без задержек. Если нет, это сигнализирует об ошибке. Это происходит благодаря Top Byte Ignore, который позволяет нам использовать старший байт указателя для тега, не меняя при этом существующий ABI. Ключевые особенности включают гранулярность в 16 байт, что обеспечивает детерминированное обнаружение переполнений, и аппаратную генерацию случайных тегов, которая гарантирует обнаружение последовательных переполнений. Использование Normal Tagged Memory означает, что только обращения к этой памяти проверяются, что позволяет существующему коду работать без изменений. Теперь, когда мы понимаем принцип, давайте рассмотрим новые инструкции, которые это обеспечивают.</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Для реализации MTE Armv8.5-A вводит новые инструкции, которые можно разделить на три категории. Во-первых, это операции с тегами памяти, такие как IRG для генерации случайных тегов и STG/LDG для записи и чтения тегов. Эти инструкции позволяют аллокаторам эффективно управлять тегами. Во-вторых, у нас есть инструкции для арифметики указателей, такие как ADDG и SUBG, которые позволяют выполнять арифметические операции, сохраняя целостность тегов. Это критически важно для стека, где каждый объект может получить свой уникальный тег, что позволяет детерминированно обнаруживать переполнения. И, наконец, системные инструкции, такие как LDGM и STZGM, которые позволяют операционной системе эффективно управлять тегами на больших блоках памяти, например, при инициализации страниц. Эти инструкции формируют основу для мощной системы безопасности. Но как это влияет на производительность? Давайте рассмотрим режимы работы MTE.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MTE предлагает три режима работы, каждый из которых имеет свои компромиссы между производительностью и точностью обнаружения. Режим SYNC, или синхронный, обеспечивает точное обнаружение ошибок с немедленным SIGSEGV на нарушающей инструкции. Он идеален для отладки и CI/CD, но может иметь значительные накладные расходы, до 25% и более. ASYNC, или асинхронный режим, предназначен для продакшена. Он накапливает ошибки и проверяет их при системных вызовах или переключениях контекста, что снижает накладные расходы до 1-2%. Это делает его пригодным для реальных приложений. ASYMM — это компромисс, где чтение синхронно, а запись асинхронна, что может быть полезно для read-heavy нагрузок. Важно отметить, что накладные расходы ASYNC режима на реальных устройствах, таких как Pixel 8, действительно минимальны. Это ключевой момент, который отличает MTE от других решений. Далее мы рассмотрим, как MTE обнаруживает пространственные и временные ошибки.</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MTE детерминированно обнаруживает как пространственные, так и временные ошибки памяти, что критически важно для безопасности. Для пространственных ошибок, таких как Buffer Overflow, MTE гарантирует, что аллокатор назначает соседним блокам разные теги. Это обеспечивает детерминированное обнаружение последовательных переполнений. Для временных ошибок, например Use-After-Free, MTE работает так: при освобождении памяти аллокатор меняет тег. Любой висячий указатель со старым тегом немедленно вызывает исключение при попытке доступа. Это означает, что MTE не просто снижает риски, а активно выявляет их, даже в production-режиме. Project Zero подтвердил это, найдя реальные UAF-баги на Pixel 8/9. Теперь давайте посмотрим, как MTE разворачивается на практике для Heap и Stack.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Развертывание MTE различается для кучи и стека, что важно для понимания его практического применения. Для Heap Tagging, что очень удобно, перекомпиляция не требуется в динамически связанных системах, таких как Android. Ядро ОС и libc берут на себя управление тегами, а существующие бинарники работают без изменений. Это означает, что malloc() возвращает уже размеченный указатель, а free() меняет тег, мгновенно выявляя висячие указатели. Со Stack Tagging ситуация иная: здесь нужна перекомпиляция с соответствующими флагами компилятора, чтобы вставить инструкции IRG, ADDG и STG в пролог функции. Каждый объект на стеке получает уникальный тег, но для полной безопасности это требует BTI и PAC, иначе атакующий может обойти защиту. Далее мы сравним MTE с ASan, чтобы понять, почему MTE является первым production-ready инструментом.</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MTE в ASYNC-режиме кардинально меняет ландшафт обнаружения ошибок памяти, предлагая беспрецедентно низкий overhead. В отличие от AddressSanitizer, который может давать 50-200% накладных расходов на CPU и 50-100% на RAM, MTE ASYNC работает с показателями в 1-2% и менее 3% соответственно. Это делает MTE первым по-настоящему production-ready инструментом для обнаружения memory safety ошибок. ASan требует перекомпиляции для кучи, MTE — нет. ASan точен до байта, MTE — до потока, но это приемлемый компромисс для продакшена. Мы видим, что MTE ASYNC на Pixel 8 показывает overhead всего 0.5-2.3% на SPEC CPU 2017. Это позволяет нам рекомендовать SYNC для отладки и CI/CD, а ASYNC — для продакшена. Теперь давайте рассмотрим, как MTE интегрируется в экосистему и его хронологию внедрения.</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MTE прошёл впечатляющий путь от спецификации до массового внедрения, подтверждая свою значимость. Спецификация Armv8.5-A появилась в 2019 году, а уже в 2021 мы увидели первые Armv9 CPU с MTE. Google Pixel 8 в 2023 году стал первым массовым устройством с аппаратной поддержкой MTE, предлагая режимы SYNC для отладки и ASYNC для продакшена. Project Zero в 2024 году подтвердил эффективность MTE, обнаружив реальные UAF-баги в приложениях на Pixel 9. Apple также планирует внедрить MTE в iPhone 17/A19 к 2025 году. Поддержка в Linux Kernel активно развивается, включая патчи для Tagged Memory и когерентности тегов в многоядерных системах. Это показывает, что MTE становится индустриальным стандартом. Теперь давайте перейдем к оптимизациям, ограничениям и основным выводам.</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MTE — это мощный, production-ready инструмент, но важно понимать его возможности и ограничения. Для оптимизации рекомендуется записывать теги и данные вместе, используя STZGM, и минимизировать частые операции de-allocation/re-allocation, так как они увеличивают накладные расходы. Также стоит избегать больших fixed-size стек-буферов, которые могут приводить к напрасной записи тегов. В продакшене всегда отдавайте предпочтение ASYNC-режиму. Однако MTE не является панацеей: это вероятностная защита, не абсолютная, с вероятностью ложного совпадения 1/16. Он не защищает от алгоритмических уязвимостей, и Stack Tagging требует перекомпиляции, BTI и PAC. И, конечно, MTE — это решение только для Arm-архитектуры. В итоге, MTE — это Lock &amp; Key в железе, с тремя режимами работы, поддержкой Heap без перекомпиляции и Stack с ней, способный обнаруживать оба класса ошибок памяти. Его широкое внедрение в 2023-2025 годах подтверждает, что MTE вышел из спецификации в реальный production silicon.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Мы рассмотрели MTE как мощный аппаратный механизм для обнаружения ошибок памяти. Он предлагает беспрецедентную защиту с минимальным overhead, что делает его идеальным для продакшена. Мы обсудили его принципы работы, режимы, интеграцию в экосистему и практические рекомендации. Спасибо за ваше внимание. Готов ответить на ваши вопросы.</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66996"/>
          </a:xfrm>
          <a:prstGeom prst="rect">
            <a:avLst/>
          </a:prstGeom>
        </p:spPr>
      </p:pic>
      <p:sp>
        <p:nvSpPr>
          <p:cNvPr id="4" name="Shape 0"/>
          <p:cNvSpPr/>
          <p:nvPr/>
        </p:nvSpPr>
        <p:spPr>
          <a:xfrm>
            <a:off x="7144" y="7144"/>
            <a:ext cx="6086475" cy="4556206"/>
          </a:xfrm>
          <a:prstGeom prst="rect">
            <a:avLst/>
          </a:prstGeom>
          <a:solidFill>
            <a:srgbClr val="FFFFFF">
              <a:alpha val="80000"/>
            </a:srgbClr>
          </a:solidFill>
          <a:ln/>
        </p:spPr>
      </p:sp>
      <p:sp>
        <p:nvSpPr>
          <p:cNvPr id="5" name="Shape 1"/>
          <p:cNvSpPr/>
          <p:nvPr/>
        </p:nvSpPr>
        <p:spPr>
          <a:xfrm>
            <a:off x="6086475" y="7144"/>
            <a:ext cx="7144" cy="4556206"/>
          </a:xfrm>
          <a:prstGeom prst="rect">
            <a:avLst/>
          </a:prstGeom>
          <a:solidFill>
            <a:srgbClr val="D0D7DE"/>
          </a:solidFill>
          <a:ln/>
        </p:spPr>
      </p:sp>
      <p:sp>
        <p:nvSpPr>
          <p:cNvPr id="6" name="Shape 2"/>
          <p:cNvSpPr/>
          <p:nvPr/>
        </p:nvSpPr>
        <p:spPr>
          <a:xfrm>
            <a:off x="7144" y="4556206"/>
            <a:ext cx="6086475" cy="7144"/>
          </a:xfrm>
          <a:prstGeom prst="rect">
            <a:avLst/>
          </a:prstGeom>
          <a:solidFill>
            <a:srgbClr val="D0D7DE"/>
          </a:solidFill>
          <a:ln/>
        </p:spPr>
      </p:sp>
      <p:sp>
        <p:nvSpPr>
          <p:cNvPr id="7" name="Text 3"/>
          <p:cNvSpPr/>
          <p:nvPr/>
        </p:nvSpPr>
        <p:spPr>
          <a:xfrm>
            <a:off x="435769" y="1195155"/>
            <a:ext cx="5229225" cy="1005818"/>
          </a:xfrm>
          <a:prstGeom prst="rect">
            <a:avLst/>
          </a:prstGeom>
          <a:noFill/>
          <a:ln/>
        </p:spPr>
        <p:txBody>
          <a:bodyPr wrap="square" lIns="0" tIns="0" rIns="0" bIns="0" rtlCol="0" anchor="t">
            <a:spAutoFit/>
          </a:bodyPr>
          <a:lstStyle/>
          <a:p>
            <a:pPr marL="0" indent="0" algn="l">
              <a:lnSpc>
                <a:spcPct val="88000"/>
              </a:lnSpc>
              <a:buNone/>
            </a:pPr>
            <a:r>
              <a:rPr lang="en-US" sz="3300" b="1" dirty="0">
                <a:solidFill>
                  <a:srgbClr val="0969DA"/>
                </a:solidFill>
                <a:latin typeface="Inter Bold" pitchFamily="34" charset="0"/>
                <a:ea typeface="Inter Bold" pitchFamily="34" charset="-122"/>
                <a:cs typeface="Inter Bold" pitchFamily="34" charset="-120"/>
              </a:rPr>
              <a:t>Arm Memory Tagging Extension (MTE)</a:t>
            </a:r>
            <a:endParaRPr lang="en-US" sz="3300" dirty="0"/>
          </a:p>
        </p:txBody>
      </p:sp>
      <p:sp>
        <p:nvSpPr>
          <p:cNvPr id="8" name="Text 4"/>
          <p:cNvSpPr/>
          <p:nvPr/>
        </p:nvSpPr>
        <p:spPr>
          <a:xfrm>
            <a:off x="435769" y="2415285"/>
            <a:ext cx="4706280" cy="862224"/>
          </a:xfrm>
          <a:prstGeom prst="rect">
            <a:avLst/>
          </a:prstGeom>
          <a:noFill/>
          <a:ln/>
        </p:spPr>
        <p:txBody>
          <a:bodyPr wrap="square" lIns="0" tIns="0" rIns="0" bIns="0" rtlCol="0" anchor="t">
            <a:spAutoFit/>
          </a:bodyPr>
          <a:lstStyle/>
          <a:p>
            <a:pPr marL="0" indent="0" algn="l">
              <a:lnSpc>
                <a:spcPct val="112000"/>
              </a:lnSpc>
              <a:buNone/>
            </a:pPr>
            <a:r>
              <a:rPr lang="en-US" sz="1700" dirty="0">
                <a:solidFill>
                  <a:srgbClr val="24292F"/>
                </a:solidFill>
                <a:latin typeface="Gill Sans MT" panose="020B0502020104020203" pitchFamily="34" charset="0"/>
                <a:ea typeface="Inter" pitchFamily="34" charset="-122"/>
                <a:cs typeface="Inter" pitchFamily="34" charset="-120"/>
              </a:rPr>
              <a:t>Аппаратный механизм обнаружения пространственных и временных ошибок памяти в Armv8.5-A и Armv9</a:t>
            </a:r>
            <a:endParaRPr lang="en-US" sz="1700" dirty="0">
              <a:latin typeface="Gill Sans MT" panose="020B0502020104020203" pitchFamily="34" charset="0"/>
            </a:endParaRPr>
          </a:p>
        </p:txBody>
      </p:sp>
      <p:sp>
        <p:nvSpPr>
          <p:cNvPr id="10" name="Shape 6"/>
          <p:cNvSpPr/>
          <p:nvPr/>
        </p:nvSpPr>
        <p:spPr>
          <a:xfrm>
            <a:off x="6093619" y="4556206"/>
            <a:ext cx="3043238" cy="7144"/>
          </a:xfrm>
          <a:prstGeom prst="rect">
            <a:avLst/>
          </a:prstGeom>
          <a:solidFill>
            <a:srgbClr val="D0D7DE"/>
          </a:solidFill>
          <a:ln/>
        </p:spPr>
      </p:sp>
      <p:sp>
        <p:nvSpPr>
          <p:cNvPr id="11" name="Text 7"/>
          <p:cNvSpPr/>
          <p:nvPr/>
        </p:nvSpPr>
        <p:spPr>
          <a:xfrm>
            <a:off x="6379369" y="435769"/>
            <a:ext cx="2471738" cy="312539"/>
          </a:xfrm>
          <a:prstGeom prst="rect">
            <a:avLst/>
          </a:prstGeom>
          <a:noFill/>
          <a:ln/>
        </p:spPr>
        <p:txBody>
          <a:bodyPr wrap="square" lIns="0" tIns="0" rIns="0" bIns="0" rtlCol="0" anchor="t">
            <a:spAutoFit/>
          </a:bodyPr>
          <a:lstStyle/>
          <a:p>
            <a:pPr marL="0" indent="0" algn="l">
              <a:buNone/>
            </a:pPr>
            <a:r>
              <a:rPr lang="en-US" sz="1800" b="1" dirty="0">
                <a:solidFill>
                  <a:srgbClr val="BF3989"/>
                </a:solidFill>
                <a:latin typeface="Inter Bold" pitchFamily="34" charset="0"/>
                <a:ea typeface="Inter Bold" pitchFamily="34" charset="-122"/>
                <a:cs typeface="Inter Bold" pitchFamily="34" charset="-120"/>
              </a:rPr>
              <a:t>70%</a:t>
            </a:r>
            <a:endParaRPr lang="en-US" sz="1800" dirty="0"/>
          </a:p>
        </p:txBody>
      </p:sp>
      <p:sp>
        <p:nvSpPr>
          <p:cNvPr id="12" name="Text 8"/>
          <p:cNvSpPr/>
          <p:nvPr/>
        </p:nvSpPr>
        <p:spPr>
          <a:xfrm>
            <a:off x="6379369" y="805458"/>
            <a:ext cx="2471738" cy="281680"/>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57606A"/>
                </a:solidFill>
                <a:latin typeface="Georgia" panose="02040502050405020303" pitchFamily="18" charset="0"/>
                <a:ea typeface="Inter" pitchFamily="34" charset="-122"/>
                <a:cs typeface="Inter" pitchFamily="34" charset="-120"/>
              </a:rPr>
              <a:t>уязвимостей Microsoft вызваны нарушениями </a:t>
            </a:r>
            <a:r>
              <a:rPr lang="en-US" sz="850" dirty="0" err="1">
                <a:solidFill>
                  <a:srgbClr val="57606A"/>
                </a:solidFill>
                <a:latin typeface="Georgia" panose="02040502050405020303" pitchFamily="18" charset="0"/>
                <a:ea typeface="Inter" pitchFamily="34" charset="-122"/>
                <a:cs typeface="Inter" pitchFamily="34" charset="-120"/>
              </a:rPr>
              <a:t>памяти</a:t>
            </a:r>
            <a:r>
              <a:rPr lang="en-US" sz="850" dirty="0">
                <a:solidFill>
                  <a:srgbClr val="57606A"/>
                </a:solidFill>
                <a:latin typeface="Georgia" panose="02040502050405020303" pitchFamily="18" charset="0"/>
                <a:ea typeface="Inter" pitchFamily="34" charset="-122"/>
                <a:cs typeface="Inter" pitchFamily="34" charset="-120"/>
              </a:rPr>
              <a:t> </a:t>
            </a:r>
            <a:endParaRPr lang="en-US" sz="850" dirty="0">
              <a:latin typeface="Georgia" panose="02040502050405020303" pitchFamily="18" charset="0"/>
            </a:endParaRPr>
          </a:p>
        </p:txBody>
      </p:sp>
      <p:sp>
        <p:nvSpPr>
          <p:cNvPr id="13" name="Text 9"/>
          <p:cNvSpPr/>
          <p:nvPr/>
        </p:nvSpPr>
        <p:spPr>
          <a:xfrm>
            <a:off x="6379369" y="1489807"/>
            <a:ext cx="2471738" cy="312539"/>
          </a:xfrm>
          <a:prstGeom prst="rect">
            <a:avLst/>
          </a:prstGeom>
          <a:noFill/>
          <a:ln/>
        </p:spPr>
        <p:txBody>
          <a:bodyPr wrap="square" lIns="0" tIns="0" rIns="0" bIns="0" rtlCol="0" anchor="t">
            <a:spAutoFit/>
          </a:bodyPr>
          <a:lstStyle/>
          <a:p>
            <a:pPr marL="0" indent="0" algn="l">
              <a:buNone/>
            </a:pPr>
            <a:r>
              <a:rPr lang="en-US" sz="1800" b="1" dirty="0">
                <a:solidFill>
                  <a:srgbClr val="BF3989"/>
                </a:solidFill>
                <a:latin typeface="Inter Bold" pitchFamily="34" charset="0"/>
                <a:ea typeface="Inter Bold" pitchFamily="34" charset="-122"/>
                <a:cs typeface="Inter Bold" pitchFamily="34" charset="-120"/>
              </a:rPr>
              <a:t>75%+</a:t>
            </a:r>
            <a:endParaRPr lang="en-US" sz="1800" dirty="0"/>
          </a:p>
        </p:txBody>
      </p:sp>
      <p:sp>
        <p:nvSpPr>
          <p:cNvPr id="14" name="Text 10"/>
          <p:cNvSpPr/>
          <p:nvPr/>
        </p:nvSpPr>
        <p:spPr>
          <a:xfrm>
            <a:off x="6379369" y="1859496"/>
            <a:ext cx="2471738" cy="135165"/>
          </a:xfrm>
          <a:prstGeom prst="rect">
            <a:avLst/>
          </a:prstGeom>
          <a:noFill/>
          <a:ln/>
        </p:spPr>
        <p:txBody>
          <a:bodyPr wrap="square" lIns="0" tIns="0" rIns="0" bIns="0" rtlCol="0" anchor="t">
            <a:spAutoFit/>
          </a:bodyPr>
          <a:lstStyle/>
          <a:p>
            <a:pPr>
              <a:lnSpc>
                <a:spcPct val="112000"/>
              </a:lnSpc>
            </a:pPr>
            <a:r>
              <a:rPr lang="en-US" sz="850" dirty="0">
                <a:solidFill>
                  <a:srgbClr val="57606A"/>
                </a:solidFill>
                <a:latin typeface="Georgia" panose="02040502050405020303" pitchFamily="18" charset="0"/>
                <a:ea typeface="Inter" pitchFamily="34" charset="-122"/>
              </a:rPr>
              <a:t>уязвимостей Android — memory safety bugs </a:t>
            </a:r>
          </a:p>
        </p:txBody>
      </p:sp>
      <p:sp>
        <p:nvSpPr>
          <p:cNvPr id="15" name="Text 11"/>
          <p:cNvSpPr/>
          <p:nvPr/>
        </p:nvSpPr>
        <p:spPr>
          <a:xfrm>
            <a:off x="6379369" y="2543845"/>
            <a:ext cx="2471738" cy="312539"/>
          </a:xfrm>
          <a:prstGeom prst="rect">
            <a:avLst/>
          </a:prstGeom>
          <a:noFill/>
          <a:ln/>
        </p:spPr>
        <p:txBody>
          <a:bodyPr wrap="square" lIns="0" tIns="0" rIns="0" bIns="0" rtlCol="0" anchor="t">
            <a:spAutoFit/>
          </a:bodyPr>
          <a:lstStyle/>
          <a:p>
            <a:pPr marL="0" indent="0" algn="l">
              <a:buNone/>
            </a:pPr>
            <a:r>
              <a:rPr lang="en-US" sz="1800" b="1" dirty="0">
                <a:solidFill>
                  <a:srgbClr val="BF3989"/>
                </a:solidFill>
                <a:latin typeface="Inter Bold" pitchFamily="34" charset="0"/>
                <a:ea typeface="Inter Bold" pitchFamily="34" charset="-122"/>
                <a:cs typeface="Inter Bold" pitchFamily="34" charset="-120"/>
              </a:rPr>
              <a:t>&lt;2%</a:t>
            </a:r>
            <a:endParaRPr lang="en-US" sz="1800" dirty="0"/>
          </a:p>
        </p:txBody>
      </p:sp>
      <p:sp>
        <p:nvSpPr>
          <p:cNvPr id="16" name="Text 12"/>
          <p:cNvSpPr/>
          <p:nvPr/>
        </p:nvSpPr>
        <p:spPr>
          <a:xfrm>
            <a:off x="6379369" y="2913534"/>
            <a:ext cx="2471738" cy="138692"/>
          </a:xfrm>
          <a:prstGeom prst="rect">
            <a:avLst/>
          </a:prstGeom>
          <a:noFill/>
          <a:ln/>
        </p:spPr>
        <p:txBody>
          <a:bodyPr wrap="square" lIns="0" tIns="0" rIns="0" bIns="0" rtlCol="0" anchor="t">
            <a:spAutoFit/>
          </a:bodyPr>
          <a:lstStyle/>
          <a:p>
            <a:pPr marL="0" indent="0" algn="l">
              <a:lnSpc>
                <a:spcPct val="112000"/>
              </a:lnSpc>
              <a:buNone/>
            </a:pPr>
            <a:r>
              <a:rPr lang="en-US" sz="850" dirty="0">
                <a:solidFill>
                  <a:srgbClr val="57606A"/>
                </a:solidFill>
                <a:latin typeface="Georgia" panose="02040502050405020303" pitchFamily="18" charset="0"/>
                <a:ea typeface="Inter" pitchFamily="34" charset="-122"/>
              </a:rPr>
              <a:t>overhead MTE ASYNC в </a:t>
            </a:r>
            <a:r>
              <a:rPr lang="en-US" sz="850" dirty="0" err="1">
                <a:solidFill>
                  <a:srgbClr val="57606A"/>
                </a:solidFill>
                <a:latin typeface="Georgia" panose="02040502050405020303" pitchFamily="18" charset="0"/>
                <a:ea typeface="Inter" pitchFamily="34" charset="-122"/>
              </a:rPr>
              <a:t>продакшене</a:t>
            </a:r>
            <a:endParaRPr lang="en-US" sz="850" dirty="0">
              <a:solidFill>
                <a:srgbClr val="57606A"/>
              </a:solidFill>
              <a:latin typeface="Georgia" panose="02040502050405020303" pitchFamily="18" charset="0"/>
              <a:ea typeface="Inter" pitchFamily="34" charset="-122"/>
            </a:endParaRPr>
          </a:p>
        </p:txBody>
      </p:sp>
      <p:sp>
        <p:nvSpPr>
          <p:cNvPr id="17" name="Text 13"/>
          <p:cNvSpPr/>
          <p:nvPr/>
        </p:nvSpPr>
        <p:spPr>
          <a:xfrm>
            <a:off x="6379369" y="3597883"/>
            <a:ext cx="2471738" cy="312539"/>
          </a:xfrm>
          <a:prstGeom prst="rect">
            <a:avLst/>
          </a:prstGeom>
          <a:noFill/>
          <a:ln/>
        </p:spPr>
        <p:txBody>
          <a:bodyPr wrap="square" lIns="0" tIns="0" rIns="0" bIns="0" rtlCol="0" anchor="t">
            <a:spAutoFit/>
          </a:bodyPr>
          <a:lstStyle/>
          <a:p>
            <a:pPr marL="0" indent="0" algn="l">
              <a:buNone/>
            </a:pPr>
            <a:r>
              <a:rPr lang="en-US" sz="1800" b="1" dirty="0">
                <a:solidFill>
                  <a:srgbClr val="BF3989"/>
                </a:solidFill>
                <a:latin typeface="Inter Bold" pitchFamily="34" charset="0"/>
                <a:ea typeface="Inter Bold" pitchFamily="34" charset="-122"/>
                <a:cs typeface="Inter Bold" pitchFamily="34" charset="-120"/>
              </a:rPr>
              <a:t>16 байт</a:t>
            </a:r>
            <a:endParaRPr lang="en-US" sz="1800" dirty="0"/>
          </a:p>
        </p:txBody>
      </p:sp>
      <p:sp>
        <p:nvSpPr>
          <p:cNvPr id="18" name="Text 14"/>
          <p:cNvSpPr/>
          <p:nvPr/>
        </p:nvSpPr>
        <p:spPr>
          <a:xfrm>
            <a:off x="6379369" y="3967572"/>
            <a:ext cx="982641" cy="135165"/>
          </a:xfrm>
          <a:prstGeom prst="rect">
            <a:avLst/>
          </a:prstGeom>
          <a:noFill/>
          <a:ln/>
        </p:spPr>
        <p:txBody>
          <a:bodyPr wrap="none" lIns="0" tIns="0" rIns="0" bIns="0" rtlCol="0" anchor="t">
            <a:spAutoFit/>
          </a:bodyPr>
          <a:lstStyle/>
          <a:p>
            <a:pPr marL="0" indent="0" algn="l">
              <a:lnSpc>
                <a:spcPct val="112000"/>
              </a:lnSpc>
              <a:buNone/>
            </a:pPr>
            <a:r>
              <a:rPr lang="en-US" sz="850" dirty="0" err="1">
                <a:solidFill>
                  <a:srgbClr val="57606A"/>
                </a:solidFill>
                <a:latin typeface="Georgia" panose="02040502050405020303" pitchFamily="18" charset="0"/>
                <a:ea typeface="Inter" pitchFamily="34" charset="-122"/>
                <a:cs typeface="Inter" pitchFamily="34" charset="-120"/>
              </a:rPr>
              <a:t>гранулярность</a:t>
            </a:r>
            <a:r>
              <a:rPr lang="en-US" sz="850" dirty="0">
                <a:solidFill>
                  <a:srgbClr val="57606A"/>
                </a:solidFill>
                <a:latin typeface="Georgia" panose="02040502050405020303" pitchFamily="18" charset="0"/>
                <a:ea typeface="Inter" pitchFamily="34" charset="-122"/>
                <a:cs typeface="Inter" pitchFamily="34" charset="-120"/>
              </a:rPr>
              <a:t> </a:t>
            </a:r>
            <a:r>
              <a:rPr lang="en-US" sz="850" dirty="0" err="1">
                <a:solidFill>
                  <a:srgbClr val="57606A"/>
                </a:solidFill>
                <a:latin typeface="Georgia" panose="02040502050405020303" pitchFamily="18" charset="0"/>
                <a:ea typeface="Inter" pitchFamily="34" charset="-122"/>
                <a:cs typeface="Inter" pitchFamily="34" charset="-120"/>
              </a:rPr>
              <a:t>тега</a:t>
            </a:r>
            <a:endParaRPr lang="en-US" sz="850" dirty="0">
              <a:latin typeface="Georgia" panose="02040502050405020303" pitchFamily="18" charset="0"/>
            </a:endParaRPr>
          </a:p>
        </p:txBody>
      </p:sp>
      <p:sp>
        <p:nvSpPr>
          <p:cNvPr id="20" name="Text 16"/>
          <p:cNvSpPr/>
          <p:nvPr/>
        </p:nvSpPr>
        <p:spPr>
          <a:xfrm>
            <a:off x="435769" y="4709796"/>
            <a:ext cx="633187" cy="107722"/>
          </a:xfrm>
          <a:prstGeom prst="rect">
            <a:avLst/>
          </a:prstGeom>
          <a:noFill/>
          <a:ln/>
        </p:spPr>
        <p:txBody>
          <a:bodyPr wrap="none" lIns="0" tIns="0" rIns="0" bIns="0" rtlCol="0" anchor="t">
            <a:spAutoFit/>
          </a:bodyPr>
          <a:lstStyle/>
          <a:p>
            <a:pPr marL="0" indent="0" algn="l">
              <a:buNone/>
            </a:pPr>
            <a:r>
              <a:rPr lang="en-US" sz="700" b="1" dirty="0">
                <a:solidFill>
                  <a:srgbClr val="57606A"/>
                </a:solidFill>
                <a:latin typeface="Informal Roman" panose="030604020304060B0204" pitchFamily="66" charset="0"/>
                <a:ea typeface="Inter Bold" pitchFamily="34" charset="-122"/>
                <a:cs typeface="Inter Bold" pitchFamily="34" charset="-120"/>
              </a:rPr>
              <a:t>АРХИТЕКТУРА</a:t>
            </a:r>
            <a:endParaRPr lang="en-US" sz="700" dirty="0">
              <a:latin typeface="Informal Roman" panose="030604020304060B0204" pitchFamily="66" charset="0"/>
            </a:endParaRPr>
          </a:p>
        </p:txBody>
      </p:sp>
      <p:sp>
        <p:nvSpPr>
          <p:cNvPr id="21" name="Text 17"/>
          <p:cNvSpPr/>
          <p:nvPr/>
        </p:nvSpPr>
        <p:spPr>
          <a:xfrm>
            <a:off x="435769" y="4843742"/>
            <a:ext cx="1019510" cy="138499"/>
          </a:xfrm>
          <a:prstGeom prst="rect">
            <a:avLst/>
          </a:prstGeom>
          <a:noFill/>
          <a:ln/>
        </p:spPr>
        <p:txBody>
          <a:bodyPr wrap="none" lIns="0" tIns="0" rIns="0" bIns="0" rtlCol="0" anchor="t">
            <a:spAutoFit/>
          </a:bodyPr>
          <a:lstStyle/>
          <a:p>
            <a:pPr marL="0" indent="0" algn="l">
              <a:buNone/>
            </a:pPr>
            <a:r>
              <a:rPr lang="en-US" sz="900" dirty="0">
                <a:solidFill>
                  <a:srgbClr val="24292F"/>
                </a:solidFill>
                <a:latin typeface="Georgia" panose="02040502050405020303" pitchFamily="18" charset="0"/>
                <a:ea typeface="Inter SemiBold" pitchFamily="34" charset="-122"/>
                <a:cs typeface="Inter SemiBold" pitchFamily="34" charset="-120"/>
              </a:rPr>
              <a:t>Armv8.5-A / Armv9</a:t>
            </a:r>
            <a:endParaRPr lang="en-US" sz="900" dirty="0">
              <a:latin typeface="Georgia" panose="02040502050405020303" pitchFamily="18" charset="0"/>
            </a:endParaRPr>
          </a:p>
        </p:txBody>
      </p:sp>
      <p:sp>
        <p:nvSpPr>
          <p:cNvPr id="22" name="Text 18"/>
          <p:cNvSpPr/>
          <p:nvPr/>
        </p:nvSpPr>
        <p:spPr>
          <a:xfrm>
            <a:off x="3892451" y="4709796"/>
            <a:ext cx="1539478" cy="107722"/>
          </a:xfrm>
          <a:prstGeom prst="rect">
            <a:avLst/>
          </a:prstGeom>
          <a:noFill/>
          <a:ln/>
        </p:spPr>
        <p:txBody>
          <a:bodyPr wrap="square" lIns="0" tIns="0" rIns="0" bIns="0" rtlCol="0" anchor="t">
            <a:spAutoFit/>
          </a:bodyPr>
          <a:lstStyle/>
          <a:p>
            <a:pPr marL="0" indent="0" algn="l">
              <a:buNone/>
            </a:pPr>
            <a:r>
              <a:rPr lang="en-US" sz="700" b="1" dirty="0">
                <a:solidFill>
                  <a:srgbClr val="57606A"/>
                </a:solidFill>
                <a:latin typeface="Informal Roman" panose="030604020304060B0204" pitchFamily="66" charset="0"/>
                <a:ea typeface="Inter Bold" pitchFamily="34" charset="-122"/>
              </a:rPr>
              <a:t>РЕЖИМЫ</a:t>
            </a:r>
          </a:p>
        </p:txBody>
      </p:sp>
      <p:sp>
        <p:nvSpPr>
          <p:cNvPr id="23" name="Text 19"/>
          <p:cNvSpPr/>
          <p:nvPr/>
        </p:nvSpPr>
        <p:spPr>
          <a:xfrm>
            <a:off x="3892451" y="4843742"/>
            <a:ext cx="1539478" cy="138499"/>
          </a:xfrm>
          <a:prstGeom prst="rect">
            <a:avLst/>
          </a:prstGeom>
          <a:noFill/>
          <a:ln/>
        </p:spPr>
        <p:txBody>
          <a:bodyPr wrap="square" lIns="0" tIns="0" rIns="0" bIns="0" rtlCol="0" anchor="t">
            <a:spAutoFit/>
          </a:bodyPr>
          <a:lstStyle/>
          <a:p>
            <a:pPr marL="0" indent="0" algn="l">
              <a:buNone/>
            </a:pPr>
            <a:r>
              <a:rPr lang="en-US" sz="900" dirty="0">
                <a:solidFill>
                  <a:srgbClr val="24292F"/>
                </a:solidFill>
                <a:latin typeface="Georgia" panose="02040502050405020303" pitchFamily="18" charset="0"/>
                <a:ea typeface="Inter SemiBold" pitchFamily="34" charset="-122"/>
                <a:cs typeface="Inter SemiBold" pitchFamily="34" charset="-120"/>
              </a:rPr>
              <a:t>SYNC · ASYNC · ASYMM</a:t>
            </a:r>
            <a:endParaRPr lang="en-US" sz="900" dirty="0">
              <a:latin typeface="Georgia" panose="02040502050405020303" pitchFamily="18" charset="0"/>
            </a:endParaRPr>
          </a:p>
        </p:txBody>
      </p:sp>
      <p:sp>
        <p:nvSpPr>
          <p:cNvPr id="24" name="Text 20"/>
          <p:cNvSpPr/>
          <p:nvPr/>
        </p:nvSpPr>
        <p:spPr>
          <a:xfrm>
            <a:off x="7770089" y="4653583"/>
            <a:ext cx="1032272" cy="323165"/>
          </a:xfrm>
          <a:prstGeom prst="rect">
            <a:avLst/>
          </a:prstGeom>
          <a:noFill/>
          <a:ln/>
        </p:spPr>
        <p:txBody>
          <a:bodyPr wrap="square" lIns="0" tIns="0" rIns="0" bIns="0" rtlCol="0" anchor="t">
            <a:spAutoFit/>
          </a:bodyPr>
          <a:lstStyle/>
          <a:p>
            <a:pPr marL="0" indent="0" algn="r">
              <a:buNone/>
            </a:pPr>
            <a:r>
              <a:rPr lang="en-US" sz="1050" dirty="0">
                <a:solidFill>
                  <a:srgbClr val="24292F"/>
                </a:solidFill>
                <a:latin typeface="Cascadia Code" panose="020B0609020000020004" pitchFamily="49" charset="0"/>
                <a:ea typeface="Inter SemiBold" pitchFamily="34" charset="-122"/>
                <a:cs typeface="Cascadia Code" panose="020B0609020000020004" pitchFamily="49" charset="0"/>
              </a:rPr>
              <a:t>Чжун Цзяцзюнь
Группа: P3210</a:t>
            </a:r>
            <a:endParaRPr lang="en-US" sz="1050" dirty="0">
              <a:latin typeface="Cascadia Code" panose="020B0609020000020004" pitchFamily="49" charset="0"/>
              <a:cs typeface="Cascadia Code" panose="020B0609020000020004" pitchFamily="49"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7144" y="7144"/>
            <a:ext cx="9129713" cy="735806"/>
          </a:xfrm>
          <a:prstGeom prst="rect">
            <a:avLst/>
          </a:prstGeom>
          <a:solidFill>
            <a:srgbClr val="FFFFFF"/>
          </a:solidFill>
          <a:ln/>
        </p:spPr>
      </p:sp>
      <p:sp>
        <p:nvSpPr>
          <p:cNvPr id="5" name="Shape 1"/>
          <p:cNvSpPr/>
          <p:nvPr/>
        </p:nvSpPr>
        <p:spPr>
          <a:xfrm>
            <a:off x="7144" y="735806"/>
            <a:ext cx="9129713" cy="7144"/>
          </a:xfrm>
          <a:prstGeom prst="rect">
            <a:avLst/>
          </a:prstGeom>
          <a:solidFill>
            <a:srgbClr val="D0D7DE"/>
          </a:solidFill>
          <a:ln/>
        </p:spPr>
      </p:sp>
      <p:sp>
        <p:nvSpPr>
          <p:cNvPr id="6" name="Text 2"/>
          <p:cNvSpPr/>
          <p:nvPr/>
        </p:nvSpPr>
        <p:spPr>
          <a:xfrm>
            <a:off x="435769" y="292894"/>
            <a:ext cx="8272463" cy="300038"/>
          </a:xfrm>
          <a:prstGeom prst="rect">
            <a:avLst/>
          </a:prstGeom>
          <a:noFill/>
          <a:ln/>
        </p:spPr>
        <p:txBody>
          <a:bodyPr wrap="square" lIns="0" tIns="0" rIns="0" bIns="0" rtlCol="0" anchor="t">
            <a:spAutoFit/>
          </a:bodyPr>
          <a:lstStyle/>
          <a:p>
            <a:pPr marL="0" indent="0" algn="l">
              <a:buNone/>
            </a:pPr>
            <a:r>
              <a:rPr lang="en-US" sz="1600" b="1" dirty="0">
                <a:solidFill>
                  <a:srgbClr val="0969DA"/>
                </a:solidFill>
                <a:latin typeface="Fira Code Bold" pitchFamily="34" charset="0"/>
                <a:ea typeface="Fira Code Bold" pitchFamily="34" charset="-122"/>
                <a:cs typeface="Fira Code Bold" pitchFamily="34" charset="-120"/>
              </a:rPr>
              <a:t>70–75% всех критических уязвимостей — это ошибки памяти</a:t>
            </a:r>
            <a:endParaRPr lang="en-US" sz="1600" dirty="0"/>
          </a:p>
        </p:txBody>
      </p:sp>
      <p:sp>
        <p:nvSpPr>
          <p:cNvPr id="7" name="Shape 3"/>
          <p:cNvSpPr/>
          <p:nvPr/>
        </p:nvSpPr>
        <p:spPr>
          <a:xfrm>
            <a:off x="7144" y="735806"/>
            <a:ext cx="9129713" cy="2825353"/>
          </a:xfrm>
          <a:prstGeom prst="rect">
            <a:avLst/>
          </a:prstGeom>
          <a:solidFill>
            <a:srgbClr val="000000">
              <a:alpha val="0"/>
            </a:srgbClr>
          </a:solidFill>
          <a:ln/>
        </p:spPr>
      </p:sp>
      <p:sp>
        <p:nvSpPr>
          <p:cNvPr id="8" name="Shape 4"/>
          <p:cNvSpPr/>
          <p:nvPr/>
        </p:nvSpPr>
        <p:spPr>
          <a:xfrm>
            <a:off x="7144" y="3554016"/>
            <a:ext cx="9129713" cy="7144"/>
          </a:xfrm>
          <a:prstGeom prst="rect">
            <a:avLst/>
          </a:prstGeom>
          <a:solidFill>
            <a:srgbClr val="D0D7DE"/>
          </a:solidFill>
          <a:ln/>
        </p:spPr>
      </p:sp>
      <p:sp>
        <p:nvSpPr>
          <p:cNvPr id="9" name="Text 5"/>
          <p:cNvSpPr/>
          <p:nvPr/>
        </p:nvSpPr>
        <p:spPr>
          <a:xfrm>
            <a:off x="292894" y="1021556"/>
            <a:ext cx="2464594" cy="130373"/>
          </a:xfrm>
          <a:prstGeom prst="rect">
            <a:avLst/>
          </a:prstGeom>
          <a:noFill/>
          <a:ln/>
        </p:spPr>
        <p:txBody>
          <a:bodyPr wrap="square" lIns="0" tIns="0" rIns="0" bIns="0" rtlCol="0" anchor="t">
            <a:spAutoFit/>
          </a:bodyPr>
          <a:lstStyle/>
          <a:p>
            <a:pPr marL="0" indent="0" algn="l">
              <a:buNone/>
            </a:pPr>
            <a:r>
              <a:rPr lang="en-US" sz="750" dirty="0">
                <a:solidFill>
                  <a:srgbClr val="57606A"/>
                </a:solidFill>
                <a:latin typeface="Fira Code" pitchFamily="34" charset="0"/>
                <a:ea typeface="Fira Code" pitchFamily="34" charset="-122"/>
                <a:cs typeface="Fira Code" pitchFamily="34" charset="-120"/>
              </a:rPr>
              <a:t>MICROSOFT / BLUEHAT 2019</a:t>
            </a:r>
            <a:endParaRPr lang="en-US" sz="750" dirty="0"/>
          </a:p>
        </p:txBody>
      </p:sp>
      <p:sp>
        <p:nvSpPr>
          <p:cNvPr id="10" name="Text 6"/>
          <p:cNvSpPr/>
          <p:nvPr/>
        </p:nvSpPr>
        <p:spPr>
          <a:xfrm>
            <a:off x="292894" y="1266230"/>
            <a:ext cx="2464594" cy="457200"/>
          </a:xfrm>
          <a:prstGeom prst="rect">
            <a:avLst/>
          </a:prstGeom>
          <a:noFill/>
          <a:ln/>
        </p:spPr>
        <p:txBody>
          <a:bodyPr wrap="none" lIns="0" tIns="0" rIns="0" bIns="0" rtlCol="0" anchor="t">
            <a:spAutoFit/>
          </a:bodyPr>
          <a:lstStyle/>
          <a:p>
            <a:pPr marL="0" indent="0" algn="l">
              <a:lnSpc>
                <a:spcPct val="80000"/>
              </a:lnSpc>
              <a:buNone/>
            </a:pPr>
            <a:r>
              <a:rPr lang="en-US" sz="3300" b="1" dirty="0">
                <a:solidFill>
                  <a:srgbClr val="BF3989"/>
                </a:solidFill>
                <a:latin typeface="Fira Code Bold" pitchFamily="34" charset="0"/>
                <a:ea typeface="Fira Code Bold" pitchFamily="34" charset="-122"/>
                <a:cs typeface="Fira Code Bold" pitchFamily="34" charset="-120"/>
              </a:rPr>
              <a:t>70%</a:t>
            </a:r>
            <a:endParaRPr lang="en-US" sz="3300" dirty="0"/>
          </a:p>
        </p:txBody>
      </p:sp>
      <p:sp>
        <p:nvSpPr>
          <p:cNvPr id="11" name="Text 7"/>
          <p:cNvSpPr/>
          <p:nvPr/>
        </p:nvSpPr>
        <p:spPr>
          <a:xfrm>
            <a:off x="292894" y="1837730"/>
            <a:ext cx="2464594" cy="423834"/>
          </a:xfrm>
          <a:prstGeom prst="rect">
            <a:avLst/>
          </a:prstGeom>
          <a:noFill/>
          <a:ln/>
        </p:spPr>
        <p:txBody>
          <a:bodyPr wrap="square" lIns="0" tIns="0" rIns="0" bIns="0" rtlCol="0" anchor="t">
            <a:spAutoFit/>
          </a:bodyPr>
          <a:lstStyle/>
          <a:p>
            <a:pPr marL="0" indent="0" algn="l">
              <a:lnSpc>
                <a:spcPct val="120000"/>
              </a:lnSpc>
              <a:buNone/>
            </a:pPr>
            <a:r>
              <a:rPr lang="en-US" sz="1200" dirty="0">
                <a:solidFill>
                  <a:srgbClr val="24292F"/>
                </a:solidFill>
                <a:latin typeface="Times New Roman" panose="02020603050405020304" pitchFamily="18" charset="0"/>
                <a:ea typeface="Inter" pitchFamily="34" charset="-122"/>
                <a:cs typeface="Times New Roman" panose="02020603050405020304" pitchFamily="18" charset="0"/>
              </a:rPr>
              <a:t>Всех закрытых CVE в продуктах Microsoft — memory safety violations</a:t>
            </a:r>
            <a:endParaRPr lang="en-US" sz="1200" dirty="0">
              <a:latin typeface="Times New Roman" panose="02020603050405020304" pitchFamily="18" charset="0"/>
              <a:cs typeface="Times New Roman" panose="02020603050405020304" pitchFamily="18" charset="0"/>
            </a:endParaRPr>
          </a:p>
        </p:txBody>
      </p:sp>
      <p:sp>
        <p:nvSpPr>
          <p:cNvPr id="12" name="Text 8"/>
          <p:cNvSpPr/>
          <p:nvPr/>
        </p:nvSpPr>
        <p:spPr>
          <a:xfrm>
            <a:off x="3336131" y="1021556"/>
            <a:ext cx="2464594" cy="130373"/>
          </a:xfrm>
          <a:prstGeom prst="rect">
            <a:avLst/>
          </a:prstGeom>
          <a:noFill/>
          <a:ln/>
        </p:spPr>
        <p:txBody>
          <a:bodyPr wrap="square" lIns="0" tIns="0" rIns="0" bIns="0" rtlCol="0" anchor="t">
            <a:spAutoFit/>
          </a:bodyPr>
          <a:lstStyle/>
          <a:p>
            <a:pPr marL="0" indent="0" algn="l">
              <a:buNone/>
            </a:pPr>
            <a:r>
              <a:rPr lang="en-US" sz="750" dirty="0">
                <a:solidFill>
                  <a:srgbClr val="57606A"/>
                </a:solidFill>
                <a:latin typeface="Fira Code" pitchFamily="34" charset="0"/>
                <a:ea typeface="Fira Code" pitchFamily="34" charset="-122"/>
                <a:cs typeface="Fira Code" pitchFamily="34" charset="-120"/>
              </a:rPr>
              <a:t>GOOGLE ANDROID</a:t>
            </a:r>
            <a:endParaRPr lang="en-US" sz="750" dirty="0"/>
          </a:p>
        </p:txBody>
      </p:sp>
      <p:sp>
        <p:nvSpPr>
          <p:cNvPr id="13" name="Text 9"/>
          <p:cNvSpPr/>
          <p:nvPr/>
        </p:nvSpPr>
        <p:spPr>
          <a:xfrm>
            <a:off x="3336131" y="1266230"/>
            <a:ext cx="2464594" cy="457200"/>
          </a:xfrm>
          <a:prstGeom prst="rect">
            <a:avLst/>
          </a:prstGeom>
          <a:noFill/>
          <a:ln/>
        </p:spPr>
        <p:txBody>
          <a:bodyPr wrap="none" lIns="0" tIns="0" rIns="0" bIns="0" rtlCol="0" anchor="t">
            <a:spAutoFit/>
          </a:bodyPr>
          <a:lstStyle/>
          <a:p>
            <a:pPr marL="0" indent="0" algn="l">
              <a:lnSpc>
                <a:spcPct val="80000"/>
              </a:lnSpc>
              <a:buNone/>
            </a:pPr>
            <a:r>
              <a:rPr lang="en-US" sz="3300" b="1" dirty="0">
                <a:solidFill>
                  <a:srgbClr val="2DA44E"/>
                </a:solidFill>
                <a:latin typeface="Fira Code Bold" pitchFamily="34" charset="0"/>
                <a:ea typeface="Fira Code Bold" pitchFamily="34" charset="-122"/>
                <a:cs typeface="Fira Code Bold" pitchFamily="34" charset="-120"/>
              </a:rPr>
              <a:t>75%+</a:t>
            </a:r>
            <a:endParaRPr lang="en-US" sz="3300" dirty="0"/>
          </a:p>
        </p:txBody>
      </p:sp>
      <p:sp>
        <p:nvSpPr>
          <p:cNvPr id="14" name="Text 10"/>
          <p:cNvSpPr/>
          <p:nvPr/>
        </p:nvSpPr>
        <p:spPr>
          <a:xfrm>
            <a:off x="3336131" y="1837730"/>
            <a:ext cx="2464594" cy="423834"/>
          </a:xfrm>
          <a:prstGeom prst="rect">
            <a:avLst/>
          </a:prstGeom>
          <a:noFill/>
          <a:ln/>
        </p:spPr>
        <p:txBody>
          <a:bodyPr wrap="square" lIns="0" tIns="0" rIns="0" bIns="0" rtlCol="0" anchor="t">
            <a:spAutoFit/>
          </a:bodyPr>
          <a:lstStyle/>
          <a:p>
            <a:pPr marL="0" indent="0" algn="l">
              <a:lnSpc>
                <a:spcPct val="120000"/>
              </a:lnSpc>
              <a:buNone/>
            </a:pPr>
            <a:r>
              <a:rPr lang="en-US" sz="1200" dirty="0" err="1">
                <a:solidFill>
                  <a:srgbClr val="24292F"/>
                </a:solidFill>
                <a:latin typeface="Times New Roman" panose="02020603050405020304" pitchFamily="18" charset="0"/>
                <a:ea typeface="Inter" pitchFamily="34" charset="-122"/>
                <a:cs typeface="Times New Roman" panose="02020603050405020304" pitchFamily="18" charset="0"/>
              </a:rPr>
              <a:t>Уязвимостей</a:t>
            </a:r>
            <a:r>
              <a:rPr lang="en-US" sz="1200" dirty="0">
                <a:solidFill>
                  <a:srgbClr val="24292F"/>
                </a:solidFill>
                <a:latin typeface="Times New Roman" panose="02020603050405020304" pitchFamily="18" charset="0"/>
                <a:ea typeface="Inter" pitchFamily="34" charset="-122"/>
                <a:cs typeface="Times New Roman" panose="02020603050405020304" pitchFamily="18" charset="0"/>
              </a:rPr>
              <a:t> Android — нарушения memory safety на протяжении 5+ </a:t>
            </a:r>
            <a:r>
              <a:rPr lang="en-US" sz="1200" dirty="0" err="1">
                <a:solidFill>
                  <a:srgbClr val="24292F"/>
                </a:solidFill>
                <a:latin typeface="Times New Roman" panose="02020603050405020304" pitchFamily="18" charset="0"/>
                <a:ea typeface="Inter" pitchFamily="34" charset="-122"/>
                <a:cs typeface="Times New Roman" panose="02020603050405020304" pitchFamily="18" charset="0"/>
              </a:rPr>
              <a:t>лет</a:t>
            </a:r>
            <a:endParaRPr lang="en-US" sz="1200" dirty="0">
              <a:solidFill>
                <a:srgbClr val="24292F"/>
              </a:solidFill>
              <a:latin typeface="Times New Roman" panose="02020603050405020304" pitchFamily="18" charset="0"/>
              <a:ea typeface="Inter" pitchFamily="34" charset="-122"/>
              <a:cs typeface="Times New Roman" panose="02020603050405020304" pitchFamily="18" charset="0"/>
            </a:endParaRPr>
          </a:p>
        </p:txBody>
      </p:sp>
      <p:sp>
        <p:nvSpPr>
          <p:cNvPr id="15" name="Text 11"/>
          <p:cNvSpPr/>
          <p:nvPr/>
        </p:nvSpPr>
        <p:spPr>
          <a:xfrm>
            <a:off x="6379369" y="1021556"/>
            <a:ext cx="2471738" cy="130373"/>
          </a:xfrm>
          <a:prstGeom prst="rect">
            <a:avLst/>
          </a:prstGeom>
          <a:noFill/>
          <a:ln/>
        </p:spPr>
        <p:txBody>
          <a:bodyPr wrap="square" lIns="0" tIns="0" rIns="0" bIns="0" rtlCol="0" anchor="t">
            <a:spAutoFit/>
          </a:bodyPr>
          <a:lstStyle/>
          <a:p>
            <a:pPr marL="0" indent="0" algn="l">
              <a:buNone/>
            </a:pPr>
            <a:r>
              <a:rPr lang="en-US" sz="750" dirty="0">
                <a:solidFill>
                  <a:srgbClr val="57606A"/>
                </a:solidFill>
                <a:latin typeface="Fira Code" pitchFamily="34" charset="0"/>
                <a:ea typeface="Fira Code" pitchFamily="34" charset="-122"/>
                <a:cs typeface="Fira Code" pitchFamily="34" charset="-120"/>
              </a:rPr>
              <a:t>DEBIAN LINUX</a:t>
            </a:r>
            <a:endParaRPr lang="en-US" sz="750" dirty="0"/>
          </a:p>
        </p:txBody>
      </p:sp>
      <p:sp>
        <p:nvSpPr>
          <p:cNvPr id="16" name="Text 12"/>
          <p:cNvSpPr/>
          <p:nvPr/>
        </p:nvSpPr>
        <p:spPr>
          <a:xfrm>
            <a:off x="6379369" y="1266230"/>
            <a:ext cx="2471738" cy="457200"/>
          </a:xfrm>
          <a:prstGeom prst="rect">
            <a:avLst/>
          </a:prstGeom>
          <a:noFill/>
          <a:ln/>
        </p:spPr>
        <p:txBody>
          <a:bodyPr wrap="none" lIns="0" tIns="0" rIns="0" bIns="0" rtlCol="0" anchor="t">
            <a:spAutoFit/>
          </a:bodyPr>
          <a:lstStyle/>
          <a:p>
            <a:pPr marL="0" indent="0" algn="l">
              <a:lnSpc>
                <a:spcPct val="80000"/>
              </a:lnSpc>
              <a:buNone/>
            </a:pPr>
            <a:r>
              <a:rPr lang="en-US" sz="3300" b="1" dirty="0">
                <a:solidFill>
                  <a:srgbClr val="0969DA"/>
                </a:solidFill>
                <a:latin typeface="Fira Code Bold" pitchFamily="34" charset="0"/>
                <a:ea typeface="Fira Code Bold" pitchFamily="34" charset="-122"/>
                <a:cs typeface="Fira Code Bold" pitchFamily="34" charset="-120"/>
              </a:rPr>
              <a:t>500M+</a:t>
            </a:r>
            <a:endParaRPr lang="en-US" sz="3300" dirty="0"/>
          </a:p>
        </p:txBody>
      </p:sp>
      <p:sp>
        <p:nvSpPr>
          <p:cNvPr id="17" name="Text 13"/>
          <p:cNvSpPr/>
          <p:nvPr/>
        </p:nvSpPr>
        <p:spPr>
          <a:xfrm>
            <a:off x="6379369" y="1837730"/>
            <a:ext cx="2471738" cy="423834"/>
          </a:xfrm>
          <a:prstGeom prst="rect">
            <a:avLst/>
          </a:prstGeom>
          <a:noFill/>
          <a:ln/>
        </p:spPr>
        <p:txBody>
          <a:bodyPr wrap="square" lIns="0" tIns="0" rIns="0" bIns="0" rtlCol="0" anchor="t">
            <a:spAutoFit/>
          </a:bodyPr>
          <a:lstStyle/>
          <a:p>
            <a:pPr>
              <a:lnSpc>
                <a:spcPct val="120000"/>
              </a:lnSpc>
            </a:pPr>
            <a:r>
              <a:rPr lang="en-US" sz="1200" dirty="0">
                <a:solidFill>
                  <a:srgbClr val="24292F"/>
                </a:solidFill>
                <a:latin typeface="Times New Roman" panose="02020603050405020304" pitchFamily="18" charset="0"/>
                <a:ea typeface="Inter" pitchFamily="34" charset="-122"/>
                <a:cs typeface="Times New Roman" panose="02020603050405020304" pitchFamily="18" charset="0"/>
              </a:rPr>
              <a:t>Строк C/C++ кода только в Debian Stretch — </a:t>
            </a:r>
            <a:r>
              <a:rPr lang="en-US" sz="1200" dirty="0" err="1">
                <a:solidFill>
                  <a:srgbClr val="24292F"/>
                </a:solidFill>
                <a:latin typeface="Times New Roman" panose="02020603050405020304" pitchFamily="18" charset="0"/>
                <a:ea typeface="Inter" pitchFamily="34" charset="-122"/>
                <a:cs typeface="Times New Roman" panose="02020603050405020304" pitchFamily="18" charset="0"/>
              </a:rPr>
              <a:t>переписать</a:t>
            </a:r>
            <a:r>
              <a:rPr lang="en-US" sz="1200" dirty="0">
                <a:solidFill>
                  <a:srgbClr val="24292F"/>
                </a:solidFill>
                <a:latin typeface="Times New Roman" panose="02020603050405020304" pitchFamily="18" charset="0"/>
                <a:ea typeface="Inter" pitchFamily="34" charset="-122"/>
                <a:cs typeface="Times New Roman" panose="02020603050405020304" pitchFamily="18" charset="0"/>
              </a:rPr>
              <a:t> </a:t>
            </a:r>
            <a:r>
              <a:rPr lang="en-US" sz="1200" dirty="0" err="1">
                <a:solidFill>
                  <a:srgbClr val="24292F"/>
                </a:solidFill>
                <a:latin typeface="Times New Roman" panose="02020603050405020304" pitchFamily="18" charset="0"/>
                <a:ea typeface="Inter" pitchFamily="34" charset="-122"/>
                <a:cs typeface="Times New Roman" panose="02020603050405020304" pitchFamily="18" charset="0"/>
              </a:rPr>
              <a:t>невозможно</a:t>
            </a:r>
            <a:endParaRPr lang="en-US" sz="1200" dirty="0">
              <a:solidFill>
                <a:srgbClr val="24292F"/>
              </a:solidFill>
              <a:latin typeface="Times New Roman" panose="02020603050405020304" pitchFamily="18" charset="0"/>
              <a:ea typeface="Inter" pitchFamily="34" charset="-122"/>
              <a:cs typeface="Times New Roman" panose="02020603050405020304" pitchFamily="18" charset="0"/>
            </a:endParaRPr>
          </a:p>
        </p:txBody>
      </p:sp>
      <p:sp>
        <p:nvSpPr>
          <p:cNvPr id="18" name="Shape 14"/>
          <p:cNvSpPr/>
          <p:nvPr/>
        </p:nvSpPr>
        <p:spPr>
          <a:xfrm>
            <a:off x="7144" y="3561159"/>
            <a:ext cx="9129713" cy="1575197"/>
          </a:xfrm>
          <a:prstGeom prst="rect">
            <a:avLst/>
          </a:prstGeom>
          <a:solidFill>
            <a:srgbClr val="FFFFFF"/>
          </a:solidFill>
          <a:ln/>
        </p:spPr>
      </p:sp>
      <p:sp>
        <p:nvSpPr>
          <p:cNvPr id="19" name="Text 15"/>
          <p:cNvSpPr/>
          <p:nvPr/>
        </p:nvSpPr>
        <p:spPr>
          <a:xfrm>
            <a:off x="435769" y="3775472"/>
            <a:ext cx="5222081" cy="187523"/>
          </a:xfrm>
          <a:prstGeom prst="rect">
            <a:avLst/>
          </a:prstGeom>
          <a:noFill/>
          <a:ln/>
        </p:spPr>
        <p:txBody>
          <a:bodyPr wrap="square" lIns="0" tIns="0" rIns="0" bIns="0" rtlCol="0" anchor="t">
            <a:spAutoFit/>
          </a:bodyPr>
          <a:lstStyle/>
          <a:p>
            <a:pPr marL="0" indent="0" algn="l">
              <a:buNone/>
            </a:pPr>
            <a:r>
              <a:rPr lang="en-US" sz="1000" b="1" dirty="0">
                <a:solidFill>
                  <a:srgbClr val="24292F"/>
                </a:solidFill>
                <a:latin typeface="Fira Code Bold" pitchFamily="34" charset="0"/>
                <a:ea typeface="Fira Code Bold" pitchFamily="34" charset="-122"/>
                <a:cs typeface="Fira Code Bold" pitchFamily="34" charset="-120"/>
              </a:rPr>
              <a:t>Spatial Safety (пространственная)</a:t>
            </a:r>
            <a:endParaRPr lang="en-US" sz="1000" dirty="0"/>
          </a:p>
        </p:txBody>
      </p:sp>
      <p:sp>
        <p:nvSpPr>
          <p:cNvPr id="20" name="Text 16"/>
          <p:cNvSpPr/>
          <p:nvPr/>
        </p:nvSpPr>
        <p:spPr>
          <a:xfrm>
            <a:off x="435769" y="4020145"/>
            <a:ext cx="5222081"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57606A"/>
                </a:solidFill>
                <a:latin typeface="Inter" pitchFamily="34" charset="0"/>
                <a:ea typeface="Inter" pitchFamily="34" charset="-122"/>
                <a:cs typeface="Inter" pitchFamily="34" charset="-120"/>
              </a:rPr>
              <a:t>Доступ за пределами объекта — buffer overflow, heap metadata corruption → ROP-атаки</a:t>
            </a:r>
            <a:endParaRPr lang="en-US" sz="850" dirty="0"/>
          </a:p>
        </p:txBody>
      </p:sp>
      <p:sp>
        <p:nvSpPr>
          <p:cNvPr id="21" name="Text 17"/>
          <p:cNvSpPr/>
          <p:nvPr/>
        </p:nvSpPr>
        <p:spPr>
          <a:xfrm>
            <a:off x="435769" y="4334470"/>
            <a:ext cx="5222081" cy="187523"/>
          </a:xfrm>
          <a:prstGeom prst="rect">
            <a:avLst/>
          </a:prstGeom>
          <a:noFill/>
          <a:ln/>
        </p:spPr>
        <p:txBody>
          <a:bodyPr wrap="square" lIns="0" tIns="0" rIns="0" bIns="0" rtlCol="0" anchor="t">
            <a:spAutoFit/>
          </a:bodyPr>
          <a:lstStyle/>
          <a:p>
            <a:pPr marL="0" indent="0" algn="l">
              <a:buNone/>
            </a:pPr>
            <a:r>
              <a:rPr lang="en-US" sz="1000" b="1" dirty="0">
                <a:solidFill>
                  <a:srgbClr val="24292F"/>
                </a:solidFill>
                <a:latin typeface="Fira Code Bold" pitchFamily="34" charset="0"/>
                <a:ea typeface="Fira Code Bold" pitchFamily="34" charset="-122"/>
                <a:cs typeface="Fira Code Bold" pitchFamily="34" charset="-120"/>
              </a:rPr>
              <a:t>Temporal Safety (временна́я)</a:t>
            </a:r>
            <a:endParaRPr lang="en-US" sz="1000" dirty="0"/>
          </a:p>
        </p:txBody>
      </p:sp>
      <p:sp>
        <p:nvSpPr>
          <p:cNvPr id="22" name="Text 18"/>
          <p:cNvSpPr/>
          <p:nvPr/>
        </p:nvSpPr>
        <p:spPr>
          <a:xfrm>
            <a:off x="435769" y="4579144"/>
            <a:ext cx="5222081" cy="342900"/>
          </a:xfrm>
          <a:prstGeom prst="rect">
            <a:avLst/>
          </a:prstGeom>
          <a:noFill/>
          <a:ln/>
        </p:spPr>
        <p:txBody>
          <a:bodyPr wrap="square" lIns="0" tIns="0" rIns="0" bIns="0" rtlCol="0" anchor="t">
            <a:spAutoFit/>
          </a:bodyPr>
          <a:lstStyle/>
          <a:p>
            <a:pPr marL="0" indent="0" algn="l">
              <a:lnSpc>
                <a:spcPct val="120000"/>
              </a:lnSpc>
              <a:buNone/>
            </a:pPr>
            <a:r>
              <a:rPr lang="en-US" sz="850" dirty="0">
                <a:solidFill>
                  <a:srgbClr val="57606A"/>
                </a:solidFill>
                <a:latin typeface="Inter" pitchFamily="34" charset="0"/>
                <a:ea typeface="Inter" pitchFamily="34" charset="-122"/>
                <a:cs typeface="Inter" pitchFamily="34" charset="-120"/>
              </a:rPr>
              <a:t>Использование после освобождения — use-after-free, use-after-return → type confusion, vtable hijacking</a:t>
            </a:r>
            <a:endParaRPr lang="en-US" sz="850" dirty="0"/>
          </a:p>
        </p:txBody>
      </p:sp>
      <p:sp>
        <p:nvSpPr>
          <p:cNvPr id="23" name="Shape 19"/>
          <p:cNvSpPr/>
          <p:nvPr/>
        </p:nvSpPr>
        <p:spPr>
          <a:xfrm>
            <a:off x="6093619" y="3561159"/>
            <a:ext cx="3043238" cy="1575197"/>
          </a:xfrm>
          <a:prstGeom prst="rect">
            <a:avLst/>
          </a:prstGeom>
          <a:solidFill>
            <a:srgbClr val="F6F8FA"/>
          </a:solidFill>
          <a:ln/>
        </p:spPr>
      </p:sp>
      <p:sp>
        <p:nvSpPr>
          <p:cNvPr id="24" name="Text 20"/>
          <p:cNvSpPr/>
          <p:nvPr/>
        </p:nvSpPr>
        <p:spPr>
          <a:xfrm>
            <a:off x="6379369" y="3834464"/>
            <a:ext cx="2471738" cy="916982"/>
          </a:xfrm>
          <a:prstGeom prst="rect">
            <a:avLst/>
          </a:prstGeom>
          <a:noFill/>
          <a:ln/>
        </p:spPr>
        <p:txBody>
          <a:bodyPr wrap="square" lIns="136017" tIns="0" rIns="0" bIns="0" rtlCol="0" anchor="t">
            <a:spAutoFit/>
          </a:bodyPr>
          <a:lstStyle/>
          <a:p>
            <a:pPr marL="0" indent="0" algn="l">
              <a:lnSpc>
                <a:spcPct val="128000"/>
              </a:lnSpc>
              <a:buNone/>
            </a:pPr>
            <a:r>
              <a:rPr lang="en-US" sz="950" dirty="0">
                <a:solidFill>
                  <a:srgbClr val="0969DA"/>
                </a:solidFill>
                <a:latin typeface="Georgia" panose="02040502050405020303" pitchFamily="18" charset="0"/>
                <a:ea typeface="Inter Medium" pitchFamily="34" charset="-122"/>
                <a:cs typeface="Inter Medium" pitchFamily="34" charset="-120"/>
              </a:rPr>
              <a:t>MTE — первый production-ready аппаратный инструмент, обнаруживающий оба класса ошибок с накладными расходами менее 2% в ASYNC-режиме.</a:t>
            </a:r>
            <a:endParaRPr lang="en-US" sz="950" dirty="0">
              <a:latin typeface="Georgia" panose="02040502050405020303"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50644"/>
          </a:xfrm>
          <a:prstGeom prst="rect">
            <a:avLst/>
          </a:prstGeom>
        </p:spPr>
      </p:pic>
      <p:sp>
        <p:nvSpPr>
          <p:cNvPr id="4" name="Shape 0"/>
          <p:cNvSpPr/>
          <p:nvPr/>
        </p:nvSpPr>
        <p:spPr>
          <a:xfrm>
            <a:off x="7144" y="7144"/>
            <a:ext cx="9129713" cy="735806"/>
          </a:xfrm>
          <a:prstGeom prst="rect">
            <a:avLst/>
          </a:prstGeom>
          <a:solidFill>
            <a:srgbClr val="FFFFFF"/>
          </a:solidFill>
          <a:ln/>
        </p:spPr>
      </p:sp>
      <p:sp>
        <p:nvSpPr>
          <p:cNvPr id="5" name="Shape 1"/>
          <p:cNvSpPr/>
          <p:nvPr/>
        </p:nvSpPr>
        <p:spPr>
          <a:xfrm>
            <a:off x="7144" y="735806"/>
            <a:ext cx="9129713" cy="7144"/>
          </a:xfrm>
          <a:prstGeom prst="rect">
            <a:avLst/>
          </a:prstGeom>
          <a:solidFill>
            <a:srgbClr val="D0D7DE"/>
          </a:solidFill>
          <a:ln/>
        </p:spPr>
      </p:sp>
      <p:sp>
        <p:nvSpPr>
          <p:cNvPr id="6" name="Text 2"/>
          <p:cNvSpPr/>
          <p:nvPr/>
        </p:nvSpPr>
        <p:spPr>
          <a:xfrm>
            <a:off x="435769" y="292894"/>
            <a:ext cx="8272463" cy="300038"/>
          </a:xfrm>
          <a:prstGeom prst="rect">
            <a:avLst/>
          </a:prstGeom>
          <a:noFill/>
          <a:ln/>
        </p:spPr>
        <p:txBody>
          <a:bodyPr wrap="square" lIns="0" tIns="0" rIns="0" bIns="0" rtlCol="0" anchor="t">
            <a:spAutoFit/>
          </a:bodyPr>
          <a:lstStyle/>
          <a:p>
            <a:pPr marL="0" indent="0" algn="l">
              <a:buNone/>
            </a:pPr>
            <a:r>
              <a:rPr lang="en-US" sz="1600" b="1" dirty="0">
                <a:solidFill>
                  <a:srgbClr val="0969DA"/>
                </a:solidFill>
                <a:latin typeface="Fira Code Bold" pitchFamily="34" charset="0"/>
                <a:ea typeface="Fira Code Bold" pitchFamily="34" charset="-122"/>
                <a:cs typeface="Fira Code Bold" pitchFamily="34" charset="-120"/>
              </a:rPr>
              <a:t>Lock &amp; Key: 4-битный тег на каждые 16 байт без изменения ABI</a:t>
            </a:r>
            <a:endParaRPr lang="en-US" sz="1600" dirty="0"/>
          </a:p>
        </p:txBody>
      </p:sp>
      <p:sp>
        <p:nvSpPr>
          <p:cNvPr id="7" name="Shape 3"/>
          <p:cNvSpPr/>
          <p:nvPr/>
        </p:nvSpPr>
        <p:spPr>
          <a:xfrm>
            <a:off x="7144" y="735806"/>
            <a:ext cx="4564856" cy="4400550"/>
          </a:xfrm>
          <a:prstGeom prst="rect">
            <a:avLst/>
          </a:prstGeom>
          <a:solidFill>
            <a:srgbClr val="24292F"/>
          </a:solidFill>
          <a:ln/>
        </p:spPr>
      </p:sp>
      <p:sp>
        <p:nvSpPr>
          <p:cNvPr id="8" name="Shape 4"/>
          <p:cNvSpPr/>
          <p:nvPr/>
        </p:nvSpPr>
        <p:spPr>
          <a:xfrm>
            <a:off x="4564856" y="735806"/>
            <a:ext cx="7144" cy="4400550"/>
          </a:xfrm>
          <a:prstGeom prst="rect">
            <a:avLst/>
          </a:prstGeom>
          <a:solidFill>
            <a:srgbClr val="D0D7DE"/>
          </a:solidFill>
          <a:ln/>
        </p:spPr>
      </p:sp>
      <p:sp>
        <p:nvSpPr>
          <p:cNvPr id="9" name="Shape 5"/>
          <p:cNvSpPr/>
          <p:nvPr/>
        </p:nvSpPr>
        <p:spPr>
          <a:xfrm>
            <a:off x="435769" y="1021556"/>
            <a:ext cx="3707606" cy="1357229"/>
          </a:xfrm>
          <a:prstGeom prst="rect">
            <a:avLst/>
          </a:prstGeom>
          <a:solidFill>
            <a:srgbClr val="1F2428"/>
          </a:solidFill>
          <a:ln w="9144">
            <a:solidFill>
              <a:srgbClr val="444C56"/>
            </a:solidFill>
            <a:prstDash val="solid"/>
          </a:ln>
        </p:spPr>
      </p:sp>
      <p:sp>
        <p:nvSpPr>
          <p:cNvPr id="10" name="Text 6"/>
          <p:cNvSpPr/>
          <p:nvPr/>
        </p:nvSpPr>
        <p:spPr>
          <a:xfrm>
            <a:off x="578644" y="1164431"/>
            <a:ext cx="3421856" cy="182863"/>
          </a:xfrm>
          <a:prstGeom prst="rect">
            <a:avLst/>
          </a:prstGeom>
          <a:noFill/>
          <a:ln/>
        </p:spPr>
        <p:txBody>
          <a:bodyPr wrap="none" lIns="0" tIns="0" rIns="0" bIns="0" rtlCol="0" anchor="t">
            <a:spAutoFit/>
          </a:bodyPr>
          <a:lstStyle/>
          <a:p>
            <a:pPr marL="0" indent="0" algn="l">
              <a:lnSpc>
                <a:spcPct val="128000"/>
              </a:lnSpc>
              <a:buNone/>
            </a:pPr>
            <a:r>
              <a:rPr lang="en-US" sz="850" dirty="0">
                <a:solidFill>
                  <a:srgbClr val="C9D1D9"/>
                </a:solidFill>
                <a:latin typeface="Fira Code" pitchFamily="34" charset="0"/>
                <a:ea typeface="Fira Code" pitchFamily="34" charset="-122"/>
                <a:cs typeface="Fira Code" pitchFamily="34" charset="-120"/>
              </a:rPr>
              <a:t>Pointer (64-bit):</a:t>
            </a:r>
            <a:endParaRPr lang="en-US" sz="850" dirty="0"/>
          </a:p>
        </p:txBody>
      </p:sp>
      <p:sp>
        <p:nvSpPr>
          <p:cNvPr id="11" name="Text 7"/>
          <p:cNvSpPr/>
          <p:nvPr/>
        </p:nvSpPr>
        <p:spPr>
          <a:xfrm>
            <a:off x="578644" y="1347295"/>
            <a:ext cx="3421856" cy="182863"/>
          </a:xfrm>
          <a:prstGeom prst="rect">
            <a:avLst/>
          </a:prstGeom>
          <a:noFill/>
          <a:ln/>
        </p:spPr>
        <p:txBody>
          <a:bodyPr wrap="none" lIns="0" tIns="0" rIns="0" bIns="0" rtlCol="0" anchor="t">
            <a:spAutoFit/>
          </a:bodyPr>
          <a:lstStyle/>
          <a:p>
            <a:pPr marL="0" indent="0" algn="l">
              <a:lnSpc>
                <a:spcPct val="128000"/>
              </a:lnSpc>
              <a:buNone/>
            </a:pPr>
            <a:r>
              <a:rPr lang="en-US" sz="850" dirty="0">
                <a:solidFill>
                  <a:srgbClr val="C9D1D9"/>
                </a:solidFill>
                <a:latin typeface="Fira Code" pitchFamily="34" charset="0"/>
                <a:ea typeface="Fira Code" pitchFamily="34" charset="-122"/>
                <a:cs typeface="Fira Code" pitchFamily="34" charset="-120"/>
              </a:rPr>
              <a:t>[ </a:t>
            </a:r>
            <a:r>
              <a:rPr lang="en-US" sz="800" b="1" dirty="0">
                <a:solidFill>
                  <a:srgbClr val="BF3989"/>
                </a:solidFill>
                <a:latin typeface="Fira Code Bold" pitchFamily="34" charset="0"/>
                <a:ea typeface="Fira Code Bold" pitchFamily="34" charset="-122"/>
                <a:cs typeface="Fira Code Bold" pitchFamily="34" charset="-120"/>
              </a:rPr>
              <a:t>TAG: 4 bit</a:t>
            </a:r>
            <a:r>
              <a:rPr lang="en-US" sz="850" dirty="0">
                <a:solidFill>
                  <a:srgbClr val="C9D1D9"/>
                </a:solidFill>
                <a:latin typeface="Fira Code" pitchFamily="34" charset="0"/>
                <a:ea typeface="Fira Code" pitchFamily="34" charset="-122"/>
                <a:cs typeface="Fira Code" pitchFamily="34" charset="-120"/>
              </a:rPr>
              <a:t> | Address: 56 bit ]</a:t>
            </a:r>
            <a:endParaRPr lang="en-US" sz="850" dirty="0"/>
          </a:p>
        </p:txBody>
      </p:sp>
      <p:sp>
        <p:nvSpPr>
          <p:cNvPr id="12" name="Text 8"/>
          <p:cNvSpPr/>
          <p:nvPr/>
        </p:nvSpPr>
        <p:spPr>
          <a:xfrm>
            <a:off x="578644" y="1601595"/>
            <a:ext cx="3421856" cy="182863"/>
          </a:xfrm>
          <a:prstGeom prst="rect">
            <a:avLst/>
          </a:prstGeom>
          <a:noFill/>
          <a:ln/>
        </p:spPr>
        <p:txBody>
          <a:bodyPr wrap="none" lIns="0" tIns="0" rIns="0" bIns="0" rtlCol="0" anchor="t">
            <a:spAutoFit/>
          </a:bodyPr>
          <a:lstStyle/>
          <a:p>
            <a:pPr marL="0" indent="0" algn="l">
              <a:lnSpc>
                <a:spcPct val="128000"/>
              </a:lnSpc>
              <a:buNone/>
            </a:pPr>
            <a:r>
              <a:rPr lang="en-US" sz="850" dirty="0">
                <a:solidFill>
                  <a:srgbClr val="8B949E"/>
                </a:solidFill>
                <a:latin typeface="Fira Code" pitchFamily="34" charset="0"/>
                <a:ea typeface="Fira Code" pitchFamily="34" charset="-122"/>
                <a:cs typeface="Fira Code" pitchFamily="34" charset="-120"/>
              </a:rPr>
              <a:t>↓ сравнивается при load/store</a:t>
            </a:r>
            <a:endParaRPr lang="en-US" sz="850" dirty="0"/>
          </a:p>
        </p:txBody>
      </p:sp>
      <p:sp>
        <p:nvSpPr>
          <p:cNvPr id="13" name="Text 9"/>
          <p:cNvSpPr/>
          <p:nvPr/>
        </p:nvSpPr>
        <p:spPr>
          <a:xfrm>
            <a:off x="578644" y="1855896"/>
            <a:ext cx="3421856" cy="182863"/>
          </a:xfrm>
          <a:prstGeom prst="rect">
            <a:avLst/>
          </a:prstGeom>
          <a:noFill/>
          <a:ln/>
        </p:spPr>
        <p:txBody>
          <a:bodyPr wrap="none" lIns="0" tIns="0" rIns="0" bIns="0" rtlCol="0" anchor="t">
            <a:spAutoFit/>
          </a:bodyPr>
          <a:lstStyle/>
          <a:p>
            <a:pPr marL="0" indent="0" algn="l">
              <a:lnSpc>
                <a:spcPct val="128000"/>
              </a:lnSpc>
              <a:buNone/>
            </a:pPr>
            <a:r>
              <a:rPr lang="en-US" sz="850" dirty="0">
                <a:solidFill>
                  <a:srgbClr val="C9D1D9"/>
                </a:solidFill>
                <a:latin typeface="Fira Code" pitchFamily="34" charset="0"/>
                <a:ea typeface="Fira Code" pitchFamily="34" charset="-122"/>
                <a:cs typeface="Fira Code" pitchFamily="34" charset="-120"/>
              </a:rPr>
              <a:t>Memory (Normal Tagged):</a:t>
            </a:r>
            <a:endParaRPr lang="en-US" sz="850" dirty="0"/>
          </a:p>
        </p:txBody>
      </p:sp>
      <p:sp>
        <p:nvSpPr>
          <p:cNvPr id="14" name="Text 10"/>
          <p:cNvSpPr/>
          <p:nvPr/>
        </p:nvSpPr>
        <p:spPr>
          <a:xfrm>
            <a:off x="578644" y="2038759"/>
            <a:ext cx="3421856" cy="182863"/>
          </a:xfrm>
          <a:prstGeom prst="rect">
            <a:avLst/>
          </a:prstGeom>
          <a:noFill/>
          <a:ln/>
        </p:spPr>
        <p:txBody>
          <a:bodyPr wrap="none" lIns="0" tIns="0" rIns="0" bIns="0" rtlCol="0" anchor="t">
            <a:spAutoFit/>
          </a:bodyPr>
          <a:lstStyle/>
          <a:p>
            <a:pPr marL="0" indent="0" algn="l">
              <a:lnSpc>
                <a:spcPct val="128000"/>
              </a:lnSpc>
              <a:buNone/>
            </a:pPr>
            <a:r>
              <a:rPr lang="en-US" sz="850" dirty="0">
                <a:solidFill>
                  <a:srgbClr val="C9D1D9"/>
                </a:solidFill>
                <a:latin typeface="Fira Code" pitchFamily="34" charset="0"/>
                <a:ea typeface="Fira Code" pitchFamily="34" charset="-122"/>
                <a:cs typeface="Fira Code" pitchFamily="34" charset="-120"/>
              </a:rPr>
              <a:t>[ </a:t>
            </a:r>
            <a:r>
              <a:rPr lang="en-US" sz="800" b="1" dirty="0">
                <a:solidFill>
                  <a:srgbClr val="2DA44E"/>
                </a:solidFill>
                <a:latin typeface="Fira Code Bold" pitchFamily="34" charset="0"/>
                <a:ea typeface="Fira Code Bold" pitchFamily="34" charset="-122"/>
                <a:cs typeface="Fira Code Bold" pitchFamily="34" charset="-120"/>
              </a:rPr>
              <a:t>ALLOC TAG: 4 bit</a:t>
            </a:r>
            <a:r>
              <a:rPr lang="en-US" sz="850" dirty="0">
                <a:solidFill>
                  <a:srgbClr val="C9D1D9"/>
                </a:solidFill>
                <a:latin typeface="Fira Code" pitchFamily="34" charset="0"/>
                <a:ea typeface="Fira Code" pitchFamily="34" charset="-122"/>
                <a:cs typeface="Fira Code" pitchFamily="34" charset="-120"/>
              </a:rPr>
              <a:t> | 16 bytes data ]</a:t>
            </a:r>
            <a:endParaRPr lang="en-US" sz="850" dirty="0"/>
          </a:p>
        </p:txBody>
      </p:sp>
      <p:sp>
        <p:nvSpPr>
          <p:cNvPr id="15" name="Text 11"/>
          <p:cNvSpPr/>
          <p:nvPr/>
        </p:nvSpPr>
        <p:spPr>
          <a:xfrm>
            <a:off x="435769" y="2578810"/>
            <a:ext cx="87930" cy="187523"/>
          </a:xfrm>
          <a:prstGeom prst="rect">
            <a:avLst/>
          </a:prstGeom>
          <a:noFill/>
          <a:ln/>
        </p:spPr>
        <p:txBody>
          <a:bodyPr wrap="none" lIns="0" tIns="0" rIns="0" bIns="0" rtlCol="0" anchor="t">
            <a:spAutoFit/>
          </a:bodyPr>
          <a:lstStyle/>
          <a:p>
            <a:pPr marL="0" indent="0" algn="l">
              <a:buNone/>
            </a:pPr>
            <a:r>
              <a:rPr lang="en-US" sz="1000" b="1" dirty="0">
                <a:solidFill>
                  <a:srgbClr val="2DA44E"/>
                </a:solidFill>
                <a:latin typeface="Fira Code Bold" pitchFamily="34" charset="0"/>
                <a:ea typeface="Fira Code Bold" pitchFamily="34" charset="-122"/>
                <a:cs typeface="Fira Code Bold" pitchFamily="34" charset="-120"/>
              </a:rPr>
              <a:t>✓</a:t>
            </a:r>
            <a:endParaRPr lang="en-US" sz="1000" dirty="0"/>
          </a:p>
        </p:txBody>
      </p:sp>
      <p:sp>
        <p:nvSpPr>
          <p:cNvPr id="16" name="Text 12"/>
          <p:cNvSpPr/>
          <p:nvPr/>
        </p:nvSpPr>
        <p:spPr>
          <a:xfrm>
            <a:off x="609423" y="2578810"/>
            <a:ext cx="3018234" cy="130805"/>
          </a:xfrm>
          <a:prstGeom prst="rect">
            <a:avLst/>
          </a:prstGeom>
          <a:noFill/>
          <a:ln/>
        </p:spPr>
        <p:txBody>
          <a:bodyPr wrap="square" lIns="0" tIns="0" rIns="0" bIns="0" rtlCol="0" anchor="t">
            <a:spAutoFit/>
          </a:bodyPr>
          <a:lstStyle/>
          <a:p>
            <a:pPr marL="0" indent="0" algn="l">
              <a:buNone/>
            </a:pPr>
            <a:r>
              <a:rPr lang="en-US" sz="850" dirty="0">
                <a:solidFill>
                  <a:srgbClr val="F6F8FA"/>
                </a:solidFill>
                <a:latin typeface="Georgia" panose="02040502050405020303" pitchFamily="18" charset="0"/>
                <a:ea typeface="Inter" pitchFamily="34" charset="-122"/>
                <a:cs typeface="Inter" pitchFamily="34" charset="-120"/>
              </a:rPr>
              <a:t>Теги совпали → доступ разрешён, нулевые задержки</a:t>
            </a:r>
            <a:endParaRPr lang="en-US" sz="850" dirty="0">
              <a:latin typeface="Georgia" panose="02040502050405020303" pitchFamily="18" charset="0"/>
            </a:endParaRPr>
          </a:p>
        </p:txBody>
      </p:sp>
      <p:sp>
        <p:nvSpPr>
          <p:cNvPr id="17" name="Text 13"/>
          <p:cNvSpPr/>
          <p:nvPr/>
        </p:nvSpPr>
        <p:spPr>
          <a:xfrm>
            <a:off x="435769" y="2852058"/>
            <a:ext cx="119658" cy="187523"/>
          </a:xfrm>
          <a:prstGeom prst="rect">
            <a:avLst/>
          </a:prstGeom>
          <a:noFill/>
          <a:ln/>
        </p:spPr>
        <p:txBody>
          <a:bodyPr wrap="none" lIns="0" tIns="0" rIns="0" bIns="0" rtlCol="0" anchor="t">
            <a:spAutoFit/>
          </a:bodyPr>
          <a:lstStyle/>
          <a:p>
            <a:pPr marL="0" indent="0" algn="l">
              <a:buNone/>
            </a:pPr>
            <a:r>
              <a:rPr lang="en-US" sz="1000" b="1" dirty="0">
                <a:solidFill>
                  <a:srgbClr val="BF3989"/>
                </a:solidFill>
                <a:latin typeface="Fira Code Bold" pitchFamily="34" charset="0"/>
                <a:ea typeface="Fira Code Bold" pitchFamily="34" charset="-122"/>
                <a:cs typeface="Fira Code Bold" pitchFamily="34" charset="-120"/>
              </a:rPr>
              <a:t>✗</a:t>
            </a:r>
            <a:endParaRPr lang="en-US" sz="1000" dirty="0"/>
          </a:p>
        </p:txBody>
      </p:sp>
      <p:sp>
        <p:nvSpPr>
          <p:cNvPr id="18" name="Text 14"/>
          <p:cNvSpPr/>
          <p:nvPr/>
        </p:nvSpPr>
        <p:spPr>
          <a:xfrm>
            <a:off x="641152" y="2852058"/>
            <a:ext cx="3502223" cy="130805"/>
          </a:xfrm>
          <a:prstGeom prst="rect">
            <a:avLst/>
          </a:prstGeom>
          <a:noFill/>
          <a:ln/>
        </p:spPr>
        <p:txBody>
          <a:bodyPr wrap="square" lIns="0" tIns="0" rIns="0" bIns="0" rtlCol="0" anchor="t">
            <a:spAutoFit/>
          </a:bodyPr>
          <a:lstStyle/>
          <a:p>
            <a:r>
              <a:rPr lang="en-US" sz="850" dirty="0">
                <a:solidFill>
                  <a:srgbClr val="F6F8FA"/>
                </a:solidFill>
                <a:latin typeface="Georgia" panose="02040502050405020303" pitchFamily="18" charset="0"/>
                <a:ea typeface="Inter" pitchFamily="34" charset="-122"/>
              </a:rPr>
              <a:t>Теги не совпали → SIGSEGV (SYNC) или флаг в TFSR_ELx (ASYNC)</a:t>
            </a:r>
          </a:p>
        </p:txBody>
      </p:sp>
      <p:sp>
        <p:nvSpPr>
          <p:cNvPr id="19" name="Shape 15"/>
          <p:cNvSpPr/>
          <p:nvPr/>
        </p:nvSpPr>
        <p:spPr>
          <a:xfrm>
            <a:off x="435769" y="3341405"/>
            <a:ext cx="3707606" cy="750094"/>
          </a:xfrm>
          <a:prstGeom prst="rect">
            <a:avLst/>
          </a:prstGeom>
          <a:solidFill>
            <a:srgbClr val="1F2428"/>
          </a:solidFill>
          <a:ln w="9144">
            <a:solidFill>
              <a:srgbClr val="444C56"/>
            </a:solidFill>
            <a:prstDash val="solid"/>
          </a:ln>
        </p:spPr>
      </p:sp>
      <p:sp>
        <p:nvSpPr>
          <p:cNvPr id="20" name="Text 16"/>
          <p:cNvSpPr/>
          <p:nvPr/>
        </p:nvSpPr>
        <p:spPr>
          <a:xfrm>
            <a:off x="578644" y="3484280"/>
            <a:ext cx="3421856" cy="150019"/>
          </a:xfrm>
          <a:prstGeom prst="rect">
            <a:avLst/>
          </a:prstGeom>
          <a:noFill/>
          <a:ln/>
        </p:spPr>
        <p:txBody>
          <a:bodyPr wrap="square" lIns="0" tIns="0" rIns="0" bIns="0" rtlCol="0" anchor="t">
            <a:spAutoFit/>
          </a:bodyPr>
          <a:lstStyle/>
          <a:p>
            <a:pPr marL="0" indent="0" algn="l">
              <a:buNone/>
            </a:pPr>
            <a:r>
              <a:rPr lang="en-US" sz="850" dirty="0">
                <a:solidFill>
                  <a:srgbClr val="8B949E"/>
                </a:solidFill>
                <a:latin typeface="Fira Code" pitchFamily="34" charset="0"/>
                <a:ea typeface="Fira Code" pitchFamily="34" charset="-122"/>
                <a:cs typeface="Fira Code" pitchFamily="34" charset="-120"/>
              </a:rPr>
              <a:t>// Top Byte Ignore (TBI)</a:t>
            </a:r>
            <a:endParaRPr lang="en-US" sz="850" dirty="0"/>
          </a:p>
        </p:txBody>
      </p:sp>
      <p:sp>
        <p:nvSpPr>
          <p:cNvPr id="21" name="Text 17"/>
          <p:cNvSpPr/>
          <p:nvPr/>
        </p:nvSpPr>
        <p:spPr>
          <a:xfrm>
            <a:off x="578644" y="3634299"/>
            <a:ext cx="3421856" cy="150019"/>
          </a:xfrm>
          <a:prstGeom prst="rect">
            <a:avLst/>
          </a:prstGeom>
          <a:noFill/>
          <a:ln/>
        </p:spPr>
        <p:txBody>
          <a:bodyPr wrap="square" lIns="0" tIns="0" rIns="0" bIns="0" rtlCol="0" anchor="t">
            <a:spAutoFit/>
          </a:bodyPr>
          <a:lstStyle/>
          <a:p>
            <a:pPr marL="0" indent="0" algn="l">
              <a:buNone/>
            </a:pPr>
            <a:r>
              <a:rPr lang="en-US" sz="850" dirty="0">
                <a:solidFill>
                  <a:srgbClr val="C9D1D9"/>
                </a:solidFill>
                <a:latin typeface="Fira Code" pitchFamily="34" charset="0"/>
                <a:ea typeface="Fira Code" pitchFamily="34" charset="-122"/>
                <a:cs typeface="Fira Code" pitchFamily="34" charset="-120"/>
              </a:rPr>
              <a:t>ptr = </a:t>
            </a:r>
            <a:r>
              <a:rPr lang="en-US" sz="800" b="1" dirty="0">
                <a:solidFill>
                  <a:srgbClr val="BF3989"/>
                </a:solidFill>
                <a:latin typeface="Fira Code Bold" pitchFamily="34" charset="0"/>
                <a:ea typeface="Fira Code Bold" pitchFamily="34" charset="-122"/>
                <a:cs typeface="Fira Code Bold" pitchFamily="34" charset="-120"/>
              </a:rPr>
              <a:t>0xA</a:t>
            </a:r>
            <a:r>
              <a:rPr lang="en-US" sz="850" dirty="0">
                <a:solidFill>
                  <a:srgbClr val="C9D1D9"/>
                </a:solidFill>
                <a:latin typeface="Fira Code" pitchFamily="34" charset="0"/>
                <a:ea typeface="Fira Code" pitchFamily="34" charset="-122"/>
                <a:cs typeface="Fira Code" pitchFamily="34" charset="-120"/>
              </a:rPr>
              <a:t>700007FFF0040</a:t>
            </a:r>
            <a:endParaRPr lang="en-US" sz="850" dirty="0"/>
          </a:p>
        </p:txBody>
      </p:sp>
      <p:sp>
        <p:nvSpPr>
          <p:cNvPr id="22" name="Text 18"/>
          <p:cNvSpPr/>
          <p:nvPr/>
        </p:nvSpPr>
        <p:spPr>
          <a:xfrm>
            <a:off x="578644" y="3784318"/>
            <a:ext cx="3421856" cy="150019"/>
          </a:xfrm>
          <a:prstGeom prst="rect">
            <a:avLst/>
          </a:prstGeom>
          <a:noFill/>
          <a:ln/>
        </p:spPr>
        <p:txBody>
          <a:bodyPr wrap="square" lIns="0" tIns="0" rIns="0" bIns="0" rtlCol="0" anchor="t">
            <a:spAutoFit/>
          </a:bodyPr>
          <a:lstStyle/>
          <a:p>
            <a:pPr marL="0" indent="0" algn="l">
              <a:buNone/>
            </a:pPr>
            <a:r>
              <a:rPr lang="en-US" sz="850" dirty="0">
                <a:solidFill>
                  <a:srgbClr val="8B949E"/>
                </a:solidFill>
                <a:latin typeface="Fira Code" pitchFamily="34" charset="0"/>
                <a:ea typeface="Fira Code" pitchFamily="34" charset="-122"/>
                <a:cs typeface="Fira Code" pitchFamily="34" charset="-120"/>
              </a:rPr>
              <a:t>// ↑ tag ↑ 56-bit address</a:t>
            </a:r>
            <a:endParaRPr lang="en-US" sz="850" dirty="0"/>
          </a:p>
        </p:txBody>
      </p:sp>
      <p:sp>
        <p:nvSpPr>
          <p:cNvPr id="23" name="Shape 19"/>
          <p:cNvSpPr/>
          <p:nvPr/>
        </p:nvSpPr>
        <p:spPr>
          <a:xfrm>
            <a:off x="4572000" y="735806"/>
            <a:ext cx="4564856" cy="4400550"/>
          </a:xfrm>
          <a:prstGeom prst="rect">
            <a:avLst/>
          </a:prstGeom>
          <a:solidFill>
            <a:srgbClr val="FFFFFF"/>
          </a:solidFill>
          <a:ln/>
        </p:spPr>
      </p:sp>
      <p:sp>
        <p:nvSpPr>
          <p:cNvPr id="24" name="Text 20"/>
          <p:cNvSpPr/>
          <p:nvPr/>
        </p:nvSpPr>
        <p:spPr>
          <a:xfrm>
            <a:off x="5000625" y="1021556"/>
            <a:ext cx="3707606" cy="187523"/>
          </a:xfrm>
          <a:prstGeom prst="rect">
            <a:avLst/>
          </a:prstGeom>
          <a:noFill/>
          <a:ln/>
        </p:spPr>
        <p:txBody>
          <a:bodyPr wrap="square" lIns="0" tIns="0" rIns="0" bIns="0" rtlCol="0" anchor="t">
            <a:spAutoFit/>
          </a:bodyPr>
          <a:lstStyle/>
          <a:p>
            <a:pPr marL="0" indent="0" algn="l">
              <a:buNone/>
            </a:pPr>
            <a:r>
              <a:rPr lang="en-US" sz="1000" b="1" dirty="0">
                <a:solidFill>
                  <a:srgbClr val="0969DA"/>
                </a:solidFill>
                <a:latin typeface="Fira Code Bold" pitchFamily="34" charset="0"/>
                <a:ea typeface="Fira Code Bold" pitchFamily="34" charset="-122"/>
                <a:cs typeface="Fira Code Bold" pitchFamily="34" charset="-120"/>
              </a:rPr>
              <a:t>1. Tag Granule = 16 байт</a:t>
            </a:r>
            <a:endParaRPr lang="en-US" sz="1000" dirty="0"/>
          </a:p>
        </p:txBody>
      </p:sp>
      <p:sp>
        <p:nvSpPr>
          <p:cNvPr id="25" name="Text 21"/>
          <p:cNvSpPr/>
          <p:nvPr/>
        </p:nvSpPr>
        <p:spPr>
          <a:xfrm>
            <a:off x="5000625" y="1266230"/>
            <a:ext cx="3707606" cy="537904"/>
          </a:xfrm>
          <a:prstGeom prst="rect">
            <a:avLst/>
          </a:prstGeom>
          <a:noFill/>
          <a:ln/>
        </p:spPr>
        <p:txBody>
          <a:bodyPr wrap="square" lIns="0" tIns="0" rIns="0" bIns="0" rtlCol="0" anchor="t">
            <a:spAutoFit/>
          </a:bodyPr>
          <a:lstStyle/>
          <a:p>
            <a:pPr>
              <a:lnSpc>
                <a:spcPct val="120000"/>
              </a:lnSpc>
            </a:pPr>
            <a:r>
              <a:rPr lang="en-US" sz="1000" dirty="0">
                <a:solidFill>
                  <a:srgbClr val="57606A"/>
                </a:solidFill>
                <a:latin typeface="Times New Roman" panose="02020603050405020304" pitchFamily="18" charset="0"/>
                <a:ea typeface="Inter" pitchFamily="34" charset="-122"/>
                <a:cs typeface="Times New Roman" panose="02020603050405020304" pitchFamily="18" charset="0"/>
              </a:rPr>
              <a:t>Каждые 16 байт физической памяти получают один 4-битный тег; выравнивание объектов гарантирует детерминированное обнаружение соседних </a:t>
            </a:r>
            <a:r>
              <a:rPr lang="en-US" sz="1000" dirty="0" err="1">
                <a:solidFill>
                  <a:srgbClr val="57606A"/>
                </a:solidFill>
                <a:latin typeface="Times New Roman" panose="02020603050405020304" pitchFamily="18" charset="0"/>
                <a:ea typeface="Inter" pitchFamily="34" charset="-122"/>
                <a:cs typeface="Times New Roman" panose="02020603050405020304" pitchFamily="18" charset="0"/>
              </a:rPr>
              <a:t>переполнений</a:t>
            </a:r>
            <a:r>
              <a:rPr lang="en-US" sz="1000" dirty="0">
                <a:solidFill>
                  <a:srgbClr val="57606A"/>
                </a:solidFill>
                <a:latin typeface="Times New Roman" panose="02020603050405020304" pitchFamily="18" charset="0"/>
                <a:ea typeface="Inter" pitchFamily="34" charset="-122"/>
                <a:cs typeface="Times New Roman" panose="02020603050405020304" pitchFamily="18" charset="0"/>
              </a:rPr>
              <a:t>.</a:t>
            </a:r>
          </a:p>
        </p:txBody>
      </p:sp>
      <p:sp>
        <p:nvSpPr>
          <p:cNvPr id="26" name="Text 22"/>
          <p:cNvSpPr/>
          <p:nvPr/>
        </p:nvSpPr>
        <p:spPr>
          <a:xfrm>
            <a:off x="5000625" y="2102048"/>
            <a:ext cx="3707606" cy="187523"/>
          </a:xfrm>
          <a:prstGeom prst="rect">
            <a:avLst/>
          </a:prstGeom>
          <a:noFill/>
          <a:ln/>
        </p:spPr>
        <p:txBody>
          <a:bodyPr wrap="square" lIns="0" tIns="0" rIns="0" bIns="0" rtlCol="0" anchor="t">
            <a:spAutoFit/>
          </a:bodyPr>
          <a:lstStyle/>
          <a:p>
            <a:pPr marL="0" indent="0" algn="l">
              <a:buNone/>
            </a:pPr>
            <a:r>
              <a:rPr lang="en-US" sz="1000" b="1" dirty="0">
                <a:solidFill>
                  <a:srgbClr val="0969DA"/>
                </a:solidFill>
                <a:latin typeface="Fira Code Bold" pitchFamily="34" charset="0"/>
                <a:ea typeface="Fira Code Bold" pitchFamily="34" charset="-122"/>
                <a:cs typeface="Fira Code Bold" pitchFamily="34" charset="-120"/>
              </a:rPr>
              <a:t>2. 4-битный тег = 16 значений</a:t>
            </a:r>
            <a:endParaRPr lang="en-US" sz="1000" dirty="0"/>
          </a:p>
        </p:txBody>
      </p:sp>
      <p:sp>
        <p:nvSpPr>
          <p:cNvPr id="27" name="Text 23"/>
          <p:cNvSpPr/>
          <p:nvPr/>
        </p:nvSpPr>
        <p:spPr>
          <a:xfrm>
            <a:off x="5000625" y="2346722"/>
            <a:ext cx="3707606" cy="353238"/>
          </a:xfrm>
          <a:prstGeom prst="rect">
            <a:avLst/>
          </a:prstGeom>
          <a:noFill/>
          <a:ln/>
        </p:spPr>
        <p:txBody>
          <a:bodyPr wrap="square" lIns="0" tIns="0" rIns="0" bIns="0" rtlCol="0" anchor="t">
            <a:spAutoFit/>
          </a:bodyPr>
          <a:lstStyle/>
          <a:p>
            <a:pPr marL="0" indent="0" algn="l">
              <a:lnSpc>
                <a:spcPct val="120000"/>
              </a:lnSpc>
              <a:buNone/>
            </a:pPr>
            <a:r>
              <a:rPr lang="en-US" sz="1000" dirty="0">
                <a:solidFill>
                  <a:srgbClr val="57606A"/>
                </a:solidFill>
                <a:latin typeface="Times New Roman" panose="02020603050405020304" pitchFamily="18" charset="0"/>
                <a:ea typeface="Inter" pitchFamily="34" charset="-122"/>
                <a:cs typeface="Times New Roman" panose="02020603050405020304" pitchFamily="18" charset="0"/>
              </a:rPr>
              <a:t>Logical tag в старшем байте указателя через TBI без расширения ABI; вероятность ложного совпадения: 1/16 ≈ 6.25%.</a:t>
            </a:r>
            <a:endParaRPr lang="en-US" sz="1000" dirty="0">
              <a:latin typeface="Times New Roman" panose="02020603050405020304" pitchFamily="18" charset="0"/>
              <a:cs typeface="Times New Roman" panose="02020603050405020304" pitchFamily="18" charset="0"/>
            </a:endParaRPr>
          </a:p>
        </p:txBody>
      </p:sp>
      <p:sp>
        <p:nvSpPr>
          <p:cNvPr id="28" name="Text 24"/>
          <p:cNvSpPr/>
          <p:nvPr/>
        </p:nvSpPr>
        <p:spPr>
          <a:xfrm>
            <a:off x="5000625" y="3011091"/>
            <a:ext cx="3707606" cy="187523"/>
          </a:xfrm>
          <a:prstGeom prst="rect">
            <a:avLst/>
          </a:prstGeom>
          <a:noFill/>
          <a:ln/>
        </p:spPr>
        <p:txBody>
          <a:bodyPr wrap="square" lIns="0" tIns="0" rIns="0" bIns="0" rtlCol="0" anchor="t">
            <a:spAutoFit/>
          </a:bodyPr>
          <a:lstStyle/>
          <a:p>
            <a:pPr marL="0" indent="0" algn="l">
              <a:buNone/>
            </a:pPr>
            <a:r>
              <a:rPr lang="en-US" sz="1000" b="1" dirty="0">
                <a:solidFill>
                  <a:srgbClr val="0969DA"/>
                </a:solidFill>
                <a:latin typeface="Fira Code Bold" pitchFamily="34" charset="0"/>
                <a:ea typeface="Fira Code Bold" pitchFamily="34" charset="-122"/>
                <a:cs typeface="Fira Code Bold" pitchFamily="34" charset="-120"/>
              </a:rPr>
              <a:t>3. IRG — аппаратная генерация</a:t>
            </a:r>
            <a:endParaRPr lang="en-US" sz="1000" dirty="0"/>
          </a:p>
        </p:txBody>
      </p:sp>
      <p:sp>
        <p:nvSpPr>
          <p:cNvPr id="29" name="Text 25"/>
          <p:cNvSpPr/>
          <p:nvPr/>
        </p:nvSpPr>
        <p:spPr>
          <a:xfrm>
            <a:off x="5000625" y="3255764"/>
            <a:ext cx="3707606" cy="537904"/>
          </a:xfrm>
          <a:prstGeom prst="rect">
            <a:avLst/>
          </a:prstGeom>
          <a:noFill/>
          <a:ln/>
        </p:spPr>
        <p:txBody>
          <a:bodyPr wrap="square" lIns="0" tIns="0" rIns="0" bIns="0" rtlCol="0" anchor="t">
            <a:spAutoFit/>
          </a:bodyPr>
          <a:lstStyle/>
          <a:p>
            <a:pPr>
              <a:lnSpc>
                <a:spcPct val="120000"/>
              </a:lnSpc>
            </a:pPr>
            <a:r>
              <a:rPr lang="en-US" sz="1000" dirty="0">
                <a:solidFill>
                  <a:srgbClr val="57606A"/>
                </a:solidFill>
                <a:latin typeface="Times New Roman" panose="02020603050405020304" pitchFamily="18" charset="0"/>
                <a:ea typeface="Inter" pitchFamily="34" charset="-122"/>
                <a:cs typeface="Times New Roman" panose="02020603050405020304" pitchFamily="18" charset="0"/>
              </a:rPr>
              <a:t>Аллокатор всегда назначает соседним блокам разные теги; последовательные переполнения обнаруживаются с вероятностью 1.</a:t>
            </a:r>
          </a:p>
        </p:txBody>
      </p:sp>
      <p:sp>
        <p:nvSpPr>
          <p:cNvPr id="30" name="Text 26"/>
          <p:cNvSpPr/>
          <p:nvPr/>
        </p:nvSpPr>
        <p:spPr>
          <a:xfrm>
            <a:off x="5000625" y="4091583"/>
            <a:ext cx="3707606" cy="187523"/>
          </a:xfrm>
          <a:prstGeom prst="rect">
            <a:avLst/>
          </a:prstGeom>
          <a:noFill/>
          <a:ln/>
        </p:spPr>
        <p:txBody>
          <a:bodyPr wrap="square" lIns="0" tIns="0" rIns="0" bIns="0" rtlCol="0" anchor="t">
            <a:spAutoFit/>
          </a:bodyPr>
          <a:lstStyle/>
          <a:p>
            <a:pPr marL="0" indent="0" algn="l">
              <a:buNone/>
            </a:pPr>
            <a:r>
              <a:rPr lang="en-US" sz="1000" b="1" dirty="0">
                <a:solidFill>
                  <a:srgbClr val="0969DA"/>
                </a:solidFill>
                <a:latin typeface="Fira Code Bold" pitchFamily="34" charset="0"/>
                <a:ea typeface="Fira Code Bold" pitchFamily="34" charset="-122"/>
                <a:cs typeface="Fira Code Bold" pitchFamily="34" charset="-120"/>
              </a:rPr>
              <a:t>4. Normal Tagged Memory</a:t>
            </a:r>
            <a:endParaRPr lang="en-US" sz="1000" dirty="0"/>
          </a:p>
        </p:txBody>
      </p:sp>
      <p:sp>
        <p:nvSpPr>
          <p:cNvPr id="31" name="Text 27"/>
          <p:cNvSpPr/>
          <p:nvPr/>
        </p:nvSpPr>
        <p:spPr>
          <a:xfrm>
            <a:off x="5000625" y="4336256"/>
            <a:ext cx="3707606" cy="353238"/>
          </a:xfrm>
          <a:prstGeom prst="rect">
            <a:avLst/>
          </a:prstGeom>
          <a:noFill/>
          <a:ln/>
        </p:spPr>
        <p:txBody>
          <a:bodyPr wrap="square" lIns="0" tIns="0" rIns="0" bIns="0" rtlCol="0" anchor="t">
            <a:spAutoFit/>
          </a:bodyPr>
          <a:lstStyle/>
          <a:p>
            <a:pPr indent="0">
              <a:lnSpc>
                <a:spcPct val="120000"/>
              </a:lnSpc>
              <a:buNone/>
            </a:pPr>
            <a:r>
              <a:rPr lang="en-US" sz="1000" dirty="0">
                <a:solidFill>
                  <a:srgbClr val="57606A"/>
                </a:solidFill>
                <a:latin typeface="Times New Roman" panose="02020603050405020304" pitchFamily="18" charset="0"/>
                <a:ea typeface="Inter" pitchFamily="34" charset="-122"/>
                <a:cs typeface="Times New Roman" panose="02020603050405020304" pitchFamily="18" charset="0"/>
              </a:rPr>
              <a:t>Новый тип памяти в Armv8.5-A; только обращения к нему проверяются; существующий код выигрывает без </a:t>
            </a:r>
            <a:r>
              <a:rPr lang="en-US" sz="1000" dirty="0" err="1">
                <a:solidFill>
                  <a:srgbClr val="57606A"/>
                </a:solidFill>
                <a:latin typeface="Times New Roman" panose="02020603050405020304" pitchFamily="18" charset="0"/>
                <a:ea typeface="Inter" pitchFamily="34" charset="-122"/>
                <a:cs typeface="Times New Roman" panose="02020603050405020304" pitchFamily="18" charset="0"/>
              </a:rPr>
              <a:t>перекомпиляции</a:t>
            </a:r>
            <a:r>
              <a:rPr lang="en-US" sz="1000" dirty="0">
                <a:solidFill>
                  <a:srgbClr val="57606A"/>
                </a:solidFill>
                <a:latin typeface="Times New Roman" panose="02020603050405020304" pitchFamily="18" charset="0"/>
                <a:ea typeface="Inter" pitchFamily="34" charset="-122"/>
                <a:cs typeface="Times New Roman" panose="02020603050405020304" pitchFamily="18"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7144" y="7144"/>
            <a:ext cx="9129713" cy="1035844"/>
          </a:xfrm>
          <a:prstGeom prst="rect">
            <a:avLst/>
          </a:prstGeom>
          <a:solidFill>
            <a:srgbClr val="FFFFFF"/>
          </a:solidFill>
          <a:ln/>
        </p:spPr>
      </p:sp>
      <p:sp>
        <p:nvSpPr>
          <p:cNvPr id="5" name="Shape 1"/>
          <p:cNvSpPr/>
          <p:nvPr/>
        </p:nvSpPr>
        <p:spPr>
          <a:xfrm>
            <a:off x="7144" y="1035844"/>
            <a:ext cx="9129713" cy="7144"/>
          </a:xfrm>
          <a:prstGeom prst="rect">
            <a:avLst/>
          </a:prstGeom>
          <a:solidFill>
            <a:srgbClr val="D0D7DE"/>
          </a:solidFill>
          <a:ln/>
        </p:spPr>
      </p:sp>
      <p:sp>
        <p:nvSpPr>
          <p:cNvPr id="6" name="Text 2"/>
          <p:cNvSpPr/>
          <p:nvPr/>
        </p:nvSpPr>
        <p:spPr>
          <a:xfrm>
            <a:off x="435769" y="292894"/>
            <a:ext cx="8272463" cy="600075"/>
          </a:xfrm>
          <a:prstGeom prst="rect">
            <a:avLst/>
          </a:prstGeom>
          <a:noFill/>
          <a:ln/>
        </p:spPr>
        <p:txBody>
          <a:bodyPr wrap="square" lIns="0" tIns="0" rIns="0" bIns="0" rtlCol="0" anchor="t">
            <a:spAutoFit/>
          </a:bodyPr>
          <a:lstStyle/>
          <a:p>
            <a:pPr marL="0" indent="0" algn="l">
              <a:buNone/>
            </a:pPr>
            <a:r>
              <a:rPr lang="en-US" sz="1600" b="1" dirty="0">
                <a:solidFill>
                  <a:srgbClr val="0969DA"/>
                </a:solidFill>
                <a:latin typeface="Fira Code Bold" pitchFamily="34" charset="0"/>
                <a:ea typeface="Fira Code Bold" pitchFamily="34" charset="-122"/>
                <a:cs typeface="Fira Code Bold" pitchFamily="34" charset="-120"/>
              </a:rPr>
              <a:t>Три категории инструкций: теги памяти, арифметика указателей, системный уровень</a:t>
            </a:r>
            <a:endParaRPr lang="en-US" sz="1600" dirty="0"/>
          </a:p>
        </p:txBody>
      </p:sp>
      <p:sp>
        <p:nvSpPr>
          <p:cNvPr id="7" name="Shape 3"/>
          <p:cNvSpPr/>
          <p:nvPr/>
        </p:nvSpPr>
        <p:spPr>
          <a:xfrm>
            <a:off x="7144" y="1035844"/>
            <a:ext cx="9129713" cy="4100513"/>
          </a:xfrm>
          <a:prstGeom prst="rect">
            <a:avLst/>
          </a:prstGeom>
          <a:solidFill>
            <a:srgbClr val="FFFFFF"/>
          </a:solidFill>
          <a:ln/>
        </p:spPr>
      </p:sp>
      <p:sp>
        <p:nvSpPr>
          <p:cNvPr id="8" name="Text 4"/>
          <p:cNvSpPr/>
          <p:nvPr/>
        </p:nvSpPr>
        <p:spPr>
          <a:xfrm>
            <a:off x="292894" y="1250156"/>
            <a:ext cx="2464594" cy="253603"/>
          </a:xfrm>
          <a:prstGeom prst="rect">
            <a:avLst/>
          </a:prstGeom>
          <a:noFill/>
          <a:ln/>
        </p:spPr>
        <p:txBody>
          <a:bodyPr wrap="square" lIns="0" tIns="0" rIns="0" bIns="85090" rtlCol="0" anchor="t">
            <a:spAutoFit/>
          </a:bodyPr>
          <a:lstStyle/>
          <a:p>
            <a:pPr marL="0" indent="0" algn="l">
              <a:buNone/>
            </a:pPr>
            <a:r>
              <a:rPr lang="en-US" sz="900" b="1" dirty="0">
                <a:solidFill>
                  <a:srgbClr val="BF3989"/>
                </a:solidFill>
                <a:latin typeface="Fira Code Bold" pitchFamily="34" charset="0"/>
                <a:ea typeface="Fira Code Bold" pitchFamily="34" charset="-122"/>
                <a:cs typeface="Fira Code Bold" pitchFamily="34" charset="-120"/>
              </a:rPr>
              <a:t>TAG MEMORY OPERATIONS</a:t>
            </a:r>
            <a:endParaRPr lang="en-US" sz="900" dirty="0"/>
          </a:p>
        </p:txBody>
      </p:sp>
      <p:sp>
        <p:nvSpPr>
          <p:cNvPr id="9" name="Text 5"/>
          <p:cNvSpPr/>
          <p:nvPr/>
        </p:nvSpPr>
        <p:spPr>
          <a:xfrm>
            <a:off x="292894" y="1646634"/>
            <a:ext cx="2464594" cy="150019"/>
          </a:xfrm>
          <a:prstGeom prst="rect">
            <a:avLst/>
          </a:prstGeom>
          <a:noFill/>
          <a:ln/>
        </p:spPr>
        <p:txBody>
          <a:bodyPr wrap="square" lIns="0" tIns="0" rIns="0" bIns="0" rtlCol="0" anchor="t">
            <a:spAutoFit/>
          </a:bodyPr>
          <a:lstStyle/>
          <a:p>
            <a:pPr marL="0" indent="0" algn="l">
              <a:buNone/>
            </a:pPr>
            <a:r>
              <a:rPr lang="en-US" sz="800" b="1" dirty="0">
                <a:solidFill>
                  <a:srgbClr val="24292F"/>
                </a:solidFill>
                <a:latin typeface="Fira Code Bold" pitchFamily="34" charset="0"/>
                <a:ea typeface="Fira Code Bold" pitchFamily="34" charset="-122"/>
                <a:cs typeface="Fira Code Bold" pitchFamily="34" charset="-120"/>
              </a:rPr>
              <a:t>IRG</a:t>
            </a:r>
            <a:endParaRPr lang="en-US" sz="800" dirty="0"/>
          </a:p>
        </p:txBody>
      </p:sp>
      <p:sp>
        <p:nvSpPr>
          <p:cNvPr id="10" name="Text 6"/>
          <p:cNvSpPr/>
          <p:nvPr/>
        </p:nvSpPr>
        <p:spPr>
          <a:xfrm>
            <a:off x="292894" y="1825228"/>
            <a:ext cx="2464594" cy="317908"/>
          </a:xfrm>
          <a:prstGeom prst="rect">
            <a:avLst/>
          </a:prstGeom>
          <a:noFill/>
          <a:ln/>
        </p:spPr>
        <p:txBody>
          <a:bodyPr wrap="square" lIns="0" tIns="0" rIns="0" bIns="0" rtlCol="0" anchor="t">
            <a:spAutoFit/>
          </a:bodyPr>
          <a:lstStyle/>
          <a:p>
            <a:pPr marL="0" indent="0" algn="l">
              <a:lnSpc>
                <a:spcPct val="120000"/>
              </a:lnSpc>
              <a:buNone/>
            </a:pPr>
            <a:r>
              <a:rPr lang="en-US" sz="900" dirty="0">
                <a:solidFill>
                  <a:srgbClr val="57606A"/>
                </a:solidFill>
                <a:latin typeface="Times New Roman" panose="02020603050405020304" pitchFamily="18" charset="0"/>
                <a:ea typeface="Inter" pitchFamily="34" charset="-122"/>
                <a:cs typeface="Times New Roman" panose="02020603050405020304" pitchFamily="18" charset="0"/>
              </a:rPr>
              <a:t>Генерация случайного тега в регистр — основа статистической гарантии</a:t>
            </a:r>
            <a:endParaRPr lang="en-US" sz="900" dirty="0">
              <a:latin typeface="Times New Roman" panose="02020603050405020304" pitchFamily="18" charset="0"/>
              <a:cs typeface="Times New Roman" panose="02020603050405020304" pitchFamily="18" charset="0"/>
            </a:endParaRPr>
          </a:p>
        </p:txBody>
      </p:sp>
      <p:sp>
        <p:nvSpPr>
          <p:cNvPr id="11" name="Text 7"/>
          <p:cNvSpPr/>
          <p:nvPr/>
        </p:nvSpPr>
        <p:spPr>
          <a:xfrm>
            <a:off x="292894" y="2239566"/>
            <a:ext cx="2464594" cy="150019"/>
          </a:xfrm>
          <a:prstGeom prst="rect">
            <a:avLst/>
          </a:prstGeom>
          <a:noFill/>
          <a:ln/>
        </p:spPr>
        <p:txBody>
          <a:bodyPr wrap="square" lIns="0" tIns="0" rIns="0" bIns="0" rtlCol="0" anchor="t">
            <a:spAutoFit/>
          </a:bodyPr>
          <a:lstStyle/>
          <a:p>
            <a:pPr marL="0" indent="0" algn="l">
              <a:buNone/>
            </a:pPr>
            <a:r>
              <a:rPr lang="en-US" sz="800" b="1" dirty="0">
                <a:solidFill>
                  <a:srgbClr val="24292F"/>
                </a:solidFill>
                <a:latin typeface="Fira Code Bold" pitchFamily="34" charset="0"/>
                <a:ea typeface="Fira Code Bold" pitchFamily="34" charset="-122"/>
                <a:cs typeface="Fira Code Bold" pitchFamily="34" charset="-120"/>
              </a:rPr>
              <a:t>STG / STZG</a:t>
            </a:r>
            <a:endParaRPr lang="en-US" sz="800" dirty="0"/>
          </a:p>
        </p:txBody>
      </p:sp>
      <p:sp>
        <p:nvSpPr>
          <p:cNvPr id="12" name="Text 8"/>
          <p:cNvSpPr/>
          <p:nvPr/>
        </p:nvSpPr>
        <p:spPr>
          <a:xfrm>
            <a:off x="292894" y="2356063"/>
            <a:ext cx="1612621" cy="317908"/>
          </a:xfrm>
          <a:prstGeom prst="rect">
            <a:avLst/>
          </a:prstGeom>
          <a:noFill/>
          <a:ln/>
        </p:spPr>
        <p:txBody>
          <a:bodyPr wrap="square" lIns="0" tIns="0" rIns="0" bIns="0" rtlCol="0" anchor="t">
            <a:spAutoFit/>
          </a:bodyPr>
          <a:lstStyle/>
          <a:p>
            <a:pPr marL="0" indent="0" algn="l">
              <a:lnSpc>
                <a:spcPct val="120000"/>
              </a:lnSpc>
              <a:buNone/>
            </a:pPr>
            <a:r>
              <a:rPr lang="en-US" sz="900" dirty="0">
                <a:solidFill>
                  <a:srgbClr val="57606A"/>
                </a:solidFill>
                <a:latin typeface="Times New Roman" panose="02020603050405020304" pitchFamily="18" charset="0"/>
                <a:ea typeface="Inter" pitchFamily="34" charset="-122"/>
                <a:cs typeface="Times New Roman" panose="02020603050405020304" pitchFamily="18" charset="0"/>
              </a:rPr>
              <a:t>Запись тега без / с </a:t>
            </a:r>
            <a:r>
              <a:rPr lang="en-US" sz="900" dirty="0" err="1">
                <a:solidFill>
                  <a:srgbClr val="57606A"/>
                </a:solidFill>
                <a:latin typeface="Times New Roman" panose="02020603050405020304" pitchFamily="18" charset="0"/>
                <a:ea typeface="Inter" pitchFamily="34" charset="-122"/>
                <a:cs typeface="Times New Roman" panose="02020603050405020304" pitchFamily="18" charset="0"/>
              </a:rPr>
              <a:t>обнулением</a:t>
            </a:r>
            <a:r>
              <a:rPr lang="en-US" sz="900" dirty="0">
                <a:solidFill>
                  <a:srgbClr val="57606A"/>
                </a:solidFill>
                <a:latin typeface="Times New Roman" panose="02020603050405020304" pitchFamily="18" charset="0"/>
                <a:ea typeface="Inter" pitchFamily="34" charset="-122"/>
                <a:cs typeface="Times New Roman" panose="02020603050405020304" pitchFamily="18" charset="0"/>
              </a:rPr>
              <a:t> </a:t>
            </a:r>
            <a:r>
              <a:rPr lang="en-US" sz="900" dirty="0" err="1">
                <a:solidFill>
                  <a:srgbClr val="57606A"/>
                </a:solidFill>
                <a:latin typeface="Times New Roman" panose="02020603050405020304" pitchFamily="18" charset="0"/>
                <a:ea typeface="Inter" pitchFamily="34" charset="-122"/>
                <a:cs typeface="Times New Roman" panose="02020603050405020304" pitchFamily="18" charset="0"/>
              </a:rPr>
              <a:t>данных</a:t>
            </a:r>
            <a:endParaRPr lang="en-US" sz="900" dirty="0">
              <a:solidFill>
                <a:srgbClr val="57606A"/>
              </a:solidFill>
              <a:latin typeface="Times New Roman" panose="02020603050405020304" pitchFamily="18" charset="0"/>
              <a:ea typeface="Inter" pitchFamily="34" charset="-122"/>
              <a:cs typeface="Times New Roman" panose="02020603050405020304" pitchFamily="18" charset="0"/>
            </a:endParaRPr>
          </a:p>
        </p:txBody>
      </p:sp>
      <p:sp>
        <p:nvSpPr>
          <p:cNvPr id="13" name="Text 9"/>
          <p:cNvSpPr/>
          <p:nvPr/>
        </p:nvSpPr>
        <p:spPr>
          <a:xfrm>
            <a:off x="292894" y="2682478"/>
            <a:ext cx="2464594" cy="150019"/>
          </a:xfrm>
          <a:prstGeom prst="rect">
            <a:avLst/>
          </a:prstGeom>
          <a:noFill/>
          <a:ln/>
        </p:spPr>
        <p:txBody>
          <a:bodyPr wrap="square" lIns="0" tIns="0" rIns="0" bIns="0" rtlCol="0" anchor="t">
            <a:spAutoFit/>
          </a:bodyPr>
          <a:lstStyle/>
          <a:p>
            <a:pPr marL="0" indent="0" algn="l">
              <a:buNone/>
            </a:pPr>
            <a:r>
              <a:rPr lang="en-US" sz="800" b="1" dirty="0">
                <a:solidFill>
                  <a:srgbClr val="24292F"/>
                </a:solidFill>
                <a:latin typeface="Fira Code Bold" pitchFamily="34" charset="0"/>
                <a:ea typeface="Fira Code Bold" pitchFamily="34" charset="-122"/>
                <a:cs typeface="Fira Code Bold" pitchFamily="34" charset="-120"/>
              </a:rPr>
              <a:t>LDG</a:t>
            </a:r>
            <a:endParaRPr lang="en-US" sz="800" dirty="0"/>
          </a:p>
        </p:txBody>
      </p:sp>
      <p:sp>
        <p:nvSpPr>
          <p:cNvPr id="14" name="Text 10"/>
          <p:cNvSpPr/>
          <p:nvPr/>
        </p:nvSpPr>
        <p:spPr>
          <a:xfrm>
            <a:off x="292894" y="2861072"/>
            <a:ext cx="1590179" cy="151708"/>
          </a:xfrm>
          <a:prstGeom prst="rect">
            <a:avLst/>
          </a:prstGeom>
          <a:noFill/>
          <a:ln/>
        </p:spPr>
        <p:txBody>
          <a:bodyPr wrap="none" lIns="0" tIns="0" rIns="0" bIns="0" rtlCol="0" anchor="t">
            <a:spAutoFit/>
          </a:bodyPr>
          <a:lstStyle/>
          <a:p>
            <a:pPr marL="0" indent="0" algn="l">
              <a:lnSpc>
                <a:spcPct val="120000"/>
              </a:lnSpc>
              <a:buNone/>
            </a:pPr>
            <a:r>
              <a:rPr lang="en-US" sz="900" dirty="0">
                <a:solidFill>
                  <a:srgbClr val="57606A"/>
                </a:solidFill>
                <a:latin typeface="Times New Roman" panose="02020603050405020304" pitchFamily="18" charset="0"/>
                <a:ea typeface="Inter" pitchFamily="34" charset="-122"/>
                <a:cs typeface="Times New Roman" panose="02020603050405020304" pitchFamily="18" charset="0"/>
              </a:rPr>
              <a:t>Чтение тега из памяти в регистр</a:t>
            </a:r>
            <a:endParaRPr lang="en-US" sz="900" dirty="0">
              <a:latin typeface="Times New Roman" panose="02020603050405020304" pitchFamily="18" charset="0"/>
              <a:cs typeface="Times New Roman" panose="02020603050405020304" pitchFamily="18" charset="0"/>
            </a:endParaRPr>
          </a:p>
        </p:txBody>
      </p:sp>
      <p:sp>
        <p:nvSpPr>
          <p:cNvPr id="15" name="Text 11"/>
          <p:cNvSpPr/>
          <p:nvPr/>
        </p:nvSpPr>
        <p:spPr>
          <a:xfrm>
            <a:off x="292894" y="3125391"/>
            <a:ext cx="2464594" cy="150019"/>
          </a:xfrm>
          <a:prstGeom prst="rect">
            <a:avLst/>
          </a:prstGeom>
          <a:noFill/>
          <a:ln/>
        </p:spPr>
        <p:txBody>
          <a:bodyPr wrap="square" lIns="0" tIns="0" rIns="0" bIns="0" rtlCol="0" anchor="t">
            <a:spAutoFit/>
          </a:bodyPr>
          <a:lstStyle/>
          <a:p>
            <a:pPr marL="0" indent="0" algn="l">
              <a:buNone/>
            </a:pPr>
            <a:r>
              <a:rPr lang="en-US" sz="800" b="1" dirty="0">
                <a:solidFill>
                  <a:srgbClr val="24292F"/>
                </a:solidFill>
                <a:latin typeface="Fira Code Bold" pitchFamily="34" charset="0"/>
                <a:ea typeface="Fira Code Bold" pitchFamily="34" charset="-122"/>
                <a:cs typeface="Fira Code Bold" pitchFamily="34" charset="-120"/>
              </a:rPr>
              <a:t>ST2G / STZ2G</a:t>
            </a:r>
            <a:endParaRPr lang="en-US" sz="800" dirty="0"/>
          </a:p>
        </p:txBody>
      </p:sp>
      <p:sp>
        <p:nvSpPr>
          <p:cNvPr id="16" name="Text 12"/>
          <p:cNvSpPr/>
          <p:nvPr/>
        </p:nvSpPr>
        <p:spPr>
          <a:xfrm>
            <a:off x="292894" y="3303984"/>
            <a:ext cx="2464594" cy="317908"/>
          </a:xfrm>
          <a:prstGeom prst="rect">
            <a:avLst/>
          </a:prstGeom>
          <a:noFill/>
          <a:ln/>
        </p:spPr>
        <p:txBody>
          <a:bodyPr wrap="square" lIns="0" tIns="0" rIns="0" bIns="0" rtlCol="0" anchor="t">
            <a:spAutoFit/>
          </a:bodyPr>
          <a:lstStyle/>
          <a:p>
            <a:pPr marL="0" indent="0" algn="l">
              <a:lnSpc>
                <a:spcPct val="120000"/>
              </a:lnSpc>
              <a:buNone/>
            </a:pPr>
            <a:r>
              <a:rPr lang="en-US" sz="900" dirty="0">
                <a:solidFill>
                  <a:srgbClr val="57606A"/>
                </a:solidFill>
                <a:latin typeface="Times New Roman" panose="02020603050405020304" pitchFamily="18" charset="0"/>
                <a:ea typeface="Inter" pitchFamily="34" charset="-122"/>
                <a:cs typeface="Times New Roman" panose="02020603050405020304" pitchFamily="18" charset="0"/>
              </a:rPr>
              <a:t>Операции на двух гранулах — эффективнее для крупных блоков</a:t>
            </a:r>
            <a:endParaRPr lang="en-US" sz="900" dirty="0">
              <a:latin typeface="Times New Roman" panose="02020603050405020304" pitchFamily="18" charset="0"/>
              <a:cs typeface="Times New Roman" panose="02020603050405020304" pitchFamily="18" charset="0"/>
            </a:endParaRPr>
          </a:p>
        </p:txBody>
      </p:sp>
      <p:sp>
        <p:nvSpPr>
          <p:cNvPr id="17" name="Text 13"/>
          <p:cNvSpPr/>
          <p:nvPr/>
        </p:nvSpPr>
        <p:spPr>
          <a:xfrm>
            <a:off x="292894" y="3718322"/>
            <a:ext cx="2464594" cy="150019"/>
          </a:xfrm>
          <a:prstGeom prst="rect">
            <a:avLst/>
          </a:prstGeom>
          <a:noFill/>
          <a:ln/>
        </p:spPr>
        <p:txBody>
          <a:bodyPr wrap="square" lIns="0" tIns="0" rIns="0" bIns="0" rtlCol="0" anchor="t">
            <a:spAutoFit/>
          </a:bodyPr>
          <a:lstStyle/>
          <a:p>
            <a:pPr marL="0" indent="0" algn="l">
              <a:buNone/>
            </a:pPr>
            <a:r>
              <a:rPr lang="en-US" sz="800" b="1" dirty="0">
                <a:solidFill>
                  <a:srgbClr val="24292F"/>
                </a:solidFill>
                <a:latin typeface="Fira Code Bold" pitchFamily="34" charset="0"/>
                <a:ea typeface="Fira Code Bold" pitchFamily="34" charset="-122"/>
                <a:cs typeface="Fira Code Bold" pitchFamily="34" charset="-120"/>
              </a:rPr>
              <a:t>STGP</a:t>
            </a:r>
            <a:endParaRPr lang="en-US" sz="800" dirty="0"/>
          </a:p>
        </p:txBody>
      </p:sp>
      <p:sp>
        <p:nvSpPr>
          <p:cNvPr id="18" name="Text 14"/>
          <p:cNvSpPr/>
          <p:nvPr/>
        </p:nvSpPr>
        <p:spPr>
          <a:xfrm>
            <a:off x="292894" y="3896916"/>
            <a:ext cx="2464594" cy="317908"/>
          </a:xfrm>
          <a:prstGeom prst="rect">
            <a:avLst/>
          </a:prstGeom>
          <a:noFill/>
          <a:ln/>
        </p:spPr>
        <p:txBody>
          <a:bodyPr wrap="square" lIns="0" tIns="0" rIns="0" bIns="0" rtlCol="0" anchor="t">
            <a:spAutoFit/>
          </a:bodyPr>
          <a:lstStyle/>
          <a:p>
            <a:pPr marL="0" indent="0" algn="l">
              <a:lnSpc>
                <a:spcPct val="120000"/>
              </a:lnSpc>
              <a:buNone/>
            </a:pPr>
            <a:r>
              <a:rPr lang="en-US" sz="900" dirty="0">
                <a:solidFill>
                  <a:srgbClr val="57606A"/>
                </a:solidFill>
                <a:latin typeface="Times New Roman" panose="02020603050405020304" pitchFamily="18" charset="0"/>
                <a:ea typeface="Inter" pitchFamily="34" charset="-122"/>
                <a:cs typeface="Times New Roman" panose="02020603050405020304" pitchFamily="18" charset="0"/>
              </a:rPr>
              <a:t>Совместная запись тега и данных одной инструкцией</a:t>
            </a:r>
            <a:endParaRPr lang="en-US" sz="900" dirty="0">
              <a:latin typeface="Times New Roman" panose="02020603050405020304" pitchFamily="18" charset="0"/>
              <a:cs typeface="Times New Roman" panose="02020603050405020304" pitchFamily="18" charset="0"/>
            </a:endParaRPr>
          </a:p>
        </p:txBody>
      </p:sp>
      <p:sp>
        <p:nvSpPr>
          <p:cNvPr id="19" name="Text 15"/>
          <p:cNvSpPr/>
          <p:nvPr/>
        </p:nvSpPr>
        <p:spPr>
          <a:xfrm>
            <a:off x="292894" y="4311253"/>
            <a:ext cx="2464594" cy="150019"/>
          </a:xfrm>
          <a:prstGeom prst="rect">
            <a:avLst/>
          </a:prstGeom>
          <a:noFill/>
          <a:ln/>
        </p:spPr>
        <p:txBody>
          <a:bodyPr wrap="square" lIns="0" tIns="0" rIns="0" bIns="0" rtlCol="0" anchor="t">
            <a:spAutoFit/>
          </a:bodyPr>
          <a:lstStyle/>
          <a:p>
            <a:pPr marL="0" indent="0" algn="l">
              <a:buNone/>
            </a:pPr>
            <a:r>
              <a:rPr lang="en-US" sz="800" b="1" dirty="0">
                <a:solidFill>
                  <a:srgbClr val="24292F"/>
                </a:solidFill>
                <a:latin typeface="Fira Code Bold" pitchFamily="34" charset="0"/>
                <a:ea typeface="Fira Code Bold" pitchFamily="34" charset="-122"/>
                <a:cs typeface="Fira Code Bold" pitchFamily="34" charset="-120"/>
              </a:rPr>
              <a:t>GMI</a:t>
            </a:r>
            <a:endParaRPr lang="en-US" sz="800" dirty="0"/>
          </a:p>
        </p:txBody>
      </p:sp>
      <p:sp>
        <p:nvSpPr>
          <p:cNvPr id="20" name="Text 16"/>
          <p:cNvSpPr/>
          <p:nvPr/>
        </p:nvSpPr>
        <p:spPr>
          <a:xfrm>
            <a:off x="292894" y="4489847"/>
            <a:ext cx="1979709" cy="151708"/>
          </a:xfrm>
          <a:prstGeom prst="rect">
            <a:avLst/>
          </a:prstGeom>
          <a:noFill/>
          <a:ln/>
        </p:spPr>
        <p:txBody>
          <a:bodyPr wrap="none" lIns="0" tIns="0" rIns="0" bIns="0" rtlCol="0" anchor="t">
            <a:spAutoFit/>
          </a:bodyPr>
          <a:lstStyle/>
          <a:p>
            <a:pPr marL="0" indent="0" algn="l">
              <a:lnSpc>
                <a:spcPct val="120000"/>
              </a:lnSpc>
              <a:buNone/>
            </a:pPr>
            <a:r>
              <a:rPr lang="en-US" sz="900" dirty="0">
                <a:solidFill>
                  <a:srgbClr val="57606A"/>
                </a:solidFill>
                <a:latin typeface="Times New Roman" panose="02020603050405020304" pitchFamily="18" charset="0"/>
                <a:ea typeface="Inter" pitchFamily="34" charset="-122"/>
                <a:cs typeface="Times New Roman" panose="02020603050405020304" pitchFamily="18" charset="0"/>
              </a:rPr>
              <a:t>Управление excluded-множеством тегов</a:t>
            </a:r>
            <a:endParaRPr lang="en-US" sz="900" dirty="0">
              <a:latin typeface="Times New Roman" panose="02020603050405020304" pitchFamily="18" charset="0"/>
              <a:cs typeface="Times New Roman" panose="02020603050405020304" pitchFamily="18" charset="0"/>
            </a:endParaRPr>
          </a:p>
        </p:txBody>
      </p:sp>
      <p:sp>
        <p:nvSpPr>
          <p:cNvPr id="21" name="Text 17"/>
          <p:cNvSpPr/>
          <p:nvPr/>
        </p:nvSpPr>
        <p:spPr>
          <a:xfrm>
            <a:off x="3336131" y="1250156"/>
            <a:ext cx="2464594" cy="253603"/>
          </a:xfrm>
          <a:prstGeom prst="rect">
            <a:avLst/>
          </a:prstGeom>
          <a:noFill/>
          <a:ln/>
        </p:spPr>
        <p:txBody>
          <a:bodyPr wrap="square" lIns="0" tIns="0" rIns="0" bIns="85090" rtlCol="0" anchor="t">
            <a:spAutoFit/>
          </a:bodyPr>
          <a:lstStyle/>
          <a:p>
            <a:pPr marL="0" indent="0" algn="l">
              <a:buNone/>
            </a:pPr>
            <a:r>
              <a:rPr lang="en-US" sz="900" b="1" dirty="0">
                <a:solidFill>
                  <a:srgbClr val="0969DA"/>
                </a:solidFill>
                <a:latin typeface="Fira Code Bold" pitchFamily="34" charset="0"/>
                <a:ea typeface="Fira Code Bold" pitchFamily="34" charset="-122"/>
                <a:cs typeface="Fira Code Bold" pitchFamily="34" charset="-120"/>
              </a:rPr>
              <a:t>POINTER ARITHMETIC / STACK</a:t>
            </a:r>
            <a:endParaRPr lang="en-US" sz="900" dirty="0"/>
          </a:p>
        </p:txBody>
      </p:sp>
      <p:sp>
        <p:nvSpPr>
          <p:cNvPr id="22" name="Text 18"/>
          <p:cNvSpPr/>
          <p:nvPr/>
        </p:nvSpPr>
        <p:spPr>
          <a:xfrm>
            <a:off x="3336131" y="1646634"/>
            <a:ext cx="2464594" cy="150019"/>
          </a:xfrm>
          <a:prstGeom prst="rect">
            <a:avLst/>
          </a:prstGeom>
          <a:noFill/>
          <a:ln/>
        </p:spPr>
        <p:txBody>
          <a:bodyPr wrap="square" lIns="0" tIns="0" rIns="0" bIns="0" rtlCol="0" anchor="t">
            <a:spAutoFit/>
          </a:bodyPr>
          <a:lstStyle/>
          <a:p>
            <a:pPr marL="0" indent="0" algn="l">
              <a:buNone/>
            </a:pPr>
            <a:r>
              <a:rPr lang="en-US" sz="800" b="1" dirty="0">
                <a:solidFill>
                  <a:srgbClr val="24292F"/>
                </a:solidFill>
                <a:latin typeface="Fira Code Bold" pitchFamily="34" charset="0"/>
                <a:ea typeface="Fira Code Bold" pitchFamily="34" charset="-122"/>
                <a:cs typeface="Fira Code Bold" pitchFamily="34" charset="-120"/>
              </a:rPr>
              <a:t>ADDG</a:t>
            </a:r>
            <a:endParaRPr lang="en-US" sz="800" dirty="0"/>
          </a:p>
        </p:txBody>
      </p:sp>
      <p:sp>
        <p:nvSpPr>
          <p:cNvPr id="23" name="Text 19"/>
          <p:cNvSpPr/>
          <p:nvPr/>
        </p:nvSpPr>
        <p:spPr>
          <a:xfrm>
            <a:off x="3336131" y="1825228"/>
            <a:ext cx="2464594" cy="317908"/>
          </a:xfrm>
          <a:prstGeom prst="rect">
            <a:avLst/>
          </a:prstGeom>
          <a:noFill/>
          <a:ln/>
        </p:spPr>
        <p:txBody>
          <a:bodyPr wrap="square" lIns="0" tIns="0" rIns="0" bIns="0" rtlCol="0" anchor="t">
            <a:spAutoFit/>
          </a:bodyPr>
          <a:lstStyle/>
          <a:p>
            <a:pPr marL="0" indent="0" algn="l">
              <a:lnSpc>
                <a:spcPct val="120000"/>
              </a:lnSpc>
              <a:buNone/>
            </a:pPr>
            <a:r>
              <a:rPr lang="en-US" sz="900" dirty="0">
                <a:solidFill>
                  <a:srgbClr val="57606A"/>
                </a:solidFill>
                <a:latin typeface="Times New Roman" panose="02020603050405020304" pitchFamily="18" charset="0"/>
                <a:ea typeface="Inter" pitchFamily="34" charset="-122"/>
                <a:cs typeface="Times New Roman" panose="02020603050405020304" pitchFamily="18" charset="0"/>
              </a:rPr>
              <a:t>Сложение с раздельной арифметикой над адресом и тегом</a:t>
            </a:r>
            <a:endParaRPr lang="en-US" sz="900" dirty="0">
              <a:latin typeface="Times New Roman" panose="02020603050405020304" pitchFamily="18" charset="0"/>
              <a:cs typeface="Times New Roman" panose="02020603050405020304" pitchFamily="18" charset="0"/>
            </a:endParaRPr>
          </a:p>
        </p:txBody>
      </p:sp>
      <p:sp>
        <p:nvSpPr>
          <p:cNvPr id="24" name="Text 20"/>
          <p:cNvSpPr/>
          <p:nvPr/>
        </p:nvSpPr>
        <p:spPr>
          <a:xfrm>
            <a:off x="3336131" y="2239566"/>
            <a:ext cx="2464594" cy="150019"/>
          </a:xfrm>
          <a:prstGeom prst="rect">
            <a:avLst/>
          </a:prstGeom>
          <a:noFill/>
          <a:ln/>
        </p:spPr>
        <p:txBody>
          <a:bodyPr wrap="square" lIns="0" tIns="0" rIns="0" bIns="0" rtlCol="0" anchor="t">
            <a:spAutoFit/>
          </a:bodyPr>
          <a:lstStyle/>
          <a:p>
            <a:pPr marL="0" indent="0" algn="l">
              <a:buNone/>
            </a:pPr>
            <a:r>
              <a:rPr lang="en-US" sz="800" b="1" dirty="0">
                <a:solidFill>
                  <a:srgbClr val="24292F"/>
                </a:solidFill>
                <a:latin typeface="Fira Code Bold" pitchFamily="34" charset="0"/>
                <a:ea typeface="Fira Code Bold" pitchFamily="34" charset="-122"/>
                <a:cs typeface="Fira Code Bold" pitchFamily="34" charset="-120"/>
              </a:rPr>
              <a:t>SUBG</a:t>
            </a:r>
            <a:endParaRPr lang="en-US" sz="800" dirty="0"/>
          </a:p>
        </p:txBody>
      </p:sp>
      <p:sp>
        <p:nvSpPr>
          <p:cNvPr id="25" name="Text 21"/>
          <p:cNvSpPr/>
          <p:nvPr/>
        </p:nvSpPr>
        <p:spPr>
          <a:xfrm>
            <a:off x="3336131" y="2418159"/>
            <a:ext cx="1907573" cy="151708"/>
          </a:xfrm>
          <a:prstGeom prst="rect">
            <a:avLst/>
          </a:prstGeom>
          <a:noFill/>
          <a:ln/>
        </p:spPr>
        <p:txBody>
          <a:bodyPr wrap="none" lIns="0" tIns="0" rIns="0" bIns="0" rtlCol="0" anchor="t">
            <a:spAutoFit/>
          </a:bodyPr>
          <a:lstStyle/>
          <a:p>
            <a:pPr marL="0" indent="0" algn="l">
              <a:lnSpc>
                <a:spcPct val="120000"/>
              </a:lnSpc>
              <a:buNone/>
            </a:pPr>
            <a:r>
              <a:rPr lang="en-US" sz="900" dirty="0">
                <a:solidFill>
                  <a:srgbClr val="57606A"/>
                </a:solidFill>
                <a:latin typeface="Times New Roman" panose="02020603050405020304" pitchFamily="18" charset="0"/>
                <a:ea typeface="Inter" pitchFamily="34" charset="-122"/>
                <a:cs typeface="Times New Roman" panose="02020603050405020304" pitchFamily="18" charset="0"/>
              </a:rPr>
              <a:t>Вычитание с раздельной арифметикой</a:t>
            </a:r>
            <a:endParaRPr lang="en-US" sz="900" dirty="0">
              <a:latin typeface="Times New Roman" panose="02020603050405020304" pitchFamily="18" charset="0"/>
              <a:cs typeface="Times New Roman" panose="02020603050405020304" pitchFamily="18" charset="0"/>
            </a:endParaRPr>
          </a:p>
        </p:txBody>
      </p:sp>
      <p:sp>
        <p:nvSpPr>
          <p:cNvPr id="26" name="Text 22"/>
          <p:cNvSpPr/>
          <p:nvPr/>
        </p:nvSpPr>
        <p:spPr>
          <a:xfrm>
            <a:off x="3336131" y="2682478"/>
            <a:ext cx="2464594" cy="150019"/>
          </a:xfrm>
          <a:prstGeom prst="rect">
            <a:avLst/>
          </a:prstGeom>
          <a:noFill/>
          <a:ln/>
        </p:spPr>
        <p:txBody>
          <a:bodyPr wrap="square" lIns="0" tIns="0" rIns="0" bIns="0" rtlCol="0" anchor="t">
            <a:spAutoFit/>
          </a:bodyPr>
          <a:lstStyle/>
          <a:p>
            <a:pPr marL="0" indent="0" algn="l">
              <a:buNone/>
            </a:pPr>
            <a:r>
              <a:rPr lang="en-US" sz="800" b="1" dirty="0">
                <a:solidFill>
                  <a:srgbClr val="24292F"/>
                </a:solidFill>
                <a:latin typeface="Fira Code Bold" pitchFamily="34" charset="0"/>
                <a:ea typeface="Fira Code Bold" pitchFamily="34" charset="-122"/>
                <a:cs typeface="Fira Code Bold" pitchFamily="34" charset="-120"/>
              </a:rPr>
              <a:t>SUBP(S)</a:t>
            </a:r>
            <a:endParaRPr lang="en-US" sz="800" dirty="0"/>
          </a:p>
        </p:txBody>
      </p:sp>
      <p:sp>
        <p:nvSpPr>
          <p:cNvPr id="27" name="Text 23"/>
          <p:cNvSpPr/>
          <p:nvPr/>
        </p:nvSpPr>
        <p:spPr>
          <a:xfrm>
            <a:off x="3336131" y="2861072"/>
            <a:ext cx="2215350" cy="151708"/>
          </a:xfrm>
          <a:prstGeom prst="rect">
            <a:avLst/>
          </a:prstGeom>
          <a:noFill/>
          <a:ln/>
        </p:spPr>
        <p:txBody>
          <a:bodyPr wrap="none" lIns="0" tIns="0" rIns="0" bIns="0" rtlCol="0" anchor="t">
            <a:spAutoFit/>
          </a:bodyPr>
          <a:lstStyle/>
          <a:p>
            <a:pPr marL="0" indent="0" algn="l">
              <a:lnSpc>
                <a:spcPct val="120000"/>
              </a:lnSpc>
              <a:buNone/>
            </a:pPr>
            <a:r>
              <a:rPr lang="en-US" sz="900" dirty="0">
                <a:solidFill>
                  <a:srgbClr val="57606A"/>
                </a:solidFill>
                <a:latin typeface="Times New Roman" panose="02020603050405020304" pitchFamily="18" charset="0"/>
                <a:ea typeface="Inter" pitchFamily="34" charset="-122"/>
                <a:cs typeface="Times New Roman" panose="02020603050405020304" pitchFamily="18" charset="0"/>
              </a:rPr>
              <a:t>56-битное вычитание с игнорированием тега</a:t>
            </a:r>
            <a:endParaRPr lang="en-US" sz="900" dirty="0">
              <a:latin typeface="Times New Roman" panose="02020603050405020304" pitchFamily="18" charset="0"/>
              <a:cs typeface="Times New Roman" panose="02020603050405020304" pitchFamily="18" charset="0"/>
            </a:endParaRPr>
          </a:p>
        </p:txBody>
      </p:sp>
      <p:sp>
        <p:nvSpPr>
          <p:cNvPr id="28" name="Shape 24"/>
          <p:cNvSpPr/>
          <p:nvPr/>
        </p:nvSpPr>
        <p:spPr>
          <a:xfrm>
            <a:off x="3336131" y="3934420"/>
            <a:ext cx="2464594" cy="987623"/>
          </a:xfrm>
          <a:prstGeom prst="rect">
            <a:avLst/>
          </a:prstGeom>
          <a:solidFill>
            <a:srgbClr val="F6F8FA"/>
          </a:solidFill>
          <a:ln/>
        </p:spPr>
      </p:sp>
      <p:sp>
        <p:nvSpPr>
          <p:cNvPr id="29" name="Shape 25"/>
          <p:cNvSpPr/>
          <p:nvPr/>
        </p:nvSpPr>
        <p:spPr>
          <a:xfrm>
            <a:off x="3336131" y="3934420"/>
            <a:ext cx="2464594" cy="7144"/>
          </a:xfrm>
          <a:prstGeom prst="rect">
            <a:avLst/>
          </a:prstGeom>
          <a:solidFill>
            <a:srgbClr val="D0D7DE"/>
          </a:solidFill>
          <a:ln/>
        </p:spPr>
      </p:sp>
      <p:sp>
        <p:nvSpPr>
          <p:cNvPr id="30" name="Shape 26"/>
          <p:cNvSpPr/>
          <p:nvPr/>
        </p:nvSpPr>
        <p:spPr>
          <a:xfrm>
            <a:off x="5793581" y="3934420"/>
            <a:ext cx="7144" cy="987623"/>
          </a:xfrm>
          <a:prstGeom prst="rect">
            <a:avLst/>
          </a:prstGeom>
          <a:solidFill>
            <a:srgbClr val="D0D7DE"/>
          </a:solidFill>
          <a:ln/>
        </p:spPr>
      </p:sp>
      <p:sp>
        <p:nvSpPr>
          <p:cNvPr id="31" name="Shape 27"/>
          <p:cNvSpPr/>
          <p:nvPr/>
        </p:nvSpPr>
        <p:spPr>
          <a:xfrm>
            <a:off x="3336131" y="4914900"/>
            <a:ext cx="2464594" cy="7144"/>
          </a:xfrm>
          <a:prstGeom prst="rect">
            <a:avLst/>
          </a:prstGeom>
          <a:solidFill>
            <a:srgbClr val="D0D7DE"/>
          </a:solidFill>
          <a:ln/>
        </p:spPr>
      </p:sp>
      <p:sp>
        <p:nvSpPr>
          <p:cNvPr id="32" name="Shape 28"/>
          <p:cNvSpPr/>
          <p:nvPr/>
        </p:nvSpPr>
        <p:spPr>
          <a:xfrm>
            <a:off x="3336131" y="3934420"/>
            <a:ext cx="28575" cy="987623"/>
          </a:xfrm>
          <a:prstGeom prst="rect">
            <a:avLst/>
          </a:prstGeom>
          <a:solidFill>
            <a:srgbClr val="0969DA"/>
          </a:solidFill>
          <a:ln/>
        </p:spPr>
      </p:sp>
      <p:sp>
        <p:nvSpPr>
          <p:cNvPr id="33" name="Text 29"/>
          <p:cNvSpPr/>
          <p:nvPr/>
        </p:nvSpPr>
        <p:spPr>
          <a:xfrm>
            <a:off x="3450431" y="4063008"/>
            <a:ext cx="2235994" cy="130373"/>
          </a:xfrm>
          <a:prstGeom prst="rect">
            <a:avLst/>
          </a:prstGeom>
          <a:noFill/>
          <a:ln/>
        </p:spPr>
        <p:txBody>
          <a:bodyPr wrap="square" lIns="0" tIns="0" rIns="0" bIns="0" rtlCol="0" anchor="t">
            <a:spAutoFit/>
          </a:bodyPr>
          <a:lstStyle/>
          <a:p>
            <a:pPr marL="0" indent="0" algn="l">
              <a:buNone/>
            </a:pPr>
            <a:r>
              <a:rPr lang="en-US" sz="700" b="1" dirty="0">
                <a:solidFill>
                  <a:srgbClr val="0969DA"/>
                </a:solidFill>
                <a:latin typeface="Fira Code Bold" pitchFamily="34" charset="0"/>
                <a:ea typeface="Fira Code Bold" pitchFamily="34" charset="-122"/>
                <a:cs typeface="Fira Code Bold" pitchFamily="34" charset="-120"/>
              </a:rPr>
              <a:t>Stack tagging strategy</a:t>
            </a:r>
            <a:endParaRPr lang="en-US" sz="700" dirty="0"/>
          </a:p>
        </p:txBody>
      </p:sp>
      <p:sp>
        <p:nvSpPr>
          <p:cNvPr id="34" name="Text 30"/>
          <p:cNvSpPr/>
          <p:nvPr/>
        </p:nvSpPr>
        <p:spPr>
          <a:xfrm>
            <a:off x="3450431" y="4250531"/>
            <a:ext cx="2235994" cy="581121"/>
          </a:xfrm>
          <a:prstGeom prst="rect">
            <a:avLst/>
          </a:prstGeom>
          <a:noFill/>
          <a:ln/>
        </p:spPr>
        <p:txBody>
          <a:bodyPr wrap="square" lIns="0" tIns="0" rIns="0" bIns="0" rtlCol="0" anchor="t">
            <a:spAutoFit/>
          </a:bodyPr>
          <a:lstStyle/>
          <a:p>
            <a:pPr marL="0" indent="0" algn="l">
              <a:lnSpc>
                <a:spcPct val="120000"/>
              </a:lnSpc>
              <a:buNone/>
            </a:pPr>
            <a:r>
              <a:rPr lang="en-US" sz="800" dirty="0">
                <a:solidFill>
                  <a:srgbClr val="57606A"/>
                </a:solidFill>
                <a:latin typeface="Times New Roman" panose="02020603050405020304" pitchFamily="18" charset="0"/>
                <a:ea typeface="Inter" pitchFamily="34" charset="-122"/>
                <a:cs typeface="Times New Roman" panose="02020603050405020304" pitchFamily="18" charset="0"/>
              </a:rPr>
              <a:t>При входе в функцию IRG → случайный тег; ADDG/SUBG → теги для каждого slot; соседние объекты = разные теги → последовательный overflow всегда обнаружен.</a:t>
            </a:r>
            <a:endParaRPr lang="en-US" sz="800" dirty="0">
              <a:latin typeface="Times New Roman" panose="02020603050405020304" pitchFamily="18" charset="0"/>
              <a:cs typeface="Times New Roman" panose="02020603050405020304" pitchFamily="18" charset="0"/>
            </a:endParaRPr>
          </a:p>
        </p:txBody>
      </p:sp>
      <p:sp>
        <p:nvSpPr>
          <p:cNvPr id="35" name="Text 31"/>
          <p:cNvSpPr/>
          <p:nvPr/>
        </p:nvSpPr>
        <p:spPr>
          <a:xfrm>
            <a:off x="6379369" y="1250156"/>
            <a:ext cx="2471738" cy="253603"/>
          </a:xfrm>
          <a:prstGeom prst="rect">
            <a:avLst/>
          </a:prstGeom>
          <a:noFill/>
          <a:ln/>
        </p:spPr>
        <p:txBody>
          <a:bodyPr wrap="square" lIns="0" tIns="0" rIns="0" bIns="85090" rtlCol="0" anchor="t">
            <a:spAutoFit/>
          </a:bodyPr>
          <a:lstStyle/>
          <a:p>
            <a:pPr marL="0" indent="0" algn="l">
              <a:buNone/>
            </a:pPr>
            <a:r>
              <a:rPr lang="en-US" sz="900" b="1" dirty="0">
                <a:solidFill>
                  <a:srgbClr val="2DA44E"/>
                </a:solidFill>
                <a:latin typeface="Fira Code Bold" pitchFamily="34" charset="0"/>
                <a:ea typeface="Fira Code Bold" pitchFamily="34" charset="-122"/>
                <a:cs typeface="Fira Code Bold" pitchFamily="34" charset="-120"/>
              </a:rPr>
              <a:t>SYSTEM LEVEL EL1+</a:t>
            </a:r>
            <a:endParaRPr lang="en-US" sz="900" dirty="0"/>
          </a:p>
        </p:txBody>
      </p:sp>
      <p:sp>
        <p:nvSpPr>
          <p:cNvPr id="36" name="Text 32"/>
          <p:cNvSpPr/>
          <p:nvPr/>
        </p:nvSpPr>
        <p:spPr>
          <a:xfrm>
            <a:off x="6379369" y="1646634"/>
            <a:ext cx="2471738" cy="150019"/>
          </a:xfrm>
          <a:prstGeom prst="rect">
            <a:avLst/>
          </a:prstGeom>
          <a:noFill/>
          <a:ln/>
        </p:spPr>
        <p:txBody>
          <a:bodyPr wrap="square" lIns="0" tIns="0" rIns="0" bIns="0" rtlCol="0" anchor="t">
            <a:spAutoFit/>
          </a:bodyPr>
          <a:lstStyle/>
          <a:p>
            <a:pPr marL="0" indent="0" algn="l">
              <a:buNone/>
            </a:pPr>
            <a:r>
              <a:rPr lang="en-US" sz="800" b="1" dirty="0">
                <a:solidFill>
                  <a:srgbClr val="24292F"/>
                </a:solidFill>
                <a:latin typeface="Fira Code Bold" pitchFamily="34" charset="0"/>
                <a:ea typeface="Fira Code Bold" pitchFamily="34" charset="-122"/>
                <a:cs typeface="Fira Code Bold" pitchFamily="34" charset="-120"/>
              </a:rPr>
              <a:t>LDGM</a:t>
            </a:r>
            <a:endParaRPr lang="en-US" sz="800" dirty="0"/>
          </a:p>
        </p:txBody>
      </p:sp>
      <p:sp>
        <p:nvSpPr>
          <p:cNvPr id="37" name="Text 33"/>
          <p:cNvSpPr/>
          <p:nvPr/>
        </p:nvSpPr>
        <p:spPr>
          <a:xfrm>
            <a:off x="6379369" y="1825228"/>
            <a:ext cx="2314736" cy="151708"/>
          </a:xfrm>
          <a:prstGeom prst="rect">
            <a:avLst/>
          </a:prstGeom>
          <a:noFill/>
          <a:ln/>
        </p:spPr>
        <p:txBody>
          <a:bodyPr wrap="none" lIns="0" tIns="0" rIns="0" bIns="0" rtlCol="0" anchor="t">
            <a:spAutoFit/>
          </a:bodyPr>
          <a:lstStyle/>
          <a:p>
            <a:pPr marL="0" indent="0" algn="l">
              <a:lnSpc>
                <a:spcPct val="120000"/>
              </a:lnSpc>
              <a:buNone/>
            </a:pPr>
            <a:r>
              <a:rPr lang="en-US" sz="900" dirty="0">
                <a:solidFill>
                  <a:srgbClr val="57606A"/>
                </a:solidFill>
                <a:latin typeface="Times New Roman" panose="02020603050405020304" pitchFamily="18" charset="0"/>
                <a:ea typeface="Inter" pitchFamily="34" charset="-122"/>
                <a:cs typeface="Times New Roman" panose="02020603050405020304" pitchFamily="18" charset="0"/>
              </a:rPr>
              <a:t>Массовое чтение тегов (privileged) — для swap</a:t>
            </a:r>
            <a:endParaRPr lang="en-US" sz="900" dirty="0">
              <a:latin typeface="Times New Roman" panose="02020603050405020304" pitchFamily="18" charset="0"/>
              <a:cs typeface="Times New Roman" panose="02020603050405020304" pitchFamily="18" charset="0"/>
            </a:endParaRPr>
          </a:p>
        </p:txBody>
      </p:sp>
      <p:sp>
        <p:nvSpPr>
          <p:cNvPr id="38" name="Text 34"/>
          <p:cNvSpPr/>
          <p:nvPr/>
        </p:nvSpPr>
        <p:spPr>
          <a:xfrm>
            <a:off x="6379369" y="2089547"/>
            <a:ext cx="2471738" cy="150019"/>
          </a:xfrm>
          <a:prstGeom prst="rect">
            <a:avLst/>
          </a:prstGeom>
          <a:noFill/>
          <a:ln/>
        </p:spPr>
        <p:txBody>
          <a:bodyPr wrap="square" lIns="0" tIns="0" rIns="0" bIns="0" rtlCol="0" anchor="t">
            <a:spAutoFit/>
          </a:bodyPr>
          <a:lstStyle/>
          <a:p>
            <a:pPr marL="0" indent="0" algn="l">
              <a:buNone/>
            </a:pPr>
            <a:r>
              <a:rPr lang="en-US" sz="800" b="1" dirty="0">
                <a:solidFill>
                  <a:srgbClr val="24292F"/>
                </a:solidFill>
                <a:latin typeface="Fira Code Bold" pitchFamily="34" charset="0"/>
                <a:ea typeface="Fira Code Bold" pitchFamily="34" charset="-122"/>
                <a:cs typeface="Fira Code Bold" pitchFamily="34" charset="-120"/>
              </a:rPr>
              <a:t>STGM</a:t>
            </a:r>
            <a:endParaRPr lang="en-US" sz="800" dirty="0"/>
          </a:p>
        </p:txBody>
      </p:sp>
      <p:sp>
        <p:nvSpPr>
          <p:cNvPr id="39" name="Text 35"/>
          <p:cNvSpPr/>
          <p:nvPr/>
        </p:nvSpPr>
        <p:spPr>
          <a:xfrm>
            <a:off x="6379369" y="2268141"/>
            <a:ext cx="2471738" cy="317908"/>
          </a:xfrm>
          <a:prstGeom prst="rect">
            <a:avLst/>
          </a:prstGeom>
          <a:noFill/>
          <a:ln/>
        </p:spPr>
        <p:txBody>
          <a:bodyPr wrap="square" lIns="0" tIns="0" rIns="0" bIns="0" rtlCol="0" anchor="t">
            <a:spAutoFit/>
          </a:bodyPr>
          <a:lstStyle/>
          <a:p>
            <a:pPr marL="0" indent="0" algn="l">
              <a:lnSpc>
                <a:spcPct val="120000"/>
              </a:lnSpc>
              <a:buNone/>
            </a:pPr>
            <a:r>
              <a:rPr lang="en-US" sz="900" dirty="0">
                <a:solidFill>
                  <a:srgbClr val="57606A"/>
                </a:solidFill>
                <a:latin typeface="Times New Roman" panose="02020603050405020304" pitchFamily="18" charset="0"/>
                <a:ea typeface="Inter" pitchFamily="34" charset="-122"/>
                <a:cs typeface="Times New Roman" panose="02020603050405020304" pitchFamily="18" charset="0"/>
              </a:rPr>
              <a:t>Массовая запись тегов — инициализация, восстановление</a:t>
            </a:r>
            <a:endParaRPr lang="en-US" sz="900" dirty="0">
              <a:latin typeface="Times New Roman" panose="02020603050405020304" pitchFamily="18" charset="0"/>
              <a:cs typeface="Times New Roman" panose="02020603050405020304" pitchFamily="18" charset="0"/>
            </a:endParaRPr>
          </a:p>
        </p:txBody>
      </p:sp>
      <p:sp>
        <p:nvSpPr>
          <p:cNvPr id="40" name="Text 36"/>
          <p:cNvSpPr/>
          <p:nvPr/>
        </p:nvSpPr>
        <p:spPr>
          <a:xfrm>
            <a:off x="6379369" y="2682478"/>
            <a:ext cx="2471738" cy="150019"/>
          </a:xfrm>
          <a:prstGeom prst="rect">
            <a:avLst/>
          </a:prstGeom>
          <a:noFill/>
          <a:ln/>
        </p:spPr>
        <p:txBody>
          <a:bodyPr wrap="square" lIns="0" tIns="0" rIns="0" bIns="0" rtlCol="0" anchor="t">
            <a:spAutoFit/>
          </a:bodyPr>
          <a:lstStyle/>
          <a:p>
            <a:pPr marL="0" indent="0" algn="l">
              <a:buNone/>
            </a:pPr>
            <a:r>
              <a:rPr lang="en-US" sz="800" b="1" dirty="0">
                <a:solidFill>
                  <a:srgbClr val="24292F"/>
                </a:solidFill>
                <a:latin typeface="Fira Code Bold" pitchFamily="34" charset="0"/>
                <a:ea typeface="Fira Code Bold" pitchFamily="34" charset="-122"/>
                <a:cs typeface="Fira Code Bold" pitchFamily="34" charset="-120"/>
              </a:rPr>
              <a:t>STZGM</a:t>
            </a:r>
            <a:endParaRPr lang="en-US" sz="800" dirty="0"/>
          </a:p>
        </p:txBody>
      </p:sp>
      <p:sp>
        <p:nvSpPr>
          <p:cNvPr id="41" name="Text 37"/>
          <p:cNvSpPr/>
          <p:nvPr/>
        </p:nvSpPr>
        <p:spPr>
          <a:xfrm>
            <a:off x="6379369" y="2861072"/>
            <a:ext cx="2471738" cy="484107"/>
          </a:xfrm>
          <a:prstGeom prst="rect">
            <a:avLst/>
          </a:prstGeom>
          <a:noFill/>
          <a:ln/>
        </p:spPr>
        <p:txBody>
          <a:bodyPr wrap="square" lIns="0" tIns="0" rIns="0" bIns="0" rtlCol="0" anchor="t">
            <a:spAutoFit/>
          </a:bodyPr>
          <a:lstStyle/>
          <a:p>
            <a:pPr marL="0" indent="0" algn="l">
              <a:lnSpc>
                <a:spcPct val="120000"/>
              </a:lnSpc>
              <a:buNone/>
            </a:pPr>
            <a:r>
              <a:rPr lang="en-US" sz="900" dirty="0">
                <a:solidFill>
                  <a:srgbClr val="57606A"/>
                </a:solidFill>
                <a:latin typeface="Times New Roman" panose="02020603050405020304" pitchFamily="18" charset="0"/>
                <a:ea typeface="Inter" pitchFamily="34" charset="-122"/>
                <a:cs typeface="Times New Roman" panose="02020603050405020304" pitchFamily="18" charset="0"/>
              </a:rPr>
              <a:t>Zero + tag за одну операцию — высокоэффективная инициализация страниц в ядре</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7144" y="7144"/>
            <a:ext cx="9129713" cy="592931"/>
          </a:xfrm>
          <a:prstGeom prst="rect">
            <a:avLst/>
          </a:prstGeom>
          <a:solidFill>
            <a:srgbClr val="FFFFFF"/>
          </a:solidFill>
          <a:ln/>
        </p:spPr>
      </p:sp>
      <p:sp>
        <p:nvSpPr>
          <p:cNvPr id="5" name="Shape 1"/>
          <p:cNvSpPr/>
          <p:nvPr/>
        </p:nvSpPr>
        <p:spPr>
          <a:xfrm>
            <a:off x="7144" y="592931"/>
            <a:ext cx="9129713" cy="7144"/>
          </a:xfrm>
          <a:prstGeom prst="rect">
            <a:avLst/>
          </a:prstGeom>
          <a:solidFill>
            <a:srgbClr val="D0D7DE"/>
          </a:solidFill>
          <a:ln/>
        </p:spPr>
      </p:sp>
      <p:sp>
        <p:nvSpPr>
          <p:cNvPr id="6" name="Text 2"/>
          <p:cNvSpPr/>
          <p:nvPr/>
        </p:nvSpPr>
        <p:spPr>
          <a:xfrm>
            <a:off x="435769" y="221456"/>
            <a:ext cx="8272463" cy="300038"/>
          </a:xfrm>
          <a:prstGeom prst="rect">
            <a:avLst/>
          </a:prstGeom>
          <a:noFill/>
          <a:ln/>
        </p:spPr>
        <p:txBody>
          <a:bodyPr wrap="square" lIns="0" tIns="0" rIns="0" bIns="0" rtlCol="0" anchor="t">
            <a:spAutoFit/>
          </a:bodyPr>
          <a:lstStyle/>
          <a:p>
            <a:pPr marL="0" indent="0" algn="l">
              <a:buNone/>
            </a:pPr>
            <a:r>
              <a:rPr lang="en-US" sz="1600" b="1" dirty="0">
                <a:solidFill>
                  <a:srgbClr val="0969DA"/>
                </a:solidFill>
                <a:latin typeface="Fira Code Bold" pitchFamily="34" charset="0"/>
                <a:ea typeface="Fira Code Bold" pitchFamily="34" charset="-122"/>
                <a:cs typeface="Fira Code Bold" pitchFamily="34" charset="-120"/>
              </a:rPr>
              <a:t>SYNC для отладки, ASYNC для продакшена, ASYMM — компромисс</a:t>
            </a:r>
            <a:endParaRPr lang="en-US" sz="1600" dirty="0"/>
          </a:p>
        </p:txBody>
      </p:sp>
      <p:sp>
        <p:nvSpPr>
          <p:cNvPr id="7" name="Shape 3"/>
          <p:cNvSpPr/>
          <p:nvPr/>
        </p:nvSpPr>
        <p:spPr>
          <a:xfrm>
            <a:off x="435769" y="807244"/>
            <a:ext cx="2643188" cy="3679031"/>
          </a:xfrm>
          <a:prstGeom prst="rect">
            <a:avLst/>
          </a:prstGeom>
          <a:solidFill>
            <a:srgbClr val="FFFFFF"/>
          </a:solidFill>
          <a:ln w="9144">
            <a:solidFill>
              <a:srgbClr val="D0D7DE"/>
            </a:solidFill>
            <a:prstDash val="solid"/>
          </a:ln>
        </p:spPr>
        <p:txBody>
          <a:bodyPr/>
          <a:lstStyle/>
          <a:p>
            <a:endParaRPr lang="ru-RU"/>
          </a:p>
        </p:txBody>
      </p:sp>
      <p:sp>
        <p:nvSpPr>
          <p:cNvPr id="8" name="Text 4"/>
          <p:cNvSpPr/>
          <p:nvPr/>
        </p:nvSpPr>
        <p:spPr>
          <a:xfrm>
            <a:off x="737120" y="1015900"/>
            <a:ext cx="1349328" cy="307777"/>
          </a:xfrm>
          <a:prstGeom prst="rect">
            <a:avLst/>
          </a:prstGeom>
          <a:noFill/>
          <a:ln/>
        </p:spPr>
        <p:txBody>
          <a:bodyPr wrap="square" lIns="0" tIns="0" rIns="0" bIns="0" rtlCol="0" anchor="t">
            <a:spAutoFit/>
          </a:bodyPr>
          <a:lstStyle/>
          <a:p>
            <a:pPr marL="0" indent="0" algn="l">
              <a:buNone/>
            </a:pPr>
            <a:r>
              <a:rPr lang="en-US" sz="2000" b="1" dirty="0">
                <a:solidFill>
                  <a:srgbClr val="BF3989"/>
                </a:solidFill>
                <a:latin typeface="Fira Code Bold" pitchFamily="34" charset="0"/>
                <a:ea typeface="Fira Code Bold" pitchFamily="34" charset="-122"/>
                <a:cs typeface="Fira Code Bold" pitchFamily="34" charset="-120"/>
              </a:rPr>
              <a:t>SYNC</a:t>
            </a:r>
            <a:endParaRPr lang="en-US" sz="2000" dirty="0"/>
          </a:p>
        </p:txBody>
      </p:sp>
      <p:sp>
        <p:nvSpPr>
          <p:cNvPr id="9" name="Shape 5"/>
          <p:cNvSpPr/>
          <p:nvPr/>
        </p:nvSpPr>
        <p:spPr>
          <a:xfrm>
            <a:off x="2232422" y="1051917"/>
            <a:ext cx="675084" cy="201811"/>
          </a:xfrm>
          <a:prstGeom prst="rect">
            <a:avLst/>
          </a:prstGeom>
          <a:solidFill>
            <a:srgbClr val="F6F8FA"/>
          </a:solidFill>
          <a:ln w="9144">
            <a:solidFill>
              <a:srgbClr val="D0D7DE"/>
            </a:solidFill>
            <a:prstDash val="solid"/>
          </a:ln>
        </p:spPr>
      </p:sp>
      <p:sp>
        <p:nvSpPr>
          <p:cNvPr id="10" name="Text 6"/>
          <p:cNvSpPr/>
          <p:nvPr/>
        </p:nvSpPr>
        <p:spPr>
          <a:xfrm>
            <a:off x="2232422" y="1051917"/>
            <a:ext cx="675084" cy="201811"/>
          </a:xfrm>
          <a:prstGeom prst="rect">
            <a:avLst/>
          </a:prstGeom>
          <a:noFill/>
          <a:ln/>
        </p:spPr>
        <p:txBody>
          <a:bodyPr wrap="none" lIns="68072" tIns="34036" rIns="68072" bIns="34036" rtlCol="0" anchor="t">
            <a:spAutoFit/>
          </a:bodyPr>
          <a:lstStyle/>
          <a:p>
            <a:pPr marL="0" indent="0" algn="l">
              <a:buNone/>
            </a:pPr>
            <a:r>
              <a:rPr lang="en-US" sz="750" dirty="0">
                <a:solidFill>
                  <a:srgbClr val="57606A"/>
                </a:solidFill>
                <a:latin typeface="Fira Code" pitchFamily="34" charset="0"/>
                <a:ea typeface="Fira Code" pitchFamily="34" charset="-122"/>
                <a:cs typeface="Fira Code" pitchFamily="34" charset="-120"/>
              </a:rPr>
              <a:t>5–25% CPU</a:t>
            </a:r>
            <a:endParaRPr lang="en-US" sz="750" dirty="0"/>
          </a:p>
        </p:txBody>
      </p:sp>
      <p:sp>
        <p:nvSpPr>
          <p:cNvPr id="11" name="Shape 7"/>
          <p:cNvSpPr/>
          <p:nvPr/>
        </p:nvSpPr>
        <p:spPr>
          <a:xfrm>
            <a:off x="607219" y="1455539"/>
            <a:ext cx="2300288" cy="571500"/>
          </a:xfrm>
          <a:prstGeom prst="rect">
            <a:avLst/>
          </a:prstGeom>
          <a:solidFill>
            <a:srgbClr val="F6F8FA"/>
          </a:solidFill>
          <a:ln w="9144">
            <a:solidFill>
              <a:srgbClr val="D0D7DE"/>
            </a:solidFill>
            <a:prstDash val="dash"/>
          </a:ln>
        </p:spPr>
      </p:sp>
      <p:sp>
        <p:nvSpPr>
          <p:cNvPr id="12" name="Text 8"/>
          <p:cNvSpPr/>
          <p:nvPr/>
        </p:nvSpPr>
        <p:spPr>
          <a:xfrm>
            <a:off x="1649313" y="1630766"/>
            <a:ext cx="55364" cy="207169"/>
          </a:xfrm>
          <a:prstGeom prst="rect">
            <a:avLst/>
          </a:prstGeom>
          <a:noFill/>
          <a:ln/>
        </p:spPr>
        <p:txBody>
          <a:bodyPr wrap="none" lIns="0" tIns="0" rIns="0" bIns="0" rtlCol="0" anchor="t">
            <a:spAutoFit/>
          </a:bodyPr>
          <a:lstStyle/>
          <a:p>
            <a:pPr marL="0" indent="0" algn="l">
              <a:buNone/>
            </a:pPr>
            <a:r>
              <a:rPr lang="en-US" sz="1200" b="1" dirty="0">
                <a:solidFill>
                  <a:srgbClr val="BF3989"/>
                </a:solidFill>
                <a:latin typeface="Inter SemiBold" pitchFamily="34" charset="0"/>
                <a:ea typeface="Inter SemiBold" pitchFamily="34" charset="-122"/>
                <a:cs typeface="Inter SemiBold" pitchFamily="34" charset="-120"/>
              </a:rPr>
              <a:t>!</a:t>
            </a:r>
            <a:endParaRPr lang="en-US" sz="1200" dirty="0"/>
          </a:p>
        </p:txBody>
      </p:sp>
      <p:sp>
        <p:nvSpPr>
          <p:cNvPr id="13" name="Text 9"/>
          <p:cNvSpPr/>
          <p:nvPr/>
        </p:nvSpPr>
        <p:spPr>
          <a:xfrm>
            <a:off x="1243013" y="1903809"/>
            <a:ext cx="1213474" cy="92333"/>
          </a:xfrm>
          <a:prstGeom prst="rect">
            <a:avLst/>
          </a:prstGeom>
          <a:noFill/>
          <a:ln/>
        </p:spPr>
        <p:txBody>
          <a:bodyPr wrap="none" lIns="0" tIns="0" rIns="0" bIns="0" rtlCol="0" anchor="t">
            <a:spAutoFit/>
          </a:bodyPr>
          <a:lstStyle/>
          <a:p>
            <a:pPr marL="0" indent="0" algn="l">
              <a:buNone/>
            </a:pPr>
            <a:r>
              <a:rPr lang="en-US" sz="600" b="1" dirty="0">
                <a:solidFill>
                  <a:srgbClr val="57606A"/>
                </a:solidFill>
                <a:latin typeface="Georgia" panose="02040502050405020303" pitchFamily="18" charset="0"/>
                <a:ea typeface="Inter" pitchFamily="34" charset="-122"/>
                <a:cs typeface="Inter" pitchFamily="34" charset="-120"/>
              </a:rPr>
              <a:t>Точное исключение (Precise)</a:t>
            </a:r>
            <a:endParaRPr lang="en-US" sz="600" b="1" dirty="0">
              <a:latin typeface="Georgia" panose="02040502050405020303" pitchFamily="18" charset="0"/>
            </a:endParaRPr>
          </a:p>
        </p:txBody>
      </p:sp>
      <p:sp>
        <p:nvSpPr>
          <p:cNvPr id="14" name="Text 10"/>
          <p:cNvSpPr/>
          <p:nvPr/>
        </p:nvSpPr>
        <p:spPr>
          <a:xfrm>
            <a:off x="607219" y="2198489"/>
            <a:ext cx="171450" cy="114262"/>
          </a:xfrm>
          <a:prstGeom prst="rect">
            <a:avLst/>
          </a:prstGeom>
          <a:noFill/>
          <a:ln/>
        </p:spPr>
        <p:txBody>
          <a:bodyPr wrap="square" lIns="0" tIns="0" rIns="0" bIns="0" rtlCol="0" anchor="t">
            <a:spAutoFit/>
          </a:bodyPr>
          <a:lstStyle/>
          <a:p>
            <a:pPr marL="0" indent="0" algn="l">
              <a:lnSpc>
                <a:spcPct val="112000"/>
              </a:lnSpc>
              <a:buNone/>
            </a:pPr>
            <a:r>
              <a:rPr lang="en-US" sz="700" b="1" dirty="0">
                <a:solidFill>
                  <a:srgbClr val="0969DA"/>
                </a:solidFill>
                <a:latin typeface="Inter SemiBold" pitchFamily="34" charset="0"/>
                <a:ea typeface="Inter SemiBold" pitchFamily="34" charset="-122"/>
                <a:cs typeface="Inter SemiBold" pitchFamily="34" charset="-120"/>
              </a:rPr>
              <a:t>→</a:t>
            </a:r>
            <a:endParaRPr lang="en-US" sz="700" dirty="0"/>
          </a:p>
        </p:txBody>
      </p:sp>
      <p:sp>
        <p:nvSpPr>
          <p:cNvPr id="15" name="Text 11"/>
          <p:cNvSpPr/>
          <p:nvPr/>
        </p:nvSpPr>
        <p:spPr>
          <a:xfrm>
            <a:off x="778669" y="2198489"/>
            <a:ext cx="1562928" cy="122341"/>
          </a:xfrm>
          <a:prstGeom prst="rect">
            <a:avLst/>
          </a:prstGeom>
          <a:noFill/>
          <a:ln/>
        </p:spPr>
        <p:txBody>
          <a:bodyPr wrap="none" lIns="0" tIns="0" rIns="0" bIns="0" rtlCol="0" anchor="t">
            <a:spAutoFit/>
          </a:bodyPr>
          <a:lstStyle/>
          <a:p>
            <a:pPr marL="0" indent="0" algn="l">
              <a:lnSpc>
                <a:spcPct val="112000"/>
              </a:lnSpc>
              <a:buNone/>
            </a:pPr>
            <a:r>
              <a:rPr lang="en-US" sz="750" b="1" dirty="0">
                <a:solidFill>
                  <a:srgbClr val="24292F"/>
                </a:solidFill>
                <a:ea typeface="Inter" pitchFamily="34" charset="-122"/>
                <a:cs typeface="Inter" pitchFamily="34" charset="-120"/>
              </a:rPr>
              <a:t>SIGSEGV на нарушающей инструкции</a:t>
            </a:r>
            <a:endParaRPr lang="en-US" sz="750" b="1" dirty="0"/>
          </a:p>
        </p:txBody>
      </p:sp>
      <p:sp>
        <p:nvSpPr>
          <p:cNvPr id="16" name="Text 12"/>
          <p:cNvSpPr/>
          <p:nvPr/>
        </p:nvSpPr>
        <p:spPr>
          <a:xfrm>
            <a:off x="607219" y="2409927"/>
            <a:ext cx="100013" cy="140001"/>
          </a:xfrm>
          <a:prstGeom prst="rect">
            <a:avLst/>
          </a:prstGeom>
          <a:noFill/>
          <a:ln/>
        </p:spPr>
        <p:txBody>
          <a:bodyPr wrap="none" lIns="0" tIns="0" rIns="0" bIns="0" rtlCol="0" anchor="t">
            <a:spAutoFit/>
          </a:bodyPr>
          <a:lstStyle/>
          <a:p>
            <a:pPr marL="0" indent="0" algn="l">
              <a:lnSpc>
                <a:spcPct val="112000"/>
              </a:lnSpc>
              <a:buNone/>
            </a:pPr>
            <a:r>
              <a:rPr lang="en-US" sz="700" b="1" dirty="0">
                <a:solidFill>
                  <a:srgbClr val="0969DA"/>
                </a:solidFill>
                <a:latin typeface="Inter SemiBold" pitchFamily="34" charset="0"/>
                <a:ea typeface="Inter SemiBold" pitchFamily="34" charset="-122"/>
                <a:cs typeface="Inter SemiBold" pitchFamily="34" charset="-120"/>
              </a:rPr>
              <a:t>→</a:t>
            </a:r>
            <a:endParaRPr lang="en-US" sz="700" dirty="0"/>
          </a:p>
        </p:txBody>
      </p:sp>
      <p:sp>
        <p:nvSpPr>
          <p:cNvPr id="17" name="Text 13"/>
          <p:cNvSpPr/>
          <p:nvPr/>
        </p:nvSpPr>
        <p:spPr>
          <a:xfrm>
            <a:off x="778669" y="2409927"/>
            <a:ext cx="1029128" cy="122341"/>
          </a:xfrm>
          <a:prstGeom prst="rect">
            <a:avLst/>
          </a:prstGeom>
          <a:noFill/>
          <a:ln/>
        </p:spPr>
        <p:txBody>
          <a:bodyPr wrap="none" lIns="0" tIns="0" rIns="0" bIns="0" rtlCol="0" anchor="t">
            <a:spAutoFit/>
          </a:bodyPr>
          <a:lstStyle/>
          <a:p>
            <a:pPr marL="0" indent="0" algn="l">
              <a:lnSpc>
                <a:spcPct val="112000"/>
              </a:lnSpc>
              <a:buNone/>
            </a:pPr>
            <a:r>
              <a:rPr lang="en-US" sz="750" b="1" dirty="0">
                <a:solidFill>
                  <a:srgbClr val="24292F"/>
                </a:solidFill>
                <a:ea typeface="Inter" pitchFamily="34" charset="-122"/>
                <a:cs typeface="Inter" pitchFamily="34" charset="-120"/>
              </a:rPr>
              <a:t>si_code = SEGV_MTESERR</a:t>
            </a:r>
            <a:endParaRPr lang="en-US" sz="750" b="1" dirty="0"/>
          </a:p>
        </p:txBody>
      </p:sp>
      <p:sp>
        <p:nvSpPr>
          <p:cNvPr id="18" name="Text 14"/>
          <p:cNvSpPr/>
          <p:nvPr/>
        </p:nvSpPr>
        <p:spPr>
          <a:xfrm>
            <a:off x="607219" y="2621366"/>
            <a:ext cx="100013" cy="280002"/>
          </a:xfrm>
          <a:prstGeom prst="rect">
            <a:avLst/>
          </a:prstGeom>
          <a:noFill/>
          <a:ln/>
        </p:spPr>
        <p:txBody>
          <a:bodyPr wrap="square" lIns="0" tIns="0" rIns="0" bIns="0" rtlCol="0" anchor="t">
            <a:spAutoFit/>
          </a:bodyPr>
          <a:lstStyle/>
          <a:p>
            <a:pPr marL="0" indent="0" algn="l">
              <a:lnSpc>
                <a:spcPct val="112000"/>
              </a:lnSpc>
              <a:buNone/>
            </a:pPr>
            <a:r>
              <a:rPr lang="en-US" sz="700" b="1" dirty="0">
                <a:solidFill>
                  <a:srgbClr val="0969DA"/>
                </a:solidFill>
                <a:latin typeface="Inter SemiBold" pitchFamily="34" charset="0"/>
                <a:ea typeface="Inter SemiBold" pitchFamily="34" charset="-122"/>
                <a:cs typeface="Inter SemiBold" pitchFamily="34" charset="-120"/>
              </a:rPr>
              <a:t>→</a:t>
            </a:r>
            <a:endParaRPr lang="en-US" sz="700" dirty="0"/>
          </a:p>
        </p:txBody>
      </p:sp>
      <p:sp>
        <p:nvSpPr>
          <p:cNvPr id="19" name="Text 15"/>
          <p:cNvSpPr/>
          <p:nvPr/>
        </p:nvSpPr>
        <p:spPr>
          <a:xfrm>
            <a:off x="778669" y="2621366"/>
            <a:ext cx="2128838" cy="122341"/>
          </a:xfrm>
          <a:prstGeom prst="rect">
            <a:avLst/>
          </a:prstGeom>
          <a:noFill/>
          <a:ln/>
        </p:spPr>
        <p:txBody>
          <a:bodyPr wrap="square" lIns="0" tIns="0" rIns="0" bIns="0" rtlCol="0" anchor="t">
            <a:spAutoFit/>
          </a:bodyPr>
          <a:lstStyle/>
          <a:p>
            <a:pPr marL="0" indent="0" algn="l">
              <a:lnSpc>
                <a:spcPct val="112000"/>
              </a:lnSpc>
              <a:buNone/>
            </a:pPr>
            <a:r>
              <a:rPr lang="en-US" sz="750" b="1" dirty="0">
                <a:solidFill>
                  <a:srgbClr val="24292F"/>
                </a:solidFill>
                <a:ea typeface="Inter" pitchFamily="34" charset="-122"/>
                <a:cs typeface="Inter" pitchFamily="34" charset="-120"/>
              </a:rPr>
              <a:t>Сериализация: load-tag → check → load-val</a:t>
            </a:r>
            <a:endParaRPr lang="en-US" sz="750" b="1" dirty="0"/>
          </a:p>
        </p:txBody>
      </p:sp>
      <p:sp>
        <p:nvSpPr>
          <p:cNvPr id="20" name="Shape 16"/>
          <p:cNvSpPr/>
          <p:nvPr/>
        </p:nvSpPr>
        <p:spPr>
          <a:xfrm>
            <a:off x="607219" y="4109442"/>
            <a:ext cx="2300288" cy="205383"/>
          </a:xfrm>
          <a:prstGeom prst="rect">
            <a:avLst/>
          </a:prstGeom>
          <a:solidFill>
            <a:srgbClr val="F6F8FA"/>
          </a:solidFill>
          <a:ln/>
        </p:spPr>
      </p:sp>
      <p:sp>
        <p:nvSpPr>
          <p:cNvPr id="21" name="Shape 17"/>
          <p:cNvSpPr/>
          <p:nvPr/>
        </p:nvSpPr>
        <p:spPr>
          <a:xfrm>
            <a:off x="607219" y="4109442"/>
            <a:ext cx="2300288" cy="7144"/>
          </a:xfrm>
          <a:prstGeom prst="rect">
            <a:avLst/>
          </a:prstGeom>
          <a:solidFill>
            <a:srgbClr val="D0D7DE"/>
          </a:solidFill>
          <a:ln/>
        </p:spPr>
      </p:sp>
      <p:sp>
        <p:nvSpPr>
          <p:cNvPr id="22" name="Text 18"/>
          <p:cNvSpPr/>
          <p:nvPr/>
        </p:nvSpPr>
        <p:spPr>
          <a:xfrm>
            <a:off x="607219" y="4109442"/>
            <a:ext cx="2300288" cy="205383"/>
          </a:xfrm>
          <a:prstGeom prst="rect">
            <a:avLst/>
          </a:prstGeom>
          <a:noFill/>
          <a:ln/>
        </p:spPr>
        <p:txBody>
          <a:bodyPr wrap="square" lIns="51054" tIns="51054" rIns="51054" bIns="51054" rtlCol="0" anchor="t">
            <a:spAutoFit/>
          </a:bodyPr>
          <a:lstStyle/>
          <a:p>
            <a:pPr marL="0" indent="0" algn="ctr">
              <a:buNone/>
            </a:pPr>
            <a:r>
              <a:rPr lang="en-US" sz="600" b="1" dirty="0">
                <a:solidFill>
                  <a:srgbClr val="24292F"/>
                </a:solidFill>
                <a:latin typeface="Fira Code Bold" pitchFamily="34" charset="0"/>
                <a:ea typeface="Fira Code Bold" pitchFamily="34" charset="-122"/>
                <a:cs typeface="Fira Code Bold" pitchFamily="34" charset="-120"/>
              </a:rPr>
              <a:t>ПРИМЕНЕНИЕ: CI/CD, ОТЛАДКА</a:t>
            </a:r>
            <a:endParaRPr lang="en-US" sz="600" dirty="0"/>
          </a:p>
        </p:txBody>
      </p:sp>
      <p:sp>
        <p:nvSpPr>
          <p:cNvPr id="23" name="Shape 19"/>
          <p:cNvSpPr/>
          <p:nvPr/>
        </p:nvSpPr>
        <p:spPr>
          <a:xfrm>
            <a:off x="3250406" y="807244"/>
            <a:ext cx="2643188" cy="3679031"/>
          </a:xfrm>
          <a:prstGeom prst="rect">
            <a:avLst/>
          </a:prstGeom>
          <a:solidFill>
            <a:srgbClr val="FFFFFF"/>
          </a:solidFill>
          <a:ln w="9144">
            <a:solidFill>
              <a:srgbClr val="D0D7DE"/>
            </a:solidFill>
            <a:prstDash val="solid"/>
          </a:ln>
        </p:spPr>
        <p:txBody>
          <a:bodyPr/>
          <a:lstStyle/>
          <a:p>
            <a:endParaRPr lang="ru-RU" dirty="0"/>
          </a:p>
        </p:txBody>
      </p:sp>
      <p:sp>
        <p:nvSpPr>
          <p:cNvPr id="24" name="Text 20"/>
          <p:cNvSpPr/>
          <p:nvPr/>
        </p:nvSpPr>
        <p:spPr>
          <a:xfrm>
            <a:off x="3421856" y="1015899"/>
            <a:ext cx="769441" cy="307777"/>
          </a:xfrm>
          <a:prstGeom prst="rect">
            <a:avLst/>
          </a:prstGeom>
          <a:noFill/>
          <a:ln/>
        </p:spPr>
        <p:txBody>
          <a:bodyPr wrap="none" lIns="0" tIns="0" rIns="0" bIns="0" rtlCol="0" anchor="t">
            <a:spAutoFit/>
          </a:bodyPr>
          <a:lstStyle/>
          <a:p>
            <a:pPr marL="0" indent="0" algn="l">
              <a:buNone/>
            </a:pPr>
            <a:r>
              <a:rPr lang="en-US" sz="2000" b="1" dirty="0">
                <a:solidFill>
                  <a:srgbClr val="2DA44E"/>
                </a:solidFill>
                <a:latin typeface="Fira Code Bold" pitchFamily="34" charset="0"/>
                <a:ea typeface="Fira Code Bold" pitchFamily="34" charset="-122"/>
                <a:cs typeface="Fira Code Bold" pitchFamily="34" charset="-120"/>
              </a:rPr>
              <a:t>ASYNC</a:t>
            </a:r>
            <a:endParaRPr lang="en-US" sz="2000" dirty="0"/>
          </a:p>
        </p:txBody>
      </p:sp>
      <p:sp>
        <p:nvSpPr>
          <p:cNvPr id="25" name="Shape 21"/>
          <p:cNvSpPr/>
          <p:nvPr/>
        </p:nvSpPr>
        <p:spPr>
          <a:xfrm>
            <a:off x="5047059" y="1051917"/>
            <a:ext cx="675084" cy="201811"/>
          </a:xfrm>
          <a:prstGeom prst="rect">
            <a:avLst/>
          </a:prstGeom>
          <a:solidFill>
            <a:srgbClr val="F6F8FA"/>
          </a:solidFill>
          <a:ln w="9144">
            <a:solidFill>
              <a:srgbClr val="D0D7DE"/>
            </a:solidFill>
            <a:prstDash val="solid"/>
          </a:ln>
        </p:spPr>
      </p:sp>
      <p:sp>
        <p:nvSpPr>
          <p:cNvPr id="26" name="Text 22"/>
          <p:cNvSpPr/>
          <p:nvPr/>
        </p:nvSpPr>
        <p:spPr>
          <a:xfrm>
            <a:off x="5047059" y="1051917"/>
            <a:ext cx="675084" cy="201811"/>
          </a:xfrm>
          <a:prstGeom prst="rect">
            <a:avLst/>
          </a:prstGeom>
          <a:noFill/>
          <a:ln/>
        </p:spPr>
        <p:txBody>
          <a:bodyPr wrap="none" lIns="68072" tIns="34036" rIns="68072" bIns="34036" rtlCol="0" anchor="t">
            <a:spAutoFit/>
          </a:bodyPr>
          <a:lstStyle/>
          <a:p>
            <a:pPr marL="0" indent="0" algn="l">
              <a:buNone/>
            </a:pPr>
            <a:r>
              <a:rPr lang="en-US" sz="750" dirty="0">
                <a:solidFill>
                  <a:srgbClr val="57606A"/>
                </a:solidFill>
                <a:latin typeface="Fira Code" pitchFamily="34" charset="0"/>
                <a:ea typeface="Fira Code" pitchFamily="34" charset="-122"/>
                <a:cs typeface="Fira Code" pitchFamily="34" charset="-120"/>
              </a:rPr>
              <a:t>~1–2% CPU</a:t>
            </a:r>
            <a:endParaRPr lang="en-US" sz="750" dirty="0"/>
          </a:p>
        </p:txBody>
      </p:sp>
      <p:sp>
        <p:nvSpPr>
          <p:cNvPr id="27" name="Shape 23"/>
          <p:cNvSpPr/>
          <p:nvPr/>
        </p:nvSpPr>
        <p:spPr>
          <a:xfrm>
            <a:off x="3421856" y="1455539"/>
            <a:ext cx="2300288" cy="571500"/>
          </a:xfrm>
          <a:prstGeom prst="rect">
            <a:avLst/>
          </a:prstGeom>
          <a:solidFill>
            <a:srgbClr val="F6F8FA"/>
          </a:solidFill>
          <a:ln w="9144">
            <a:solidFill>
              <a:srgbClr val="D0D7DE"/>
            </a:solidFill>
            <a:prstDash val="dash"/>
          </a:ln>
        </p:spPr>
      </p:sp>
      <p:sp>
        <p:nvSpPr>
          <p:cNvPr id="28" name="Shape 24"/>
          <p:cNvSpPr/>
          <p:nvPr/>
        </p:nvSpPr>
        <p:spPr>
          <a:xfrm>
            <a:off x="4357688" y="1669852"/>
            <a:ext cx="428625" cy="142875"/>
          </a:xfrm>
          <a:prstGeom prst="roundRect">
            <a:avLst/>
          </a:prstGeom>
          <a:solidFill>
            <a:srgbClr val="2DA44E"/>
          </a:solidFill>
          <a:ln/>
        </p:spPr>
      </p:sp>
      <p:sp>
        <p:nvSpPr>
          <p:cNvPr id="29" name="Text 25"/>
          <p:cNvSpPr/>
          <p:nvPr/>
        </p:nvSpPr>
        <p:spPr>
          <a:xfrm>
            <a:off x="4825603" y="1669852"/>
            <a:ext cx="139303" cy="173236"/>
          </a:xfrm>
          <a:prstGeom prst="rect">
            <a:avLst/>
          </a:prstGeom>
          <a:noFill/>
          <a:ln/>
        </p:spPr>
        <p:txBody>
          <a:bodyPr wrap="none" lIns="0" tIns="0" rIns="0" bIns="0" rtlCol="0" anchor="t">
            <a:spAutoFit/>
          </a:bodyPr>
          <a:lstStyle/>
          <a:p>
            <a:pPr marL="0" indent="0" algn="l">
              <a:buNone/>
            </a:pPr>
            <a:r>
              <a:rPr lang="en-US" sz="1000" b="1" dirty="0">
                <a:solidFill>
                  <a:srgbClr val="2DA44E"/>
                </a:solidFill>
                <a:latin typeface="Inter SemiBold" pitchFamily="34" charset="0"/>
                <a:ea typeface="Inter SemiBold" pitchFamily="34" charset="-122"/>
                <a:cs typeface="Inter SemiBold" pitchFamily="34" charset="-120"/>
              </a:rPr>
              <a:t>...</a:t>
            </a:r>
            <a:endParaRPr lang="en-US" sz="1000" dirty="0"/>
          </a:p>
        </p:txBody>
      </p:sp>
      <p:sp>
        <p:nvSpPr>
          <p:cNvPr id="30" name="Text 26"/>
          <p:cNvSpPr/>
          <p:nvPr/>
        </p:nvSpPr>
        <p:spPr>
          <a:xfrm>
            <a:off x="3993356" y="1903809"/>
            <a:ext cx="1373774" cy="92333"/>
          </a:xfrm>
          <a:prstGeom prst="rect">
            <a:avLst/>
          </a:prstGeom>
          <a:noFill/>
          <a:ln/>
        </p:spPr>
        <p:txBody>
          <a:bodyPr wrap="none" lIns="0" tIns="0" rIns="0" bIns="0" rtlCol="0" anchor="t">
            <a:spAutoFit/>
          </a:bodyPr>
          <a:lstStyle/>
          <a:p>
            <a:pPr marL="0" indent="0" algn="l">
              <a:buNone/>
            </a:pPr>
            <a:r>
              <a:rPr lang="en-US" sz="600" b="1" dirty="0">
                <a:solidFill>
                  <a:srgbClr val="57606A"/>
                </a:solidFill>
                <a:latin typeface="Georgia" panose="02040502050405020303" pitchFamily="18" charset="0"/>
                <a:ea typeface="Inter" pitchFamily="34" charset="-122"/>
                <a:cs typeface="Inter" pitchFamily="34" charset="-120"/>
              </a:rPr>
              <a:t>Отложенная проверка (Deferred</a:t>
            </a:r>
            <a:r>
              <a:rPr lang="en-US" sz="600" dirty="0">
                <a:solidFill>
                  <a:srgbClr val="57606A"/>
                </a:solidFill>
                <a:latin typeface="Georgia" panose="02040502050405020303" pitchFamily="18" charset="0"/>
                <a:ea typeface="Inter" pitchFamily="34" charset="-122"/>
                <a:cs typeface="Inter" pitchFamily="34" charset="-120"/>
              </a:rPr>
              <a:t>)</a:t>
            </a:r>
            <a:endParaRPr lang="en-US" sz="600" dirty="0">
              <a:latin typeface="Georgia" panose="02040502050405020303" pitchFamily="18" charset="0"/>
            </a:endParaRPr>
          </a:p>
        </p:txBody>
      </p:sp>
      <p:sp>
        <p:nvSpPr>
          <p:cNvPr id="31" name="Text 27"/>
          <p:cNvSpPr/>
          <p:nvPr/>
        </p:nvSpPr>
        <p:spPr>
          <a:xfrm>
            <a:off x="3421856" y="2198489"/>
            <a:ext cx="100013" cy="140001"/>
          </a:xfrm>
          <a:prstGeom prst="rect">
            <a:avLst/>
          </a:prstGeom>
          <a:noFill/>
          <a:ln/>
        </p:spPr>
        <p:txBody>
          <a:bodyPr wrap="none" lIns="0" tIns="0" rIns="0" bIns="0" rtlCol="0" anchor="t">
            <a:spAutoFit/>
          </a:bodyPr>
          <a:lstStyle/>
          <a:p>
            <a:pPr marL="0" indent="0" algn="l">
              <a:lnSpc>
                <a:spcPct val="112000"/>
              </a:lnSpc>
              <a:buNone/>
            </a:pPr>
            <a:r>
              <a:rPr lang="en-US" sz="700" b="1" dirty="0">
                <a:solidFill>
                  <a:srgbClr val="0969DA"/>
                </a:solidFill>
                <a:latin typeface="Inter SemiBold" pitchFamily="34" charset="0"/>
                <a:ea typeface="Inter SemiBold" pitchFamily="34" charset="-122"/>
                <a:cs typeface="Inter SemiBold" pitchFamily="34" charset="-120"/>
              </a:rPr>
              <a:t>→</a:t>
            </a:r>
            <a:endParaRPr lang="en-US" sz="700" dirty="0"/>
          </a:p>
        </p:txBody>
      </p:sp>
      <p:sp>
        <p:nvSpPr>
          <p:cNvPr id="32" name="Text 28"/>
          <p:cNvSpPr/>
          <p:nvPr/>
        </p:nvSpPr>
        <p:spPr>
          <a:xfrm>
            <a:off x="3593306" y="2198489"/>
            <a:ext cx="1155766" cy="122341"/>
          </a:xfrm>
          <a:prstGeom prst="rect">
            <a:avLst/>
          </a:prstGeom>
          <a:noFill/>
          <a:ln/>
        </p:spPr>
        <p:txBody>
          <a:bodyPr wrap="none" lIns="0" tIns="0" rIns="0" bIns="0" rtlCol="0" anchor="t">
            <a:spAutoFit/>
          </a:bodyPr>
          <a:lstStyle/>
          <a:p>
            <a:pPr marL="0" indent="0" algn="l">
              <a:lnSpc>
                <a:spcPct val="112000"/>
              </a:lnSpc>
              <a:buNone/>
            </a:pPr>
            <a:r>
              <a:rPr lang="en-US" sz="750" b="1" dirty="0">
                <a:solidFill>
                  <a:srgbClr val="24292F"/>
                </a:solidFill>
                <a:ea typeface="Inter" pitchFamily="34" charset="-122"/>
                <a:cs typeface="Inter" pitchFamily="34" charset="-120"/>
              </a:rPr>
              <a:t>Ошибки копятся в TFSR_ELx</a:t>
            </a:r>
            <a:endParaRPr lang="en-US" sz="750" b="1" dirty="0"/>
          </a:p>
        </p:txBody>
      </p:sp>
      <p:sp>
        <p:nvSpPr>
          <p:cNvPr id="33" name="Text 29"/>
          <p:cNvSpPr/>
          <p:nvPr/>
        </p:nvSpPr>
        <p:spPr>
          <a:xfrm>
            <a:off x="3421856" y="2409927"/>
            <a:ext cx="100013" cy="140001"/>
          </a:xfrm>
          <a:prstGeom prst="rect">
            <a:avLst/>
          </a:prstGeom>
          <a:noFill/>
          <a:ln/>
        </p:spPr>
        <p:txBody>
          <a:bodyPr wrap="none" lIns="0" tIns="0" rIns="0" bIns="0" rtlCol="0" anchor="t">
            <a:spAutoFit/>
          </a:bodyPr>
          <a:lstStyle/>
          <a:p>
            <a:pPr marL="0" indent="0" algn="l">
              <a:lnSpc>
                <a:spcPct val="112000"/>
              </a:lnSpc>
              <a:buNone/>
            </a:pPr>
            <a:r>
              <a:rPr lang="en-US" sz="700" b="1" dirty="0">
                <a:solidFill>
                  <a:srgbClr val="0969DA"/>
                </a:solidFill>
                <a:latin typeface="Inter SemiBold" pitchFamily="34" charset="0"/>
                <a:ea typeface="Inter SemiBold" pitchFamily="34" charset="-122"/>
                <a:cs typeface="Inter SemiBold" pitchFamily="34" charset="-120"/>
              </a:rPr>
              <a:t>→</a:t>
            </a:r>
            <a:endParaRPr lang="en-US" sz="700" dirty="0"/>
          </a:p>
        </p:txBody>
      </p:sp>
      <p:sp>
        <p:nvSpPr>
          <p:cNvPr id="34" name="Text 30"/>
          <p:cNvSpPr/>
          <p:nvPr/>
        </p:nvSpPr>
        <p:spPr>
          <a:xfrm>
            <a:off x="3593306" y="2409927"/>
            <a:ext cx="1537280" cy="122341"/>
          </a:xfrm>
          <a:prstGeom prst="rect">
            <a:avLst/>
          </a:prstGeom>
          <a:noFill/>
          <a:ln/>
        </p:spPr>
        <p:txBody>
          <a:bodyPr wrap="none" lIns="0" tIns="0" rIns="0" bIns="0" rtlCol="0" anchor="t">
            <a:spAutoFit/>
          </a:bodyPr>
          <a:lstStyle/>
          <a:p>
            <a:pPr marL="0" indent="0" algn="l">
              <a:lnSpc>
                <a:spcPct val="112000"/>
              </a:lnSpc>
              <a:buNone/>
            </a:pPr>
            <a:r>
              <a:rPr lang="en-US" sz="750" b="1" dirty="0">
                <a:solidFill>
                  <a:srgbClr val="24292F"/>
                </a:solidFill>
                <a:ea typeface="Inter" pitchFamily="34" charset="-122"/>
                <a:cs typeface="Inter" pitchFamily="34" charset="-120"/>
              </a:rPr>
              <a:t>Проверка при syscall / context switch</a:t>
            </a:r>
            <a:endParaRPr lang="en-US" sz="750" b="1" dirty="0"/>
          </a:p>
        </p:txBody>
      </p:sp>
      <p:sp>
        <p:nvSpPr>
          <p:cNvPr id="35" name="Text 31"/>
          <p:cNvSpPr/>
          <p:nvPr/>
        </p:nvSpPr>
        <p:spPr>
          <a:xfrm>
            <a:off x="3421856" y="2621366"/>
            <a:ext cx="100013" cy="140001"/>
          </a:xfrm>
          <a:prstGeom prst="rect">
            <a:avLst/>
          </a:prstGeom>
          <a:noFill/>
          <a:ln/>
        </p:spPr>
        <p:txBody>
          <a:bodyPr wrap="none" lIns="0" tIns="0" rIns="0" bIns="0" rtlCol="0" anchor="t">
            <a:spAutoFit/>
          </a:bodyPr>
          <a:lstStyle/>
          <a:p>
            <a:pPr marL="0" indent="0" algn="l">
              <a:lnSpc>
                <a:spcPct val="112000"/>
              </a:lnSpc>
              <a:buNone/>
            </a:pPr>
            <a:r>
              <a:rPr lang="en-US" sz="700" b="1" dirty="0">
                <a:solidFill>
                  <a:srgbClr val="0969DA"/>
                </a:solidFill>
                <a:latin typeface="Inter SemiBold" pitchFamily="34" charset="0"/>
                <a:ea typeface="Inter SemiBold" pitchFamily="34" charset="-122"/>
                <a:cs typeface="Inter SemiBold" pitchFamily="34" charset="-120"/>
              </a:rPr>
              <a:t>→</a:t>
            </a:r>
            <a:endParaRPr lang="en-US" sz="700" dirty="0"/>
          </a:p>
        </p:txBody>
      </p:sp>
      <p:sp>
        <p:nvSpPr>
          <p:cNvPr id="36" name="Text 32"/>
          <p:cNvSpPr/>
          <p:nvPr/>
        </p:nvSpPr>
        <p:spPr>
          <a:xfrm>
            <a:off x="3593306" y="2621366"/>
            <a:ext cx="1292020" cy="122341"/>
          </a:xfrm>
          <a:prstGeom prst="rect">
            <a:avLst/>
          </a:prstGeom>
          <a:noFill/>
          <a:ln/>
        </p:spPr>
        <p:txBody>
          <a:bodyPr wrap="none" lIns="0" tIns="0" rIns="0" bIns="0" rtlCol="0" anchor="t">
            <a:spAutoFit/>
          </a:bodyPr>
          <a:lstStyle/>
          <a:p>
            <a:pPr marL="0" indent="0" algn="l">
              <a:lnSpc>
                <a:spcPct val="112000"/>
              </a:lnSpc>
              <a:buNone/>
            </a:pPr>
            <a:r>
              <a:rPr lang="en-US" sz="750" b="1" dirty="0">
                <a:solidFill>
                  <a:srgbClr val="24292F"/>
                </a:solidFill>
                <a:ea typeface="Inter" pitchFamily="34" charset="-122"/>
                <a:cs typeface="Inter" pitchFamily="34" charset="-120"/>
              </a:rPr>
              <a:t>Точная инструкция неизвестна</a:t>
            </a:r>
            <a:endParaRPr lang="en-US" sz="750" b="1" dirty="0"/>
          </a:p>
        </p:txBody>
      </p:sp>
      <p:sp>
        <p:nvSpPr>
          <p:cNvPr id="37" name="Shape 33"/>
          <p:cNvSpPr/>
          <p:nvPr/>
        </p:nvSpPr>
        <p:spPr>
          <a:xfrm>
            <a:off x="3421856" y="4109442"/>
            <a:ext cx="2300288" cy="205383"/>
          </a:xfrm>
          <a:prstGeom prst="rect">
            <a:avLst/>
          </a:prstGeom>
          <a:solidFill>
            <a:srgbClr val="F6F8FA"/>
          </a:solidFill>
          <a:ln/>
        </p:spPr>
      </p:sp>
      <p:sp>
        <p:nvSpPr>
          <p:cNvPr id="38" name="Shape 34"/>
          <p:cNvSpPr/>
          <p:nvPr/>
        </p:nvSpPr>
        <p:spPr>
          <a:xfrm>
            <a:off x="3421856" y="4109442"/>
            <a:ext cx="2300288" cy="7144"/>
          </a:xfrm>
          <a:prstGeom prst="rect">
            <a:avLst/>
          </a:prstGeom>
          <a:solidFill>
            <a:srgbClr val="D0D7DE"/>
          </a:solidFill>
          <a:ln/>
        </p:spPr>
      </p:sp>
      <p:sp>
        <p:nvSpPr>
          <p:cNvPr id="39" name="Text 35"/>
          <p:cNvSpPr/>
          <p:nvPr/>
        </p:nvSpPr>
        <p:spPr>
          <a:xfrm>
            <a:off x="3421856" y="4109442"/>
            <a:ext cx="2300288" cy="205383"/>
          </a:xfrm>
          <a:prstGeom prst="rect">
            <a:avLst/>
          </a:prstGeom>
          <a:noFill/>
          <a:ln/>
        </p:spPr>
        <p:txBody>
          <a:bodyPr wrap="square" lIns="51054" tIns="51054" rIns="51054" bIns="51054" rtlCol="0" anchor="t">
            <a:spAutoFit/>
          </a:bodyPr>
          <a:lstStyle/>
          <a:p>
            <a:pPr marL="0" indent="0" algn="ctr">
              <a:buNone/>
            </a:pPr>
            <a:r>
              <a:rPr lang="en-US" sz="600" b="1" dirty="0">
                <a:solidFill>
                  <a:srgbClr val="24292F"/>
                </a:solidFill>
                <a:latin typeface="Fira Code Bold" pitchFamily="34" charset="0"/>
                <a:ea typeface="Fira Code Bold" pitchFamily="34" charset="-122"/>
                <a:cs typeface="Fira Code Bold" pitchFamily="34" charset="-120"/>
              </a:rPr>
              <a:t>ПРИМЕНЕНИЕ: PRODUCTION</a:t>
            </a:r>
            <a:endParaRPr lang="en-US" sz="600" dirty="0"/>
          </a:p>
        </p:txBody>
      </p:sp>
      <p:sp>
        <p:nvSpPr>
          <p:cNvPr id="40" name="Shape 36"/>
          <p:cNvSpPr/>
          <p:nvPr/>
        </p:nvSpPr>
        <p:spPr>
          <a:xfrm>
            <a:off x="6065044" y="807244"/>
            <a:ext cx="2643188" cy="3679031"/>
          </a:xfrm>
          <a:prstGeom prst="rect">
            <a:avLst/>
          </a:prstGeom>
          <a:solidFill>
            <a:srgbClr val="FFFFFF"/>
          </a:solidFill>
          <a:ln w="9144">
            <a:solidFill>
              <a:srgbClr val="D0D7DE"/>
            </a:solidFill>
            <a:prstDash val="solid"/>
          </a:ln>
        </p:spPr>
      </p:sp>
      <p:sp>
        <p:nvSpPr>
          <p:cNvPr id="41" name="Text 37"/>
          <p:cNvSpPr/>
          <p:nvPr/>
        </p:nvSpPr>
        <p:spPr>
          <a:xfrm>
            <a:off x="6236494" y="1021556"/>
            <a:ext cx="769441" cy="307777"/>
          </a:xfrm>
          <a:prstGeom prst="rect">
            <a:avLst/>
          </a:prstGeom>
          <a:noFill/>
          <a:ln/>
        </p:spPr>
        <p:txBody>
          <a:bodyPr wrap="none" lIns="0" tIns="0" rIns="0" bIns="0" rtlCol="0" anchor="t">
            <a:spAutoFit/>
          </a:bodyPr>
          <a:lstStyle/>
          <a:p>
            <a:pPr marL="0" indent="0" algn="l">
              <a:buNone/>
            </a:pPr>
            <a:r>
              <a:rPr lang="en-US" sz="2000" b="1" dirty="0">
                <a:solidFill>
                  <a:srgbClr val="0969DA"/>
                </a:solidFill>
                <a:latin typeface="Fira Code Bold" pitchFamily="34" charset="0"/>
                <a:ea typeface="Fira Code Bold" pitchFamily="34" charset="-122"/>
                <a:cs typeface="Fira Code Bold" pitchFamily="34" charset="-120"/>
              </a:rPr>
              <a:t>ASYMM</a:t>
            </a:r>
            <a:endParaRPr lang="en-US" sz="2000" dirty="0"/>
          </a:p>
        </p:txBody>
      </p:sp>
      <p:sp>
        <p:nvSpPr>
          <p:cNvPr id="42" name="Shape 38"/>
          <p:cNvSpPr/>
          <p:nvPr/>
        </p:nvSpPr>
        <p:spPr>
          <a:xfrm>
            <a:off x="7922419" y="1051917"/>
            <a:ext cx="614363" cy="201811"/>
          </a:xfrm>
          <a:prstGeom prst="rect">
            <a:avLst/>
          </a:prstGeom>
          <a:solidFill>
            <a:srgbClr val="F6F8FA"/>
          </a:solidFill>
          <a:ln w="9144">
            <a:solidFill>
              <a:srgbClr val="D0D7DE"/>
            </a:solidFill>
            <a:prstDash val="solid"/>
          </a:ln>
        </p:spPr>
      </p:sp>
      <p:sp>
        <p:nvSpPr>
          <p:cNvPr id="43" name="Text 39"/>
          <p:cNvSpPr/>
          <p:nvPr/>
        </p:nvSpPr>
        <p:spPr>
          <a:xfrm>
            <a:off x="7922419" y="1051917"/>
            <a:ext cx="614363" cy="201811"/>
          </a:xfrm>
          <a:prstGeom prst="rect">
            <a:avLst/>
          </a:prstGeom>
          <a:noFill/>
          <a:ln/>
        </p:spPr>
        <p:txBody>
          <a:bodyPr wrap="none" lIns="68072" tIns="34036" rIns="68072" bIns="34036" rtlCol="0" anchor="t">
            <a:spAutoFit/>
          </a:bodyPr>
          <a:lstStyle/>
          <a:p>
            <a:pPr marL="0" indent="0" algn="l">
              <a:buNone/>
            </a:pPr>
            <a:r>
              <a:rPr lang="en-US" sz="750" dirty="0">
                <a:solidFill>
                  <a:srgbClr val="57606A"/>
                </a:solidFill>
                <a:latin typeface="Fira Code" pitchFamily="34" charset="0"/>
                <a:ea typeface="Fira Code" pitchFamily="34" charset="-122"/>
                <a:cs typeface="Fira Code" pitchFamily="34" charset="-120"/>
              </a:rPr>
              <a:t>1–5% CPU</a:t>
            </a:r>
            <a:endParaRPr lang="en-US" sz="750" dirty="0"/>
          </a:p>
        </p:txBody>
      </p:sp>
      <p:sp>
        <p:nvSpPr>
          <p:cNvPr id="44" name="Shape 40"/>
          <p:cNvSpPr/>
          <p:nvPr/>
        </p:nvSpPr>
        <p:spPr>
          <a:xfrm>
            <a:off x="6236494" y="1455539"/>
            <a:ext cx="2300288" cy="571500"/>
          </a:xfrm>
          <a:prstGeom prst="rect">
            <a:avLst/>
          </a:prstGeom>
          <a:solidFill>
            <a:srgbClr val="F6F8FA"/>
          </a:solidFill>
          <a:ln w="9144">
            <a:solidFill>
              <a:srgbClr val="D0D7DE"/>
            </a:solidFill>
            <a:prstDash val="dash"/>
          </a:ln>
        </p:spPr>
        <p:txBody>
          <a:bodyPr/>
          <a:lstStyle/>
          <a:p>
            <a:endParaRPr lang="ru-RU" dirty="0"/>
          </a:p>
        </p:txBody>
      </p:sp>
      <p:sp>
        <p:nvSpPr>
          <p:cNvPr id="45" name="Text 41"/>
          <p:cNvSpPr/>
          <p:nvPr/>
        </p:nvSpPr>
        <p:spPr>
          <a:xfrm>
            <a:off x="6971407" y="1903809"/>
            <a:ext cx="966611" cy="92333"/>
          </a:xfrm>
          <a:prstGeom prst="rect">
            <a:avLst/>
          </a:prstGeom>
          <a:noFill/>
          <a:ln/>
        </p:spPr>
        <p:txBody>
          <a:bodyPr wrap="none" lIns="0" tIns="0" rIns="0" bIns="0" rtlCol="0" anchor="t">
            <a:spAutoFit/>
          </a:bodyPr>
          <a:lstStyle/>
          <a:p>
            <a:pPr marL="0" indent="0" algn="l">
              <a:buNone/>
            </a:pPr>
            <a:r>
              <a:rPr lang="en-US" sz="600" b="1" dirty="0">
                <a:solidFill>
                  <a:srgbClr val="57606A"/>
                </a:solidFill>
                <a:latin typeface="Georgia" panose="02040502050405020303" pitchFamily="18" charset="0"/>
                <a:ea typeface="Inter" pitchFamily="34" charset="-122"/>
                <a:cs typeface="Inter" pitchFamily="34" charset="-120"/>
              </a:rPr>
              <a:t>Sync Read / Async Write</a:t>
            </a:r>
            <a:endParaRPr lang="en-US" sz="600" b="1" dirty="0">
              <a:latin typeface="Georgia" panose="02040502050405020303" pitchFamily="18" charset="0"/>
            </a:endParaRPr>
          </a:p>
        </p:txBody>
      </p:sp>
      <p:sp>
        <p:nvSpPr>
          <p:cNvPr id="46" name="Text 42"/>
          <p:cNvSpPr/>
          <p:nvPr/>
        </p:nvSpPr>
        <p:spPr>
          <a:xfrm>
            <a:off x="6236494" y="2198489"/>
            <a:ext cx="100013" cy="140001"/>
          </a:xfrm>
          <a:prstGeom prst="rect">
            <a:avLst/>
          </a:prstGeom>
          <a:noFill/>
          <a:ln/>
        </p:spPr>
        <p:txBody>
          <a:bodyPr wrap="none" lIns="0" tIns="0" rIns="0" bIns="0" rtlCol="0" anchor="t">
            <a:spAutoFit/>
          </a:bodyPr>
          <a:lstStyle/>
          <a:p>
            <a:pPr marL="0" indent="0" algn="l">
              <a:lnSpc>
                <a:spcPct val="112000"/>
              </a:lnSpc>
              <a:buNone/>
            </a:pPr>
            <a:r>
              <a:rPr lang="en-US" sz="700" b="1" dirty="0">
                <a:solidFill>
                  <a:srgbClr val="0969DA"/>
                </a:solidFill>
                <a:latin typeface="Inter SemiBold" pitchFamily="34" charset="0"/>
                <a:ea typeface="Inter SemiBold" pitchFamily="34" charset="-122"/>
                <a:cs typeface="Inter SemiBold" pitchFamily="34" charset="-120"/>
              </a:rPr>
              <a:t>→</a:t>
            </a:r>
            <a:endParaRPr lang="en-US" sz="700" dirty="0"/>
          </a:p>
        </p:txBody>
      </p:sp>
      <p:sp>
        <p:nvSpPr>
          <p:cNvPr id="47" name="Text 43"/>
          <p:cNvSpPr/>
          <p:nvPr/>
        </p:nvSpPr>
        <p:spPr>
          <a:xfrm>
            <a:off x="6407944" y="2198489"/>
            <a:ext cx="1312860" cy="122341"/>
          </a:xfrm>
          <a:prstGeom prst="rect">
            <a:avLst/>
          </a:prstGeom>
          <a:noFill/>
          <a:ln/>
        </p:spPr>
        <p:txBody>
          <a:bodyPr wrap="none" lIns="0" tIns="0" rIns="0" bIns="0" rtlCol="0" anchor="t">
            <a:spAutoFit/>
          </a:bodyPr>
          <a:lstStyle/>
          <a:p>
            <a:pPr marL="0" indent="0" algn="l">
              <a:lnSpc>
                <a:spcPct val="112000"/>
              </a:lnSpc>
              <a:buNone/>
            </a:pPr>
            <a:r>
              <a:rPr lang="en-US" sz="750" b="1" dirty="0">
                <a:solidFill>
                  <a:srgbClr val="24292F"/>
                </a:solidFill>
                <a:ea typeface="Inter" pitchFamily="34" charset="-122"/>
                <a:cs typeface="Inter" pitchFamily="34" charset="-120"/>
              </a:rPr>
              <a:t>Reads: synchronous (безопасно)</a:t>
            </a:r>
            <a:endParaRPr lang="en-US" sz="750" b="1" dirty="0"/>
          </a:p>
        </p:txBody>
      </p:sp>
      <p:sp>
        <p:nvSpPr>
          <p:cNvPr id="48" name="Text 44"/>
          <p:cNvSpPr/>
          <p:nvPr/>
        </p:nvSpPr>
        <p:spPr>
          <a:xfrm>
            <a:off x="6236494" y="2409927"/>
            <a:ext cx="100013" cy="140001"/>
          </a:xfrm>
          <a:prstGeom prst="rect">
            <a:avLst/>
          </a:prstGeom>
          <a:noFill/>
          <a:ln/>
        </p:spPr>
        <p:txBody>
          <a:bodyPr wrap="none" lIns="0" tIns="0" rIns="0" bIns="0" rtlCol="0" anchor="t">
            <a:spAutoFit/>
          </a:bodyPr>
          <a:lstStyle/>
          <a:p>
            <a:pPr marL="0" indent="0" algn="l">
              <a:lnSpc>
                <a:spcPct val="112000"/>
              </a:lnSpc>
              <a:buNone/>
            </a:pPr>
            <a:r>
              <a:rPr lang="en-US" sz="700" b="1" dirty="0">
                <a:solidFill>
                  <a:srgbClr val="0969DA"/>
                </a:solidFill>
                <a:latin typeface="Inter SemiBold" pitchFamily="34" charset="0"/>
                <a:ea typeface="Inter SemiBold" pitchFamily="34" charset="-122"/>
                <a:cs typeface="Inter SemiBold" pitchFamily="34" charset="-120"/>
              </a:rPr>
              <a:t>→</a:t>
            </a:r>
            <a:endParaRPr lang="en-US" sz="700" dirty="0"/>
          </a:p>
        </p:txBody>
      </p:sp>
      <p:sp>
        <p:nvSpPr>
          <p:cNvPr id="49" name="Text 45"/>
          <p:cNvSpPr/>
          <p:nvPr/>
        </p:nvSpPr>
        <p:spPr>
          <a:xfrm>
            <a:off x="6407944" y="2409927"/>
            <a:ext cx="1248740" cy="122341"/>
          </a:xfrm>
          <a:prstGeom prst="rect">
            <a:avLst/>
          </a:prstGeom>
          <a:noFill/>
          <a:ln/>
        </p:spPr>
        <p:txBody>
          <a:bodyPr wrap="none" lIns="0" tIns="0" rIns="0" bIns="0" rtlCol="0" anchor="t">
            <a:spAutoFit/>
          </a:bodyPr>
          <a:lstStyle/>
          <a:p>
            <a:pPr marL="0" indent="0" algn="l">
              <a:lnSpc>
                <a:spcPct val="112000"/>
              </a:lnSpc>
              <a:buNone/>
            </a:pPr>
            <a:r>
              <a:rPr lang="en-US" sz="750" b="1" dirty="0">
                <a:solidFill>
                  <a:srgbClr val="24292F"/>
                </a:solidFill>
                <a:ea typeface="Inter" pitchFamily="34" charset="-122"/>
                <a:cs typeface="Inter" pitchFamily="34" charset="-120"/>
              </a:rPr>
              <a:t>Writes: asynchronous (быстро)</a:t>
            </a:r>
            <a:endParaRPr lang="en-US" sz="750" b="1" dirty="0"/>
          </a:p>
        </p:txBody>
      </p:sp>
      <p:sp>
        <p:nvSpPr>
          <p:cNvPr id="50" name="Text 46"/>
          <p:cNvSpPr/>
          <p:nvPr/>
        </p:nvSpPr>
        <p:spPr>
          <a:xfrm>
            <a:off x="6236494" y="2621366"/>
            <a:ext cx="100013" cy="140001"/>
          </a:xfrm>
          <a:prstGeom prst="rect">
            <a:avLst/>
          </a:prstGeom>
          <a:noFill/>
          <a:ln/>
        </p:spPr>
        <p:txBody>
          <a:bodyPr wrap="none" lIns="0" tIns="0" rIns="0" bIns="0" rtlCol="0" anchor="t">
            <a:spAutoFit/>
          </a:bodyPr>
          <a:lstStyle/>
          <a:p>
            <a:pPr marL="0" indent="0" algn="l">
              <a:lnSpc>
                <a:spcPct val="112000"/>
              </a:lnSpc>
              <a:buNone/>
            </a:pPr>
            <a:r>
              <a:rPr lang="en-US" sz="700" b="1" dirty="0">
                <a:solidFill>
                  <a:srgbClr val="0969DA"/>
                </a:solidFill>
                <a:latin typeface="Inter SemiBold" pitchFamily="34" charset="0"/>
                <a:ea typeface="Inter SemiBold" pitchFamily="34" charset="-122"/>
                <a:cs typeface="Inter SemiBold" pitchFamily="34" charset="-120"/>
              </a:rPr>
              <a:t>→</a:t>
            </a:r>
            <a:endParaRPr lang="en-US" sz="700" dirty="0"/>
          </a:p>
        </p:txBody>
      </p:sp>
      <p:sp>
        <p:nvSpPr>
          <p:cNvPr id="51" name="Text 47"/>
          <p:cNvSpPr/>
          <p:nvPr/>
        </p:nvSpPr>
        <p:spPr>
          <a:xfrm>
            <a:off x="6407944" y="2621366"/>
            <a:ext cx="1311256" cy="122341"/>
          </a:xfrm>
          <a:prstGeom prst="rect">
            <a:avLst/>
          </a:prstGeom>
          <a:noFill/>
          <a:ln/>
        </p:spPr>
        <p:txBody>
          <a:bodyPr wrap="none" lIns="0" tIns="0" rIns="0" bIns="0" rtlCol="0" anchor="t">
            <a:spAutoFit/>
          </a:bodyPr>
          <a:lstStyle/>
          <a:p>
            <a:pPr marL="0" indent="0" algn="l">
              <a:lnSpc>
                <a:spcPct val="112000"/>
              </a:lnSpc>
              <a:buNone/>
            </a:pPr>
            <a:r>
              <a:rPr lang="en-US" sz="750" b="1" dirty="0">
                <a:solidFill>
                  <a:srgbClr val="24292F"/>
                </a:solidFill>
                <a:ea typeface="Inter" pitchFamily="34" charset="-122"/>
                <a:cs typeface="Inter" pitchFamily="34" charset="-120"/>
              </a:rPr>
              <a:t>Баланс диагностики и скорости</a:t>
            </a:r>
            <a:endParaRPr lang="en-US" sz="750" b="1" dirty="0"/>
          </a:p>
        </p:txBody>
      </p:sp>
      <p:sp>
        <p:nvSpPr>
          <p:cNvPr id="52" name="Shape 48"/>
          <p:cNvSpPr/>
          <p:nvPr/>
        </p:nvSpPr>
        <p:spPr>
          <a:xfrm>
            <a:off x="6236494" y="4109442"/>
            <a:ext cx="2300288" cy="205383"/>
          </a:xfrm>
          <a:prstGeom prst="rect">
            <a:avLst/>
          </a:prstGeom>
          <a:solidFill>
            <a:srgbClr val="F6F8FA"/>
          </a:solidFill>
          <a:ln/>
        </p:spPr>
      </p:sp>
      <p:sp>
        <p:nvSpPr>
          <p:cNvPr id="53" name="Shape 49"/>
          <p:cNvSpPr/>
          <p:nvPr/>
        </p:nvSpPr>
        <p:spPr>
          <a:xfrm>
            <a:off x="6236494" y="4109442"/>
            <a:ext cx="2300288" cy="7144"/>
          </a:xfrm>
          <a:prstGeom prst="rect">
            <a:avLst/>
          </a:prstGeom>
          <a:solidFill>
            <a:srgbClr val="D0D7DE"/>
          </a:solidFill>
          <a:ln/>
        </p:spPr>
      </p:sp>
      <p:sp>
        <p:nvSpPr>
          <p:cNvPr id="54" name="Text 50"/>
          <p:cNvSpPr/>
          <p:nvPr/>
        </p:nvSpPr>
        <p:spPr>
          <a:xfrm>
            <a:off x="6236494" y="4109442"/>
            <a:ext cx="2300288" cy="205383"/>
          </a:xfrm>
          <a:prstGeom prst="rect">
            <a:avLst/>
          </a:prstGeom>
          <a:noFill/>
          <a:ln/>
        </p:spPr>
        <p:txBody>
          <a:bodyPr wrap="square" lIns="51054" tIns="51054" rIns="51054" bIns="51054" rtlCol="0" anchor="t">
            <a:spAutoFit/>
          </a:bodyPr>
          <a:lstStyle/>
          <a:p>
            <a:pPr marL="0" indent="0" algn="ctr">
              <a:buNone/>
            </a:pPr>
            <a:r>
              <a:rPr lang="en-US" sz="600" b="1" dirty="0">
                <a:solidFill>
                  <a:srgbClr val="24292F"/>
                </a:solidFill>
                <a:latin typeface="Fira Code Bold" pitchFamily="34" charset="0"/>
                <a:ea typeface="Fira Code Bold" pitchFamily="34" charset="-122"/>
                <a:cs typeface="Fira Code Bold" pitchFamily="34" charset="-120"/>
              </a:rPr>
              <a:t>ПРИМЕНЕНИЕ: READ-HEAVY SERVER</a:t>
            </a:r>
            <a:endParaRPr lang="en-US" sz="600" dirty="0"/>
          </a:p>
        </p:txBody>
      </p:sp>
      <p:sp>
        <p:nvSpPr>
          <p:cNvPr id="55" name="Shape 51"/>
          <p:cNvSpPr/>
          <p:nvPr/>
        </p:nvSpPr>
        <p:spPr>
          <a:xfrm>
            <a:off x="7144" y="4700588"/>
            <a:ext cx="9129713" cy="435769"/>
          </a:xfrm>
          <a:prstGeom prst="rect">
            <a:avLst/>
          </a:prstGeom>
          <a:solidFill>
            <a:srgbClr val="24292F"/>
          </a:solidFill>
          <a:ln/>
        </p:spPr>
      </p:sp>
      <p:sp>
        <p:nvSpPr>
          <p:cNvPr id="56" name="Text 52"/>
          <p:cNvSpPr/>
          <p:nvPr/>
        </p:nvSpPr>
        <p:spPr>
          <a:xfrm>
            <a:off x="435769" y="4853285"/>
            <a:ext cx="1153716" cy="130373"/>
          </a:xfrm>
          <a:prstGeom prst="rect">
            <a:avLst/>
          </a:prstGeom>
          <a:noFill/>
          <a:ln/>
        </p:spPr>
        <p:txBody>
          <a:bodyPr wrap="none" lIns="0" tIns="0" rIns="0" bIns="0" rtlCol="0" anchor="t">
            <a:spAutoFit/>
          </a:bodyPr>
          <a:lstStyle/>
          <a:p>
            <a:pPr marL="0" indent="0" algn="l">
              <a:buNone/>
            </a:pPr>
            <a:r>
              <a:rPr lang="en-US" sz="700" b="1" dirty="0">
                <a:solidFill>
                  <a:srgbClr val="0969DA"/>
                </a:solidFill>
                <a:latin typeface="Fira Code Bold" pitchFamily="34" charset="0"/>
                <a:ea typeface="Fira Code Bold" pitchFamily="34" charset="-122"/>
                <a:cs typeface="Fira Code Bold" pitchFamily="34" charset="-120"/>
              </a:rPr>
              <a:t>PERFORMANCE INSIGHT</a:t>
            </a:r>
            <a:endParaRPr lang="en-US" sz="700" dirty="0"/>
          </a:p>
        </p:txBody>
      </p:sp>
      <p:sp>
        <p:nvSpPr>
          <p:cNvPr id="57" name="Text 53"/>
          <p:cNvSpPr/>
          <p:nvPr/>
        </p:nvSpPr>
        <p:spPr>
          <a:xfrm>
            <a:off x="1732359" y="4843463"/>
            <a:ext cx="5259453" cy="127214"/>
          </a:xfrm>
          <a:prstGeom prst="rect">
            <a:avLst/>
          </a:prstGeom>
          <a:noFill/>
          <a:ln/>
        </p:spPr>
        <p:txBody>
          <a:bodyPr wrap="none" lIns="0" tIns="0" rIns="0" bIns="0" rtlCol="0" anchor="t">
            <a:spAutoFit/>
          </a:bodyPr>
          <a:lstStyle/>
          <a:p>
            <a:pPr marL="0" indent="0" algn="l">
              <a:lnSpc>
                <a:spcPct val="112000"/>
              </a:lnSpc>
              <a:buNone/>
            </a:pPr>
            <a:r>
              <a:rPr lang="en-US" sz="800" dirty="0">
                <a:solidFill>
                  <a:srgbClr val="C9D1D9"/>
                </a:solidFill>
                <a:latin typeface="Georgia" panose="02040502050405020303" pitchFamily="18" charset="0"/>
                <a:ea typeface="Inter" pitchFamily="34" charset="-122"/>
                <a:cs typeface="Inter" pitchFamily="34" charset="-120"/>
              </a:rPr>
              <a:t>На Pixel 8 (A7x/A5x) </a:t>
            </a:r>
            <a:r>
              <a:rPr lang="en-US" sz="750" b="1" dirty="0">
                <a:solidFill>
                  <a:srgbClr val="C9D1D9"/>
                </a:solidFill>
                <a:latin typeface="Georgia" panose="02040502050405020303" pitchFamily="18" charset="0"/>
                <a:ea typeface="Inter SemiBold" pitchFamily="34" charset="-122"/>
                <a:cs typeface="Inter SemiBold" pitchFamily="34" charset="-120"/>
              </a:rPr>
              <a:t>ASYNC overhead &lt;2%</a:t>
            </a:r>
            <a:r>
              <a:rPr lang="en-US" sz="800" dirty="0">
                <a:solidFill>
                  <a:srgbClr val="C9D1D9"/>
                </a:solidFill>
                <a:latin typeface="Georgia" panose="02040502050405020303" pitchFamily="18" charset="0"/>
                <a:ea typeface="Inter" pitchFamily="34" charset="-122"/>
                <a:cs typeface="Inter" pitchFamily="34" charset="-120"/>
              </a:rPr>
              <a:t>. На AmpereOne </a:t>
            </a:r>
            <a:r>
              <a:rPr lang="en-US" sz="750" b="1" dirty="0">
                <a:solidFill>
                  <a:srgbClr val="C9D1D9"/>
                </a:solidFill>
                <a:latin typeface="Georgia" panose="02040502050405020303" pitchFamily="18" charset="0"/>
                <a:ea typeface="Inter SemiBold" pitchFamily="34" charset="-122"/>
                <a:cs typeface="Inter SemiBold" pitchFamily="34" charset="-120"/>
              </a:rPr>
              <a:t>SYNC overhead до 50%</a:t>
            </a:r>
            <a:r>
              <a:rPr lang="en-US" sz="800" dirty="0">
                <a:solidFill>
                  <a:srgbClr val="C9D1D9"/>
                </a:solidFill>
                <a:latin typeface="Georgia" panose="02040502050405020303" pitchFamily="18" charset="0"/>
                <a:ea typeface="Inter" pitchFamily="34" charset="-122"/>
                <a:cs typeface="Inter" pitchFamily="34" charset="-120"/>
              </a:rPr>
              <a:t> для store-heavy workloads.</a:t>
            </a:r>
            <a:endParaRPr lang="en-US" sz="800" dirty="0">
              <a:latin typeface="Georgia" panose="02040502050405020303" pitchFamily="18" charset="0"/>
            </a:endParaRPr>
          </a:p>
        </p:txBody>
      </p:sp>
      <p:sp>
        <p:nvSpPr>
          <p:cNvPr id="2" name="Shape 40">
            <a:extLst>
              <a:ext uri="{FF2B5EF4-FFF2-40B4-BE49-F238E27FC236}">
                <a16:creationId xmlns:a16="http://schemas.microsoft.com/office/drawing/2014/main" id="{6EFE8EBB-9588-62A1-8831-4B6441E71AEF}"/>
              </a:ext>
            </a:extLst>
          </p:cNvPr>
          <p:cNvSpPr/>
          <p:nvPr/>
        </p:nvSpPr>
        <p:spPr>
          <a:xfrm>
            <a:off x="7173955" y="1620933"/>
            <a:ext cx="240365" cy="217002"/>
          </a:xfrm>
          <a:prstGeom prst="rect">
            <a:avLst/>
          </a:prstGeom>
          <a:solidFill>
            <a:srgbClr val="4472C4"/>
          </a:solidFill>
          <a:ln w="9144">
            <a:solidFill>
              <a:srgbClr val="D0D7DE"/>
            </a:solidFill>
            <a:prstDash val="dash"/>
          </a:ln>
        </p:spPr>
        <p:txBody>
          <a:bodyPr/>
          <a:lstStyle/>
          <a:p>
            <a:endParaRPr lang="ru-RU" dirty="0">
              <a:solidFill>
                <a:srgbClr val="4472C4"/>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7144" y="7144"/>
            <a:ext cx="9129713" cy="978694"/>
          </a:xfrm>
          <a:prstGeom prst="rect">
            <a:avLst/>
          </a:prstGeom>
          <a:solidFill>
            <a:srgbClr val="FFFFFF"/>
          </a:solidFill>
          <a:ln/>
        </p:spPr>
      </p:sp>
      <p:sp>
        <p:nvSpPr>
          <p:cNvPr id="5" name="Shape 1"/>
          <p:cNvSpPr/>
          <p:nvPr/>
        </p:nvSpPr>
        <p:spPr>
          <a:xfrm>
            <a:off x="7144" y="978694"/>
            <a:ext cx="9129713" cy="7144"/>
          </a:xfrm>
          <a:prstGeom prst="rect">
            <a:avLst/>
          </a:prstGeom>
          <a:solidFill>
            <a:srgbClr val="D0D7DE"/>
          </a:solidFill>
          <a:ln/>
        </p:spPr>
      </p:sp>
      <p:sp>
        <p:nvSpPr>
          <p:cNvPr id="6" name="Text 2"/>
          <p:cNvSpPr/>
          <p:nvPr/>
        </p:nvSpPr>
        <p:spPr>
          <a:xfrm>
            <a:off x="350044" y="292894"/>
            <a:ext cx="8443913" cy="600075"/>
          </a:xfrm>
          <a:prstGeom prst="rect">
            <a:avLst/>
          </a:prstGeom>
          <a:noFill/>
          <a:ln/>
        </p:spPr>
        <p:txBody>
          <a:bodyPr wrap="square" lIns="0" tIns="0" rIns="0" bIns="0" rtlCol="0" anchor="t">
            <a:spAutoFit/>
          </a:bodyPr>
          <a:lstStyle/>
          <a:p>
            <a:pPr marL="0" indent="0" algn="l">
              <a:buNone/>
            </a:pPr>
            <a:r>
              <a:rPr lang="en-US" sz="1600" b="1" dirty="0">
                <a:solidFill>
                  <a:srgbClr val="0969DA"/>
                </a:solidFill>
                <a:latin typeface="Fira Code Bold" pitchFamily="34" charset="0"/>
                <a:ea typeface="Fira Code Bold" pitchFamily="34" charset="-122"/>
                <a:cs typeface="Fira Code Bold" pitchFamily="34" charset="-120"/>
              </a:rPr>
              <a:t>MTE детерминировано обнаруживает переполнения и use-after-free</a:t>
            </a:r>
            <a:endParaRPr lang="en-US" sz="1600" dirty="0"/>
          </a:p>
        </p:txBody>
      </p:sp>
      <p:sp>
        <p:nvSpPr>
          <p:cNvPr id="7" name="Shape 3"/>
          <p:cNvSpPr/>
          <p:nvPr/>
        </p:nvSpPr>
        <p:spPr>
          <a:xfrm>
            <a:off x="7144" y="978694"/>
            <a:ext cx="4564856" cy="3771900"/>
          </a:xfrm>
          <a:prstGeom prst="rect">
            <a:avLst/>
          </a:prstGeom>
          <a:solidFill>
            <a:srgbClr val="FFFFFF"/>
          </a:solidFill>
          <a:ln/>
        </p:spPr>
      </p:sp>
      <p:sp>
        <p:nvSpPr>
          <p:cNvPr id="8" name="Shape 4"/>
          <p:cNvSpPr/>
          <p:nvPr/>
        </p:nvSpPr>
        <p:spPr>
          <a:xfrm>
            <a:off x="4564856" y="978694"/>
            <a:ext cx="7144" cy="3771900"/>
          </a:xfrm>
          <a:prstGeom prst="rect">
            <a:avLst/>
          </a:prstGeom>
          <a:solidFill>
            <a:srgbClr val="D0D7DE"/>
          </a:solidFill>
          <a:ln/>
        </p:spPr>
      </p:sp>
      <p:sp>
        <p:nvSpPr>
          <p:cNvPr id="9" name="Text 5"/>
          <p:cNvSpPr/>
          <p:nvPr/>
        </p:nvSpPr>
        <p:spPr>
          <a:xfrm>
            <a:off x="350044" y="1150144"/>
            <a:ext cx="3879056" cy="282178"/>
          </a:xfrm>
          <a:prstGeom prst="rect">
            <a:avLst/>
          </a:prstGeom>
          <a:noFill/>
          <a:ln/>
        </p:spPr>
        <p:txBody>
          <a:bodyPr wrap="square" lIns="0" tIns="0" rIns="0" bIns="51054" rtlCol="0" anchor="t">
            <a:spAutoFit/>
          </a:bodyPr>
          <a:lstStyle/>
          <a:p>
            <a:pPr marL="0" indent="0" algn="l">
              <a:buNone/>
            </a:pPr>
            <a:r>
              <a:rPr lang="en-US" sz="1200" b="1" dirty="0">
                <a:solidFill>
                  <a:srgbClr val="BF3989"/>
                </a:solidFill>
                <a:latin typeface="Fira Code Bold" pitchFamily="34" charset="0"/>
                <a:ea typeface="Fira Code Bold" pitchFamily="34" charset="-122"/>
                <a:cs typeface="Fira Code Bold" pitchFamily="34" charset="-120"/>
              </a:rPr>
              <a:t>Spatial Safety (Пространственная)</a:t>
            </a:r>
            <a:endParaRPr lang="en-US" sz="1200" dirty="0"/>
          </a:p>
        </p:txBody>
      </p:sp>
      <p:sp>
        <p:nvSpPr>
          <p:cNvPr id="10" name="Text 6"/>
          <p:cNvSpPr/>
          <p:nvPr/>
        </p:nvSpPr>
        <p:spPr>
          <a:xfrm>
            <a:off x="350044" y="1546622"/>
            <a:ext cx="3879056" cy="167878"/>
          </a:xfrm>
          <a:prstGeom prst="rect">
            <a:avLst/>
          </a:prstGeom>
          <a:noFill/>
          <a:ln/>
        </p:spPr>
        <p:txBody>
          <a:bodyPr wrap="square" lIns="0" tIns="0" rIns="0" bIns="0" rtlCol="0" anchor="t">
            <a:spAutoFit/>
          </a:bodyPr>
          <a:lstStyle/>
          <a:p>
            <a:pPr marL="0" indent="0" algn="l">
              <a:buNone/>
            </a:pPr>
            <a:r>
              <a:rPr lang="en-US" sz="900" b="1" dirty="0">
                <a:solidFill>
                  <a:srgbClr val="24292F"/>
                </a:solidFill>
                <a:latin typeface="Fira Code Bold" pitchFamily="34" charset="0"/>
                <a:ea typeface="Fira Code Bold" pitchFamily="34" charset="-122"/>
                <a:cs typeface="Fira Code Bold" pitchFamily="34" charset="-120"/>
              </a:rPr>
              <a:t>Buffer Overflow на стеке</a:t>
            </a:r>
            <a:endParaRPr lang="en-US" sz="900" dirty="0"/>
          </a:p>
        </p:txBody>
      </p:sp>
      <p:sp>
        <p:nvSpPr>
          <p:cNvPr id="11" name="Text 7"/>
          <p:cNvSpPr/>
          <p:nvPr/>
        </p:nvSpPr>
        <p:spPr>
          <a:xfrm>
            <a:off x="350044" y="1771650"/>
            <a:ext cx="3879056" cy="374846"/>
          </a:xfrm>
          <a:prstGeom prst="rect">
            <a:avLst/>
          </a:prstGeom>
          <a:noFill/>
          <a:ln/>
        </p:spPr>
        <p:txBody>
          <a:bodyPr wrap="square" lIns="0" tIns="0" rIns="0" bIns="0" rtlCol="0" anchor="t">
            <a:spAutoFit/>
          </a:bodyPr>
          <a:lstStyle/>
          <a:p>
            <a:pPr marL="0" indent="0" algn="l">
              <a:lnSpc>
                <a:spcPct val="120000"/>
              </a:lnSpc>
              <a:buNone/>
            </a:pPr>
            <a:r>
              <a:rPr lang="en-US" sz="1050" dirty="0">
                <a:solidFill>
                  <a:srgbClr val="57606A"/>
                </a:solidFill>
                <a:latin typeface="Times New Roman" panose="02020603050405020304" pitchFamily="18" charset="0"/>
                <a:ea typeface="Inter" pitchFamily="34" charset="-122"/>
                <a:cs typeface="Times New Roman" panose="02020603050405020304" pitchFamily="18" charset="0"/>
              </a:rPr>
              <a:t>Перезапись return address → ROP / stack smashing. Основа эксплойтов с 1988 года (Worm Морриса).</a:t>
            </a:r>
            <a:endParaRPr lang="en-US" sz="1050" dirty="0">
              <a:latin typeface="Times New Roman" panose="02020603050405020304" pitchFamily="18" charset="0"/>
              <a:cs typeface="Times New Roman" panose="02020603050405020304" pitchFamily="18" charset="0"/>
            </a:endParaRPr>
          </a:p>
        </p:txBody>
      </p:sp>
      <p:sp>
        <p:nvSpPr>
          <p:cNvPr id="12" name="Text 8"/>
          <p:cNvSpPr/>
          <p:nvPr/>
        </p:nvSpPr>
        <p:spPr>
          <a:xfrm>
            <a:off x="350044" y="2228850"/>
            <a:ext cx="3879056" cy="167878"/>
          </a:xfrm>
          <a:prstGeom prst="rect">
            <a:avLst/>
          </a:prstGeom>
          <a:noFill/>
          <a:ln/>
        </p:spPr>
        <p:txBody>
          <a:bodyPr wrap="square" lIns="0" tIns="0" rIns="0" bIns="0" rtlCol="0" anchor="t">
            <a:spAutoFit/>
          </a:bodyPr>
          <a:lstStyle/>
          <a:p>
            <a:pPr marL="0" indent="0" algn="l">
              <a:buNone/>
            </a:pPr>
            <a:r>
              <a:rPr lang="en-US" sz="900" b="1" dirty="0">
                <a:solidFill>
                  <a:srgbClr val="24292F"/>
                </a:solidFill>
                <a:latin typeface="Fira Code Bold" pitchFamily="34" charset="0"/>
                <a:ea typeface="Fira Code Bold" pitchFamily="34" charset="-122"/>
                <a:cs typeface="Fira Code Bold" pitchFamily="34" charset="-120"/>
              </a:rPr>
              <a:t>Heap Buffer Overflow</a:t>
            </a:r>
            <a:endParaRPr lang="en-US" sz="900" dirty="0"/>
          </a:p>
        </p:txBody>
      </p:sp>
      <p:sp>
        <p:nvSpPr>
          <p:cNvPr id="13" name="Text 9"/>
          <p:cNvSpPr/>
          <p:nvPr/>
        </p:nvSpPr>
        <p:spPr>
          <a:xfrm>
            <a:off x="350044" y="2453878"/>
            <a:ext cx="3879056" cy="176972"/>
          </a:xfrm>
          <a:prstGeom prst="rect">
            <a:avLst/>
          </a:prstGeom>
          <a:noFill/>
          <a:ln/>
        </p:spPr>
        <p:txBody>
          <a:bodyPr wrap="square" lIns="0" tIns="0" rIns="0" bIns="0" rtlCol="0" anchor="t">
            <a:spAutoFit/>
          </a:bodyPr>
          <a:lstStyle/>
          <a:p>
            <a:pPr marL="0" indent="0" algn="l">
              <a:lnSpc>
                <a:spcPct val="120000"/>
              </a:lnSpc>
              <a:buNone/>
            </a:pPr>
            <a:r>
              <a:rPr lang="en-US" sz="1050" dirty="0">
                <a:solidFill>
                  <a:srgbClr val="57606A"/>
                </a:solidFill>
                <a:latin typeface="Times New Roman" panose="02020603050405020304" pitchFamily="18" charset="0"/>
                <a:ea typeface="Inter" pitchFamily="34" charset="-122"/>
                <a:cs typeface="Times New Roman" panose="02020603050405020304" pitchFamily="18" charset="0"/>
              </a:rPr>
              <a:t>Перезапись метаданных аллокатора или данных соседнего объекта.</a:t>
            </a:r>
            <a:endParaRPr lang="en-US" sz="1050" dirty="0">
              <a:latin typeface="Times New Roman" panose="02020603050405020304" pitchFamily="18" charset="0"/>
              <a:cs typeface="Times New Roman" panose="02020603050405020304" pitchFamily="18" charset="0"/>
            </a:endParaRPr>
          </a:p>
        </p:txBody>
      </p:sp>
      <p:sp>
        <p:nvSpPr>
          <p:cNvPr id="14" name="Shape 10"/>
          <p:cNvSpPr/>
          <p:nvPr/>
        </p:nvSpPr>
        <p:spPr>
          <a:xfrm>
            <a:off x="350044" y="3255764"/>
            <a:ext cx="3879056" cy="1323380"/>
          </a:xfrm>
          <a:prstGeom prst="rect">
            <a:avLst/>
          </a:prstGeom>
          <a:solidFill>
            <a:srgbClr val="F6F8FA"/>
          </a:solidFill>
          <a:ln w="9144">
            <a:solidFill>
              <a:srgbClr val="D0D7DE"/>
            </a:solidFill>
            <a:prstDash val="solid"/>
          </a:ln>
        </p:spPr>
      </p:sp>
      <p:sp>
        <p:nvSpPr>
          <p:cNvPr id="15" name="Text 11"/>
          <p:cNvSpPr/>
          <p:nvPr/>
        </p:nvSpPr>
        <p:spPr>
          <a:xfrm>
            <a:off x="435769" y="3355777"/>
            <a:ext cx="3707606" cy="130373"/>
          </a:xfrm>
          <a:prstGeom prst="rect">
            <a:avLst/>
          </a:prstGeom>
          <a:noFill/>
          <a:ln/>
        </p:spPr>
        <p:txBody>
          <a:bodyPr wrap="square" lIns="0" tIns="0" rIns="0" bIns="0" rtlCol="0" anchor="t">
            <a:spAutoFit/>
          </a:bodyPr>
          <a:lstStyle/>
          <a:p>
            <a:pPr marL="0" indent="0" algn="l">
              <a:buNone/>
            </a:pPr>
            <a:r>
              <a:rPr lang="en-US" sz="750" dirty="0">
                <a:solidFill>
                  <a:srgbClr val="57606A"/>
                </a:solidFill>
                <a:latin typeface="Fira Code" pitchFamily="34" charset="0"/>
                <a:ea typeface="Fira Code" pitchFamily="34" charset="-122"/>
                <a:cs typeface="Fira Code" pitchFamily="34" charset="-120"/>
              </a:rPr>
              <a:t>КАК MTE ОБНАРУЖИВАЕТ</a:t>
            </a:r>
            <a:endParaRPr lang="en-US" sz="750" dirty="0"/>
          </a:p>
        </p:txBody>
      </p:sp>
      <p:sp>
        <p:nvSpPr>
          <p:cNvPr id="16" name="Text 12"/>
          <p:cNvSpPr/>
          <p:nvPr/>
        </p:nvSpPr>
        <p:spPr>
          <a:xfrm>
            <a:off x="435769" y="3600450"/>
            <a:ext cx="64294" cy="150019"/>
          </a:xfrm>
          <a:prstGeom prst="rect">
            <a:avLst/>
          </a:prstGeom>
          <a:noFill/>
          <a:ln/>
        </p:spPr>
        <p:txBody>
          <a:bodyPr wrap="none" lIns="0" tIns="0" rIns="0" bIns="0" rtlCol="0" anchor="t">
            <a:spAutoFit/>
          </a:bodyPr>
          <a:lstStyle/>
          <a:p>
            <a:pPr marL="0" indent="0" algn="l">
              <a:lnSpc>
                <a:spcPct val="112000"/>
              </a:lnSpc>
              <a:buNone/>
            </a:pPr>
            <a:r>
              <a:rPr lang="en-US" sz="750" b="1" dirty="0">
                <a:solidFill>
                  <a:srgbClr val="BF3989"/>
                </a:solidFill>
                <a:latin typeface="Fira Code Bold" pitchFamily="34" charset="0"/>
                <a:ea typeface="Fira Code Bold" pitchFamily="34" charset="-122"/>
                <a:cs typeface="Fira Code Bold" pitchFamily="34" charset="-120"/>
              </a:rPr>
              <a:t>→</a:t>
            </a:r>
            <a:endParaRPr lang="en-US" sz="750" dirty="0"/>
          </a:p>
        </p:txBody>
      </p:sp>
      <p:sp>
        <p:nvSpPr>
          <p:cNvPr id="17" name="Text 13"/>
          <p:cNvSpPr/>
          <p:nvPr/>
        </p:nvSpPr>
        <p:spPr>
          <a:xfrm>
            <a:off x="571500" y="3600450"/>
            <a:ext cx="3571875" cy="127471"/>
          </a:xfrm>
          <a:prstGeom prst="rect">
            <a:avLst/>
          </a:prstGeom>
          <a:noFill/>
          <a:ln/>
        </p:spPr>
        <p:txBody>
          <a:bodyPr wrap="square" lIns="0" tIns="0" rIns="0" bIns="0" rtlCol="0" anchor="t">
            <a:spAutoFit/>
          </a:bodyPr>
          <a:lstStyle/>
          <a:p>
            <a:pPr marL="0" indent="0" algn="l">
              <a:lnSpc>
                <a:spcPct val="112000"/>
              </a:lnSpc>
              <a:buNone/>
            </a:pPr>
            <a:r>
              <a:rPr lang="en-US" sz="800" dirty="0">
                <a:solidFill>
                  <a:srgbClr val="24292F"/>
                </a:solidFill>
                <a:latin typeface="Times New Roman" panose="02020603050405020304" pitchFamily="18" charset="0"/>
                <a:ea typeface="Inter" pitchFamily="34" charset="-122"/>
                <a:cs typeface="Times New Roman" panose="02020603050405020304" pitchFamily="18" charset="0"/>
              </a:rPr>
              <a:t>Аллокатор назначает соседним блокам разные теги (гарантировано через IRG)</a:t>
            </a:r>
            <a:endParaRPr lang="en-US" sz="800" dirty="0">
              <a:latin typeface="Times New Roman" panose="02020603050405020304" pitchFamily="18" charset="0"/>
              <a:cs typeface="Times New Roman" panose="02020603050405020304" pitchFamily="18" charset="0"/>
            </a:endParaRPr>
          </a:p>
        </p:txBody>
      </p:sp>
      <p:sp>
        <p:nvSpPr>
          <p:cNvPr id="18" name="Text 14"/>
          <p:cNvSpPr/>
          <p:nvPr/>
        </p:nvSpPr>
        <p:spPr>
          <a:xfrm>
            <a:off x="435769" y="3971925"/>
            <a:ext cx="64294" cy="150019"/>
          </a:xfrm>
          <a:prstGeom prst="rect">
            <a:avLst/>
          </a:prstGeom>
          <a:noFill/>
          <a:ln/>
        </p:spPr>
        <p:txBody>
          <a:bodyPr wrap="none" lIns="0" tIns="0" rIns="0" bIns="0" rtlCol="0" anchor="t">
            <a:spAutoFit/>
          </a:bodyPr>
          <a:lstStyle/>
          <a:p>
            <a:pPr marL="0" indent="0" algn="l">
              <a:lnSpc>
                <a:spcPct val="112000"/>
              </a:lnSpc>
              <a:buNone/>
            </a:pPr>
            <a:r>
              <a:rPr lang="en-US" sz="750" b="1" dirty="0">
                <a:solidFill>
                  <a:srgbClr val="BF3989"/>
                </a:solidFill>
                <a:latin typeface="Fira Code Bold" pitchFamily="34" charset="0"/>
                <a:ea typeface="Fira Code Bold" pitchFamily="34" charset="-122"/>
                <a:cs typeface="Fira Code Bold" pitchFamily="34" charset="-120"/>
              </a:rPr>
              <a:t>→</a:t>
            </a:r>
            <a:endParaRPr lang="en-US" sz="750" dirty="0"/>
          </a:p>
        </p:txBody>
      </p:sp>
      <p:sp>
        <p:nvSpPr>
          <p:cNvPr id="19" name="Text 15"/>
          <p:cNvSpPr/>
          <p:nvPr/>
        </p:nvSpPr>
        <p:spPr>
          <a:xfrm>
            <a:off x="571500" y="3971925"/>
            <a:ext cx="3571875" cy="127471"/>
          </a:xfrm>
          <a:prstGeom prst="rect">
            <a:avLst/>
          </a:prstGeom>
          <a:noFill/>
          <a:ln/>
        </p:spPr>
        <p:txBody>
          <a:bodyPr wrap="square" lIns="0" tIns="0" rIns="0" bIns="0" rtlCol="0" anchor="t">
            <a:spAutoFit/>
          </a:bodyPr>
          <a:lstStyle/>
          <a:p>
            <a:pPr marL="0" indent="0" algn="l">
              <a:lnSpc>
                <a:spcPct val="112000"/>
              </a:lnSpc>
              <a:buNone/>
            </a:pPr>
            <a:r>
              <a:rPr lang="en-US" sz="800" dirty="0">
                <a:solidFill>
                  <a:srgbClr val="24292F"/>
                </a:solidFill>
                <a:latin typeface="Times New Roman" panose="02020603050405020304" pitchFamily="18" charset="0"/>
                <a:ea typeface="Inter" pitchFamily="34" charset="-122"/>
                <a:cs typeface="Times New Roman" panose="02020603050405020304" pitchFamily="18" charset="0"/>
              </a:rPr>
              <a:t>Последовательный overflow всегда </a:t>
            </a:r>
            <a:r>
              <a:rPr lang="en-US" sz="800" dirty="0" err="1">
                <a:solidFill>
                  <a:srgbClr val="24292F"/>
                </a:solidFill>
                <a:latin typeface="Times New Roman" panose="02020603050405020304" pitchFamily="18" charset="0"/>
                <a:ea typeface="Inter" pitchFamily="34" charset="-122"/>
                <a:cs typeface="Times New Roman" panose="02020603050405020304" pitchFamily="18" charset="0"/>
              </a:rPr>
              <a:t>обнаруживается</a:t>
            </a:r>
            <a:r>
              <a:rPr lang="en-US" sz="800" dirty="0">
                <a:solidFill>
                  <a:srgbClr val="24292F"/>
                </a:solidFill>
                <a:latin typeface="Times New Roman" panose="02020603050405020304" pitchFamily="18" charset="0"/>
                <a:ea typeface="Inter" pitchFamily="34" charset="-122"/>
                <a:cs typeface="Times New Roman" panose="02020603050405020304" pitchFamily="18" charset="0"/>
              </a:rPr>
              <a:t> </a:t>
            </a:r>
            <a:endParaRPr lang="en-US" sz="800" dirty="0">
              <a:latin typeface="Times New Roman" panose="02020603050405020304" pitchFamily="18" charset="0"/>
              <a:cs typeface="Times New Roman" panose="02020603050405020304" pitchFamily="18" charset="0"/>
            </a:endParaRPr>
          </a:p>
        </p:txBody>
      </p:sp>
      <p:sp>
        <p:nvSpPr>
          <p:cNvPr id="20" name="Text 16"/>
          <p:cNvSpPr/>
          <p:nvPr/>
        </p:nvSpPr>
        <p:spPr>
          <a:xfrm>
            <a:off x="435769" y="4343400"/>
            <a:ext cx="64294" cy="150019"/>
          </a:xfrm>
          <a:prstGeom prst="rect">
            <a:avLst/>
          </a:prstGeom>
          <a:noFill/>
          <a:ln/>
        </p:spPr>
        <p:txBody>
          <a:bodyPr wrap="none" lIns="0" tIns="0" rIns="0" bIns="0" rtlCol="0" anchor="t">
            <a:spAutoFit/>
          </a:bodyPr>
          <a:lstStyle/>
          <a:p>
            <a:pPr marL="0" indent="0" algn="l">
              <a:lnSpc>
                <a:spcPct val="112000"/>
              </a:lnSpc>
              <a:buNone/>
            </a:pPr>
            <a:r>
              <a:rPr lang="en-US" sz="750" b="1" dirty="0">
                <a:solidFill>
                  <a:srgbClr val="BF3989"/>
                </a:solidFill>
                <a:latin typeface="Fira Code Bold" pitchFamily="34" charset="0"/>
                <a:ea typeface="Fira Code Bold" pitchFamily="34" charset="-122"/>
                <a:cs typeface="Fira Code Bold" pitchFamily="34" charset="-120"/>
              </a:rPr>
              <a:t>→</a:t>
            </a:r>
            <a:endParaRPr lang="en-US" sz="750" dirty="0"/>
          </a:p>
        </p:txBody>
      </p:sp>
      <p:sp>
        <p:nvSpPr>
          <p:cNvPr id="21" name="Text 17"/>
          <p:cNvSpPr/>
          <p:nvPr/>
        </p:nvSpPr>
        <p:spPr>
          <a:xfrm>
            <a:off x="571500" y="4343400"/>
            <a:ext cx="3026470" cy="127214"/>
          </a:xfrm>
          <a:prstGeom prst="rect">
            <a:avLst/>
          </a:prstGeom>
          <a:noFill/>
          <a:ln/>
        </p:spPr>
        <p:txBody>
          <a:bodyPr wrap="none" lIns="0" tIns="0" rIns="0" bIns="0" rtlCol="0" anchor="t">
            <a:spAutoFit/>
          </a:bodyPr>
          <a:lstStyle/>
          <a:p>
            <a:pPr marL="0" indent="0" algn="l">
              <a:lnSpc>
                <a:spcPct val="112000"/>
              </a:lnSpc>
              <a:buNone/>
            </a:pPr>
            <a:r>
              <a:rPr lang="en-US" sz="800" dirty="0">
                <a:solidFill>
                  <a:srgbClr val="24292F"/>
                </a:solidFill>
                <a:latin typeface="Georgia" panose="02040502050405020303" pitchFamily="18" charset="0"/>
                <a:ea typeface="Inter" pitchFamily="34" charset="-122"/>
                <a:cs typeface="Inter" pitchFamily="34" charset="-120"/>
              </a:rPr>
              <a:t>«Дикий» произвольный доступ — вероятностно 15/16 ≈ 93.75%</a:t>
            </a:r>
            <a:endParaRPr lang="en-US" sz="800" dirty="0">
              <a:latin typeface="Georgia" panose="02040502050405020303" pitchFamily="18" charset="0"/>
            </a:endParaRPr>
          </a:p>
        </p:txBody>
      </p:sp>
      <p:sp>
        <p:nvSpPr>
          <p:cNvPr id="22" name="Shape 18"/>
          <p:cNvSpPr/>
          <p:nvPr/>
        </p:nvSpPr>
        <p:spPr>
          <a:xfrm>
            <a:off x="4572000" y="978694"/>
            <a:ext cx="4564856" cy="3771900"/>
          </a:xfrm>
          <a:prstGeom prst="rect">
            <a:avLst/>
          </a:prstGeom>
          <a:solidFill>
            <a:srgbClr val="FFFFFF"/>
          </a:solidFill>
          <a:ln/>
        </p:spPr>
      </p:sp>
      <p:sp>
        <p:nvSpPr>
          <p:cNvPr id="23" name="Text 19"/>
          <p:cNvSpPr/>
          <p:nvPr/>
        </p:nvSpPr>
        <p:spPr>
          <a:xfrm>
            <a:off x="4914900" y="1150144"/>
            <a:ext cx="3879056" cy="236219"/>
          </a:xfrm>
          <a:prstGeom prst="rect">
            <a:avLst/>
          </a:prstGeom>
          <a:noFill/>
          <a:ln/>
        </p:spPr>
        <p:txBody>
          <a:bodyPr wrap="square" lIns="0" tIns="0" rIns="0" bIns="51054" rtlCol="0" anchor="t">
            <a:spAutoFit/>
          </a:bodyPr>
          <a:lstStyle/>
          <a:p>
            <a:pPr marL="0" indent="0" algn="l">
              <a:buNone/>
            </a:pPr>
            <a:r>
              <a:rPr lang="en-US" sz="1200" b="1" dirty="0">
                <a:solidFill>
                  <a:srgbClr val="0969DA"/>
                </a:solidFill>
                <a:latin typeface="Fira Code Bold" pitchFamily="34" charset="0"/>
                <a:ea typeface="Fira Code Bold" pitchFamily="34" charset="-122"/>
                <a:cs typeface="Fira Code Bold" pitchFamily="34" charset="-120"/>
              </a:rPr>
              <a:t>Temporal Safety (</a:t>
            </a:r>
            <a:r>
              <a:rPr lang="en-US" sz="1200" b="1" dirty="0" err="1">
                <a:solidFill>
                  <a:srgbClr val="0969DA"/>
                </a:solidFill>
                <a:latin typeface="Fira Code Bold" pitchFamily="34" charset="0"/>
                <a:ea typeface="Fira Code Bold" pitchFamily="34" charset="-122"/>
                <a:cs typeface="Fira Code Bold" pitchFamily="34" charset="-120"/>
              </a:rPr>
              <a:t>Временная</a:t>
            </a:r>
            <a:r>
              <a:rPr lang="en-US" sz="1200" b="1" dirty="0">
                <a:solidFill>
                  <a:srgbClr val="0969DA"/>
                </a:solidFill>
                <a:latin typeface="Fira Code Bold" pitchFamily="34" charset="0"/>
                <a:ea typeface="Fira Code Bold" pitchFamily="34" charset="-122"/>
                <a:cs typeface="Fira Code Bold" pitchFamily="34" charset="-120"/>
              </a:rPr>
              <a:t>)</a:t>
            </a:r>
            <a:endParaRPr lang="en-US" sz="1200" dirty="0"/>
          </a:p>
        </p:txBody>
      </p:sp>
      <p:sp>
        <p:nvSpPr>
          <p:cNvPr id="24" name="Text 20"/>
          <p:cNvSpPr/>
          <p:nvPr/>
        </p:nvSpPr>
        <p:spPr>
          <a:xfrm>
            <a:off x="4914900" y="1546622"/>
            <a:ext cx="3879056" cy="167878"/>
          </a:xfrm>
          <a:prstGeom prst="rect">
            <a:avLst/>
          </a:prstGeom>
          <a:noFill/>
          <a:ln/>
        </p:spPr>
        <p:txBody>
          <a:bodyPr wrap="square" lIns="0" tIns="0" rIns="0" bIns="0" rtlCol="0" anchor="t">
            <a:spAutoFit/>
          </a:bodyPr>
          <a:lstStyle/>
          <a:p>
            <a:pPr marL="0" indent="0" algn="l">
              <a:buNone/>
            </a:pPr>
            <a:r>
              <a:rPr lang="en-US" sz="900" b="1" dirty="0">
                <a:solidFill>
                  <a:srgbClr val="24292F"/>
                </a:solidFill>
                <a:latin typeface="Fira Code Bold" pitchFamily="34" charset="0"/>
                <a:ea typeface="Fira Code Bold" pitchFamily="34" charset="-122"/>
                <a:cs typeface="Fira Code Bold" pitchFamily="34" charset="-120"/>
              </a:rPr>
              <a:t>Use-After-Free</a:t>
            </a:r>
            <a:endParaRPr lang="en-US" sz="900" dirty="0"/>
          </a:p>
        </p:txBody>
      </p:sp>
      <p:sp>
        <p:nvSpPr>
          <p:cNvPr id="25" name="Text 21"/>
          <p:cNvSpPr/>
          <p:nvPr/>
        </p:nvSpPr>
        <p:spPr>
          <a:xfrm>
            <a:off x="4914900" y="1771650"/>
            <a:ext cx="3879056" cy="537904"/>
          </a:xfrm>
          <a:prstGeom prst="rect">
            <a:avLst/>
          </a:prstGeom>
          <a:noFill/>
          <a:ln/>
        </p:spPr>
        <p:txBody>
          <a:bodyPr wrap="square" lIns="0" tIns="0" rIns="0" bIns="0" rtlCol="0" anchor="t">
            <a:spAutoFit/>
          </a:bodyPr>
          <a:lstStyle/>
          <a:p>
            <a:pPr marL="0" indent="0" algn="l">
              <a:lnSpc>
                <a:spcPct val="120000"/>
              </a:lnSpc>
              <a:buNone/>
            </a:pPr>
            <a:r>
              <a:rPr lang="en-US" sz="1000" dirty="0" err="1">
                <a:solidFill>
                  <a:srgbClr val="57606A"/>
                </a:solidFill>
                <a:latin typeface="Times New Roman" panose="02020603050405020304" pitchFamily="18" charset="0"/>
                <a:ea typeface="Inter" pitchFamily="34" charset="-122"/>
                <a:cs typeface="Times New Roman" panose="02020603050405020304" pitchFamily="18" charset="0"/>
              </a:rPr>
              <a:t>Висячий</a:t>
            </a:r>
            <a:r>
              <a:rPr lang="en-US" sz="1000" dirty="0">
                <a:solidFill>
                  <a:srgbClr val="57606A"/>
                </a:solidFill>
                <a:latin typeface="Times New Roman" panose="02020603050405020304" pitchFamily="18" charset="0"/>
                <a:ea typeface="Inter" pitchFamily="34" charset="-122"/>
                <a:cs typeface="Times New Roman" panose="02020603050405020304" pitchFamily="18" charset="0"/>
              </a:rPr>
              <a:t> </a:t>
            </a:r>
            <a:r>
              <a:rPr lang="en-US" sz="1000" dirty="0" err="1">
                <a:solidFill>
                  <a:srgbClr val="57606A"/>
                </a:solidFill>
                <a:latin typeface="Times New Roman" panose="02020603050405020304" pitchFamily="18" charset="0"/>
                <a:ea typeface="Inter" pitchFamily="34" charset="-122"/>
                <a:cs typeface="Times New Roman" panose="02020603050405020304" pitchFamily="18" charset="0"/>
              </a:rPr>
              <a:t>указатель</a:t>
            </a:r>
            <a:r>
              <a:rPr lang="en-US" sz="1000" dirty="0">
                <a:solidFill>
                  <a:srgbClr val="57606A"/>
                </a:solidFill>
                <a:latin typeface="Times New Roman" panose="02020603050405020304" pitchFamily="18" charset="0"/>
                <a:ea typeface="Inter" pitchFamily="34" charset="-122"/>
                <a:cs typeface="Times New Roman" panose="02020603050405020304" pitchFamily="18" charset="0"/>
              </a:rPr>
              <a:t> </a:t>
            </a:r>
            <a:r>
              <a:rPr lang="en-US" sz="1000" dirty="0" err="1">
                <a:solidFill>
                  <a:srgbClr val="57606A"/>
                </a:solidFill>
                <a:latin typeface="Times New Roman" panose="02020603050405020304" pitchFamily="18" charset="0"/>
                <a:ea typeface="Inter" pitchFamily="34" charset="-122"/>
                <a:cs typeface="Times New Roman" panose="02020603050405020304" pitchFamily="18" charset="0"/>
              </a:rPr>
              <a:t>на</a:t>
            </a:r>
            <a:r>
              <a:rPr lang="en-US" sz="1000" dirty="0">
                <a:solidFill>
                  <a:srgbClr val="57606A"/>
                </a:solidFill>
                <a:latin typeface="Times New Roman" panose="02020603050405020304" pitchFamily="18" charset="0"/>
                <a:ea typeface="Inter" pitchFamily="34" charset="-122"/>
                <a:cs typeface="Times New Roman" panose="02020603050405020304" pitchFamily="18" charset="0"/>
              </a:rPr>
              <a:t> </a:t>
            </a:r>
            <a:r>
              <a:rPr lang="en-US" sz="1000" dirty="0" err="1">
                <a:solidFill>
                  <a:srgbClr val="57606A"/>
                </a:solidFill>
                <a:latin typeface="Times New Roman" panose="02020603050405020304" pitchFamily="18" charset="0"/>
                <a:ea typeface="Inter" pitchFamily="34" charset="-122"/>
                <a:cs typeface="Times New Roman" panose="02020603050405020304" pitchFamily="18" charset="0"/>
              </a:rPr>
              <a:t>освобождённый</a:t>
            </a:r>
            <a:r>
              <a:rPr lang="en-US" sz="1000" dirty="0">
                <a:solidFill>
                  <a:srgbClr val="57606A"/>
                </a:solidFill>
                <a:latin typeface="Times New Roman" panose="02020603050405020304" pitchFamily="18" charset="0"/>
                <a:ea typeface="Inter" pitchFamily="34" charset="-122"/>
                <a:cs typeface="Times New Roman" panose="02020603050405020304" pitchFamily="18" charset="0"/>
              </a:rPr>
              <a:t> </a:t>
            </a:r>
            <a:r>
              <a:rPr lang="en-US" sz="1000" dirty="0" err="1">
                <a:solidFill>
                  <a:srgbClr val="57606A"/>
                </a:solidFill>
                <a:latin typeface="Times New Roman" panose="02020603050405020304" pitchFamily="18" charset="0"/>
                <a:ea typeface="Inter" pitchFamily="34" charset="-122"/>
                <a:cs typeface="Times New Roman" panose="02020603050405020304" pitchFamily="18" charset="0"/>
              </a:rPr>
              <a:t>объект</a:t>
            </a:r>
            <a:r>
              <a:rPr lang="en-US" sz="1000" dirty="0">
                <a:solidFill>
                  <a:srgbClr val="57606A"/>
                </a:solidFill>
                <a:latin typeface="Times New Roman" panose="02020603050405020304" pitchFamily="18" charset="0"/>
                <a:ea typeface="Inter" pitchFamily="34" charset="-122"/>
                <a:cs typeface="Times New Roman" panose="02020603050405020304" pitchFamily="18" charset="0"/>
              </a:rPr>
              <a:t>. </a:t>
            </a:r>
            <a:r>
              <a:rPr lang="en-US" sz="1000" dirty="0" err="1">
                <a:solidFill>
                  <a:srgbClr val="57606A"/>
                </a:solidFill>
                <a:latin typeface="Times New Roman" panose="02020603050405020304" pitchFamily="18" charset="0"/>
                <a:ea typeface="Inter" pitchFamily="34" charset="-122"/>
                <a:cs typeface="Times New Roman" panose="02020603050405020304" pitchFamily="18" charset="0"/>
              </a:rPr>
              <a:t>Если</a:t>
            </a:r>
            <a:r>
              <a:rPr lang="en-US" sz="1000" dirty="0">
                <a:solidFill>
                  <a:srgbClr val="57606A"/>
                </a:solidFill>
                <a:latin typeface="Times New Roman" panose="02020603050405020304" pitchFamily="18" charset="0"/>
                <a:ea typeface="Inter" pitchFamily="34" charset="-122"/>
                <a:cs typeface="Times New Roman" panose="02020603050405020304" pitchFamily="18" charset="0"/>
              </a:rPr>
              <a:t> </a:t>
            </a:r>
            <a:r>
              <a:rPr lang="en-US" sz="1000" dirty="0" err="1">
                <a:solidFill>
                  <a:srgbClr val="57606A"/>
                </a:solidFill>
                <a:latin typeface="Times New Roman" panose="02020603050405020304" pitchFamily="18" charset="0"/>
                <a:ea typeface="Inter" pitchFamily="34" charset="-122"/>
                <a:cs typeface="Times New Roman" panose="02020603050405020304" pitchFamily="18" charset="0"/>
              </a:rPr>
              <a:t>память</a:t>
            </a:r>
            <a:r>
              <a:rPr lang="en-US" sz="1000" dirty="0">
                <a:solidFill>
                  <a:srgbClr val="57606A"/>
                </a:solidFill>
                <a:latin typeface="Times New Roman" panose="02020603050405020304" pitchFamily="18" charset="0"/>
                <a:ea typeface="Inter" pitchFamily="34" charset="-122"/>
                <a:cs typeface="Times New Roman" panose="02020603050405020304" pitchFamily="18" charset="0"/>
              </a:rPr>
              <a:t> </a:t>
            </a:r>
            <a:r>
              <a:rPr lang="en-US" sz="1000" dirty="0" err="1">
                <a:solidFill>
                  <a:srgbClr val="57606A"/>
                </a:solidFill>
                <a:latin typeface="Times New Roman" panose="02020603050405020304" pitchFamily="18" charset="0"/>
                <a:ea typeface="Inter" pitchFamily="34" charset="-122"/>
                <a:cs typeface="Times New Roman" panose="02020603050405020304" pitchFamily="18" charset="0"/>
              </a:rPr>
              <a:t>переназначена</a:t>
            </a:r>
            <a:r>
              <a:rPr lang="en-US" sz="1000" dirty="0">
                <a:solidFill>
                  <a:srgbClr val="57606A"/>
                </a:solidFill>
                <a:latin typeface="Times New Roman" panose="02020603050405020304" pitchFamily="18" charset="0"/>
                <a:ea typeface="Inter" pitchFamily="34" charset="-122"/>
                <a:cs typeface="Times New Roman" panose="02020603050405020304" pitchFamily="18" charset="0"/>
              </a:rPr>
              <a:t> → </a:t>
            </a:r>
            <a:r>
              <a:rPr lang="en-US" sz="1000" dirty="0" err="1">
                <a:solidFill>
                  <a:srgbClr val="57606A"/>
                </a:solidFill>
                <a:latin typeface="Times New Roman" panose="02020603050405020304" pitchFamily="18" charset="0"/>
                <a:ea typeface="Inter" pitchFamily="34" charset="-122"/>
                <a:cs typeface="Times New Roman" panose="02020603050405020304" pitchFamily="18" charset="0"/>
              </a:rPr>
              <a:t>перезапись</a:t>
            </a:r>
            <a:r>
              <a:rPr lang="en-US" sz="1000" dirty="0">
                <a:solidFill>
                  <a:srgbClr val="57606A"/>
                </a:solidFill>
                <a:latin typeface="Times New Roman" panose="02020603050405020304" pitchFamily="18" charset="0"/>
                <a:ea typeface="Inter" pitchFamily="34" charset="-122"/>
                <a:cs typeface="Times New Roman" panose="02020603050405020304" pitchFamily="18" charset="0"/>
              </a:rPr>
              <a:t> </a:t>
            </a:r>
            <a:r>
              <a:rPr lang="en-US" sz="1000" dirty="0" err="1">
                <a:solidFill>
                  <a:srgbClr val="57606A"/>
                </a:solidFill>
                <a:latin typeface="Times New Roman" panose="02020603050405020304" pitchFamily="18" charset="0"/>
                <a:ea typeface="Inter" pitchFamily="34" charset="-122"/>
                <a:cs typeface="Times New Roman" panose="02020603050405020304" pitchFamily="18" charset="0"/>
              </a:rPr>
              <a:t>нового</a:t>
            </a:r>
            <a:r>
              <a:rPr lang="en-US" sz="1000" dirty="0">
                <a:solidFill>
                  <a:srgbClr val="57606A"/>
                </a:solidFill>
                <a:latin typeface="Times New Roman" panose="02020603050405020304" pitchFamily="18" charset="0"/>
                <a:ea typeface="Inter" pitchFamily="34" charset="-122"/>
                <a:cs typeface="Times New Roman" panose="02020603050405020304" pitchFamily="18" charset="0"/>
              </a:rPr>
              <a:t> </a:t>
            </a:r>
            <a:r>
              <a:rPr lang="en-US" sz="1000" dirty="0" err="1">
                <a:solidFill>
                  <a:srgbClr val="57606A"/>
                </a:solidFill>
                <a:latin typeface="Times New Roman" panose="02020603050405020304" pitchFamily="18" charset="0"/>
                <a:ea typeface="Inter" pitchFamily="34" charset="-122"/>
                <a:cs typeface="Times New Roman" panose="02020603050405020304" pitchFamily="18" charset="0"/>
              </a:rPr>
              <a:t>объекта</a:t>
            </a:r>
            <a:r>
              <a:rPr lang="en-US" sz="1000" dirty="0">
                <a:solidFill>
                  <a:srgbClr val="57606A"/>
                </a:solidFill>
                <a:latin typeface="Times New Roman" panose="02020603050405020304" pitchFamily="18" charset="0"/>
                <a:ea typeface="Inter" pitchFamily="34" charset="-122"/>
                <a:cs typeface="Times New Roman" panose="02020603050405020304" pitchFamily="18" charset="0"/>
              </a:rPr>
              <a:t> (</a:t>
            </a:r>
            <a:r>
              <a:rPr lang="en-US" sz="1000" dirty="0" err="1">
                <a:solidFill>
                  <a:srgbClr val="57606A"/>
                </a:solidFill>
                <a:latin typeface="Times New Roman" panose="02020603050405020304" pitchFamily="18" charset="0"/>
                <a:ea typeface="Inter" pitchFamily="34" charset="-122"/>
                <a:cs typeface="Times New Roman" panose="02020603050405020304" pitchFamily="18" charset="0"/>
              </a:rPr>
              <a:t>vtable</a:t>
            </a:r>
            <a:r>
              <a:rPr lang="en-US" sz="1000" dirty="0">
                <a:solidFill>
                  <a:srgbClr val="57606A"/>
                </a:solidFill>
                <a:latin typeface="Times New Roman" panose="02020603050405020304" pitchFamily="18" charset="0"/>
                <a:ea typeface="Inter" pitchFamily="34" charset="-122"/>
                <a:cs typeface="Times New Roman" panose="02020603050405020304" pitchFamily="18" charset="0"/>
              </a:rPr>
              <a:t>, function pointer → type confusion).</a:t>
            </a:r>
            <a:endParaRPr lang="en-US" sz="1000" dirty="0">
              <a:latin typeface="Times New Roman" panose="02020603050405020304" pitchFamily="18" charset="0"/>
              <a:cs typeface="Times New Roman" panose="02020603050405020304" pitchFamily="18" charset="0"/>
            </a:endParaRPr>
          </a:p>
        </p:txBody>
      </p:sp>
      <p:sp>
        <p:nvSpPr>
          <p:cNvPr id="26" name="Text 22"/>
          <p:cNvSpPr/>
          <p:nvPr/>
        </p:nvSpPr>
        <p:spPr>
          <a:xfrm>
            <a:off x="4914900" y="2400300"/>
            <a:ext cx="3879056" cy="167878"/>
          </a:xfrm>
          <a:prstGeom prst="rect">
            <a:avLst/>
          </a:prstGeom>
          <a:noFill/>
          <a:ln/>
        </p:spPr>
        <p:txBody>
          <a:bodyPr wrap="square" lIns="0" tIns="0" rIns="0" bIns="0" rtlCol="0" anchor="t">
            <a:spAutoFit/>
          </a:bodyPr>
          <a:lstStyle/>
          <a:p>
            <a:pPr marL="0" indent="0" algn="l">
              <a:buNone/>
            </a:pPr>
            <a:r>
              <a:rPr lang="en-US" sz="900" b="1" dirty="0">
                <a:solidFill>
                  <a:srgbClr val="24292F"/>
                </a:solidFill>
                <a:latin typeface="Fira Code Bold" pitchFamily="34" charset="0"/>
                <a:ea typeface="Fira Code Bold" pitchFamily="34" charset="-122"/>
                <a:cs typeface="Fira Code Bold" pitchFamily="34" charset="-120"/>
              </a:rPr>
              <a:t>Use-After-Return</a:t>
            </a:r>
            <a:endParaRPr lang="en-US" sz="900" dirty="0"/>
          </a:p>
        </p:txBody>
      </p:sp>
      <p:sp>
        <p:nvSpPr>
          <p:cNvPr id="27" name="Text 23"/>
          <p:cNvSpPr/>
          <p:nvPr/>
        </p:nvSpPr>
        <p:spPr>
          <a:xfrm>
            <a:off x="4914900" y="2625328"/>
            <a:ext cx="3879056" cy="353238"/>
          </a:xfrm>
          <a:prstGeom prst="rect">
            <a:avLst/>
          </a:prstGeom>
          <a:noFill/>
          <a:ln/>
        </p:spPr>
        <p:txBody>
          <a:bodyPr wrap="square" lIns="0" tIns="0" rIns="0" bIns="0" rtlCol="0" anchor="t">
            <a:spAutoFit/>
          </a:bodyPr>
          <a:lstStyle/>
          <a:p>
            <a:pPr marL="0" indent="0" algn="l">
              <a:lnSpc>
                <a:spcPct val="120000"/>
              </a:lnSpc>
              <a:buNone/>
            </a:pPr>
            <a:r>
              <a:rPr lang="en-US" sz="1000" dirty="0">
                <a:solidFill>
                  <a:srgbClr val="57606A"/>
                </a:solidFill>
                <a:latin typeface="Times New Roman" panose="02020603050405020304" pitchFamily="18" charset="0"/>
                <a:ea typeface="Inter" pitchFamily="34" charset="-122"/>
                <a:cs typeface="Times New Roman" panose="02020603050405020304" pitchFamily="18" charset="0"/>
              </a:rPr>
              <a:t>Указатель на объект стека, использованный после возврата из функции — стек-фрейм уже перезаписан.</a:t>
            </a:r>
            <a:endParaRPr lang="en-US" sz="1000" dirty="0">
              <a:latin typeface="Times New Roman" panose="02020603050405020304" pitchFamily="18" charset="0"/>
              <a:cs typeface="Times New Roman" panose="02020603050405020304" pitchFamily="18" charset="0"/>
            </a:endParaRPr>
          </a:p>
        </p:txBody>
      </p:sp>
      <p:sp>
        <p:nvSpPr>
          <p:cNvPr id="28" name="Shape 24"/>
          <p:cNvSpPr/>
          <p:nvPr/>
        </p:nvSpPr>
        <p:spPr>
          <a:xfrm>
            <a:off x="4914900" y="3405783"/>
            <a:ext cx="3879056" cy="1173361"/>
          </a:xfrm>
          <a:prstGeom prst="rect">
            <a:avLst/>
          </a:prstGeom>
          <a:solidFill>
            <a:srgbClr val="F6F8FA"/>
          </a:solidFill>
          <a:ln w="9144">
            <a:solidFill>
              <a:srgbClr val="D0D7DE"/>
            </a:solidFill>
            <a:prstDash val="solid"/>
          </a:ln>
        </p:spPr>
      </p:sp>
      <p:sp>
        <p:nvSpPr>
          <p:cNvPr id="29" name="Text 25"/>
          <p:cNvSpPr/>
          <p:nvPr/>
        </p:nvSpPr>
        <p:spPr>
          <a:xfrm>
            <a:off x="5000625" y="3505795"/>
            <a:ext cx="3707606" cy="130373"/>
          </a:xfrm>
          <a:prstGeom prst="rect">
            <a:avLst/>
          </a:prstGeom>
          <a:noFill/>
          <a:ln/>
        </p:spPr>
        <p:txBody>
          <a:bodyPr wrap="square" lIns="0" tIns="0" rIns="0" bIns="0" rtlCol="0" anchor="t">
            <a:spAutoFit/>
          </a:bodyPr>
          <a:lstStyle/>
          <a:p>
            <a:pPr marL="0" indent="0" algn="l">
              <a:buNone/>
            </a:pPr>
            <a:r>
              <a:rPr lang="en-US" sz="750" dirty="0">
                <a:solidFill>
                  <a:srgbClr val="57606A"/>
                </a:solidFill>
                <a:latin typeface="Fira Code" pitchFamily="34" charset="0"/>
                <a:ea typeface="Fira Code" pitchFamily="34" charset="-122"/>
                <a:cs typeface="Fira Code" pitchFamily="34" charset="-120"/>
              </a:rPr>
              <a:t>КАК MTE ОБНАРУЖИВАЕТ</a:t>
            </a:r>
            <a:endParaRPr lang="en-US" sz="750" dirty="0"/>
          </a:p>
        </p:txBody>
      </p:sp>
      <p:sp>
        <p:nvSpPr>
          <p:cNvPr id="30" name="Text 26"/>
          <p:cNvSpPr/>
          <p:nvPr/>
        </p:nvSpPr>
        <p:spPr>
          <a:xfrm>
            <a:off x="5000625" y="3750469"/>
            <a:ext cx="64294" cy="150019"/>
          </a:xfrm>
          <a:prstGeom prst="rect">
            <a:avLst/>
          </a:prstGeom>
          <a:noFill/>
          <a:ln/>
        </p:spPr>
        <p:txBody>
          <a:bodyPr wrap="none" lIns="0" tIns="0" rIns="0" bIns="0" rtlCol="0" anchor="t">
            <a:spAutoFit/>
          </a:bodyPr>
          <a:lstStyle/>
          <a:p>
            <a:pPr marL="0" indent="0" algn="l">
              <a:lnSpc>
                <a:spcPct val="112000"/>
              </a:lnSpc>
              <a:buNone/>
            </a:pPr>
            <a:r>
              <a:rPr lang="en-US" sz="750" b="1" dirty="0">
                <a:solidFill>
                  <a:srgbClr val="0969DA"/>
                </a:solidFill>
                <a:latin typeface="Fira Code Bold" pitchFamily="34" charset="0"/>
                <a:ea typeface="Fira Code Bold" pitchFamily="34" charset="-122"/>
                <a:cs typeface="Fira Code Bold" pitchFamily="34" charset="-120"/>
              </a:rPr>
              <a:t>→</a:t>
            </a:r>
            <a:endParaRPr lang="en-US" sz="750" dirty="0"/>
          </a:p>
        </p:txBody>
      </p:sp>
      <p:sp>
        <p:nvSpPr>
          <p:cNvPr id="31" name="Text 27"/>
          <p:cNvSpPr/>
          <p:nvPr/>
        </p:nvSpPr>
        <p:spPr>
          <a:xfrm>
            <a:off x="5136356" y="3750469"/>
            <a:ext cx="2391680" cy="127214"/>
          </a:xfrm>
          <a:prstGeom prst="rect">
            <a:avLst/>
          </a:prstGeom>
          <a:noFill/>
          <a:ln/>
        </p:spPr>
        <p:txBody>
          <a:bodyPr wrap="none" lIns="0" tIns="0" rIns="0" bIns="0" rtlCol="0" anchor="t">
            <a:spAutoFit/>
          </a:bodyPr>
          <a:lstStyle/>
          <a:p>
            <a:pPr marL="0" indent="0" algn="l">
              <a:lnSpc>
                <a:spcPct val="112000"/>
              </a:lnSpc>
              <a:buNone/>
            </a:pPr>
            <a:r>
              <a:rPr lang="en-US" sz="800" dirty="0">
                <a:solidFill>
                  <a:srgbClr val="24292F"/>
                </a:solidFill>
                <a:latin typeface="Georgia" panose="02040502050405020303" pitchFamily="18" charset="0"/>
                <a:ea typeface="Inter" pitchFamily="34" charset="-122"/>
                <a:cs typeface="Inter" pitchFamily="34" charset="-120"/>
              </a:rPr>
              <a:t>При free() аллокатор назначает памяти новый тег</a:t>
            </a:r>
            <a:endParaRPr lang="en-US" sz="800" dirty="0">
              <a:latin typeface="Georgia" panose="02040502050405020303" pitchFamily="18" charset="0"/>
            </a:endParaRPr>
          </a:p>
        </p:txBody>
      </p:sp>
      <p:sp>
        <p:nvSpPr>
          <p:cNvPr id="32" name="Text 28"/>
          <p:cNvSpPr/>
          <p:nvPr/>
        </p:nvSpPr>
        <p:spPr>
          <a:xfrm>
            <a:off x="5000625" y="3971925"/>
            <a:ext cx="64294" cy="150019"/>
          </a:xfrm>
          <a:prstGeom prst="rect">
            <a:avLst/>
          </a:prstGeom>
          <a:noFill/>
          <a:ln/>
        </p:spPr>
        <p:txBody>
          <a:bodyPr wrap="none" lIns="0" tIns="0" rIns="0" bIns="0" rtlCol="0" anchor="t">
            <a:spAutoFit/>
          </a:bodyPr>
          <a:lstStyle/>
          <a:p>
            <a:pPr marL="0" indent="0" algn="l">
              <a:lnSpc>
                <a:spcPct val="112000"/>
              </a:lnSpc>
              <a:buNone/>
            </a:pPr>
            <a:r>
              <a:rPr lang="en-US" sz="750" b="1" dirty="0">
                <a:solidFill>
                  <a:srgbClr val="0969DA"/>
                </a:solidFill>
                <a:latin typeface="Fira Code Bold" pitchFamily="34" charset="0"/>
                <a:ea typeface="Fira Code Bold" pitchFamily="34" charset="-122"/>
                <a:cs typeface="Fira Code Bold" pitchFamily="34" charset="-120"/>
              </a:rPr>
              <a:t>→</a:t>
            </a:r>
            <a:endParaRPr lang="en-US" sz="750" dirty="0"/>
          </a:p>
        </p:txBody>
      </p:sp>
      <p:sp>
        <p:nvSpPr>
          <p:cNvPr id="33" name="Text 29"/>
          <p:cNvSpPr/>
          <p:nvPr/>
        </p:nvSpPr>
        <p:spPr>
          <a:xfrm>
            <a:off x="5136356" y="3971925"/>
            <a:ext cx="3571875" cy="127214"/>
          </a:xfrm>
          <a:prstGeom prst="rect">
            <a:avLst/>
          </a:prstGeom>
          <a:noFill/>
          <a:ln/>
        </p:spPr>
        <p:txBody>
          <a:bodyPr wrap="square" lIns="0" tIns="0" rIns="0" bIns="0" rtlCol="0" anchor="t">
            <a:spAutoFit/>
          </a:bodyPr>
          <a:lstStyle/>
          <a:p>
            <a:pPr marL="0" indent="0" algn="l">
              <a:lnSpc>
                <a:spcPct val="112000"/>
              </a:lnSpc>
              <a:buNone/>
            </a:pPr>
            <a:r>
              <a:rPr lang="en-US" sz="800" dirty="0">
                <a:solidFill>
                  <a:srgbClr val="24292F"/>
                </a:solidFill>
                <a:latin typeface="Georgia" panose="02040502050405020303" pitchFamily="18" charset="0"/>
                <a:ea typeface="Inter" pitchFamily="34" charset="-122"/>
                <a:cs typeface="Inter" pitchFamily="34" charset="-120"/>
              </a:rPr>
              <a:t>Висячий указатель хранит старый тег — несоответствие неизбежно</a:t>
            </a:r>
            <a:endParaRPr lang="en-US" sz="800" dirty="0">
              <a:latin typeface="Georgia" panose="02040502050405020303" pitchFamily="18" charset="0"/>
            </a:endParaRPr>
          </a:p>
        </p:txBody>
      </p:sp>
      <p:sp>
        <p:nvSpPr>
          <p:cNvPr id="34" name="Text 30"/>
          <p:cNvSpPr/>
          <p:nvPr/>
        </p:nvSpPr>
        <p:spPr>
          <a:xfrm>
            <a:off x="5000625" y="4343400"/>
            <a:ext cx="64294" cy="150019"/>
          </a:xfrm>
          <a:prstGeom prst="rect">
            <a:avLst/>
          </a:prstGeom>
          <a:noFill/>
          <a:ln/>
        </p:spPr>
        <p:txBody>
          <a:bodyPr wrap="none" lIns="0" tIns="0" rIns="0" bIns="0" rtlCol="0" anchor="t">
            <a:spAutoFit/>
          </a:bodyPr>
          <a:lstStyle/>
          <a:p>
            <a:pPr marL="0" indent="0" algn="l">
              <a:lnSpc>
                <a:spcPct val="112000"/>
              </a:lnSpc>
              <a:buNone/>
            </a:pPr>
            <a:r>
              <a:rPr lang="en-US" sz="750" b="1" dirty="0">
                <a:solidFill>
                  <a:srgbClr val="0969DA"/>
                </a:solidFill>
                <a:latin typeface="Fira Code Bold" pitchFamily="34" charset="0"/>
                <a:ea typeface="Fira Code Bold" pitchFamily="34" charset="-122"/>
                <a:cs typeface="Fira Code Bold" pitchFamily="34" charset="-120"/>
              </a:rPr>
              <a:t>→</a:t>
            </a:r>
            <a:endParaRPr lang="en-US" sz="750" dirty="0"/>
          </a:p>
        </p:txBody>
      </p:sp>
      <p:sp>
        <p:nvSpPr>
          <p:cNvPr id="35" name="Text 31"/>
          <p:cNvSpPr/>
          <p:nvPr/>
        </p:nvSpPr>
        <p:spPr>
          <a:xfrm>
            <a:off x="5136356" y="4343400"/>
            <a:ext cx="3161122" cy="127407"/>
          </a:xfrm>
          <a:prstGeom prst="rect">
            <a:avLst/>
          </a:prstGeom>
          <a:noFill/>
          <a:ln/>
        </p:spPr>
        <p:txBody>
          <a:bodyPr wrap="none" lIns="0" tIns="0" rIns="0" bIns="0" rtlCol="0" anchor="t">
            <a:spAutoFit/>
          </a:bodyPr>
          <a:lstStyle/>
          <a:p>
            <a:pPr marL="0" indent="0" algn="l">
              <a:lnSpc>
                <a:spcPct val="112000"/>
              </a:lnSpc>
              <a:buNone/>
            </a:pPr>
            <a:r>
              <a:rPr lang="en-US" sz="800" dirty="0">
                <a:solidFill>
                  <a:srgbClr val="24292F"/>
                </a:solidFill>
                <a:latin typeface="Georgia" panose="02040502050405020303" pitchFamily="18" charset="0"/>
                <a:ea typeface="Inter" pitchFamily="34" charset="-122"/>
                <a:cs typeface="Inter" pitchFamily="34" charset="-120"/>
              </a:rPr>
              <a:t>Обращение через висячий указатель → немедленное исключение</a:t>
            </a:r>
            <a:endParaRPr lang="en-US" sz="800" dirty="0">
              <a:latin typeface="Georgia" panose="02040502050405020303" pitchFamily="18" charset="0"/>
            </a:endParaRPr>
          </a:p>
        </p:txBody>
      </p:sp>
      <p:sp>
        <p:nvSpPr>
          <p:cNvPr id="36" name="Shape 32"/>
          <p:cNvSpPr/>
          <p:nvPr/>
        </p:nvSpPr>
        <p:spPr>
          <a:xfrm>
            <a:off x="7144" y="4750594"/>
            <a:ext cx="9129713" cy="385763"/>
          </a:xfrm>
          <a:prstGeom prst="rect">
            <a:avLst/>
          </a:prstGeom>
          <a:solidFill>
            <a:srgbClr val="24292F"/>
          </a:solidFill>
          <a:ln/>
        </p:spPr>
      </p:sp>
      <p:sp>
        <p:nvSpPr>
          <p:cNvPr id="37" name="Shape 33"/>
          <p:cNvSpPr/>
          <p:nvPr/>
        </p:nvSpPr>
        <p:spPr>
          <a:xfrm>
            <a:off x="7144" y="4750594"/>
            <a:ext cx="9129713" cy="7144"/>
          </a:xfrm>
          <a:prstGeom prst="rect">
            <a:avLst/>
          </a:prstGeom>
          <a:solidFill>
            <a:srgbClr val="D0D7DE"/>
          </a:solidFill>
          <a:ln/>
        </p:spPr>
      </p:sp>
      <p:sp>
        <p:nvSpPr>
          <p:cNvPr id="38" name="Shape 34"/>
          <p:cNvSpPr/>
          <p:nvPr/>
        </p:nvSpPr>
        <p:spPr>
          <a:xfrm>
            <a:off x="350044" y="4843463"/>
            <a:ext cx="1268016" cy="207169"/>
          </a:xfrm>
          <a:prstGeom prst="rect">
            <a:avLst/>
          </a:prstGeom>
          <a:solidFill>
            <a:srgbClr val="2DA44E"/>
          </a:solidFill>
          <a:ln/>
        </p:spPr>
      </p:sp>
      <p:sp>
        <p:nvSpPr>
          <p:cNvPr id="39" name="Text 35"/>
          <p:cNvSpPr/>
          <p:nvPr/>
        </p:nvSpPr>
        <p:spPr>
          <a:xfrm>
            <a:off x="350044" y="4843463"/>
            <a:ext cx="1268016" cy="207169"/>
          </a:xfrm>
          <a:prstGeom prst="rect">
            <a:avLst/>
          </a:prstGeom>
          <a:noFill/>
          <a:ln/>
        </p:spPr>
        <p:txBody>
          <a:bodyPr wrap="none" lIns="68072" tIns="34036" rIns="68072" bIns="34036" rtlCol="0" anchor="t">
            <a:spAutoFit/>
          </a:bodyPr>
          <a:lstStyle/>
          <a:p>
            <a:pPr marL="0" indent="0" algn="l">
              <a:lnSpc>
                <a:spcPct val="120000"/>
              </a:lnSpc>
              <a:buNone/>
            </a:pPr>
            <a:r>
              <a:rPr lang="en-US" sz="700" b="1" dirty="0">
                <a:solidFill>
                  <a:srgbClr val="FFFFFF"/>
                </a:solidFill>
                <a:latin typeface="Fira Code Bold" pitchFamily="34" charset="0"/>
                <a:ea typeface="Fira Code Bold" pitchFamily="34" charset="-122"/>
                <a:cs typeface="Fira Code Bold" pitchFamily="34" charset="-120"/>
              </a:rPr>
              <a:t>Project Zero (2023)</a:t>
            </a:r>
            <a:endParaRPr lang="en-US" sz="700" dirty="0"/>
          </a:p>
        </p:txBody>
      </p:sp>
      <p:sp>
        <p:nvSpPr>
          <p:cNvPr id="40" name="Text 36"/>
          <p:cNvSpPr/>
          <p:nvPr/>
        </p:nvSpPr>
        <p:spPr>
          <a:xfrm>
            <a:off x="1732359" y="4861322"/>
            <a:ext cx="5281017" cy="171450"/>
          </a:xfrm>
          <a:prstGeom prst="rect">
            <a:avLst/>
          </a:prstGeom>
          <a:noFill/>
          <a:ln/>
        </p:spPr>
        <p:txBody>
          <a:bodyPr wrap="none" lIns="0" tIns="0" rIns="0" bIns="0" rtlCol="0" anchor="t">
            <a:spAutoFit/>
          </a:bodyPr>
          <a:lstStyle/>
          <a:p>
            <a:pPr marL="0" indent="0" algn="l">
              <a:lnSpc>
                <a:spcPct val="120000"/>
              </a:lnSpc>
              <a:buNone/>
            </a:pPr>
            <a:r>
              <a:rPr lang="en-US" sz="850" dirty="0">
                <a:solidFill>
                  <a:srgbClr val="F6F8FA"/>
                </a:solidFill>
                <a:latin typeface="Inter" pitchFamily="34" charset="0"/>
                <a:ea typeface="Inter" pitchFamily="34" charset="-122"/>
                <a:cs typeface="Inter" pitchFamily="34" charset="-120"/>
              </a:rPr>
              <a:t>MTE обнаружил реальные UAF-баги в приложениях на Pixel 8/9 в production-режиме ASYNC.</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7144" y="7144"/>
            <a:ext cx="9129713" cy="1035844"/>
          </a:xfrm>
          <a:prstGeom prst="rect">
            <a:avLst/>
          </a:prstGeom>
          <a:solidFill>
            <a:srgbClr val="FFFFFF"/>
          </a:solidFill>
          <a:ln/>
        </p:spPr>
      </p:sp>
      <p:sp>
        <p:nvSpPr>
          <p:cNvPr id="5" name="Shape 1"/>
          <p:cNvSpPr/>
          <p:nvPr/>
        </p:nvSpPr>
        <p:spPr>
          <a:xfrm>
            <a:off x="7144" y="1035844"/>
            <a:ext cx="9129713" cy="7144"/>
          </a:xfrm>
          <a:prstGeom prst="rect">
            <a:avLst/>
          </a:prstGeom>
          <a:solidFill>
            <a:srgbClr val="D0D7DE"/>
          </a:solidFill>
          <a:ln/>
        </p:spPr>
      </p:sp>
      <p:sp>
        <p:nvSpPr>
          <p:cNvPr id="6" name="Text 2"/>
          <p:cNvSpPr/>
          <p:nvPr/>
        </p:nvSpPr>
        <p:spPr>
          <a:xfrm>
            <a:off x="435769" y="292894"/>
            <a:ext cx="8272463" cy="600075"/>
          </a:xfrm>
          <a:prstGeom prst="rect">
            <a:avLst/>
          </a:prstGeom>
          <a:noFill/>
          <a:ln/>
        </p:spPr>
        <p:txBody>
          <a:bodyPr wrap="square" lIns="0" tIns="0" rIns="0" bIns="0" rtlCol="0" anchor="t">
            <a:spAutoFit/>
          </a:bodyPr>
          <a:lstStyle/>
          <a:p>
            <a:pPr marL="0" indent="0" algn="l">
              <a:buNone/>
            </a:pPr>
            <a:r>
              <a:rPr lang="en-US" sz="1600" b="1" dirty="0">
                <a:solidFill>
                  <a:srgbClr val="0969DA"/>
                </a:solidFill>
                <a:latin typeface="Fira Code Bold" pitchFamily="34" charset="0"/>
                <a:ea typeface="Fira Code Bold" pitchFamily="34" charset="-122"/>
                <a:cs typeface="Fira Code Bold" pitchFamily="34" charset="-120"/>
              </a:rPr>
              <a:t>Heap tagging без перекомпиляции; stack требует BTI + PAC + recompile</a:t>
            </a:r>
            <a:endParaRPr lang="en-US" sz="1600" dirty="0"/>
          </a:p>
        </p:txBody>
      </p:sp>
      <p:sp>
        <p:nvSpPr>
          <p:cNvPr id="7" name="Shape 3"/>
          <p:cNvSpPr/>
          <p:nvPr/>
        </p:nvSpPr>
        <p:spPr>
          <a:xfrm>
            <a:off x="7144" y="1035844"/>
            <a:ext cx="4564856" cy="4100513"/>
          </a:xfrm>
          <a:prstGeom prst="rect">
            <a:avLst/>
          </a:prstGeom>
          <a:solidFill>
            <a:srgbClr val="FFFFFF"/>
          </a:solidFill>
          <a:ln/>
        </p:spPr>
      </p:sp>
      <p:sp>
        <p:nvSpPr>
          <p:cNvPr id="8" name="Shape 4"/>
          <p:cNvSpPr/>
          <p:nvPr/>
        </p:nvSpPr>
        <p:spPr>
          <a:xfrm>
            <a:off x="4564856" y="1035844"/>
            <a:ext cx="7144" cy="4100513"/>
          </a:xfrm>
          <a:prstGeom prst="rect">
            <a:avLst/>
          </a:prstGeom>
          <a:solidFill>
            <a:srgbClr val="D0D7DE"/>
          </a:solidFill>
          <a:ln/>
        </p:spPr>
      </p:sp>
      <p:sp>
        <p:nvSpPr>
          <p:cNvPr id="9" name="Text 5"/>
          <p:cNvSpPr/>
          <p:nvPr/>
        </p:nvSpPr>
        <p:spPr>
          <a:xfrm>
            <a:off x="435769" y="1321594"/>
            <a:ext cx="3707606" cy="325041"/>
          </a:xfrm>
          <a:prstGeom prst="rect">
            <a:avLst/>
          </a:prstGeom>
          <a:noFill/>
          <a:ln/>
        </p:spPr>
        <p:txBody>
          <a:bodyPr wrap="square" lIns="0" tIns="0" rIns="0" bIns="102108" rtlCol="0" anchor="t">
            <a:spAutoFit/>
          </a:bodyPr>
          <a:lstStyle/>
          <a:p>
            <a:pPr marL="0" indent="0" algn="l">
              <a:buNone/>
            </a:pPr>
            <a:r>
              <a:rPr lang="en-US" sz="1200" b="1" dirty="0">
                <a:solidFill>
                  <a:srgbClr val="24292F"/>
                </a:solidFill>
                <a:latin typeface="Fira Code Bold" pitchFamily="34" charset="0"/>
                <a:ea typeface="Fira Code Bold" pitchFamily="34" charset="-122"/>
                <a:cs typeface="Fira Code Bold" pitchFamily="34" charset="-120"/>
              </a:rPr>
              <a:t>Heap Tagging (без перекомпиляции)</a:t>
            </a:r>
            <a:endParaRPr lang="en-US" sz="1200" dirty="0"/>
          </a:p>
        </p:txBody>
      </p:sp>
      <p:sp>
        <p:nvSpPr>
          <p:cNvPr id="10" name="Text 6"/>
          <p:cNvSpPr/>
          <p:nvPr/>
        </p:nvSpPr>
        <p:spPr>
          <a:xfrm>
            <a:off x="435769" y="1818084"/>
            <a:ext cx="77158" cy="176808"/>
          </a:xfrm>
          <a:prstGeom prst="rect">
            <a:avLst/>
          </a:prstGeom>
          <a:noFill/>
          <a:ln/>
        </p:spPr>
        <p:txBody>
          <a:bodyPr wrap="none" lIns="0" tIns="0" rIns="0" bIns="0" rtlCol="0" anchor="t">
            <a:spAutoFit/>
          </a:bodyPr>
          <a:lstStyle/>
          <a:p>
            <a:pPr marL="0" indent="0" algn="l">
              <a:buNone/>
            </a:pPr>
            <a:r>
              <a:rPr lang="en-US" sz="900" b="1" dirty="0">
                <a:solidFill>
                  <a:srgbClr val="0969DA"/>
                </a:solidFill>
                <a:latin typeface="Fira Code Bold" pitchFamily="34" charset="0"/>
                <a:ea typeface="Fira Code Bold" pitchFamily="34" charset="-122"/>
                <a:cs typeface="Fira Code Bold" pitchFamily="34" charset="-120"/>
              </a:rPr>
              <a:t>→</a:t>
            </a:r>
            <a:endParaRPr lang="en-US" sz="900" dirty="0"/>
          </a:p>
        </p:txBody>
      </p:sp>
      <p:sp>
        <p:nvSpPr>
          <p:cNvPr id="11" name="Text 7"/>
          <p:cNvSpPr/>
          <p:nvPr/>
        </p:nvSpPr>
        <p:spPr>
          <a:xfrm>
            <a:off x="598652" y="1818084"/>
            <a:ext cx="2726708" cy="143309"/>
          </a:xfrm>
          <a:prstGeom prst="rect">
            <a:avLst/>
          </a:prstGeom>
          <a:noFill/>
          <a:ln/>
        </p:spPr>
        <p:txBody>
          <a:bodyPr wrap="none" lIns="0" tIns="0" rIns="0" bIns="0" rtlCol="0" anchor="t">
            <a:spAutoFit/>
          </a:bodyPr>
          <a:lstStyle/>
          <a:p>
            <a:pPr marL="0" indent="0" algn="l">
              <a:lnSpc>
                <a:spcPct val="120000"/>
              </a:lnSpc>
              <a:buNone/>
            </a:pPr>
            <a:r>
              <a:rPr lang="en-US" sz="850" b="1" dirty="0">
                <a:solidFill>
                  <a:srgbClr val="24292F"/>
                </a:solidFill>
                <a:latin typeface="Times New Roman" panose="02020603050405020304" pitchFamily="18" charset="0"/>
                <a:ea typeface="Inter" pitchFamily="34" charset="-122"/>
                <a:cs typeface="Times New Roman" panose="02020603050405020304" pitchFamily="18" charset="0"/>
              </a:rPr>
              <a:t>В dynamically linked системах — только ядро ОС и libc.</a:t>
            </a:r>
            <a:endParaRPr lang="en-US" sz="850" b="1" dirty="0">
              <a:latin typeface="Times New Roman" panose="02020603050405020304" pitchFamily="18" charset="0"/>
              <a:cs typeface="Times New Roman" panose="02020603050405020304" pitchFamily="18" charset="0"/>
            </a:endParaRPr>
          </a:p>
        </p:txBody>
      </p:sp>
      <p:sp>
        <p:nvSpPr>
          <p:cNvPr id="12" name="Text 8"/>
          <p:cNvSpPr/>
          <p:nvPr/>
        </p:nvSpPr>
        <p:spPr>
          <a:xfrm>
            <a:off x="435769" y="2109192"/>
            <a:ext cx="77158" cy="176808"/>
          </a:xfrm>
          <a:prstGeom prst="rect">
            <a:avLst/>
          </a:prstGeom>
          <a:noFill/>
          <a:ln/>
        </p:spPr>
        <p:txBody>
          <a:bodyPr wrap="none" lIns="0" tIns="0" rIns="0" bIns="0" rtlCol="0" anchor="t">
            <a:spAutoFit/>
          </a:bodyPr>
          <a:lstStyle/>
          <a:p>
            <a:pPr marL="0" indent="0" algn="l">
              <a:buNone/>
            </a:pPr>
            <a:r>
              <a:rPr lang="en-US" sz="900" b="1" dirty="0">
                <a:solidFill>
                  <a:srgbClr val="0969DA"/>
                </a:solidFill>
                <a:latin typeface="Fira Code Bold" pitchFamily="34" charset="0"/>
                <a:ea typeface="Fira Code Bold" pitchFamily="34" charset="-122"/>
                <a:cs typeface="Fira Code Bold" pitchFamily="34" charset="-120"/>
              </a:rPr>
              <a:t>→</a:t>
            </a:r>
            <a:endParaRPr lang="en-US" sz="900" dirty="0"/>
          </a:p>
        </p:txBody>
      </p:sp>
      <p:sp>
        <p:nvSpPr>
          <p:cNvPr id="13" name="Text 9"/>
          <p:cNvSpPr/>
          <p:nvPr/>
        </p:nvSpPr>
        <p:spPr>
          <a:xfrm>
            <a:off x="598652" y="2109192"/>
            <a:ext cx="1865895" cy="143309"/>
          </a:xfrm>
          <a:prstGeom prst="rect">
            <a:avLst/>
          </a:prstGeom>
          <a:noFill/>
          <a:ln/>
        </p:spPr>
        <p:txBody>
          <a:bodyPr wrap="none" lIns="0" tIns="0" rIns="0" bIns="0" rtlCol="0" anchor="t">
            <a:spAutoFit/>
          </a:bodyPr>
          <a:lstStyle/>
          <a:p>
            <a:pPr marL="0" indent="0" algn="l">
              <a:lnSpc>
                <a:spcPct val="120000"/>
              </a:lnSpc>
              <a:buNone/>
            </a:pPr>
            <a:r>
              <a:rPr lang="en-US" sz="850" b="1" dirty="0">
                <a:solidFill>
                  <a:srgbClr val="24292F"/>
                </a:solidFill>
                <a:latin typeface="Times New Roman" panose="02020603050405020304" pitchFamily="18" charset="0"/>
                <a:ea typeface="Inter" pitchFamily="34" charset="-122"/>
                <a:cs typeface="Times New Roman" panose="02020603050405020304" pitchFamily="18" charset="0"/>
              </a:rPr>
              <a:t>Существующие бинари не трогаются.</a:t>
            </a:r>
            <a:endParaRPr lang="en-US" sz="850" b="1" dirty="0">
              <a:latin typeface="Times New Roman" panose="02020603050405020304" pitchFamily="18" charset="0"/>
              <a:cs typeface="Times New Roman" panose="02020603050405020304" pitchFamily="18" charset="0"/>
            </a:endParaRPr>
          </a:p>
        </p:txBody>
      </p:sp>
      <p:sp>
        <p:nvSpPr>
          <p:cNvPr id="14" name="Text 10"/>
          <p:cNvSpPr/>
          <p:nvPr/>
        </p:nvSpPr>
        <p:spPr>
          <a:xfrm>
            <a:off x="435769" y="2400300"/>
            <a:ext cx="77158" cy="176808"/>
          </a:xfrm>
          <a:prstGeom prst="rect">
            <a:avLst/>
          </a:prstGeom>
          <a:noFill/>
          <a:ln/>
        </p:spPr>
        <p:txBody>
          <a:bodyPr wrap="none" lIns="0" tIns="0" rIns="0" bIns="0" rtlCol="0" anchor="t">
            <a:spAutoFit/>
          </a:bodyPr>
          <a:lstStyle/>
          <a:p>
            <a:pPr marL="0" indent="0" algn="l">
              <a:buNone/>
            </a:pPr>
            <a:r>
              <a:rPr lang="en-US" sz="900" b="1" dirty="0">
                <a:solidFill>
                  <a:srgbClr val="0969DA"/>
                </a:solidFill>
                <a:latin typeface="Fira Code Bold" pitchFamily="34" charset="0"/>
                <a:ea typeface="Fira Code Bold" pitchFamily="34" charset="-122"/>
                <a:cs typeface="Fira Code Bold" pitchFamily="34" charset="-120"/>
              </a:rPr>
              <a:t>→</a:t>
            </a:r>
            <a:endParaRPr lang="en-US" sz="900" dirty="0"/>
          </a:p>
        </p:txBody>
      </p:sp>
      <p:sp>
        <p:nvSpPr>
          <p:cNvPr id="15" name="Text 11"/>
          <p:cNvSpPr/>
          <p:nvPr/>
        </p:nvSpPr>
        <p:spPr>
          <a:xfrm>
            <a:off x="598652" y="2400300"/>
            <a:ext cx="2713884" cy="143309"/>
          </a:xfrm>
          <a:prstGeom prst="rect">
            <a:avLst/>
          </a:prstGeom>
          <a:noFill/>
          <a:ln/>
        </p:spPr>
        <p:txBody>
          <a:bodyPr wrap="none" lIns="0" tIns="0" rIns="0" bIns="0" rtlCol="0" anchor="t">
            <a:spAutoFit/>
          </a:bodyPr>
          <a:lstStyle/>
          <a:p>
            <a:pPr marL="0" indent="0" algn="l">
              <a:lnSpc>
                <a:spcPct val="120000"/>
              </a:lnSpc>
              <a:buNone/>
            </a:pPr>
            <a:r>
              <a:rPr lang="en-US" sz="850" b="1" dirty="0">
                <a:solidFill>
                  <a:srgbClr val="24292F"/>
                </a:solidFill>
                <a:latin typeface="Times New Roman" panose="02020603050405020304" pitchFamily="18" charset="0"/>
                <a:ea typeface="Inter" pitchFamily="34" charset="-122"/>
                <a:cs typeface="Times New Roman" panose="02020603050405020304" pitchFamily="18" charset="0"/>
              </a:rPr>
              <a:t>malloc() → IRG → STG → tagged pointer возвращается.</a:t>
            </a:r>
            <a:endParaRPr lang="en-US" sz="850" b="1" dirty="0">
              <a:latin typeface="Times New Roman" panose="02020603050405020304" pitchFamily="18" charset="0"/>
              <a:cs typeface="Times New Roman" panose="02020603050405020304" pitchFamily="18" charset="0"/>
            </a:endParaRPr>
          </a:p>
        </p:txBody>
      </p:sp>
      <p:sp>
        <p:nvSpPr>
          <p:cNvPr id="16" name="Text 12"/>
          <p:cNvSpPr/>
          <p:nvPr/>
        </p:nvSpPr>
        <p:spPr>
          <a:xfrm>
            <a:off x="435769" y="2691408"/>
            <a:ext cx="77158" cy="176808"/>
          </a:xfrm>
          <a:prstGeom prst="rect">
            <a:avLst/>
          </a:prstGeom>
          <a:noFill/>
          <a:ln/>
        </p:spPr>
        <p:txBody>
          <a:bodyPr wrap="none" lIns="0" tIns="0" rIns="0" bIns="0" rtlCol="0" anchor="t">
            <a:spAutoFit/>
          </a:bodyPr>
          <a:lstStyle/>
          <a:p>
            <a:pPr marL="0" indent="0" algn="l">
              <a:buNone/>
            </a:pPr>
            <a:r>
              <a:rPr lang="en-US" sz="900" b="1" dirty="0">
                <a:solidFill>
                  <a:srgbClr val="0969DA"/>
                </a:solidFill>
                <a:latin typeface="Fira Code Bold" pitchFamily="34" charset="0"/>
                <a:ea typeface="Fira Code Bold" pitchFamily="34" charset="-122"/>
                <a:cs typeface="Fira Code Bold" pitchFamily="34" charset="-120"/>
              </a:rPr>
              <a:t>→</a:t>
            </a:r>
            <a:endParaRPr lang="en-US" sz="900" dirty="0"/>
          </a:p>
        </p:txBody>
      </p:sp>
      <p:sp>
        <p:nvSpPr>
          <p:cNvPr id="17" name="Text 13"/>
          <p:cNvSpPr/>
          <p:nvPr/>
        </p:nvSpPr>
        <p:spPr>
          <a:xfrm>
            <a:off x="598652" y="2691408"/>
            <a:ext cx="3544723" cy="143309"/>
          </a:xfrm>
          <a:prstGeom prst="rect">
            <a:avLst/>
          </a:prstGeom>
          <a:noFill/>
          <a:ln/>
        </p:spPr>
        <p:txBody>
          <a:bodyPr wrap="square" lIns="0" tIns="0" rIns="0" bIns="0" rtlCol="0" anchor="t">
            <a:spAutoFit/>
          </a:bodyPr>
          <a:lstStyle/>
          <a:p>
            <a:pPr marL="0" indent="0" algn="l">
              <a:lnSpc>
                <a:spcPct val="120000"/>
              </a:lnSpc>
              <a:buNone/>
            </a:pPr>
            <a:r>
              <a:rPr lang="en-US" sz="850" b="1" dirty="0">
                <a:solidFill>
                  <a:srgbClr val="24292F"/>
                </a:solidFill>
                <a:latin typeface="Times New Roman" panose="02020603050405020304" pitchFamily="18" charset="0"/>
                <a:ea typeface="Inter" pitchFamily="34" charset="-122"/>
                <a:cs typeface="Times New Roman" panose="02020603050405020304" pitchFamily="18" charset="0"/>
              </a:rPr>
              <a:t>free() → новый тег → висячие указатели немедленно обнаруживаются.</a:t>
            </a:r>
            <a:endParaRPr lang="en-US" sz="850" b="1" dirty="0">
              <a:latin typeface="Times New Roman" panose="02020603050405020304" pitchFamily="18" charset="0"/>
              <a:cs typeface="Times New Roman" panose="02020603050405020304" pitchFamily="18" charset="0"/>
            </a:endParaRPr>
          </a:p>
        </p:txBody>
      </p:sp>
      <p:sp>
        <p:nvSpPr>
          <p:cNvPr id="18" name="Text 14"/>
          <p:cNvSpPr/>
          <p:nvPr/>
        </p:nvSpPr>
        <p:spPr>
          <a:xfrm>
            <a:off x="435769" y="3205758"/>
            <a:ext cx="3707606" cy="112514"/>
          </a:xfrm>
          <a:prstGeom prst="rect">
            <a:avLst/>
          </a:prstGeom>
          <a:noFill/>
          <a:ln/>
        </p:spPr>
        <p:txBody>
          <a:bodyPr wrap="square" lIns="0" tIns="0" rIns="0" bIns="0" rtlCol="0" anchor="t">
            <a:spAutoFit/>
          </a:bodyPr>
          <a:lstStyle/>
          <a:p>
            <a:pPr marL="0" indent="0" algn="l">
              <a:buNone/>
            </a:pPr>
            <a:r>
              <a:rPr lang="en-US" sz="600" dirty="0">
                <a:solidFill>
                  <a:srgbClr val="57606A"/>
                </a:solidFill>
                <a:latin typeface="Fira Code" pitchFamily="34" charset="0"/>
                <a:ea typeface="Fira Code" pitchFamily="34" charset="-122"/>
                <a:cs typeface="Fira Code" pitchFamily="34" charset="-120"/>
              </a:rPr>
              <a:t>ANDROID NDK EXAMPLE</a:t>
            </a:r>
            <a:endParaRPr lang="en-US" sz="600" dirty="0"/>
          </a:p>
        </p:txBody>
      </p:sp>
      <p:sp>
        <p:nvSpPr>
          <p:cNvPr id="19" name="Shape 15"/>
          <p:cNvSpPr/>
          <p:nvPr/>
        </p:nvSpPr>
        <p:spPr>
          <a:xfrm>
            <a:off x="435769" y="3375422"/>
            <a:ext cx="3707606" cy="620055"/>
          </a:xfrm>
          <a:prstGeom prst="rect">
            <a:avLst/>
          </a:prstGeom>
          <a:solidFill>
            <a:srgbClr val="1F2428"/>
          </a:solidFill>
          <a:ln w="9144">
            <a:solidFill>
              <a:srgbClr val="444C56"/>
            </a:solidFill>
            <a:prstDash val="solid"/>
          </a:ln>
        </p:spPr>
      </p:sp>
      <p:sp>
        <p:nvSpPr>
          <p:cNvPr id="20" name="Text 16"/>
          <p:cNvSpPr/>
          <p:nvPr/>
        </p:nvSpPr>
        <p:spPr>
          <a:xfrm>
            <a:off x="435769" y="3375422"/>
            <a:ext cx="3707606" cy="620055"/>
          </a:xfrm>
          <a:prstGeom prst="rect">
            <a:avLst/>
          </a:prstGeom>
          <a:noFill/>
          <a:ln/>
        </p:spPr>
        <p:txBody>
          <a:bodyPr wrap="square" lIns="170053" tIns="170053" rIns="170053" bIns="170053" rtlCol="0" anchor="t">
            <a:spAutoFit/>
          </a:bodyPr>
          <a:lstStyle/>
          <a:p>
            <a:pPr marL="0" indent="0" algn="l">
              <a:lnSpc>
                <a:spcPct val="128000"/>
              </a:lnSpc>
              <a:buNone/>
            </a:pPr>
            <a:r>
              <a:rPr lang="en-US" sz="750" dirty="0">
                <a:solidFill>
                  <a:srgbClr val="D2A8FF"/>
                </a:solidFill>
                <a:latin typeface="Fira Code" pitchFamily="34" charset="0"/>
                <a:ea typeface="Fira Code" pitchFamily="34" charset="-122"/>
                <a:cs typeface="Fira Code" pitchFamily="34" charset="-120"/>
              </a:rPr>
              <a:t>android_mallopt</a:t>
            </a:r>
            <a:r>
              <a:rPr lang="en-US" sz="750" dirty="0">
                <a:solidFill>
                  <a:srgbClr val="C9D1D9"/>
                </a:solidFill>
                <a:latin typeface="Fira Code" pitchFamily="34" charset="0"/>
                <a:ea typeface="Fira Code" pitchFamily="34" charset="-122"/>
                <a:cs typeface="Fira Code" pitchFamily="34" charset="-120"/>
              </a:rPr>
              <a:t>( </a:t>
            </a:r>
            <a:r>
              <a:rPr lang="en-US" sz="750" dirty="0">
                <a:solidFill>
                  <a:srgbClr val="79C0FF"/>
                </a:solidFill>
                <a:latin typeface="Fira Code" pitchFamily="34" charset="0"/>
                <a:ea typeface="Fira Code" pitchFamily="34" charset="-122"/>
                <a:cs typeface="Fira Code" pitchFamily="34" charset="-120"/>
              </a:rPr>
              <a:t>M_BIONIC_SET_HEAP_TAGGING_LEVEL</a:t>
            </a:r>
            <a:r>
              <a:rPr lang="en-US" sz="750" dirty="0">
                <a:solidFill>
                  <a:srgbClr val="C9D1D9"/>
                </a:solidFill>
                <a:latin typeface="Fira Code" pitchFamily="34" charset="0"/>
                <a:ea typeface="Fira Code" pitchFamily="34" charset="-122"/>
                <a:cs typeface="Fira Code" pitchFamily="34" charset="-120"/>
              </a:rPr>
              <a:t>, </a:t>
            </a:r>
            <a:r>
              <a:rPr lang="en-US" sz="750" dirty="0">
                <a:solidFill>
                  <a:srgbClr val="79C0FF"/>
                </a:solidFill>
                <a:latin typeface="Fira Code" pitchFamily="34" charset="0"/>
                <a:ea typeface="Fira Code" pitchFamily="34" charset="-122"/>
                <a:cs typeface="Fira Code" pitchFamily="34" charset="-120"/>
              </a:rPr>
              <a:t>M_HEAP_TAGGING_LEVEL_SYNC</a:t>
            </a:r>
            <a:r>
              <a:rPr lang="en-US" sz="750" dirty="0">
                <a:solidFill>
                  <a:srgbClr val="C9D1D9"/>
                </a:solidFill>
                <a:latin typeface="Fira Code" pitchFamily="34" charset="0"/>
                <a:ea typeface="Fira Code" pitchFamily="34" charset="-122"/>
                <a:cs typeface="Fira Code" pitchFamily="34" charset="-120"/>
              </a:rPr>
              <a:t> </a:t>
            </a:r>
            <a:r>
              <a:rPr lang="en-US" sz="750" dirty="0">
                <a:solidFill>
                  <a:srgbClr val="8B949E"/>
                </a:solidFill>
                <a:latin typeface="Fira Code" pitchFamily="34" charset="0"/>
                <a:ea typeface="Fira Code" pitchFamily="34" charset="-122"/>
                <a:cs typeface="Fira Code" pitchFamily="34" charset="-120"/>
              </a:rPr>
              <a:t>// or ASYNC</a:t>
            </a:r>
            <a:r>
              <a:rPr lang="en-US" sz="750" dirty="0">
                <a:solidFill>
                  <a:srgbClr val="C9D1D9"/>
                </a:solidFill>
                <a:latin typeface="Fira Code" pitchFamily="34" charset="0"/>
                <a:ea typeface="Fira Code" pitchFamily="34" charset="-122"/>
                <a:cs typeface="Fira Code" pitchFamily="34" charset="-120"/>
              </a:rPr>
              <a:t> );</a:t>
            </a:r>
            <a:endParaRPr lang="en-US" sz="750" dirty="0"/>
          </a:p>
        </p:txBody>
      </p:sp>
      <p:sp>
        <p:nvSpPr>
          <p:cNvPr id="21" name="Shape 17"/>
          <p:cNvSpPr/>
          <p:nvPr/>
        </p:nvSpPr>
        <p:spPr>
          <a:xfrm>
            <a:off x="4572000" y="1035844"/>
            <a:ext cx="4564856" cy="4100513"/>
          </a:xfrm>
          <a:prstGeom prst="rect">
            <a:avLst/>
          </a:prstGeom>
          <a:solidFill>
            <a:srgbClr val="F6F8FA"/>
          </a:solidFill>
          <a:ln/>
        </p:spPr>
      </p:sp>
      <p:sp>
        <p:nvSpPr>
          <p:cNvPr id="22" name="Text 18"/>
          <p:cNvSpPr/>
          <p:nvPr/>
        </p:nvSpPr>
        <p:spPr>
          <a:xfrm>
            <a:off x="5000625" y="1321594"/>
            <a:ext cx="3707606" cy="550069"/>
          </a:xfrm>
          <a:prstGeom prst="rect">
            <a:avLst/>
          </a:prstGeom>
          <a:noFill/>
          <a:ln/>
        </p:spPr>
        <p:txBody>
          <a:bodyPr wrap="square" lIns="0" tIns="0" rIns="0" bIns="102108" rtlCol="0" anchor="t">
            <a:spAutoFit/>
          </a:bodyPr>
          <a:lstStyle/>
          <a:p>
            <a:pPr marL="0" indent="0" algn="l">
              <a:buNone/>
            </a:pPr>
            <a:r>
              <a:rPr lang="en-US" sz="1200" b="1" dirty="0">
                <a:solidFill>
                  <a:srgbClr val="24292F"/>
                </a:solidFill>
                <a:latin typeface="Fira Code Bold" pitchFamily="34" charset="0"/>
                <a:ea typeface="Fira Code Bold" pitchFamily="34" charset="-122"/>
                <a:cs typeface="Fira Code Bold" pitchFamily="34" charset="-120"/>
              </a:rPr>
              <a:t>Stack Tagging (требует перекомпиляции)</a:t>
            </a:r>
            <a:endParaRPr lang="en-US" sz="1200" dirty="0"/>
          </a:p>
        </p:txBody>
      </p:sp>
      <p:sp>
        <p:nvSpPr>
          <p:cNvPr id="23" name="Text 19"/>
          <p:cNvSpPr/>
          <p:nvPr/>
        </p:nvSpPr>
        <p:spPr>
          <a:xfrm>
            <a:off x="5000625" y="2043113"/>
            <a:ext cx="77158" cy="176808"/>
          </a:xfrm>
          <a:prstGeom prst="rect">
            <a:avLst/>
          </a:prstGeom>
          <a:noFill/>
          <a:ln/>
        </p:spPr>
        <p:txBody>
          <a:bodyPr wrap="none" lIns="0" tIns="0" rIns="0" bIns="0" rtlCol="0" anchor="t">
            <a:spAutoFit/>
          </a:bodyPr>
          <a:lstStyle/>
          <a:p>
            <a:pPr marL="0" indent="0" algn="l">
              <a:buNone/>
            </a:pPr>
            <a:r>
              <a:rPr lang="en-US" sz="900" b="1" dirty="0">
                <a:solidFill>
                  <a:srgbClr val="BF3989"/>
                </a:solidFill>
                <a:latin typeface="Fira Code Bold" pitchFamily="34" charset="0"/>
                <a:ea typeface="Fira Code Bold" pitchFamily="34" charset="-122"/>
                <a:cs typeface="Fira Code Bold" pitchFamily="34" charset="-120"/>
              </a:rPr>
              <a:t>→</a:t>
            </a:r>
            <a:endParaRPr lang="en-US" sz="900" dirty="0"/>
          </a:p>
        </p:txBody>
      </p:sp>
      <p:sp>
        <p:nvSpPr>
          <p:cNvPr id="24" name="Text 20"/>
          <p:cNvSpPr/>
          <p:nvPr/>
        </p:nvSpPr>
        <p:spPr>
          <a:xfrm>
            <a:off x="5163508" y="2043113"/>
            <a:ext cx="3544723" cy="300275"/>
          </a:xfrm>
          <a:prstGeom prst="rect">
            <a:avLst/>
          </a:prstGeom>
          <a:noFill/>
          <a:ln/>
        </p:spPr>
        <p:txBody>
          <a:bodyPr wrap="square" lIns="0" tIns="0" rIns="0" bIns="0" rtlCol="0" anchor="t">
            <a:spAutoFit/>
          </a:bodyPr>
          <a:lstStyle/>
          <a:p>
            <a:pPr marL="0" indent="0" algn="l">
              <a:lnSpc>
                <a:spcPct val="120000"/>
              </a:lnSpc>
              <a:buNone/>
            </a:pPr>
            <a:r>
              <a:rPr lang="en-US" sz="850" b="1" dirty="0">
                <a:solidFill>
                  <a:srgbClr val="24292F"/>
                </a:solidFill>
                <a:latin typeface="Times New Roman" panose="02020603050405020304" pitchFamily="18" charset="0"/>
                <a:ea typeface="Inter" pitchFamily="34" charset="-122"/>
                <a:cs typeface="Times New Roman" panose="02020603050405020304" pitchFamily="18" charset="0"/>
              </a:rPr>
              <a:t>Компилятор (Clang/GCC с -fsanitize=memtag-stack) вставляет IRG + ADDG + STG в пролог функции.</a:t>
            </a:r>
            <a:endParaRPr lang="en-US" sz="850" b="1" dirty="0">
              <a:latin typeface="Times New Roman" panose="02020603050405020304" pitchFamily="18" charset="0"/>
              <a:cs typeface="Times New Roman" panose="02020603050405020304" pitchFamily="18" charset="0"/>
            </a:endParaRPr>
          </a:p>
        </p:txBody>
      </p:sp>
      <p:sp>
        <p:nvSpPr>
          <p:cNvPr id="25" name="Text 21"/>
          <p:cNvSpPr/>
          <p:nvPr/>
        </p:nvSpPr>
        <p:spPr>
          <a:xfrm>
            <a:off x="5000625" y="2500313"/>
            <a:ext cx="77158" cy="176808"/>
          </a:xfrm>
          <a:prstGeom prst="rect">
            <a:avLst/>
          </a:prstGeom>
          <a:noFill/>
          <a:ln/>
        </p:spPr>
        <p:txBody>
          <a:bodyPr wrap="none" lIns="0" tIns="0" rIns="0" bIns="0" rtlCol="0" anchor="t">
            <a:spAutoFit/>
          </a:bodyPr>
          <a:lstStyle/>
          <a:p>
            <a:pPr marL="0" indent="0" algn="l">
              <a:buNone/>
            </a:pPr>
            <a:r>
              <a:rPr lang="en-US" sz="900" b="1" dirty="0">
                <a:solidFill>
                  <a:srgbClr val="BF3989"/>
                </a:solidFill>
                <a:latin typeface="Fira Code Bold" pitchFamily="34" charset="0"/>
                <a:ea typeface="Fira Code Bold" pitchFamily="34" charset="-122"/>
                <a:cs typeface="Fira Code Bold" pitchFamily="34" charset="-120"/>
              </a:rPr>
              <a:t>→</a:t>
            </a:r>
            <a:endParaRPr lang="en-US" sz="900" dirty="0"/>
          </a:p>
        </p:txBody>
      </p:sp>
      <p:sp>
        <p:nvSpPr>
          <p:cNvPr id="26" name="Text 22"/>
          <p:cNvSpPr/>
          <p:nvPr/>
        </p:nvSpPr>
        <p:spPr>
          <a:xfrm>
            <a:off x="5163508" y="2500313"/>
            <a:ext cx="2390078" cy="143309"/>
          </a:xfrm>
          <a:prstGeom prst="rect">
            <a:avLst/>
          </a:prstGeom>
          <a:noFill/>
          <a:ln/>
        </p:spPr>
        <p:txBody>
          <a:bodyPr wrap="none" lIns="0" tIns="0" rIns="0" bIns="0" rtlCol="0" anchor="t">
            <a:spAutoFit/>
          </a:bodyPr>
          <a:lstStyle/>
          <a:p>
            <a:pPr marL="0" indent="0" algn="l">
              <a:lnSpc>
                <a:spcPct val="120000"/>
              </a:lnSpc>
              <a:buNone/>
            </a:pPr>
            <a:r>
              <a:rPr lang="en-US" sz="850" b="1" dirty="0">
                <a:solidFill>
                  <a:srgbClr val="24292F"/>
                </a:solidFill>
                <a:latin typeface="Times New Roman" panose="02020603050405020304" pitchFamily="18" charset="0"/>
                <a:ea typeface="Inter" pitchFamily="34" charset="-122"/>
                <a:cs typeface="Times New Roman" panose="02020603050405020304" pitchFamily="18" charset="0"/>
              </a:rPr>
              <a:t>Каждый stack-объект получает уникальный тег.</a:t>
            </a:r>
            <a:endParaRPr lang="en-US" sz="850" b="1" dirty="0">
              <a:latin typeface="Times New Roman" panose="02020603050405020304" pitchFamily="18" charset="0"/>
              <a:cs typeface="Times New Roman" panose="02020603050405020304" pitchFamily="18" charset="0"/>
            </a:endParaRPr>
          </a:p>
        </p:txBody>
      </p:sp>
      <p:sp>
        <p:nvSpPr>
          <p:cNvPr id="27" name="Text 23"/>
          <p:cNvSpPr/>
          <p:nvPr/>
        </p:nvSpPr>
        <p:spPr>
          <a:xfrm>
            <a:off x="5000625" y="2791420"/>
            <a:ext cx="77158" cy="176808"/>
          </a:xfrm>
          <a:prstGeom prst="rect">
            <a:avLst/>
          </a:prstGeom>
          <a:noFill/>
          <a:ln/>
        </p:spPr>
        <p:txBody>
          <a:bodyPr wrap="none" lIns="0" tIns="0" rIns="0" bIns="0" rtlCol="0" anchor="t">
            <a:spAutoFit/>
          </a:bodyPr>
          <a:lstStyle/>
          <a:p>
            <a:pPr marL="0" indent="0" algn="l">
              <a:buNone/>
            </a:pPr>
            <a:r>
              <a:rPr lang="en-US" sz="900" b="1" dirty="0">
                <a:solidFill>
                  <a:srgbClr val="BF3989"/>
                </a:solidFill>
                <a:latin typeface="Fira Code Bold" pitchFamily="34" charset="0"/>
                <a:ea typeface="Fira Code Bold" pitchFamily="34" charset="-122"/>
                <a:cs typeface="Fira Code Bold" pitchFamily="34" charset="-120"/>
              </a:rPr>
              <a:t>→</a:t>
            </a:r>
            <a:endParaRPr lang="en-US" sz="900" dirty="0"/>
          </a:p>
        </p:txBody>
      </p:sp>
      <p:sp>
        <p:nvSpPr>
          <p:cNvPr id="28" name="Text 24"/>
          <p:cNvSpPr/>
          <p:nvPr/>
        </p:nvSpPr>
        <p:spPr>
          <a:xfrm>
            <a:off x="5163508" y="2791420"/>
            <a:ext cx="3544723" cy="300275"/>
          </a:xfrm>
          <a:prstGeom prst="rect">
            <a:avLst/>
          </a:prstGeom>
          <a:noFill/>
          <a:ln/>
        </p:spPr>
        <p:txBody>
          <a:bodyPr wrap="square" lIns="0" tIns="0" rIns="0" bIns="0" rtlCol="0" anchor="t">
            <a:spAutoFit/>
          </a:bodyPr>
          <a:lstStyle/>
          <a:p>
            <a:pPr marL="0" indent="0" algn="l">
              <a:lnSpc>
                <a:spcPct val="120000"/>
              </a:lnSpc>
              <a:buNone/>
            </a:pPr>
            <a:r>
              <a:rPr lang="en-US" sz="850" b="1" dirty="0">
                <a:solidFill>
                  <a:srgbClr val="24292F"/>
                </a:solidFill>
                <a:latin typeface="Times New Roman" panose="02020603050405020304" pitchFamily="18" charset="0"/>
                <a:ea typeface="Inter" pitchFamily="34" charset="-122"/>
                <a:cs typeface="Times New Roman" panose="02020603050405020304" pitchFamily="18" charset="0"/>
              </a:rPr>
              <a:t>Требует BTI (Branch Target Identification) + PAC (Pointer Authentication Code) для полной безопасности.</a:t>
            </a:r>
            <a:endParaRPr lang="en-US" sz="850" b="1" dirty="0">
              <a:latin typeface="Times New Roman" panose="02020603050405020304" pitchFamily="18" charset="0"/>
              <a:cs typeface="Times New Roman" panose="02020603050405020304" pitchFamily="18" charset="0"/>
            </a:endParaRPr>
          </a:p>
        </p:txBody>
      </p:sp>
      <p:sp>
        <p:nvSpPr>
          <p:cNvPr id="29" name="Text 25"/>
          <p:cNvSpPr/>
          <p:nvPr/>
        </p:nvSpPr>
        <p:spPr>
          <a:xfrm>
            <a:off x="5000625" y="3248620"/>
            <a:ext cx="77158" cy="176808"/>
          </a:xfrm>
          <a:prstGeom prst="rect">
            <a:avLst/>
          </a:prstGeom>
          <a:noFill/>
          <a:ln/>
        </p:spPr>
        <p:txBody>
          <a:bodyPr wrap="none" lIns="0" tIns="0" rIns="0" bIns="0" rtlCol="0" anchor="t">
            <a:spAutoFit/>
          </a:bodyPr>
          <a:lstStyle/>
          <a:p>
            <a:pPr marL="0" indent="0" algn="l">
              <a:buNone/>
            </a:pPr>
            <a:r>
              <a:rPr lang="en-US" sz="900" b="1" dirty="0">
                <a:solidFill>
                  <a:srgbClr val="BF3989"/>
                </a:solidFill>
                <a:latin typeface="Fira Code Bold" pitchFamily="34" charset="0"/>
                <a:ea typeface="Fira Code Bold" pitchFamily="34" charset="-122"/>
                <a:cs typeface="Fira Code Bold" pitchFamily="34" charset="-120"/>
              </a:rPr>
              <a:t>→</a:t>
            </a:r>
            <a:endParaRPr lang="en-US" sz="900" dirty="0"/>
          </a:p>
        </p:txBody>
      </p:sp>
      <p:sp>
        <p:nvSpPr>
          <p:cNvPr id="30" name="Text 26"/>
          <p:cNvSpPr/>
          <p:nvPr/>
        </p:nvSpPr>
        <p:spPr>
          <a:xfrm>
            <a:off x="5163508" y="3248620"/>
            <a:ext cx="3544723" cy="300275"/>
          </a:xfrm>
          <a:prstGeom prst="rect">
            <a:avLst/>
          </a:prstGeom>
          <a:noFill/>
          <a:ln/>
        </p:spPr>
        <p:txBody>
          <a:bodyPr wrap="square" lIns="0" tIns="0" rIns="0" bIns="0" rtlCol="0" anchor="t">
            <a:spAutoFit/>
          </a:bodyPr>
          <a:lstStyle/>
          <a:p>
            <a:pPr marL="0" indent="0" algn="l">
              <a:lnSpc>
                <a:spcPct val="120000"/>
              </a:lnSpc>
              <a:buNone/>
            </a:pPr>
            <a:r>
              <a:rPr lang="en-US" sz="850" b="1" dirty="0">
                <a:solidFill>
                  <a:srgbClr val="24292F"/>
                </a:solidFill>
                <a:latin typeface="Times New Roman" panose="02020603050405020304" pitchFamily="18" charset="0"/>
                <a:ea typeface="Inter" pitchFamily="34" charset="-122"/>
                <a:cs typeface="Times New Roman" panose="02020603050405020304" pitchFamily="18" charset="0"/>
              </a:rPr>
              <a:t>Без BTI/PAC атакующий может контролировать SP и обойти MTE для стека.</a:t>
            </a:r>
            <a:endParaRPr lang="en-US" sz="850" b="1" dirty="0">
              <a:latin typeface="Times New Roman" panose="02020603050405020304" pitchFamily="18" charset="0"/>
              <a:cs typeface="Times New Roman" panose="02020603050405020304" pitchFamily="18" charset="0"/>
            </a:endParaRPr>
          </a:p>
        </p:txBody>
      </p:sp>
      <p:sp>
        <p:nvSpPr>
          <p:cNvPr id="31" name="Text 27"/>
          <p:cNvSpPr/>
          <p:nvPr/>
        </p:nvSpPr>
        <p:spPr>
          <a:xfrm>
            <a:off x="5000625" y="3762970"/>
            <a:ext cx="3707606" cy="112514"/>
          </a:xfrm>
          <a:prstGeom prst="rect">
            <a:avLst/>
          </a:prstGeom>
          <a:noFill/>
          <a:ln/>
        </p:spPr>
        <p:txBody>
          <a:bodyPr wrap="square" lIns="0" tIns="0" rIns="0" bIns="0" rtlCol="0" anchor="t">
            <a:spAutoFit/>
          </a:bodyPr>
          <a:lstStyle/>
          <a:p>
            <a:pPr marL="0" indent="0" algn="l">
              <a:buNone/>
            </a:pPr>
            <a:r>
              <a:rPr lang="en-US" sz="600" dirty="0">
                <a:solidFill>
                  <a:srgbClr val="57606A"/>
                </a:solidFill>
                <a:latin typeface="Fira Code" pitchFamily="34" charset="0"/>
                <a:ea typeface="Fira Code" pitchFamily="34" charset="-122"/>
                <a:cs typeface="Fira Code" pitchFamily="34" charset="-120"/>
              </a:rPr>
              <a:t>LINUX KERNEL EXAMPLE</a:t>
            </a:r>
            <a:endParaRPr lang="en-US" sz="600" dirty="0"/>
          </a:p>
        </p:txBody>
      </p:sp>
      <p:sp>
        <p:nvSpPr>
          <p:cNvPr id="32" name="Shape 28"/>
          <p:cNvSpPr/>
          <p:nvPr/>
        </p:nvSpPr>
        <p:spPr>
          <a:xfrm>
            <a:off x="5000625" y="3932634"/>
            <a:ext cx="3707606" cy="620055"/>
          </a:xfrm>
          <a:prstGeom prst="rect">
            <a:avLst/>
          </a:prstGeom>
          <a:solidFill>
            <a:srgbClr val="1F2428"/>
          </a:solidFill>
          <a:ln w="9144">
            <a:solidFill>
              <a:srgbClr val="444C56"/>
            </a:solidFill>
            <a:prstDash val="solid"/>
          </a:ln>
        </p:spPr>
      </p:sp>
      <p:sp>
        <p:nvSpPr>
          <p:cNvPr id="33" name="Text 29"/>
          <p:cNvSpPr/>
          <p:nvPr/>
        </p:nvSpPr>
        <p:spPr>
          <a:xfrm>
            <a:off x="5000625" y="3932634"/>
            <a:ext cx="3707606" cy="620055"/>
          </a:xfrm>
          <a:prstGeom prst="rect">
            <a:avLst/>
          </a:prstGeom>
          <a:noFill/>
          <a:ln/>
        </p:spPr>
        <p:txBody>
          <a:bodyPr wrap="square" lIns="170053" tIns="170053" rIns="170053" bIns="170053" rtlCol="0" anchor="t">
            <a:spAutoFit/>
          </a:bodyPr>
          <a:lstStyle/>
          <a:p>
            <a:pPr marL="0" indent="0" algn="l">
              <a:lnSpc>
                <a:spcPct val="128000"/>
              </a:lnSpc>
              <a:buNone/>
            </a:pPr>
            <a:r>
              <a:rPr lang="en-US" sz="750" dirty="0">
                <a:solidFill>
                  <a:srgbClr val="D2A8FF"/>
                </a:solidFill>
                <a:latin typeface="Fira Code" pitchFamily="34" charset="0"/>
                <a:ea typeface="Fira Code" pitchFamily="34" charset="-122"/>
                <a:cs typeface="Fira Code" pitchFamily="34" charset="-120"/>
              </a:rPr>
              <a:t>prctl</a:t>
            </a:r>
            <a:r>
              <a:rPr lang="en-US" sz="750" dirty="0">
                <a:solidFill>
                  <a:srgbClr val="C9D1D9"/>
                </a:solidFill>
                <a:latin typeface="Fira Code" pitchFamily="34" charset="0"/>
                <a:ea typeface="Fira Code" pitchFamily="34" charset="-122"/>
                <a:cs typeface="Fira Code" pitchFamily="34" charset="-120"/>
              </a:rPr>
              <a:t>(</a:t>
            </a:r>
            <a:r>
              <a:rPr lang="en-US" sz="750" dirty="0">
                <a:solidFill>
                  <a:srgbClr val="79C0FF"/>
                </a:solidFill>
                <a:latin typeface="Fira Code" pitchFamily="34" charset="0"/>
                <a:ea typeface="Fira Code" pitchFamily="34" charset="-122"/>
                <a:cs typeface="Fira Code" pitchFamily="34" charset="-120"/>
              </a:rPr>
              <a:t>PR_SET_TAGGED_ADDR_CTRL</a:t>
            </a:r>
            <a:r>
              <a:rPr lang="en-US" sz="750" dirty="0">
                <a:solidFill>
                  <a:srgbClr val="C9D1D9"/>
                </a:solidFill>
                <a:latin typeface="Fira Code" pitchFamily="34" charset="0"/>
                <a:ea typeface="Fira Code" pitchFamily="34" charset="-122"/>
                <a:cs typeface="Fira Code" pitchFamily="34" charset="-120"/>
              </a:rPr>
              <a:t>, </a:t>
            </a:r>
            <a:r>
              <a:rPr lang="en-US" sz="750" dirty="0">
                <a:solidFill>
                  <a:srgbClr val="79C0FF"/>
                </a:solidFill>
                <a:latin typeface="Fira Code" pitchFamily="34" charset="0"/>
                <a:ea typeface="Fira Code" pitchFamily="34" charset="-122"/>
                <a:cs typeface="Fira Code" pitchFamily="34" charset="-120"/>
              </a:rPr>
              <a:t>PR_TAGGED_ADDR_ENABLE</a:t>
            </a:r>
            <a:r>
              <a:rPr lang="en-US" sz="750" dirty="0">
                <a:solidFill>
                  <a:srgbClr val="C9D1D9"/>
                </a:solidFill>
                <a:latin typeface="Fira Code" pitchFamily="34" charset="0"/>
                <a:ea typeface="Fira Code" pitchFamily="34" charset="-122"/>
                <a:cs typeface="Fira Code" pitchFamily="34" charset="-120"/>
              </a:rPr>
              <a:t> | </a:t>
            </a:r>
            <a:r>
              <a:rPr lang="en-US" sz="750" dirty="0">
                <a:solidFill>
                  <a:srgbClr val="79C0FF"/>
                </a:solidFill>
                <a:latin typeface="Fira Code" pitchFamily="34" charset="0"/>
                <a:ea typeface="Fira Code" pitchFamily="34" charset="-122"/>
                <a:cs typeface="Fira Code" pitchFamily="34" charset="-120"/>
              </a:rPr>
              <a:t>PR_MTE_TCF_ASYNC</a:t>
            </a:r>
            <a:r>
              <a:rPr lang="en-US" sz="750" dirty="0">
                <a:solidFill>
                  <a:srgbClr val="C9D1D9"/>
                </a:solidFill>
                <a:latin typeface="Fira Code" pitchFamily="34" charset="0"/>
                <a:ea typeface="Fira Code" pitchFamily="34" charset="-122"/>
                <a:cs typeface="Fira Code" pitchFamily="34" charset="-120"/>
              </a:rPr>
              <a:t>, 0, 0, 0);</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7144" y="7144"/>
            <a:ext cx="9129713" cy="735806"/>
          </a:xfrm>
          <a:prstGeom prst="rect">
            <a:avLst/>
          </a:prstGeom>
          <a:solidFill>
            <a:srgbClr val="FFFFFF"/>
          </a:solidFill>
          <a:ln/>
        </p:spPr>
      </p:sp>
      <p:sp>
        <p:nvSpPr>
          <p:cNvPr id="5" name="Shape 1"/>
          <p:cNvSpPr/>
          <p:nvPr/>
        </p:nvSpPr>
        <p:spPr>
          <a:xfrm>
            <a:off x="7144" y="735806"/>
            <a:ext cx="9129713" cy="7144"/>
          </a:xfrm>
          <a:prstGeom prst="rect">
            <a:avLst/>
          </a:prstGeom>
          <a:solidFill>
            <a:srgbClr val="D0D7DE"/>
          </a:solidFill>
          <a:ln/>
        </p:spPr>
      </p:sp>
      <p:sp>
        <p:nvSpPr>
          <p:cNvPr id="6" name="Text 2"/>
          <p:cNvSpPr/>
          <p:nvPr/>
        </p:nvSpPr>
        <p:spPr>
          <a:xfrm>
            <a:off x="435769" y="292894"/>
            <a:ext cx="8272463" cy="300038"/>
          </a:xfrm>
          <a:prstGeom prst="rect">
            <a:avLst/>
          </a:prstGeom>
          <a:noFill/>
          <a:ln/>
        </p:spPr>
        <p:txBody>
          <a:bodyPr wrap="square" lIns="0" tIns="0" rIns="0" bIns="0" rtlCol="0" anchor="t">
            <a:spAutoFit/>
          </a:bodyPr>
          <a:lstStyle/>
          <a:p>
            <a:pPr marL="0" indent="0" algn="l">
              <a:buNone/>
            </a:pPr>
            <a:r>
              <a:rPr lang="en-US" sz="1600" b="1" dirty="0">
                <a:solidFill>
                  <a:srgbClr val="0969DA"/>
                </a:solidFill>
                <a:latin typeface="Fira Code Bold" pitchFamily="34" charset="0"/>
                <a:ea typeface="Fira Code Bold" pitchFamily="34" charset="-122"/>
                <a:cs typeface="Fira Code Bold" pitchFamily="34" charset="-120"/>
              </a:rPr>
              <a:t>MTE в ASYNC-режиме: &lt;2% overhead против 50–100% у ASan</a:t>
            </a:r>
            <a:endParaRPr lang="en-US" sz="1600" dirty="0"/>
          </a:p>
        </p:txBody>
      </p:sp>
      <p:sp>
        <p:nvSpPr>
          <p:cNvPr id="8" name="Shape 4"/>
          <p:cNvSpPr/>
          <p:nvPr/>
        </p:nvSpPr>
        <p:spPr>
          <a:xfrm>
            <a:off x="296466" y="882253"/>
            <a:ext cx="2565304" cy="271463"/>
          </a:xfrm>
          <a:prstGeom prst="rect">
            <a:avLst/>
          </a:prstGeom>
          <a:solidFill>
            <a:srgbClr val="F6F8FA"/>
          </a:solidFill>
          <a:ln w="9144">
            <a:solidFill>
              <a:srgbClr val="D0D7DE"/>
            </a:solidFill>
            <a:prstDash val="solid"/>
          </a:ln>
        </p:spPr>
      </p:sp>
      <p:sp>
        <p:nvSpPr>
          <p:cNvPr id="9" name="Text 5"/>
          <p:cNvSpPr/>
          <p:nvPr/>
        </p:nvSpPr>
        <p:spPr>
          <a:xfrm>
            <a:off x="296466" y="882253"/>
            <a:ext cx="2565304" cy="271463"/>
          </a:xfrm>
          <a:prstGeom prst="rect">
            <a:avLst/>
          </a:prstGeom>
          <a:noFill/>
          <a:ln/>
        </p:spPr>
        <p:txBody>
          <a:bodyPr wrap="square" lIns="102108" tIns="68072" rIns="102108" bIns="68072" rtlCol="0" anchor="ctr">
            <a:spAutoFit/>
          </a:bodyPr>
          <a:lstStyle/>
          <a:p>
            <a:pPr marL="0" indent="0" algn="l">
              <a:buNone/>
            </a:pPr>
            <a:r>
              <a:rPr lang="en-US" sz="800" b="1" dirty="0">
                <a:solidFill>
                  <a:srgbClr val="24292F"/>
                </a:solidFill>
                <a:latin typeface="Fira Code Bold" pitchFamily="34" charset="0"/>
                <a:ea typeface="Fira Code Bold" pitchFamily="34" charset="-122"/>
                <a:cs typeface="Fira Code Bold" pitchFamily="34" charset="-120"/>
              </a:rPr>
              <a:t>Характеристика</a:t>
            </a:r>
            <a:endParaRPr lang="en-US" sz="800" dirty="0"/>
          </a:p>
        </p:txBody>
      </p:sp>
      <p:sp>
        <p:nvSpPr>
          <p:cNvPr id="10" name="Shape 6"/>
          <p:cNvSpPr/>
          <p:nvPr/>
        </p:nvSpPr>
        <p:spPr>
          <a:xfrm>
            <a:off x="2861770" y="882253"/>
            <a:ext cx="2992868" cy="271463"/>
          </a:xfrm>
          <a:prstGeom prst="rect">
            <a:avLst/>
          </a:prstGeom>
          <a:solidFill>
            <a:srgbClr val="F6F8FA"/>
          </a:solidFill>
          <a:ln w="9144">
            <a:solidFill>
              <a:srgbClr val="D0D7DE"/>
            </a:solidFill>
            <a:prstDash val="solid"/>
          </a:ln>
        </p:spPr>
      </p:sp>
      <p:sp>
        <p:nvSpPr>
          <p:cNvPr id="11" name="Text 7"/>
          <p:cNvSpPr/>
          <p:nvPr/>
        </p:nvSpPr>
        <p:spPr>
          <a:xfrm>
            <a:off x="2861770" y="882253"/>
            <a:ext cx="2992868" cy="271463"/>
          </a:xfrm>
          <a:prstGeom prst="rect">
            <a:avLst/>
          </a:prstGeom>
          <a:noFill/>
          <a:ln/>
        </p:spPr>
        <p:txBody>
          <a:bodyPr wrap="square" lIns="102108" tIns="68072" rIns="102108" bIns="68072" rtlCol="0" anchor="ctr">
            <a:spAutoFit/>
          </a:bodyPr>
          <a:lstStyle/>
          <a:p>
            <a:pPr marL="0" indent="0" algn="l">
              <a:buNone/>
            </a:pPr>
            <a:r>
              <a:rPr lang="en-US" sz="800" b="1" dirty="0">
                <a:solidFill>
                  <a:srgbClr val="24292F"/>
                </a:solidFill>
                <a:latin typeface="Fira Code Bold" pitchFamily="34" charset="0"/>
                <a:ea typeface="Fira Code Bold" pitchFamily="34" charset="-122"/>
                <a:cs typeface="Fira Code Bold" pitchFamily="34" charset="-120"/>
              </a:rPr>
              <a:t>AddressSanitizer (ASan)</a:t>
            </a:r>
            <a:endParaRPr lang="en-US" sz="800" dirty="0"/>
          </a:p>
        </p:txBody>
      </p:sp>
      <p:sp>
        <p:nvSpPr>
          <p:cNvPr id="12" name="Shape 8"/>
          <p:cNvSpPr/>
          <p:nvPr/>
        </p:nvSpPr>
        <p:spPr>
          <a:xfrm>
            <a:off x="5854638" y="882253"/>
            <a:ext cx="2992896" cy="271463"/>
          </a:xfrm>
          <a:prstGeom prst="rect">
            <a:avLst/>
          </a:prstGeom>
          <a:solidFill>
            <a:srgbClr val="F6F8FA"/>
          </a:solidFill>
          <a:ln w="9144">
            <a:solidFill>
              <a:srgbClr val="D0D7DE"/>
            </a:solidFill>
            <a:prstDash val="solid"/>
          </a:ln>
        </p:spPr>
      </p:sp>
      <p:sp>
        <p:nvSpPr>
          <p:cNvPr id="13" name="Text 9"/>
          <p:cNvSpPr/>
          <p:nvPr/>
        </p:nvSpPr>
        <p:spPr>
          <a:xfrm>
            <a:off x="5854638" y="882253"/>
            <a:ext cx="2992896" cy="271463"/>
          </a:xfrm>
          <a:prstGeom prst="rect">
            <a:avLst/>
          </a:prstGeom>
          <a:noFill/>
          <a:ln/>
        </p:spPr>
        <p:txBody>
          <a:bodyPr wrap="square" lIns="102108" tIns="68072" rIns="102108" bIns="68072" rtlCol="0" anchor="ctr">
            <a:spAutoFit/>
          </a:bodyPr>
          <a:lstStyle/>
          <a:p>
            <a:pPr marL="0" indent="0" algn="l">
              <a:buNone/>
            </a:pPr>
            <a:r>
              <a:rPr lang="en-US" sz="800" b="1" dirty="0">
                <a:solidFill>
                  <a:srgbClr val="24292F"/>
                </a:solidFill>
                <a:latin typeface="Fira Code Bold" pitchFamily="34" charset="0"/>
                <a:ea typeface="Fira Code Bold" pitchFamily="34" charset="-122"/>
                <a:cs typeface="Fira Code Bold" pitchFamily="34" charset="-120"/>
              </a:rPr>
              <a:t>MTE ASYNC</a:t>
            </a:r>
            <a:endParaRPr lang="en-US" sz="800" dirty="0"/>
          </a:p>
        </p:txBody>
      </p:sp>
      <p:sp>
        <p:nvSpPr>
          <p:cNvPr id="14" name="Text 10"/>
          <p:cNvSpPr/>
          <p:nvPr/>
        </p:nvSpPr>
        <p:spPr>
          <a:xfrm>
            <a:off x="296466" y="1146572"/>
            <a:ext cx="2565304" cy="271463"/>
          </a:xfrm>
          <a:prstGeom prst="rect">
            <a:avLst/>
          </a:prstGeom>
          <a:noFill/>
          <a:ln/>
        </p:spPr>
        <p:txBody>
          <a:bodyPr wrap="square" lIns="102108" tIns="68072" rIns="102108" bIns="68072" rtlCol="0" anchor="ctr">
            <a:spAutoFit/>
          </a:bodyPr>
          <a:lstStyle/>
          <a:p>
            <a:pPr marL="0" indent="0" algn="l">
              <a:buNone/>
            </a:pPr>
            <a:r>
              <a:rPr lang="en-US" sz="800" b="1" dirty="0">
                <a:solidFill>
                  <a:srgbClr val="57606A"/>
                </a:solidFill>
                <a:latin typeface="Fira Code Bold" pitchFamily="34" charset="0"/>
                <a:ea typeface="Fira Code Bold" pitchFamily="34" charset="-122"/>
                <a:cs typeface="Fira Code Bold" pitchFamily="34" charset="-120"/>
              </a:rPr>
              <a:t>CPU overhead</a:t>
            </a:r>
            <a:endParaRPr lang="en-US" sz="800" dirty="0"/>
          </a:p>
        </p:txBody>
      </p:sp>
      <p:sp>
        <p:nvSpPr>
          <p:cNvPr id="15" name="Text 11"/>
          <p:cNvSpPr/>
          <p:nvPr/>
        </p:nvSpPr>
        <p:spPr>
          <a:xfrm>
            <a:off x="2861770" y="1152011"/>
            <a:ext cx="2992868" cy="260584"/>
          </a:xfrm>
          <a:prstGeom prst="rect">
            <a:avLst/>
          </a:prstGeom>
          <a:noFill/>
          <a:ln/>
        </p:spPr>
        <p:txBody>
          <a:bodyPr wrap="square" lIns="102108" tIns="68072" rIns="102108" bIns="68072" rtlCol="0" anchor="ctr">
            <a:spAutoFit/>
          </a:bodyPr>
          <a:lstStyle/>
          <a:p>
            <a:pPr marL="0" indent="0" algn="l">
              <a:buNone/>
            </a:pPr>
            <a:r>
              <a:rPr lang="en-US" sz="800" dirty="0">
                <a:solidFill>
                  <a:srgbClr val="57606A"/>
                </a:solidFill>
                <a:latin typeface="Georgia" panose="02040502050405020303" pitchFamily="18" charset="0"/>
                <a:ea typeface="Inter SemiBold" pitchFamily="34" charset="-122"/>
                <a:cs typeface="Inter SemiBold" pitchFamily="34" charset="-120"/>
              </a:rPr>
              <a:t>50–200%</a:t>
            </a:r>
            <a:endParaRPr lang="en-US" sz="800" dirty="0">
              <a:latin typeface="Georgia" panose="02040502050405020303" pitchFamily="18" charset="0"/>
            </a:endParaRPr>
          </a:p>
        </p:txBody>
      </p:sp>
      <p:sp>
        <p:nvSpPr>
          <p:cNvPr id="16" name="Shape 12"/>
          <p:cNvSpPr/>
          <p:nvPr/>
        </p:nvSpPr>
        <p:spPr>
          <a:xfrm>
            <a:off x="5854638" y="1146572"/>
            <a:ext cx="2992896" cy="271463"/>
          </a:xfrm>
          <a:prstGeom prst="rect">
            <a:avLst/>
          </a:prstGeom>
          <a:solidFill>
            <a:srgbClr val="0969DA">
              <a:alpha val="5000"/>
            </a:srgbClr>
          </a:solidFill>
          <a:ln w="9144">
            <a:solidFill>
              <a:srgbClr val="D0D7DE"/>
            </a:solidFill>
            <a:prstDash val="solid"/>
          </a:ln>
        </p:spPr>
      </p:sp>
      <p:sp>
        <p:nvSpPr>
          <p:cNvPr id="17" name="Text 13"/>
          <p:cNvSpPr/>
          <p:nvPr/>
        </p:nvSpPr>
        <p:spPr>
          <a:xfrm>
            <a:off x="5854638" y="1152011"/>
            <a:ext cx="2992896" cy="260584"/>
          </a:xfrm>
          <a:prstGeom prst="rect">
            <a:avLst/>
          </a:prstGeom>
          <a:noFill/>
          <a:ln/>
        </p:spPr>
        <p:txBody>
          <a:bodyPr wrap="square" lIns="102108" tIns="68072" rIns="102108" bIns="68072" rtlCol="0" anchor="ctr">
            <a:spAutoFit/>
          </a:bodyPr>
          <a:lstStyle/>
          <a:p>
            <a:pPr marL="0" indent="0" algn="l">
              <a:buNone/>
            </a:pPr>
            <a:r>
              <a:rPr lang="en-US" sz="800" dirty="0">
                <a:solidFill>
                  <a:srgbClr val="0969DA"/>
                </a:solidFill>
                <a:latin typeface="Georgia" panose="02040502050405020303" pitchFamily="18" charset="0"/>
                <a:ea typeface="Inter SemiBold" pitchFamily="34" charset="-122"/>
              </a:rPr>
              <a:t>~1–2%</a:t>
            </a:r>
          </a:p>
        </p:txBody>
      </p:sp>
      <p:sp>
        <p:nvSpPr>
          <p:cNvPr id="18" name="Text 14"/>
          <p:cNvSpPr/>
          <p:nvPr/>
        </p:nvSpPr>
        <p:spPr>
          <a:xfrm>
            <a:off x="296466" y="1418034"/>
            <a:ext cx="2565304" cy="271463"/>
          </a:xfrm>
          <a:prstGeom prst="rect">
            <a:avLst/>
          </a:prstGeom>
          <a:noFill/>
          <a:ln/>
        </p:spPr>
        <p:txBody>
          <a:bodyPr wrap="square" lIns="102108" tIns="68072" rIns="102108" bIns="68072" rtlCol="0" anchor="ctr">
            <a:spAutoFit/>
          </a:bodyPr>
          <a:lstStyle/>
          <a:p>
            <a:pPr marL="0" indent="0" algn="l">
              <a:buNone/>
            </a:pPr>
            <a:r>
              <a:rPr lang="en-US" sz="800" b="1" dirty="0">
                <a:solidFill>
                  <a:srgbClr val="57606A"/>
                </a:solidFill>
                <a:latin typeface="Fira Code Bold" pitchFamily="34" charset="0"/>
                <a:ea typeface="Fira Code Bold" pitchFamily="34" charset="-122"/>
                <a:cs typeface="Fira Code Bold" pitchFamily="34" charset="-120"/>
              </a:rPr>
              <a:t>RAM overhead</a:t>
            </a:r>
            <a:endParaRPr lang="en-US" sz="800" dirty="0"/>
          </a:p>
        </p:txBody>
      </p:sp>
      <p:sp>
        <p:nvSpPr>
          <p:cNvPr id="19" name="Text 15"/>
          <p:cNvSpPr/>
          <p:nvPr/>
        </p:nvSpPr>
        <p:spPr>
          <a:xfrm>
            <a:off x="2861770" y="1423473"/>
            <a:ext cx="2992868" cy="260584"/>
          </a:xfrm>
          <a:prstGeom prst="rect">
            <a:avLst/>
          </a:prstGeom>
          <a:noFill/>
          <a:ln/>
        </p:spPr>
        <p:txBody>
          <a:bodyPr wrap="square" lIns="102108" tIns="68072" rIns="102108" bIns="68072" rtlCol="0" anchor="ctr">
            <a:spAutoFit/>
          </a:bodyPr>
          <a:lstStyle/>
          <a:p>
            <a:r>
              <a:rPr lang="en-US" sz="800" dirty="0">
                <a:solidFill>
                  <a:srgbClr val="57606A"/>
                </a:solidFill>
                <a:latin typeface="Georgia" panose="02040502050405020303" pitchFamily="18" charset="0"/>
                <a:ea typeface="Inter SemiBold" pitchFamily="34" charset="-122"/>
              </a:rPr>
              <a:t>+50–100%</a:t>
            </a:r>
          </a:p>
        </p:txBody>
      </p:sp>
      <p:sp>
        <p:nvSpPr>
          <p:cNvPr id="20" name="Shape 16"/>
          <p:cNvSpPr/>
          <p:nvPr/>
        </p:nvSpPr>
        <p:spPr>
          <a:xfrm>
            <a:off x="5854638" y="1418034"/>
            <a:ext cx="2992896" cy="271463"/>
          </a:xfrm>
          <a:prstGeom prst="rect">
            <a:avLst/>
          </a:prstGeom>
          <a:solidFill>
            <a:srgbClr val="0969DA">
              <a:alpha val="5000"/>
            </a:srgbClr>
          </a:solidFill>
          <a:ln w="9144">
            <a:solidFill>
              <a:srgbClr val="D0D7DE"/>
            </a:solidFill>
            <a:prstDash val="solid"/>
          </a:ln>
        </p:spPr>
      </p:sp>
      <p:sp>
        <p:nvSpPr>
          <p:cNvPr id="21" name="Text 17"/>
          <p:cNvSpPr/>
          <p:nvPr/>
        </p:nvSpPr>
        <p:spPr>
          <a:xfrm>
            <a:off x="5854638" y="1423473"/>
            <a:ext cx="2992896" cy="260584"/>
          </a:xfrm>
          <a:prstGeom prst="rect">
            <a:avLst/>
          </a:prstGeom>
          <a:noFill/>
          <a:ln/>
        </p:spPr>
        <p:txBody>
          <a:bodyPr wrap="square" lIns="102108" tIns="68072" rIns="102108" bIns="68072" rtlCol="0" anchor="ctr">
            <a:spAutoFit/>
          </a:bodyPr>
          <a:lstStyle/>
          <a:p>
            <a:pPr marL="0" indent="0" algn="l">
              <a:buNone/>
            </a:pPr>
            <a:r>
              <a:rPr lang="en-US" sz="800" dirty="0">
                <a:solidFill>
                  <a:srgbClr val="0969DA"/>
                </a:solidFill>
                <a:latin typeface="Georgia" panose="02040502050405020303" pitchFamily="18" charset="0"/>
                <a:ea typeface="Inter SemiBold" pitchFamily="34" charset="-122"/>
              </a:rPr>
              <a:t>&lt;3%</a:t>
            </a:r>
          </a:p>
        </p:txBody>
      </p:sp>
      <p:sp>
        <p:nvSpPr>
          <p:cNvPr id="22" name="Text 18"/>
          <p:cNvSpPr/>
          <p:nvPr/>
        </p:nvSpPr>
        <p:spPr>
          <a:xfrm>
            <a:off x="296466" y="1689497"/>
            <a:ext cx="2565304" cy="271463"/>
          </a:xfrm>
          <a:prstGeom prst="rect">
            <a:avLst/>
          </a:prstGeom>
          <a:noFill/>
          <a:ln/>
        </p:spPr>
        <p:txBody>
          <a:bodyPr wrap="square" lIns="102108" tIns="68072" rIns="102108" bIns="68072" rtlCol="0" anchor="ctr">
            <a:spAutoFit/>
          </a:bodyPr>
          <a:lstStyle/>
          <a:p>
            <a:pPr marL="0" indent="0" algn="l">
              <a:buNone/>
            </a:pPr>
            <a:r>
              <a:rPr lang="en-US" sz="800" b="1" dirty="0">
                <a:solidFill>
                  <a:srgbClr val="57606A"/>
                </a:solidFill>
                <a:latin typeface="Fira Code Bold" pitchFamily="34" charset="0"/>
                <a:ea typeface="Fira Code Bold" pitchFamily="34" charset="-122"/>
                <a:cs typeface="Fira Code Bold" pitchFamily="34" charset="-120"/>
              </a:rPr>
              <a:t>Heap: изменение кода</a:t>
            </a:r>
            <a:endParaRPr lang="en-US" sz="800" dirty="0"/>
          </a:p>
        </p:txBody>
      </p:sp>
      <p:sp>
        <p:nvSpPr>
          <p:cNvPr id="23" name="Text 19"/>
          <p:cNvSpPr/>
          <p:nvPr/>
        </p:nvSpPr>
        <p:spPr>
          <a:xfrm>
            <a:off x="2861770" y="1694936"/>
            <a:ext cx="2992868" cy="260584"/>
          </a:xfrm>
          <a:prstGeom prst="rect">
            <a:avLst/>
          </a:prstGeom>
          <a:noFill/>
          <a:ln/>
        </p:spPr>
        <p:txBody>
          <a:bodyPr wrap="square" lIns="102108" tIns="68072" rIns="102108" bIns="68072" rtlCol="0" anchor="ctr">
            <a:spAutoFit/>
          </a:bodyPr>
          <a:lstStyle/>
          <a:p>
            <a:pPr indent="0">
              <a:buNone/>
            </a:pPr>
            <a:r>
              <a:rPr lang="en-US" sz="800" dirty="0">
                <a:solidFill>
                  <a:srgbClr val="57606A"/>
                </a:solidFill>
                <a:latin typeface="Georgia" panose="02040502050405020303" pitchFamily="18" charset="0"/>
                <a:ea typeface="Inter SemiBold" pitchFamily="34" charset="-122"/>
              </a:rPr>
              <a:t>Recompile</a:t>
            </a:r>
          </a:p>
        </p:txBody>
      </p:sp>
      <p:sp>
        <p:nvSpPr>
          <p:cNvPr id="24" name="Shape 20"/>
          <p:cNvSpPr/>
          <p:nvPr/>
        </p:nvSpPr>
        <p:spPr>
          <a:xfrm>
            <a:off x="5854638" y="1689497"/>
            <a:ext cx="2992896" cy="271463"/>
          </a:xfrm>
          <a:prstGeom prst="rect">
            <a:avLst/>
          </a:prstGeom>
          <a:solidFill>
            <a:srgbClr val="0969DA">
              <a:alpha val="5000"/>
            </a:srgbClr>
          </a:solidFill>
          <a:ln w="9144">
            <a:solidFill>
              <a:srgbClr val="D0D7DE"/>
            </a:solidFill>
            <a:prstDash val="solid"/>
          </a:ln>
        </p:spPr>
      </p:sp>
      <p:sp>
        <p:nvSpPr>
          <p:cNvPr id="25" name="Text 21"/>
          <p:cNvSpPr/>
          <p:nvPr/>
        </p:nvSpPr>
        <p:spPr>
          <a:xfrm>
            <a:off x="5854638" y="1694936"/>
            <a:ext cx="2992896" cy="260584"/>
          </a:xfrm>
          <a:prstGeom prst="rect">
            <a:avLst/>
          </a:prstGeom>
          <a:noFill/>
          <a:ln/>
        </p:spPr>
        <p:txBody>
          <a:bodyPr wrap="square" lIns="102108" tIns="68072" rIns="102108" bIns="68072" rtlCol="0" anchor="ctr">
            <a:spAutoFit/>
          </a:bodyPr>
          <a:lstStyle/>
          <a:p>
            <a:r>
              <a:rPr lang="en-US" sz="800" dirty="0" err="1">
                <a:solidFill>
                  <a:srgbClr val="0969DA"/>
                </a:solidFill>
                <a:latin typeface="Georgia" panose="02040502050405020303" pitchFamily="18" charset="0"/>
                <a:ea typeface="Inter SemiBold" pitchFamily="34" charset="-122"/>
              </a:rPr>
              <a:t>Нет</a:t>
            </a:r>
            <a:endParaRPr lang="en-US" sz="800" dirty="0">
              <a:solidFill>
                <a:srgbClr val="0969DA"/>
              </a:solidFill>
              <a:latin typeface="Georgia" panose="02040502050405020303" pitchFamily="18" charset="0"/>
              <a:ea typeface="Inter SemiBold" pitchFamily="34" charset="-122"/>
            </a:endParaRPr>
          </a:p>
        </p:txBody>
      </p:sp>
      <p:sp>
        <p:nvSpPr>
          <p:cNvPr id="26" name="Text 22"/>
          <p:cNvSpPr/>
          <p:nvPr/>
        </p:nvSpPr>
        <p:spPr>
          <a:xfrm>
            <a:off x="296466" y="1960959"/>
            <a:ext cx="2565304" cy="271463"/>
          </a:xfrm>
          <a:prstGeom prst="rect">
            <a:avLst/>
          </a:prstGeom>
          <a:noFill/>
          <a:ln/>
        </p:spPr>
        <p:txBody>
          <a:bodyPr wrap="square" lIns="102108" tIns="68072" rIns="102108" bIns="68072" rtlCol="0" anchor="ctr">
            <a:spAutoFit/>
          </a:bodyPr>
          <a:lstStyle/>
          <a:p>
            <a:pPr marL="0" indent="0" algn="l">
              <a:buNone/>
            </a:pPr>
            <a:r>
              <a:rPr lang="en-US" sz="800" b="1" dirty="0">
                <a:solidFill>
                  <a:srgbClr val="57606A"/>
                </a:solidFill>
                <a:latin typeface="Fira Code Bold" pitchFamily="34" charset="0"/>
                <a:ea typeface="Fira Code Bold" pitchFamily="34" charset="-122"/>
                <a:cs typeface="Fira Code Bold" pitchFamily="34" charset="-120"/>
              </a:rPr>
              <a:t>Продакшен</a:t>
            </a:r>
            <a:endParaRPr lang="en-US" sz="800" dirty="0"/>
          </a:p>
        </p:txBody>
      </p:sp>
      <p:sp>
        <p:nvSpPr>
          <p:cNvPr id="27" name="Text 23"/>
          <p:cNvSpPr/>
          <p:nvPr/>
        </p:nvSpPr>
        <p:spPr>
          <a:xfrm>
            <a:off x="2861770" y="1966398"/>
            <a:ext cx="2992868" cy="260584"/>
          </a:xfrm>
          <a:prstGeom prst="rect">
            <a:avLst/>
          </a:prstGeom>
          <a:noFill/>
          <a:ln/>
        </p:spPr>
        <p:txBody>
          <a:bodyPr wrap="square" lIns="102108" tIns="68072" rIns="102108" bIns="68072" rtlCol="0" anchor="ctr">
            <a:spAutoFit/>
          </a:bodyPr>
          <a:lstStyle/>
          <a:p>
            <a:pPr marL="0" indent="0" algn="l">
              <a:buNone/>
            </a:pPr>
            <a:r>
              <a:rPr lang="en-US" sz="800" dirty="0" err="1">
                <a:solidFill>
                  <a:srgbClr val="57606A"/>
                </a:solidFill>
                <a:latin typeface="Georgia" panose="02040502050405020303" pitchFamily="18" charset="0"/>
                <a:ea typeface="Inter SemiBold" pitchFamily="34" charset="-122"/>
              </a:rPr>
              <a:t>Нет</a:t>
            </a:r>
            <a:endParaRPr lang="en-US" sz="800" dirty="0">
              <a:solidFill>
                <a:srgbClr val="57606A"/>
              </a:solidFill>
              <a:latin typeface="Georgia" panose="02040502050405020303" pitchFamily="18" charset="0"/>
              <a:ea typeface="Inter SemiBold" pitchFamily="34" charset="-122"/>
            </a:endParaRPr>
          </a:p>
        </p:txBody>
      </p:sp>
      <p:sp>
        <p:nvSpPr>
          <p:cNvPr id="28" name="Shape 24"/>
          <p:cNvSpPr/>
          <p:nvPr/>
        </p:nvSpPr>
        <p:spPr>
          <a:xfrm>
            <a:off x="5854638" y="1960959"/>
            <a:ext cx="2992896" cy="271463"/>
          </a:xfrm>
          <a:prstGeom prst="rect">
            <a:avLst/>
          </a:prstGeom>
          <a:solidFill>
            <a:srgbClr val="0969DA">
              <a:alpha val="5000"/>
            </a:srgbClr>
          </a:solidFill>
          <a:ln w="9144">
            <a:solidFill>
              <a:srgbClr val="D0D7DE"/>
            </a:solidFill>
            <a:prstDash val="solid"/>
          </a:ln>
        </p:spPr>
      </p:sp>
      <p:sp>
        <p:nvSpPr>
          <p:cNvPr id="29" name="Text 25"/>
          <p:cNvSpPr/>
          <p:nvPr/>
        </p:nvSpPr>
        <p:spPr>
          <a:xfrm>
            <a:off x="5854638" y="1966398"/>
            <a:ext cx="2992896" cy="260584"/>
          </a:xfrm>
          <a:prstGeom prst="rect">
            <a:avLst/>
          </a:prstGeom>
          <a:noFill/>
          <a:ln/>
        </p:spPr>
        <p:txBody>
          <a:bodyPr wrap="square" lIns="102108" tIns="68072" rIns="102108" bIns="68072" rtlCol="0" anchor="ctr">
            <a:spAutoFit/>
          </a:bodyPr>
          <a:lstStyle/>
          <a:p>
            <a:pPr indent="0">
              <a:buNone/>
            </a:pPr>
            <a:r>
              <a:rPr lang="en-US" sz="800" dirty="0" err="1">
                <a:solidFill>
                  <a:srgbClr val="0969DA"/>
                </a:solidFill>
                <a:latin typeface="Georgia" panose="02040502050405020303" pitchFamily="18" charset="0"/>
                <a:ea typeface="Inter SemiBold" pitchFamily="34" charset="-122"/>
              </a:rPr>
              <a:t>Да</a:t>
            </a:r>
            <a:endParaRPr lang="en-US" sz="800" dirty="0">
              <a:solidFill>
                <a:srgbClr val="0969DA"/>
              </a:solidFill>
              <a:latin typeface="Georgia" panose="02040502050405020303" pitchFamily="18" charset="0"/>
              <a:ea typeface="Inter SemiBold" pitchFamily="34" charset="-122"/>
            </a:endParaRPr>
          </a:p>
        </p:txBody>
      </p:sp>
      <p:sp>
        <p:nvSpPr>
          <p:cNvPr id="30" name="Text 26"/>
          <p:cNvSpPr/>
          <p:nvPr/>
        </p:nvSpPr>
        <p:spPr>
          <a:xfrm>
            <a:off x="296466" y="2232422"/>
            <a:ext cx="2565304" cy="271463"/>
          </a:xfrm>
          <a:prstGeom prst="rect">
            <a:avLst/>
          </a:prstGeom>
          <a:noFill/>
          <a:ln/>
        </p:spPr>
        <p:txBody>
          <a:bodyPr wrap="square" lIns="102108" tIns="68072" rIns="102108" bIns="68072" rtlCol="0" anchor="ctr">
            <a:spAutoFit/>
          </a:bodyPr>
          <a:lstStyle/>
          <a:p>
            <a:pPr marL="0" indent="0" algn="l">
              <a:buNone/>
            </a:pPr>
            <a:r>
              <a:rPr lang="en-US" sz="800" b="1" dirty="0">
                <a:solidFill>
                  <a:srgbClr val="57606A"/>
                </a:solidFill>
                <a:latin typeface="Fira Code Bold" pitchFamily="34" charset="0"/>
                <a:ea typeface="Fira Code Bold" pitchFamily="34" charset="-122"/>
                <a:cs typeface="Fira Code Bold" pitchFamily="34" charset="-120"/>
              </a:rPr>
              <a:t>Точность</a:t>
            </a:r>
            <a:endParaRPr lang="en-US" sz="800" dirty="0"/>
          </a:p>
        </p:txBody>
      </p:sp>
      <p:sp>
        <p:nvSpPr>
          <p:cNvPr id="31" name="Text 27"/>
          <p:cNvSpPr/>
          <p:nvPr/>
        </p:nvSpPr>
        <p:spPr>
          <a:xfrm>
            <a:off x="2861770" y="2237861"/>
            <a:ext cx="2992868" cy="260584"/>
          </a:xfrm>
          <a:prstGeom prst="rect">
            <a:avLst/>
          </a:prstGeom>
          <a:noFill/>
          <a:ln/>
        </p:spPr>
        <p:txBody>
          <a:bodyPr wrap="square" lIns="102108" tIns="68072" rIns="102108" bIns="68072" rtlCol="0" anchor="ctr">
            <a:spAutoFit/>
          </a:bodyPr>
          <a:lstStyle/>
          <a:p>
            <a:r>
              <a:rPr lang="en-US" sz="800" dirty="0">
                <a:solidFill>
                  <a:srgbClr val="57606A"/>
                </a:solidFill>
                <a:latin typeface="Georgia" panose="02040502050405020303" pitchFamily="18" charset="0"/>
                <a:ea typeface="Inter SemiBold" pitchFamily="34" charset="-122"/>
              </a:rPr>
              <a:t>Точная (byte-level)</a:t>
            </a:r>
          </a:p>
        </p:txBody>
      </p:sp>
      <p:sp>
        <p:nvSpPr>
          <p:cNvPr id="32" name="Shape 28"/>
          <p:cNvSpPr/>
          <p:nvPr/>
        </p:nvSpPr>
        <p:spPr>
          <a:xfrm>
            <a:off x="5854638" y="2232422"/>
            <a:ext cx="2992896" cy="271463"/>
          </a:xfrm>
          <a:prstGeom prst="rect">
            <a:avLst/>
          </a:prstGeom>
          <a:solidFill>
            <a:srgbClr val="0969DA">
              <a:alpha val="5000"/>
            </a:srgbClr>
          </a:solidFill>
          <a:ln w="9144">
            <a:solidFill>
              <a:srgbClr val="D0D7DE"/>
            </a:solidFill>
            <a:prstDash val="solid"/>
          </a:ln>
        </p:spPr>
      </p:sp>
      <p:sp>
        <p:nvSpPr>
          <p:cNvPr id="33" name="Text 29"/>
          <p:cNvSpPr/>
          <p:nvPr/>
        </p:nvSpPr>
        <p:spPr>
          <a:xfrm>
            <a:off x="5854638" y="2237861"/>
            <a:ext cx="2992896" cy="260584"/>
          </a:xfrm>
          <a:prstGeom prst="rect">
            <a:avLst/>
          </a:prstGeom>
          <a:noFill/>
          <a:ln/>
        </p:spPr>
        <p:txBody>
          <a:bodyPr wrap="square" lIns="102108" tIns="68072" rIns="102108" bIns="68072" rtlCol="0" anchor="ctr">
            <a:spAutoFit/>
          </a:bodyPr>
          <a:lstStyle/>
          <a:p>
            <a:pPr indent="0">
              <a:buNone/>
            </a:pPr>
            <a:r>
              <a:rPr lang="en-US" sz="800" dirty="0" err="1">
                <a:solidFill>
                  <a:srgbClr val="0969DA"/>
                </a:solidFill>
                <a:latin typeface="Georgia" panose="02040502050405020303" pitchFamily="18" charset="0"/>
                <a:ea typeface="Inter SemiBold" pitchFamily="34" charset="-122"/>
              </a:rPr>
              <a:t>По</a:t>
            </a:r>
            <a:r>
              <a:rPr lang="en-US" sz="800" dirty="0">
                <a:solidFill>
                  <a:srgbClr val="0969DA"/>
                </a:solidFill>
                <a:latin typeface="Georgia" panose="02040502050405020303" pitchFamily="18" charset="0"/>
                <a:ea typeface="Inter SemiBold" pitchFamily="34" charset="-122"/>
              </a:rPr>
              <a:t> </a:t>
            </a:r>
            <a:r>
              <a:rPr lang="en-US" sz="800" dirty="0" err="1">
                <a:solidFill>
                  <a:srgbClr val="0969DA"/>
                </a:solidFill>
                <a:latin typeface="Georgia" panose="02040502050405020303" pitchFamily="18" charset="0"/>
                <a:ea typeface="Inter SemiBold" pitchFamily="34" charset="-122"/>
              </a:rPr>
              <a:t>потоку</a:t>
            </a:r>
            <a:endParaRPr lang="en-US" sz="800" dirty="0">
              <a:solidFill>
                <a:srgbClr val="0969DA"/>
              </a:solidFill>
              <a:latin typeface="Georgia" panose="02040502050405020303" pitchFamily="18" charset="0"/>
              <a:ea typeface="Inter SemiBold" pitchFamily="34" charset="-122"/>
            </a:endParaRPr>
          </a:p>
        </p:txBody>
      </p:sp>
      <p:sp>
        <p:nvSpPr>
          <p:cNvPr id="34" name="Text 30"/>
          <p:cNvSpPr/>
          <p:nvPr/>
        </p:nvSpPr>
        <p:spPr>
          <a:xfrm>
            <a:off x="296466" y="2503884"/>
            <a:ext cx="2565304" cy="271463"/>
          </a:xfrm>
          <a:prstGeom prst="rect">
            <a:avLst/>
          </a:prstGeom>
          <a:noFill/>
          <a:ln/>
        </p:spPr>
        <p:txBody>
          <a:bodyPr wrap="square" lIns="102108" tIns="68072" rIns="102108" bIns="68072" rtlCol="0" anchor="ctr">
            <a:spAutoFit/>
          </a:bodyPr>
          <a:lstStyle/>
          <a:p>
            <a:pPr marL="0" indent="0" algn="l">
              <a:buNone/>
            </a:pPr>
            <a:r>
              <a:rPr lang="en-US" sz="800" b="1" dirty="0">
                <a:solidFill>
                  <a:srgbClr val="57606A"/>
                </a:solidFill>
                <a:latin typeface="Fira Code Bold" pitchFamily="34" charset="0"/>
                <a:ea typeface="Fira Code Bold" pitchFamily="34" charset="-122"/>
                <a:cs typeface="Fira Code Bold" pitchFamily="34" charset="-120"/>
              </a:rPr>
              <a:t>Spatial / Temporal ошибки</a:t>
            </a:r>
            <a:endParaRPr lang="en-US" sz="800" dirty="0"/>
          </a:p>
        </p:txBody>
      </p:sp>
      <p:sp>
        <p:nvSpPr>
          <p:cNvPr id="35" name="Text 31"/>
          <p:cNvSpPr/>
          <p:nvPr/>
        </p:nvSpPr>
        <p:spPr>
          <a:xfrm>
            <a:off x="2861770" y="2509323"/>
            <a:ext cx="2992868" cy="260584"/>
          </a:xfrm>
          <a:prstGeom prst="rect">
            <a:avLst/>
          </a:prstGeom>
          <a:noFill/>
          <a:ln/>
        </p:spPr>
        <p:txBody>
          <a:bodyPr wrap="square" lIns="102108" tIns="68072" rIns="102108" bIns="68072" rtlCol="0" anchor="ctr">
            <a:spAutoFit/>
          </a:bodyPr>
          <a:lstStyle/>
          <a:p>
            <a:pPr indent="0">
              <a:buNone/>
            </a:pPr>
            <a:r>
              <a:rPr lang="en-US" sz="800" dirty="0">
                <a:solidFill>
                  <a:srgbClr val="57606A"/>
                </a:solidFill>
                <a:latin typeface="Georgia" panose="02040502050405020303" pitchFamily="18" charset="0"/>
                <a:ea typeface="Inter SemiBold" pitchFamily="34" charset="-122"/>
              </a:rPr>
              <a:t>✓ / ✓</a:t>
            </a:r>
          </a:p>
        </p:txBody>
      </p:sp>
      <p:sp>
        <p:nvSpPr>
          <p:cNvPr id="36" name="Shape 32"/>
          <p:cNvSpPr/>
          <p:nvPr/>
        </p:nvSpPr>
        <p:spPr>
          <a:xfrm>
            <a:off x="5854638" y="2503884"/>
            <a:ext cx="2992896" cy="271463"/>
          </a:xfrm>
          <a:prstGeom prst="rect">
            <a:avLst/>
          </a:prstGeom>
          <a:solidFill>
            <a:srgbClr val="0969DA">
              <a:alpha val="5000"/>
            </a:srgbClr>
          </a:solidFill>
          <a:ln w="9144">
            <a:solidFill>
              <a:srgbClr val="D0D7DE"/>
            </a:solidFill>
            <a:prstDash val="solid"/>
          </a:ln>
        </p:spPr>
      </p:sp>
      <p:sp>
        <p:nvSpPr>
          <p:cNvPr id="37" name="Text 33"/>
          <p:cNvSpPr/>
          <p:nvPr/>
        </p:nvSpPr>
        <p:spPr>
          <a:xfrm>
            <a:off x="5854638" y="2509323"/>
            <a:ext cx="2992896" cy="260584"/>
          </a:xfrm>
          <a:prstGeom prst="rect">
            <a:avLst/>
          </a:prstGeom>
          <a:noFill/>
          <a:ln/>
        </p:spPr>
        <p:txBody>
          <a:bodyPr wrap="square" lIns="102108" tIns="68072" rIns="102108" bIns="68072" rtlCol="0" anchor="ctr">
            <a:spAutoFit/>
          </a:bodyPr>
          <a:lstStyle/>
          <a:p>
            <a:r>
              <a:rPr lang="en-US" sz="800" dirty="0">
                <a:solidFill>
                  <a:srgbClr val="0969DA"/>
                </a:solidFill>
                <a:latin typeface="Georgia" panose="02040502050405020303" pitchFamily="18" charset="0"/>
                <a:ea typeface="Inter SemiBold" pitchFamily="34" charset="-122"/>
              </a:rPr>
              <a:t>✓ / ✓</a:t>
            </a:r>
          </a:p>
        </p:txBody>
      </p:sp>
      <p:sp>
        <p:nvSpPr>
          <p:cNvPr id="38" name="Text 34"/>
          <p:cNvSpPr/>
          <p:nvPr/>
        </p:nvSpPr>
        <p:spPr>
          <a:xfrm>
            <a:off x="296466" y="2775347"/>
            <a:ext cx="2565304" cy="271463"/>
          </a:xfrm>
          <a:prstGeom prst="rect">
            <a:avLst/>
          </a:prstGeom>
          <a:noFill/>
          <a:ln/>
        </p:spPr>
        <p:txBody>
          <a:bodyPr wrap="square" lIns="102108" tIns="68072" rIns="102108" bIns="68072" rtlCol="0" anchor="ctr">
            <a:spAutoFit/>
          </a:bodyPr>
          <a:lstStyle/>
          <a:p>
            <a:pPr marL="0" indent="0" algn="l">
              <a:buNone/>
            </a:pPr>
            <a:r>
              <a:rPr lang="en-US" sz="800" b="1" dirty="0">
                <a:solidFill>
                  <a:srgbClr val="57606A"/>
                </a:solidFill>
                <a:latin typeface="Fira Code Bold" pitchFamily="34" charset="0"/>
                <a:ea typeface="Fira Code Bold" pitchFamily="34" charset="-122"/>
                <a:cs typeface="Fira Code Bold" pitchFamily="34" charset="-120"/>
              </a:rPr>
              <a:t>Granularity</a:t>
            </a:r>
            <a:endParaRPr lang="en-US" sz="800" dirty="0"/>
          </a:p>
        </p:txBody>
      </p:sp>
      <p:sp>
        <p:nvSpPr>
          <p:cNvPr id="39" name="Text 35"/>
          <p:cNvSpPr/>
          <p:nvPr/>
        </p:nvSpPr>
        <p:spPr>
          <a:xfrm>
            <a:off x="2861770" y="2780786"/>
            <a:ext cx="2992868" cy="260584"/>
          </a:xfrm>
          <a:prstGeom prst="rect">
            <a:avLst/>
          </a:prstGeom>
          <a:noFill/>
          <a:ln/>
        </p:spPr>
        <p:txBody>
          <a:bodyPr wrap="square" lIns="102108" tIns="68072" rIns="102108" bIns="68072" rtlCol="0" anchor="ctr">
            <a:spAutoFit/>
          </a:bodyPr>
          <a:lstStyle/>
          <a:p>
            <a:r>
              <a:rPr lang="en-US" sz="800" dirty="0">
                <a:solidFill>
                  <a:srgbClr val="57606A"/>
                </a:solidFill>
                <a:latin typeface="Georgia" panose="02040502050405020303" pitchFamily="18" charset="0"/>
                <a:ea typeface="Inter SemiBold" pitchFamily="34" charset="-122"/>
              </a:rPr>
              <a:t>1 </a:t>
            </a:r>
            <a:r>
              <a:rPr lang="en-US" sz="800" dirty="0" err="1">
                <a:solidFill>
                  <a:srgbClr val="57606A"/>
                </a:solidFill>
                <a:latin typeface="Georgia" panose="02040502050405020303" pitchFamily="18" charset="0"/>
                <a:ea typeface="Inter SemiBold" pitchFamily="34" charset="-122"/>
              </a:rPr>
              <a:t>байт</a:t>
            </a:r>
            <a:endParaRPr lang="en-US" sz="800" dirty="0">
              <a:solidFill>
                <a:srgbClr val="57606A"/>
              </a:solidFill>
              <a:latin typeface="Georgia" panose="02040502050405020303" pitchFamily="18" charset="0"/>
              <a:ea typeface="Inter SemiBold" pitchFamily="34" charset="-122"/>
            </a:endParaRPr>
          </a:p>
        </p:txBody>
      </p:sp>
      <p:sp>
        <p:nvSpPr>
          <p:cNvPr id="40" name="Shape 36"/>
          <p:cNvSpPr/>
          <p:nvPr/>
        </p:nvSpPr>
        <p:spPr>
          <a:xfrm>
            <a:off x="5854638" y="2775347"/>
            <a:ext cx="2992896" cy="271463"/>
          </a:xfrm>
          <a:prstGeom prst="rect">
            <a:avLst/>
          </a:prstGeom>
          <a:solidFill>
            <a:srgbClr val="0969DA">
              <a:alpha val="5000"/>
            </a:srgbClr>
          </a:solidFill>
          <a:ln w="9144">
            <a:solidFill>
              <a:srgbClr val="D0D7DE"/>
            </a:solidFill>
            <a:prstDash val="solid"/>
          </a:ln>
        </p:spPr>
      </p:sp>
      <p:sp>
        <p:nvSpPr>
          <p:cNvPr id="41" name="Text 37"/>
          <p:cNvSpPr/>
          <p:nvPr/>
        </p:nvSpPr>
        <p:spPr>
          <a:xfrm>
            <a:off x="5854638" y="2780786"/>
            <a:ext cx="2992896" cy="260584"/>
          </a:xfrm>
          <a:prstGeom prst="rect">
            <a:avLst/>
          </a:prstGeom>
          <a:noFill/>
          <a:ln/>
        </p:spPr>
        <p:txBody>
          <a:bodyPr wrap="square" lIns="102108" tIns="68072" rIns="102108" bIns="68072" rtlCol="0" anchor="ctr">
            <a:spAutoFit/>
          </a:bodyPr>
          <a:lstStyle/>
          <a:p>
            <a:r>
              <a:rPr lang="en-US" sz="800" dirty="0">
                <a:solidFill>
                  <a:srgbClr val="0969DA"/>
                </a:solidFill>
                <a:latin typeface="Georgia" panose="02040502050405020303" pitchFamily="18" charset="0"/>
                <a:ea typeface="Inter SemiBold" pitchFamily="34" charset="-122"/>
              </a:rPr>
              <a:t>16 </a:t>
            </a:r>
            <a:r>
              <a:rPr lang="en-US" sz="800" dirty="0" err="1">
                <a:solidFill>
                  <a:srgbClr val="0969DA"/>
                </a:solidFill>
                <a:latin typeface="Georgia" panose="02040502050405020303" pitchFamily="18" charset="0"/>
                <a:ea typeface="Inter SemiBold" pitchFamily="34" charset="-122"/>
              </a:rPr>
              <a:t>байт</a:t>
            </a:r>
            <a:endParaRPr lang="en-US" sz="800" dirty="0">
              <a:solidFill>
                <a:srgbClr val="0969DA"/>
              </a:solidFill>
              <a:latin typeface="Georgia" panose="02040502050405020303" pitchFamily="18" charset="0"/>
              <a:ea typeface="Inter SemiBold" pitchFamily="34" charset="-122"/>
            </a:endParaRPr>
          </a:p>
        </p:txBody>
      </p:sp>
      <p:sp>
        <p:nvSpPr>
          <p:cNvPr id="42" name="Text 38"/>
          <p:cNvSpPr/>
          <p:nvPr/>
        </p:nvSpPr>
        <p:spPr>
          <a:xfrm>
            <a:off x="296466" y="3046809"/>
            <a:ext cx="2565304" cy="271463"/>
          </a:xfrm>
          <a:prstGeom prst="rect">
            <a:avLst/>
          </a:prstGeom>
          <a:noFill/>
          <a:ln/>
        </p:spPr>
        <p:txBody>
          <a:bodyPr wrap="square" lIns="102108" tIns="68072" rIns="102108" bIns="68072" rtlCol="0" anchor="ctr">
            <a:spAutoFit/>
          </a:bodyPr>
          <a:lstStyle/>
          <a:p>
            <a:pPr marL="0" indent="0" algn="l">
              <a:buNone/>
            </a:pPr>
            <a:r>
              <a:rPr lang="en-US" sz="800" b="1" dirty="0">
                <a:solidFill>
                  <a:srgbClr val="57606A"/>
                </a:solidFill>
                <a:latin typeface="Fira Code Bold" pitchFamily="34" charset="0"/>
                <a:ea typeface="Fira Code Bold" pitchFamily="34" charset="-122"/>
                <a:cs typeface="Fira Code Bold" pitchFamily="34" charset="-120"/>
              </a:rPr>
              <a:t>Платформа</a:t>
            </a:r>
            <a:endParaRPr lang="en-US" sz="800" dirty="0"/>
          </a:p>
        </p:txBody>
      </p:sp>
      <p:sp>
        <p:nvSpPr>
          <p:cNvPr id="43" name="Text 39"/>
          <p:cNvSpPr/>
          <p:nvPr/>
        </p:nvSpPr>
        <p:spPr>
          <a:xfrm>
            <a:off x="2861770" y="3052248"/>
            <a:ext cx="2992868" cy="260584"/>
          </a:xfrm>
          <a:prstGeom prst="rect">
            <a:avLst/>
          </a:prstGeom>
          <a:noFill/>
          <a:ln/>
        </p:spPr>
        <p:txBody>
          <a:bodyPr wrap="square" lIns="102108" tIns="68072" rIns="102108" bIns="68072" rtlCol="0" anchor="ctr">
            <a:spAutoFit/>
          </a:bodyPr>
          <a:lstStyle/>
          <a:p>
            <a:pPr indent="0">
              <a:buNone/>
            </a:pPr>
            <a:r>
              <a:rPr lang="en-US" sz="800" dirty="0" err="1">
                <a:solidFill>
                  <a:srgbClr val="57606A"/>
                </a:solidFill>
                <a:latin typeface="Georgia" panose="02040502050405020303" pitchFamily="18" charset="0"/>
                <a:ea typeface="Inter SemiBold" pitchFamily="34" charset="-122"/>
              </a:rPr>
              <a:t>Любая</a:t>
            </a:r>
            <a:endParaRPr lang="en-US" sz="800" dirty="0">
              <a:solidFill>
                <a:srgbClr val="57606A"/>
              </a:solidFill>
              <a:latin typeface="Georgia" panose="02040502050405020303" pitchFamily="18" charset="0"/>
              <a:ea typeface="Inter SemiBold" pitchFamily="34" charset="-122"/>
            </a:endParaRPr>
          </a:p>
        </p:txBody>
      </p:sp>
      <p:sp>
        <p:nvSpPr>
          <p:cNvPr id="44" name="Shape 40"/>
          <p:cNvSpPr/>
          <p:nvPr/>
        </p:nvSpPr>
        <p:spPr>
          <a:xfrm>
            <a:off x="5854638" y="3046809"/>
            <a:ext cx="2992896" cy="271463"/>
          </a:xfrm>
          <a:prstGeom prst="rect">
            <a:avLst/>
          </a:prstGeom>
          <a:solidFill>
            <a:srgbClr val="0969DA">
              <a:alpha val="5000"/>
            </a:srgbClr>
          </a:solidFill>
          <a:ln w="9144">
            <a:solidFill>
              <a:srgbClr val="D0D7DE"/>
            </a:solidFill>
            <a:prstDash val="solid"/>
          </a:ln>
        </p:spPr>
      </p:sp>
      <p:sp>
        <p:nvSpPr>
          <p:cNvPr id="45" name="Text 41"/>
          <p:cNvSpPr/>
          <p:nvPr/>
        </p:nvSpPr>
        <p:spPr>
          <a:xfrm>
            <a:off x="5854638" y="3052248"/>
            <a:ext cx="2992896" cy="260584"/>
          </a:xfrm>
          <a:prstGeom prst="rect">
            <a:avLst/>
          </a:prstGeom>
          <a:noFill/>
          <a:ln/>
        </p:spPr>
        <p:txBody>
          <a:bodyPr wrap="square" lIns="102108" tIns="68072" rIns="102108" bIns="68072" rtlCol="0" anchor="ctr">
            <a:spAutoFit/>
          </a:bodyPr>
          <a:lstStyle/>
          <a:p>
            <a:pPr marL="0" indent="0" algn="l">
              <a:buNone/>
            </a:pPr>
            <a:r>
              <a:rPr lang="en-US" sz="800" dirty="0">
                <a:solidFill>
                  <a:srgbClr val="0969DA"/>
                </a:solidFill>
                <a:latin typeface="Georgia" panose="02040502050405020303" pitchFamily="18" charset="0"/>
                <a:ea typeface="Inter SemiBold" pitchFamily="34" charset="-122"/>
                <a:cs typeface="Inter SemiBold" pitchFamily="34" charset="-120"/>
              </a:rPr>
              <a:t>Arm only</a:t>
            </a:r>
            <a:endParaRPr lang="en-US" sz="800" dirty="0">
              <a:latin typeface="Georgia" panose="02040502050405020303" pitchFamily="18" charset="0"/>
            </a:endParaRPr>
          </a:p>
        </p:txBody>
      </p:sp>
      <p:sp>
        <p:nvSpPr>
          <p:cNvPr id="47" name="Shape 43"/>
          <p:cNvSpPr/>
          <p:nvPr/>
        </p:nvSpPr>
        <p:spPr>
          <a:xfrm>
            <a:off x="7144" y="3718406"/>
            <a:ext cx="9129713" cy="7144"/>
          </a:xfrm>
          <a:prstGeom prst="rect">
            <a:avLst/>
          </a:prstGeom>
          <a:solidFill>
            <a:srgbClr val="D0D7DE"/>
          </a:solidFill>
          <a:ln/>
        </p:spPr>
      </p:sp>
      <p:sp>
        <p:nvSpPr>
          <p:cNvPr id="48" name="Text 44"/>
          <p:cNvSpPr/>
          <p:nvPr/>
        </p:nvSpPr>
        <p:spPr>
          <a:xfrm>
            <a:off x="292894" y="3839849"/>
            <a:ext cx="3986213" cy="167878"/>
          </a:xfrm>
          <a:prstGeom prst="rect">
            <a:avLst/>
          </a:prstGeom>
          <a:noFill/>
          <a:ln/>
        </p:spPr>
        <p:txBody>
          <a:bodyPr wrap="square" lIns="0" tIns="0" rIns="0" bIns="0" rtlCol="0" anchor="t">
            <a:spAutoFit/>
          </a:bodyPr>
          <a:lstStyle/>
          <a:p>
            <a:pPr marL="0" indent="0" algn="l">
              <a:buNone/>
            </a:pPr>
            <a:r>
              <a:rPr lang="en-US" sz="900" b="1" dirty="0">
                <a:solidFill>
                  <a:srgbClr val="24292F"/>
                </a:solidFill>
                <a:latin typeface="Fira Code Bold" pitchFamily="34" charset="0"/>
                <a:ea typeface="Fira Code Bold" pitchFamily="34" charset="-122"/>
                <a:cs typeface="Fira Code Bold" pitchFamily="34" charset="-120"/>
              </a:rPr>
              <a:t>Key data (arXiv:2601.11786)</a:t>
            </a:r>
            <a:endParaRPr lang="en-US" sz="900" dirty="0"/>
          </a:p>
        </p:txBody>
      </p:sp>
      <p:sp>
        <p:nvSpPr>
          <p:cNvPr id="49" name="Text 45"/>
          <p:cNvSpPr/>
          <p:nvPr/>
        </p:nvSpPr>
        <p:spPr>
          <a:xfrm>
            <a:off x="292894" y="4107740"/>
            <a:ext cx="3986213" cy="115416"/>
          </a:xfrm>
          <a:prstGeom prst="rect">
            <a:avLst/>
          </a:prstGeom>
          <a:noFill/>
          <a:ln/>
        </p:spPr>
        <p:txBody>
          <a:bodyPr wrap="square" lIns="0" tIns="0" rIns="0" bIns="0" rtlCol="0" anchor="t">
            <a:spAutoFit/>
          </a:bodyPr>
          <a:lstStyle/>
          <a:p>
            <a:pPr marL="0" indent="0" algn="l">
              <a:buNone/>
            </a:pPr>
            <a:r>
              <a:rPr lang="en-US" sz="750" i="1" dirty="0">
                <a:solidFill>
                  <a:srgbClr val="57606A"/>
                </a:solidFill>
                <a:latin typeface="Georgia" panose="02040502050405020303" pitchFamily="18" charset="0"/>
                <a:ea typeface="Inter" pitchFamily="34" charset="-122"/>
                <a:cs typeface="Inter" pitchFamily="34" charset="-120"/>
              </a:rPr>
              <a:t>Pixel 8 (A7x Big core): ASYNC overhead 0.5–2.3% на SPEC CPU 2017</a:t>
            </a:r>
            <a:endParaRPr lang="en-US" sz="750" i="1" dirty="0">
              <a:latin typeface="Georgia" panose="02040502050405020303" pitchFamily="18" charset="0"/>
            </a:endParaRPr>
          </a:p>
        </p:txBody>
      </p:sp>
      <p:sp>
        <p:nvSpPr>
          <p:cNvPr id="50" name="Text 46"/>
          <p:cNvSpPr/>
          <p:nvPr/>
        </p:nvSpPr>
        <p:spPr>
          <a:xfrm>
            <a:off x="292894" y="4288120"/>
            <a:ext cx="3986213" cy="115416"/>
          </a:xfrm>
          <a:prstGeom prst="rect">
            <a:avLst/>
          </a:prstGeom>
          <a:noFill/>
          <a:ln/>
        </p:spPr>
        <p:txBody>
          <a:bodyPr wrap="square" lIns="0" tIns="0" rIns="0" bIns="0" rtlCol="0" anchor="t">
            <a:spAutoFit/>
          </a:bodyPr>
          <a:lstStyle/>
          <a:p>
            <a:r>
              <a:rPr lang="en-US" sz="750" i="1" dirty="0">
                <a:solidFill>
                  <a:srgbClr val="57606A"/>
                </a:solidFill>
                <a:latin typeface="Georgia" panose="02040502050405020303" pitchFamily="18" charset="0"/>
                <a:ea typeface="Inter" pitchFamily="34" charset="-122"/>
              </a:rPr>
              <a:t>Pixel 8 (A5x Little core): ASYNC overhead 1.1–3.8%</a:t>
            </a:r>
          </a:p>
        </p:txBody>
      </p:sp>
      <p:sp>
        <p:nvSpPr>
          <p:cNvPr id="51" name="Text 47"/>
          <p:cNvSpPr/>
          <p:nvPr/>
        </p:nvSpPr>
        <p:spPr>
          <a:xfrm>
            <a:off x="292894" y="4468499"/>
            <a:ext cx="3986213" cy="115416"/>
          </a:xfrm>
          <a:prstGeom prst="rect">
            <a:avLst/>
          </a:prstGeom>
          <a:noFill/>
          <a:ln/>
        </p:spPr>
        <p:txBody>
          <a:bodyPr wrap="square" lIns="0" tIns="0" rIns="0" bIns="0" rtlCol="0" anchor="t">
            <a:spAutoFit/>
          </a:bodyPr>
          <a:lstStyle/>
          <a:p>
            <a:pPr indent="0">
              <a:buNone/>
            </a:pPr>
            <a:r>
              <a:rPr lang="en-US" sz="750" i="1" dirty="0">
                <a:solidFill>
                  <a:srgbClr val="57606A"/>
                </a:solidFill>
                <a:latin typeface="Georgia" panose="02040502050405020303" pitchFamily="18" charset="0"/>
                <a:ea typeface="Inter" pitchFamily="34" charset="-122"/>
              </a:rPr>
              <a:t>AmpereOne (server): SYNC overhead 25–50% для store-heavy workloads</a:t>
            </a:r>
          </a:p>
        </p:txBody>
      </p:sp>
      <p:sp>
        <p:nvSpPr>
          <p:cNvPr id="52" name="Text 48"/>
          <p:cNvSpPr/>
          <p:nvPr/>
        </p:nvSpPr>
        <p:spPr>
          <a:xfrm>
            <a:off x="292894" y="4648879"/>
            <a:ext cx="3986213" cy="115416"/>
          </a:xfrm>
          <a:prstGeom prst="rect">
            <a:avLst/>
          </a:prstGeom>
          <a:noFill/>
          <a:ln/>
        </p:spPr>
        <p:txBody>
          <a:bodyPr wrap="square" lIns="0" tIns="0" rIns="0" bIns="0" rtlCol="0" anchor="t">
            <a:spAutoFit/>
          </a:bodyPr>
          <a:lstStyle/>
          <a:p>
            <a:r>
              <a:rPr lang="en-US" sz="750" i="1" dirty="0">
                <a:solidFill>
                  <a:srgbClr val="57606A"/>
                </a:solidFill>
                <a:latin typeface="Georgia" panose="02040502050405020303" pitchFamily="18" charset="0"/>
                <a:ea typeface="Inter" pitchFamily="34" charset="-122"/>
              </a:rPr>
              <a:t>Apple M5: ASYNC overhead &lt;1.5% на compute workloads</a:t>
            </a:r>
          </a:p>
        </p:txBody>
      </p:sp>
      <p:sp>
        <p:nvSpPr>
          <p:cNvPr id="53" name="Shape 49"/>
          <p:cNvSpPr/>
          <p:nvPr/>
        </p:nvSpPr>
        <p:spPr>
          <a:xfrm>
            <a:off x="4572000" y="3725549"/>
            <a:ext cx="4564856" cy="1410807"/>
          </a:xfrm>
          <a:prstGeom prst="rect">
            <a:avLst/>
          </a:prstGeom>
          <a:solidFill>
            <a:srgbClr val="F6F8FA"/>
          </a:solidFill>
          <a:ln/>
        </p:spPr>
      </p:sp>
      <p:sp>
        <p:nvSpPr>
          <p:cNvPr id="54" name="Text 50"/>
          <p:cNvSpPr/>
          <p:nvPr/>
        </p:nvSpPr>
        <p:spPr>
          <a:xfrm>
            <a:off x="4857750" y="3839849"/>
            <a:ext cx="3993356" cy="167878"/>
          </a:xfrm>
          <a:prstGeom prst="rect">
            <a:avLst/>
          </a:prstGeom>
          <a:noFill/>
          <a:ln/>
        </p:spPr>
        <p:txBody>
          <a:bodyPr wrap="square" lIns="0" tIns="0" rIns="0" bIns="0" rtlCol="0" anchor="t">
            <a:spAutoFit/>
          </a:bodyPr>
          <a:lstStyle/>
          <a:p>
            <a:pPr marL="0" indent="0" algn="l">
              <a:buNone/>
            </a:pPr>
            <a:r>
              <a:rPr lang="en-US" sz="900" b="1" dirty="0">
                <a:solidFill>
                  <a:srgbClr val="24292F"/>
                </a:solidFill>
                <a:latin typeface="Fira Code Bold" pitchFamily="34" charset="0"/>
                <a:ea typeface="Fira Code Bold" pitchFamily="34" charset="-122"/>
                <a:cs typeface="Fira Code Bold" pitchFamily="34" charset="-120"/>
              </a:rPr>
              <a:t>Recommendation</a:t>
            </a:r>
            <a:endParaRPr lang="en-US" sz="900" dirty="0"/>
          </a:p>
        </p:txBody>
      </p:sp>
      <p:sp>
        <p:nvSpPr>
          <p:cNvPr id="55" name="Text 51"/>
          <p:cNvSpPr/>
          <p:nvPr/>
        </p:nvSpPr>
        <p:spPr>
          <a:xfrm>
            <a:off x="4857750" y="4107740"/>
            <a:ext cx="3993356" cy="517257"/>
          </a:xfrm>
          <a:prstGeom prst="rect">
            <a:avLst/>
          </a:prstGeom>
          <a:noFill/>
          <a:ln/>
        </p:spPr>
        <p:txBody>
          <a:bodyPr wrap="square" lIns="136017" tIns="0" rIns="0" bIns="0" rtlCol="0" anchor="t">
            <a:spAutoFit/>
          </a:bodyPr>
          <a:lstStyle/>
          <a:p>
            <a:pPr marL="0" indent="0" algn="l">
              <a:lnSpc>
                <a:spcPct val="128000"/>
              </a:lnSpc>
              <a:buNone/>
            </a:pPr>
            <a:r>
              <a:rPr lang="en-US" sz="900" i="1" dirty="0">
                <a:solidFill>
                  <a:srgbClr val="57606A"/>
                </a:solidFill>
                <a:latin typeface="Georgia" panose="02040502050405020303" pitchFamily="18" charset="0"/>
                <a:ea typeface="Inter" pitchFamily="34" charset="-122"/>
              </a:rPr>
              <a:t>SYNC для CI/CD и отладки;</a:t>
            </a:r>
            <a:r>
              <a:rPr lang="en-US" sz="900" dirty="0">
                <a:solidFill>
                  <a:srgbClr val="24292F"/>
                </a:solidFill>
                <a:latin typeface="Inter" pitchFamily="34" charset="0"/>
                <a:ea typeface="Inter" pitchFamily="34" charset="-122"/>
                <a:cs typeface="Inter" pitchFamily="34" charset="-120"/>
              </a:rPr>
              <a:t>
 </a:t>
            </a:r>
            <a:r>
              <a:rPr lang="en-US" sz="900" i="1" dirty="0">
                <a:solidFill>
                  <a:srgbClr val="57606A"/>
                </a:solidFill>
                <a:latin typeface="Georgia" panose="02040502050405020303" pitchFamily="18" charset="0"/>
                <a:ea typeface="Inter" pitchFamily="34" charset="-122"/>
              </a:rPr>
              <a:t>ASYNC для production Android/Linux;</a:t>
            </a:r>
            <a:r>
              <a:rPr lang="en-US" sz="900" dirty="0">
                <a:solidFill>
                  <a:srgbClr val="24292F"/>
                </a:solidFill>
                <a:latin typeface="Inter" pitchFamily="34" charset="0"/>
                <a:ea typeface="Inter" pitchFamily="34" charset="-122"/>
                <a:cs typeface="Inter" pitchFamily="34" charset="-120"/>
              </a:rPr>
              <a:t>
 </a:t>
            </a:r>
            <a:r>
              <a:rPr lang="en-US" sz="900" i="1" dirty="0">
                <a:solidFill>
                  <a:srgbClr val="57606A"/>
                </a:solidFill>
                <a:latin typeface="Georgia" panose="02040502050405020303" pitchFamily="18" charset="0"/>
                <a:ea typeface="Inter" pitchFamily="34" charset="-122"/>
              </a:rPr>
              <a:t>ASYMM для read-heavy серверных </a:t>
            </a:r>
            <a:r>
              <a:rPr lang="en-US" sz="900" i="1" dirty="0" err="1">
                <a:solidFill>
                  <a:srgbClr val="57606A"/>
                </a:solidFill>
                <a:latin typeface="Georgia" panose="02040502050405020303" pitchFamily="18" charset="0"/>
                <a:ea typeface="Inter" pitchFamily="34" charset="-122"/>
              </a:rPr>
              <a:t>нагрузок</a:t>
            </a:r>
            <a:r>
              <a:rPr lang="en-US" sz="900" i="1" dirty="0">
                <a:solidFill>
                  <a:srgbClr val="57606A"/>
                </a:solidFill>
                <a:latin typeface="Georgia" panose="02040502050405020303" pitchFamily="18" charset="0"/>
                <a:ea typeface="Inter" pitchFamily="34" charset="-122"/>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7144"/>
            <a:ext cx="9129713" cy="735806"/>
          </a:xfrm>
          <a:prstGeom prst="rect">
            <a:avLst/>
          </a:prstGeom>
          <a:solidFill>
            <a:srgbClr val="FFFFFF"/>
          </a:solidFill>
          <a:ln/>
        </p:spPr>
      </p:sp>
      <p:sp>
        <p:nvSpPr>
          <p:cNvPr id="5" name="Shape 1"/>
          <p:cNvSpPr/>
          <p:nvPr/>
        </p:nvSpPr>
        <p:spPr>
          <a:xfrm>
            <a:off x="7144" y="735806"/>
            <a:ext cx="9129713" cy="7144"/>
          </a:xfrm>
          <a:prstGeom prst="rect">
            <a:avLst/>
          </a:prstGeom>
          <a:solidFill>
            <a:srgbClr val="D0D7DE"/>
          </a:solidFill>
          <a:ln/>
        </p:spPr>
      </p:sp>
      <p:sp>
        <p:nvSpPr>
          <p:cNvPr id="6" name="Text 2"/>
          <p:cNvSpPr/>
          <p:nvPr/>
        </p:nvSpPr>
        <p:spPr>
          <a:xfrm>
            <a:off x="435769" y="292894"/>
            <a:ext cx="8272463" cy="246221"/>
          </a:xfrm>
          <a:prstGeom prst="rect">
            <a:avLst/>
          </a:prstGeom>
          <a:noFill/>
          <a:ln/>
        </p:spPr>
        <p:txBody>
          <a:bodyPr wrap="square" lIns="0" tIns="0" rIns="0" bIns="0" rtlCol="0" anchor="t">
            <a:spAutoFit/>
          </a:bodyPr>
          <a:lstStyle/>
          <a:p>
            <a:pPr marL="0" indent="0" algn="l">
              <a:buNone/>
            </a:pPr>
            <a:r>
              <a:rPr lang="en-US" sz="1600" b="1" dirty="0">
                <a:solidFill>
                  <a:srgbClr val="0969DA"/>
                </a:solidFill>
                <a:latin typeface="Fira Code Bold" pitchFamily="34" charset="0"/>
                <a:ea typeface="Fira Code Bold" pitchFamily="34" charset="-122"/>
                <a:cs typeface="Fira Code Bold" pitchFamily="34" charset="-120"/>
              </a:rPr>
              <a:t>От спецификации 2019 до mass-market production в 2023–2026</a:t>
            </a:r>
            <a:endParaRPr lang="en-US" sz="1600" dirty="0"/>
          </a:p>
        </p:txBody>
      </p:sp>
      <p:sp>
        <p:nvSpPr>
          <p:cNvPr id="8" name="Text 4"/>
          <p:cNvSpPr/>
          <p:nvPr/>
        </p:nvSpPr>
        <p:spPr>
          <a:xfrm>
            <a:off x="292894" y="950119"/>
            <a:ext cx="2464594" cy="287536"/>
          </a:xfrm>
          <a:prstGeom prst="rect">
            <a:avLst/>
          </a:prstGeom>
          <a:noFill/>
          <a:ln/>
        </p:spPr>
        <p:txBody>
          <a:bodyPr wrap="square" lIns="0" tIns="0" rIns="0" bIns="102108" rtlCol="0" anchor="t">
            <a:spAutoFit/>
          </a:bodyPr>
          <a:lstStyle/>
          <a:p>
            <a:pPr marL="0" indent="0" algn="l">
              <a:buNone/>
            </a:pPr>
            <a:r>
              <a:rPr lang="en-US" sz="1000" b="1" dirty="0">
                <a:solidFill>
                  <a:srgbClr val="24292F"/>
                </a:solidFill>
                <a:latin typeface="Fira Code Bold" pitchFamily="34" charset="0"/>
                <a:ea typeface="Fira Code Bold" pitchFamily="34" charset="-122"/>
                <a:cs typeface="Fira Code Bold" pitchFamily="34" charset="-120"/>
              </a:rPr>
              <a:t>Android NDK Support</a:t>
            </a:r>
            <a:endParaRPr lang="en-US" sz="1000" dirty="0"/>
          </a:p>
        </p:txBody>
      </p:sp>
      <p:sp>
        <p:nvSpPr>
          <p:cNvPr id="9" name="Text 5"/>
          <p:cNvSpPr/>
          <p:nvPr/>
        </p:nvSpPr>
        <p:spPr>
          <a:xfrm>
            <a:off x="292894" y="1380530"/>
            <a:ext cx="64294" cy="160734"/>
          </a:xfrm>
          <a:prstGeom prst="rect">
            <a:avLst/>
          </a:prstGeom>
          <a:noFill/>
          <a:ln/>
        </p:spPr>
        <p:txBody>
          <a:bodyPr wrap="none" lIns="0" tIns="0" rIns="0" bIns="0" rtlCol="0" anchor="t">
            <a:spAutoFit/>
          </a:bodyPr>
          <a:lstStyle/>
          <a:p>
            <a:pPr marL="0" indent="0" algn="l">
              <a:lnSpc>
                <a:spcPct val="120000"/>
              </a:lnSpc>
              <a:buNone/>
            </a:pPr>
            <a:r>
              <a:rPr lang="en-US" sz="750" b="1" dirty="0">
                <a:solidFill>
                  <a:srgbClr val="0969DA"/>
                </a:solidFill>
                <a:latin typeface="Fira Code Bold" pitchFamily="34" charset="0"/>
                <a:ea typeface="Fira Code Bold" pitchFamily="34" charset="-122"/>
                <a:cs typeface="Fira Code Bold" pitchFamily="34" charset="-120"/>
              </a:rPr>
              <a:t>→</a:t>
            </a:r>
            <a:endParaRPr lang="en-US" sz="750" dirty="0"/>
          </a:p>
        </p:txBody>
      </p:sp>
      <p:sp>
        <p:nvSpPr>
          <p:cNvPr id="10" name="Text 6"/>
          <p:cNvSpPr/>
          <p:nvPr/>
        </p:nvSpPr>
        <p:spPr>
          <a:xfrm>
            <a:off x="442913" y="1380530"/>
            <a:ext cx="2314575" cy="317908"/>
          </a:xfrm>
          <a:prstGeom prst="rect">
            <a:avLst/>
          </a:prstGeom>
          <a:noFill/>
          <a:ln/>
        </p:spPr>
        <p:txBody>
          <a:bodyPr wrap="square" lIns="0" tIns="0" rIns="0" bIns="0" rtlCol="0" anchor="t">
            <a:spAutoFit/>
          </a:bodyPr>
          <a:lstStyle/>
          <a:p>
            <a:pPr marL="0" indent="0" algn="l">
              <a:lnSpc>
                <a:spcPct val="120000"/>
              </a:lnSpc>
              <a:buNone/>
            </a:pP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Google Pixel 8 (2023) — первый массовый телефон с MTE hardware</a:t>
            </a:r>
            <a:endParaRPr lang="en-US" sz="900" b="1" i="1" dirty="0">
              <a:latin typeface="Times New Roman" panose="02020603050405020304" pitchFamily="18" charset="0"/>
              <a:cs typeface="Times New Roman" panose="02020603050405020304" pitchFamily="18" charset="0"/>
            </a:endParaRPr>
          </a:p>
        </p:txBody>
      </p:sp>
      <p:sp>
        <p:nvSpPr>
          <p:cNvPr id="11" name="Text 7"/>
          <p:cNvSpPr/>
          <p:nvPr/>
        </p:nvSpPr>
        <p:spPr>
          <a:xfrm>
            <a:off x="292894" y="1816298"/>
            <a:ext cx="64294" cy="160734"/>
          </a:xfrm>
          <a:prstGeom prst="rect">
            <a:avLst/>
          </a:prstGeom>
          <a:noFill/>
          <a:ln/>
        </p:spPr>
        <p:txBody>
          <a:bodyPr wrap="none" lIns="0" tIns="0" rIns="0" bIns="0" rtlCol="0" anchor="t">
            <a:spAutoFit/>
          </a:bodyPr>
          <a:lstStyle/>
          <a:p>
            <a:pPr marL="0" indent="0" algn="l">
              <a:lnSpc>
                <a:spcPct val="120000"/>
              </a:lnSpc>
              <a:buNone/>
            </a:pPr>
            <a:r>
              <a:rPr lang="en-US" sz="750" b="1" dirty="0">
                <a:solidFill>
                  <a:srgbClr val="0969DA"/>
                </a:solidFill>
                <a:latin typeface="Fira Code Bold" pitchFamily="34" charset="0"/>
                <a:ea typeface="Fira Code Bold" pitchFamily="34" charset="-122"/>
                <a:cs typeface="Fira Code Bold" pitchFamily="34" charset="-120"/>
              </a:rPr>
              <a:t>→</a:t>
            </a:r>
            <a:endParaRPr lang="en-US" sz="750" dirty="0"/>
          </a:p>
        </p:txBody>
      </p:sp>
      <p:sp>
        <p:nvSpPr>
          <p:cNvPr id="12" name="Text 8"/>
          <p:cNvSpPr/>
          <p:nvPr/>
        </p:nvSpPr>
        <p:spPr>
          <a:xfrm>
            <a:off x="442913" y="1816298"/>
            <a:ext cx="2314575" cy="317908"/>
          </a:xfrm>
          <a:prstGeom prst="rect">
            <a:avLst/>
          </a:prstGeom>
          <a:noFill/>
          <a:ln/>
        </p:spPr>
        <p:txBody>
          <a:bodyPr wrap="square" lIns="0" tIns="0" rIns="0" bIns="0" rtlCol="0" anchor="t">
            <a:spAutoFit/>
          </a:bodyPr>
          <a:lstStyle/>
          <a:p>
            <a:pPr>
              <a:lnSpc>
                <a:spcPct val="120000"/>
              </a:lnSpc>
            </a:pP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SYNC режим: точная диагностика с SIGSEGV </a:t>
            </a:r>
            <a:r>
              <a:rPr lang="en-US" sz="900" b="1" i="1" dirty="0" err="1">
                <a:solidFill>
                  <a:srgbClr val="24292F"/>
                </a:solidFill>
                <a:latin typeface="Times New Roman" panose="02020603050405020304" pitchFamily="18" charset="0"/>
                <a:ea typeface="Inter" pitchFamily="34" charset="-122"/>
                <a:cs typeface="Times New Roman" panose="02020603050405020304" pitchFamily="18" charset="0"/>
              </a:rPr>
              <a:t>для</a:t>
            </a: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 </a:t>
            </a:r>
            <a:r>
              <a:rPr lang="en-US" sz="900" b="1" i="1" dirty="0" err="1">
                <a:solidFill>
                  <a:srgbClr val="24292F"/>
                </a:solidFill>
                <a:latin typeface="Times New Roman" panose="02020603050405020304" pitchFamily="18" charset="0"/>
                <a:ea typeface="Inter" pitchFamily="34" charset="-122"/>
                <a:cs typeface="Times New Roman" panose="02020603050405020304" pitchFamily="18" charset="0"/>
              </a:rPr>
              <a:t>отладки</a:t>
            </a:r>
            <a:endParaRPr lang="en-US" sz="900" b="1" i="1" dirty="0">
              <a:solidFill>
                <a:srgbClr val="24292F"/>
              </a:solidFill>
              <a:latin typeface="Times New Roman" panose="02020603050405020304" pitchFamily="18" charset="0"/>
              <a:ea typeface="Inter" pitchFamily="34" charset="-122"/>
              <a:cs typeface="Times New Roman" panose="02020603050405020304" pitchFamily="18" charset="0"/>
            </a:endParaRPr>
          </a:p>
        </p:txBody>
      </p:sp>
      <p:sp>
        <p:nvSpPr>
          <p:cNvPr id="13" name="Text 9"/>
          <p:cNvSpPr/>
          <p:nvPr/>
        </p:nvSpPr>
        <p:spPr>
          <a:xfrm>
            <a:off x="292894" y="2252067"/>
            <a:ext cx="64294" cy="160734"/>
          </a:xfrm>
          <a:prstGeom prst="rect">
            <a:avLst/>
          </a:prstGeom>
          <a:noFill/>
          <a:ln/>
        </p:spPr>
        <p:txBody>
          <a:bodyPr wrap="none" lIns="0" tIns="0" rIns="0" bIns="0" rtlCol="0" anchor="t">
            <a:spAutoFit/>
          </a:bodyPr>
          <a:lstStyle/>
          <a:p>
            <a:pPr marL="0" indent="0" algn="l">
              <a:lnSpc>
                <a:spcPct val="120000"/>
              </a:lnSpc>
              <a:buNone/>
            </a:pPr>
            <a:r>
              <a:rPr lang="en-US" sz="750" b="1" dirty="0">
                <a:solidFill>
                  <a:srgbClr val="0969DA"/>
                </a:solidFill>
                <a:latin typeface="Fira Code Bold" pitchFamily="34" charset="0"/>
                <a:ea typeface="Fira Code Bold" pitchFamily="34" charset="-122"/>
                <a:cs typeface="Fira Code Bold" pitchFamily="34" charset="-120"/>
              </a:rPr>
              <a:t>→</a:t>
            </a:r>
            <a:endParaRPr lang="en-US" sz="750" dirty="0"/>
          </a:p>
        </p:txBody>
      </p:sp>
      <p:sp>
        <p:nvSpPr>
          <p:cNvPr id="14" name="Text 10"/>
          <p:cNvSpPr/>
          <p:nvPr/>
        </p:nvSpPr>
        <p:spPr>
          <a:xfrm>
            <a:off x="442913" y="2252067"/>
            <a:ext cx="2314575" cy="317908"/>
          </a:xfrm>
          <a:prstGeom prst="rect">
            <a:avLst/>
          </a:prstGeom>
          <a:noFill/>
          <a:ln/>
        </p:spPr>
        <p:txBody>
          <a:bodyPr wrap="square" lIns="0" tIns="0" rIns="0" bIns="0" rtlCol="0" anchor="t">
            <a:spAutoFit/>
          </a:bodyPr>
          <a:lstStyle/>
          <a:p>
            <a:pPr indent="0">
              <a:lnSpc>
                <a:spcPct val="120000"/>
              </a:lnSpc>
              <a:buNone/>
            </a:pP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ASYNC режим: &lt;2% overhead, production-ready</a:t>
            </a:r>
          </a:p>
        </p:txBody>
      </p:sp>
      <p:sp>
        <p:nvSpPr>
          <p:cNvPr id="15" name="Text 11"/>
          <p:cNvSpPr/>
          <p:nvPr/>
        </p:nvSpPr>
        <p:spPr>
          <a:xfrm>
            <a:off x="292894" y="2687836"/>
            <a:ext cx="64294" cy="160734"/>
          </a:xfrm>
          <a:prstGeom prst="rect">
            <a:avLst/>
          </a:prstGeom>
          <a:noFill/>
          <a:ln/>
        </p:spPr>
        <p:txBody>
          <a:bodyPr wrap="none" lIns="0" tIns="0" rIns="0" bIns="0" rtlCol="0" anchor="t">
            <a:spAutoFit/>
          </a:bodyPr>
          <a:lstStyle/>
          <a:p>
            <a:pPr marL="0" indent="0" algn="l">
              <a:lnSpc>
                <a:spcPct val="120000"/>
              </a:lnSpc>
              <a:buNone/>
            </a:pPr>
            <a:r>
              <a:rPr lang="en-US" sz="750" b="1" dirty="0">
                <a:solidFill>
                  <a:srgbClr val="0969DA"/>
                </a:solidFill>
                <a:latin typeface="Fira Code Bold" pitchFamily="34" charset="0"/>
                <a:ea typeface="Fira Code Bold" pitchFamily="34" charset="-122"/>
                <a:cs typeface="Fira Code Bold" pitchFamily="34" charset="-120"/>
              </a:rPr>
              <a:t>→</a:t>
            </a:r>
            <a:endParaRPr lang="en-US" sz="750" dirty="0"/>
          </a:p>
        </p:txBody>
      </p:sp>
      <p:sp>
        <p:nvSpPr>
          <p:cNvPr id="16" name="Text 12"/>
          <p:cNvSpPr/>
          <p:nvPr/>
        </p:nvSpPr>
        <p:spPr>
          <a:xfrm>
            <a:off x="442913" y="2687836"/>
            <a:ext cx="2314575" cy="317908"/>
          </a:xfrm>
          <a:prstGeom prst="rect">
            <a:avLst/>
          </a:prstGeom>
          <a:noFill/>
          <a:ln/>
        </p:spPr>
        <p:txBody>
          <a:bodyPr wrap="square" lIns="0" tIns="0" rIns="0" bIns="0" rtlCol="0" anchor="t">
            <a:spAutoFit/>
          </a:bodyPr>
          <a:lstStyle/>
          <a:p>
            <a:pPr>
              <a:lnSpc>
                <a:spcPct val="120000"/>
              </a:lnSpc>
            </a:pP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Google Pixel 9 (2024): MTE нашёл UAF-баги в реальных приложениях (Project Zero)</a:t>
            </a:r>
          </a:p>
        </p:txBody>
      </p:sp>
      <p:sp>
        <p:nvSpPr>
          <p:cNvPr id="17" name="Text 13"/>
          <p:cNvSpPr/>
          <p:nvPr/>
        </p:nvSpPr>
        <p:spPr>
          <a:xfrm>
            <a:off x="292894" y="3123605"/>
            <a:ext cx="64294" cy="160734"/>
          </a:xfrm>
          <a:prstGeom prst="rect">
            <a:avLst/>
          </a:prstGeom>
          <a:noFill/>
          <a:ln/>
        </p:spPr>
        <p:txBody>
          <a:bodyPr wrap="none" lIns="0" tIns="0" rIns="0" bIns="0" rtlCol="0" anchor="t">
            <a:spAutoFit/>
          </a:bodyPr>
          <a:lstStyle/>
          <a:p>
            <a:pPr marL="0" indent="0" algn="l">
              <a:lnSpc>
                <a:spcPct val="120000"/>
              </a:lnSpc>
              <a:buNone/>
            </a:pPr>
            <a:r>
              <a:rPr lang="en-US" sz="750" b="1" dirty="0">
                <a:solidFill>
                  <a:srgbClr val="0969DA"/>
                </a:solidFill>
                <a:latin typeface="Fira Code Bold" pitchFamily="34" charset="0"/>
                <a:ea typeface="Fira Code Bold" pitchFamily="34" charset="-122"/>
                <a:cs typeface="Fira Code Bold" pitchFamily="34" charset="-120"/>
              </a:rPr>
              <a:t>→</a:t>
            </a:r>
            <a:endParaRPr lang="en-US" sz="750" dirty="0"/>
          </a:p>
        </p:txBody>
      </p:sp>
      <p:sp>
        <p:nvSpPr>
          <p:cNvPr id="18" name="Text 14"/>
          <p:cNvSpPr/>
          <p:nvPr/>
        </p:nvSpPr>
        <p:spPr>
          <a:xfrm>
            <a:off x="442913" y="3123605"/>
            <a:ext cx="2314575" cy="317908"/>
          </a:xfrm>
          <a:prstGeom prst="rect">
            <a:avLst/>
          </a:prstGeom>
          <a:noFill/>
          <a:ln/>
        </p:spPr>
        <p:txBody>
          <a:bodyPr wrap="square" lIns="0" tIns="0" rIns="0" bIns="0" rtlCol="0" anchor="t">
            <a:spAutoFit/>
          </a:bodyPr>
          <a:lstStyle/>
          <a:p>
            <a:pPr indent="0">
              <a:lnSpc>
                <a:spcPct val="120000"/>
              </a:lnSpc>
              <a:buNone/>
            </a:pP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Apple iPhone 17 / A19 (2025): поддержка MTE architecture</a:t>
            </a:r>
          </a:p>
        </p:txBody>
      </p:sp>
      <p:sp>
        <p:nvSpPr>
          <p:cNvPr id="19" name="Text 15"/>
          <p:cNvSpPr/>
          <p:nvPr/>
        </p:nvSpPr>
        <p:spPr>
          <a:xfrm>
            <a:off x="292894" y="3559373"/>
            <a:ext cx="64294" cy="160734"/>
          </a:xfrm>
          <a:prstGeom prst="rect">
            <a:avLst/>
          </a:prstGeom>
          <a:noFill/>
          <a:ln/>
        </p:spPr>
        <p:txBody>
          <a:bodyPr wrap="none" lIns="0" tIns="0" rIns="0" bIns="0" rtlCol="0" anchor="t">
            <a:spAutoFit/>
          </a:bodyPr>
          <a:lstStyle/>
          <a:p>
            <a:pPr marL="0" indent="0" algn="l">
              <a:lnSpc>
                <a:spcPct val="120000"/>
              </a:lnSpc>
              <a:buNone/>
            </a:pPr>
            <a:r>
              <a:rPr lang="en-US" sz="750" b="1" dirty="0">
                <a:solidFill>
                  <a:srgbClr val="0969DA"/>
                </a:solidFill>
                <a:latin typeface="Fira Code Bold" pitchFamily="34" charset="0"/>
                <a:ea typeface="Fira Code Bold" pitchFamily="34" charset="-122"/>
                <a:cs typeface="Fira Code Bold" pitchFamily="34" charset="-120"/>
              </a:rPr>
              <a:t>→</a:t>
            </a:r>
            <a:endParaRPr lang="en-US" sz="750" dirty="0"/>
          </a:p>
        </p:txBody>
      </p:sp>
      <p:sp>
        <p:nvSpPr>
          <p:cNvPr id="20" name="Text 16"/>
          <p:cNvSpPr/>
          <p:nvPr/>
        </p:nvSpPr>
        <p:spPr>
          <a:xfrm>
            <a:off x="442913" y="3559373"/>
            <a:ext cx="2314575" cy="317908"/>
          </a:xfrm>
          <a:prstGeom prst="rect">
            <a:avLst/>
          </a:prstGeom>
          <a:noFill/>
          <a:ln/>
        </p:spPr>
        <p:txBody>
          <a:bodyPr wrap="square" lIns="0" tIns="0" rIns="0" bIns="0" rtlCol="0" anchor="t">
            <a:spAutoFit/>
          </a:bodyPr>
          <a:lstStyle/>
          <a:p>
            <a:pPr>
              <a:lnSpc>
                <a:spcPct val="120000"/>
              </a:lnSpc>
            </a:pP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GrapheneOS: MTE включён по умолчанию для </a:t>
            </a:r>
            <a:r>
              <a:rPr lang="en-US" sz="900" b="1" i="1" dirty="0" err="1">
                <a:solidFill>
                  <a:srgbClr val="24292F"/>
                </a:solidFill>
                <a:latin typeface="Times New Roman" panose="02020603050405020304" pitchFamily="18" charset="0"/>
                <a:ea typeface="Inter" pitchFamily="34" charset="-122"/>
                <a:cs typeface="Times New Roman" panose="02020603050405020304" pitchFamily="18" charset="0"/>
              </a:rPr>
              <a:t>системных</a:t>
            </a: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 </a:t>
            </a:r>
            <a:r>
              <a:rPr lang="en-US" sz="900" b="1" i="1" dirty="0" err="1">
                <a:solidFill>
                  <a:srgbClr val="24292F"/>
                </a:solidFill>
                <a:latin typeface="Times New Roman" panose="02020603050405020304" pitchFamily="18" charset="0"/>
                <a:ea typeface="Inter" pitchFamily="34" charset="-122"/>
                <a:cs typeface="Times New Roman" panose="02020603050405020304" pitchFamily="18" charset="0"/>
              </a:rPr>
              <a:t>компонентов</a:t>
            </a:r>
            <a:endParaRPr lang="en-US" sz="900" b="1" i="1" dirty="0">
              <a:solidFill>
                <a:srgbClr val="24292F"/>
              </a:solidFill>
              <a:latin typeface="Times New Roman" panose="02020603050405020304" pitchFamily="18" charset="0"/>
              <a:ea typeface="Inter" pitchFamily="34" charset="-122"/>
              <a:cs typeface="Times New Roman" panose="02020603050405020304" pitchFamily="18" charset="0"/>
            </a:endParaRPr>
          </a:p>
        </p:txBody>
      </p:sp>
      <p:sp>
        <p:nvSpPr>
          <p:cNvPr id="21" name="Text 17"/>
          <p:cNvSpPr/>
          <p:nvPr/>
        </p:nvSpPr>
        <p:spPr>
          <a:xfrm>
            <a:off x="3336131" y="950119"/>
            <a:ext cx="2464594" cy="287536"/>
          </a:xfrm>
          <a:prstGeom prst="rect">
            <a:avLst/>
          </a:prstGeom>
          <a:noFill/>
          <a:ln/>
        </p:spPr>
        <p:txBody>
          <a:bodyPr wrap="square" lIns="0" tIns="0" rIns="0" bIns="102108" rtlCol="0" anchor="t">
            <a:spAutoFit/>
          </a:bodyPr>
          <a:lstStyle/>
          <a:p>
            <a:pPr marL="0" indent="0" algn="l">
              <a:buNone/>
            </a:pPr>
            <a:r>
              <a:rPr lang="en-US" sz="1000" b="1" dirty="0">
                <a:solidFill>
                  <a:srgbClr val="24292F"/>
                </a:solidFill>
                <a:latin typeface="Fira Code Bold" pitchFamily="34" charset="0"/>
                <a:ea typeface="Fira Code Bold" pitchFamily="34" charset="-122"/>
                <a:cs typeface="Fira Code Bold" pitchFamily="34" charset="-120"/>
              </a:rPr>
              <a:t>Linux Kernel Support</a:t>
            </a:r>
            <a:endParaRPr lang="en-US" sz="1000" dirty="0"/>
          </a:p>
        </p:txBody>
      </p:sp>
      <p:sp>
        <p:nvSpPr>
          <p:cNvPr id="22" name="Text 18"/>
          <p:cNvSpPr/>
          <p:nvPr/>
        </p:nvSpPr>
        <p:spPr>
          <a:xfrm>
            <a:off x="3336131" y="1380530"/>
            <a:ext cx="64294" cy="160734"/>
          </a:xfrm>
          <a:prstGeom prst="rect">
            <a:avLst/>
          </a:prstGeom>
          <a:noFill/>
          <a:ln/>
        </p:spPr>
        <p:txBody>
          <a:bodyPr wrap="none" lIns="0" tIns="0" rIns="0" bIns="0" rtlCol="0" anchor="t">
            <a:spAutoFit/>
          </a:bodyPr>
          <a:lstStyle/>
          <a:p>
            <a:pPr marL="0" indent="0" algn="l">
              <a:lnSpc>
                <a:spcPct val="120000"/>
              </a:lnSpc>
              <a:buNone/>
            </a:pPr>
            <a:r>
              <a:rPr lang="en-US" sz="750" b="1" dirty="0">
                <a:solidFill>
                  <a:srgbClr val="2DA44E"/>
                </a:solidFill>
                <a:latin typeface="Fira Code Bold" pitchFamily="34" charset="0"/>
                <a:ea typeface="Fira Code Bold" pitchFamily="34" charset="-122"/>
                <a:cs typeface="Fira Code Bold" pitchFamily="34" charset="-120"/>
              </a:rPr>
              <a:t>→</a:t>
            </a:r>
            <a:endParaRPr lang="en-US" sz="750" dirty="0"/>
          </a:p>
        </p:txBody>
      </p:sp>
      <p:sp>
        <p:nvSpPr>
          <p:cNvPr id="23" name="Text 19"/>
          <p:cNvSpPr/>
          <p:nvPr/>
        </p:nvSpPr>
        <p:spPr>
          <a:xfrm>
            <a:off x="3486150" y="1380530"/>
            <a:ext cx="2314575" cy="321469"/>
          </a:xfrm>
          <a:prstGeom prst="rect">
            <a:avLst/>
          </a:prstGeom>
          <a:noFill/>
          <a:ln/>
        </p:spPr>
        <p:txBody>
          <a:bodyPr wrap="square" lIns="0" tIns="0" rIns="0" bIns="0" rtlCol="0" anchor="t">
            <a:spAutoFit/>
          </a:bodyPr>
          <a:lstStyle/>
          <a:p>
            <a:pPr marL="0" indent="0" algn="l">
              <a:lnSpc>
                <a:spcPct val="120000"/>
              </a:lnSpc>
              <a:buNone/>
            </a:pP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Kernel patch upstream от Arm для Tagged Memory</a:t>
            </a:r>
          </a:p>
        </p:txBody>
      </p:sp>
      <p:sp>
        <p:nvSpPr>
          <p:cNvPr id="24" name="Text 20"/>
          <p:cNvSpPr/>
          <p:nvPr/>
        </p:nvSpPr>
        <p:spPr>
          <a:xfrm>
            <a:off x="3336131" y="1816298"/>
            <a:ext cx="64294" cy="160734"/>
          </a:xfrm>
          <a:prstGeom prst="rect">
            <a:avLst/>
          </a:prstGeom>
          <a:noFill/>
          <a:ln/>
        </p:spPr>
        <p:txBody>
          <a:bodyPr wrap="none" lIns="0" tIns="0" rIns="0" bIns="0" rtlCol="0" anchor="t">
            <a:spAutoFit/>
          </a:bodyPr>
          <a:lstStyle/>
          <a:p>
            <a:pPr marL="0" indent="0" algn="l">
              <a:lnSpc>
                <a:spcPct val="120000"/>
              </a:lnSpc>
              <a:buNone/>
            </a:pPr>
            <a:r>
              <a:rPr lang="en-US" sz="750" b="1" dirty="0">
                <a:solidFill>
                  <a:srgbClr val="2DA44E"/>
                </a:solidFill>
                <a:latin typeface="Fira Code Bold" pitchFamily="34" charset="0"/>
                <a:ea typeface="Fira Code Bold" pitchFamily="34" charset="-122"/>
                <a:cs typeface="Fira Code Bold" pitchFamily="34" charset="-120"/>
              </a:rPr>
              <a:t>→</a:t>
            </a:r>
            <a:endParaRPr lang="en-US" sz="750" dirty="0"/>
          </a:p>
        </p:txBody>
      </p:sp>
      <p:sp>
        <p:nvSpPr>
          <p:cNvPr id="25" name="Text 21"/>
          <p:cNvSpPr/>
          <p:nvPr/>
        </p:nvSpPr>
        <p:spPr>
          <a:xfrm>
            <a:off x="3486150" y="1816298"/>
            <a:ext cx="2314575" cy="317908"/>
          </a:xfrm>
          <a:prstGeom prst="rect">
            <a:avLst/>
          </a:prstGeom>
          <a:noFill/>
          <a:ln/>
        </p:spPr>
        <p:txBody>
          <a:bodyPr wrap="square" lIns="0" tIns="0" rIns="0" bIns="0" rtlCol="0" anchor="t">
            <a:spAutoFit/>
          </a:bodyPr>
          <a:lstStyle/>
          <a:p>
            <a:pPr>
              <a:lnSpc>
                <a:spcPct val="120000"/>
              </a:lnSpc>
            </a:pP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clear_page / copy_page — aware of tags (STZGM)</a:t>
            </a:r>
          </a:p>
        </p:txBody>
      </p:sp>
      <p:sp>
        <p:nvSpPr>
          <p:cNvPr id="26" name="Text 22"/>
          <p:cNvSpPr/>
          <p:nvPr/>
        </p:nvSpPr>
        <p:spPr>
          <a:xfrm>
            <a:off x="3336131" y="2252067"/>
            <a:ext cx="64294" cy="160734"/>
          </a:xfrm>
          <a:prstGeom prst="rect">
            <a:avLst/>
          </a:prstGeom>
          <a:noFill/>
          <a:ln/>
        </p:spPr>
        <p:txBody>
          <a:bodyPr wrap="none" lIns="0" tIns="0" rIns="0" bIns="0" rtlCol="0" anchor="t">
            <a:spAutoFit/>
          </a:bodyPr>
          <a:lstStyle/>
          <a:p>
            <a:pPr marL="0" indent="0" algn="l">
              <a:lnSpc>
                <a:spcPct val="120000"/>
              </a:lnSpc>
              <a:buNone/>
            </a:pPr>
            <a:r>
              <a:rPr lang="en-US" sz="750" b="1" dirty="0">
                <a:solidFill>
                  <a:srgbClr val="2DA44E"/>
                </a:solidFill>
                <a:latin typeface="Fira Code Bold" pitchFamily="34" charset="0"/>
                <a:ea typeface="Fira Code Bold" pitchFamily="34" charset="-122"/>
                <a:cs typeface="Fira Code Bold" pitchFamily="34" charset="-120"/>
              </a:rPr>
              <a:t>→</a:t>
            </a:r>
            <a:endParaRPr lang="en-US" sz="750" dirty="0"/>
          </a:p>
        </p:txBody>
      </p:sp>
      <p:sp>
        <p:nvSpPr>
          <p:cNvPr id="27" name="Text 23"/>
          <p:cNvSpPr/>
          <p:nvPr/>
        </p:nvSpPr>
        <p:spPr>
          <a:xfrm>
            <a:off x="3486150" y="2252067"/>
            <a:ext cx="2160848" cy="151708"/>
          </a:xfrm>
          <a:prstGeom prst="rect">
            <a:avLst/>
          </a:prstGeom>
          <a:noFill/>
          <a:ln/>
        </p:spPr>
        <p:txBody>
          <a:bodyPr wrap="none" lIns="0" tIns="0" rIns="0" bIns="0" rtlCol="0" anchor="t">
            <a:spAutoFit/>
          </a:bodyPr>
          <a:lstStyle/>
          <a:p>
            <a:pPr indent="0">
              <a:lnSpc>
                <a:spcPct val="120000"/>
              </a:lnSpc>
              <a:buNone/>
            </a:pP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SIGSEGV handling: аналог translation fault</a:t>
            </a:r>
          </a:p>
        </p:txBody>
      </p:sp>
      <p:sp>
        <p:nvSpPr>
          <p:cNvPr id="28" name="Text 24"/>
          <p:cNvSpPr/>
          <p:nvPr/>
        </p:nvSpPr>
        <p:spPr>
          <a:xfrm>
            <a:off x="3336131" y="2527102"/>
            <a:ext cx="64294" cy="160734"/>
          </a:xfrm>
          <a:prstGeom prst="rect">
            <a:avLst/>
          </a:prstGeom>
          <a:noFill/>
          <a:ln/>
        </p:spPr>
        <p:txBody>
          <a:bodyPr wrap="none" lIns="0" tIns="0" rIns="0" bIns="0" rtlCol="0" anchor="t">
            <a:spAutoFit/>
          </a:bodyPr>
          <a:lstStyle/>
          <a:p>
            <a:pPr marL="0" indent="0" algn="l">
              <a:lnSpc>
                <a:spcPct val="120000"/>
              </a:lnSpc>
              <a:buNone/>
            </a:pPr>
            <a:r>
              <a:rPr lang="en-US" sz="750" b="1" dirty="0">
                <a:solidFill>
                  <a:srgbClr val="2DA44E"/>
                </a:solidFill>
                <a:latin typeface="Fira Code Bold" pitchFamily="34" charset="0"/>
                <a:ea typeface="Fira Code Bold" pitchFamily="34" charset="-122"/>
                <a:cs typeface="Fira Code Bold" pitchFamily="34" charset="-120"/>
              </a:rPr>
              <a:t>→</a:t>
            </a:r>
            <a:endParaRPr lang="en-US" sz="750" dirty="0"/>
          </a:p>
        </p:txBody>
      </p:sp>
      <p:sp>
        <p:nvSpPr>
          <p:cNvPr id="29" name="Text 25"/>
          <p:cNvSpPr/>
          <p:nvPr/>
        </p:nvSpPr>
        <p:spPr>
          <a:xfrm>
            <a:off x="3486150" y="2527102"/>
            <a:ext cx="2314575" cy="317908"/>
          </a:xfrm>
          <a:prstGeom prst="rect">
            <a:avLst/>
          </a:prstGeom>
          <a:noFill/>
          <a:ln/>
        </p:spPr>
        <p:txBody>
          <a:bodyPr wrap="square" lIns="0" tIns="0" rIns="0" bIns="0" rtlCol="0" anchor="t">
            <a:spAutoFit/>
          </a:bodyPr>
          <a:lstStyle/>
          <a:p>
            <a:pPr>
              <a:lnSpc>
                <a:spcPct val="120000"/>
              </a:lnSpc>
            </a:pP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mmap → Normal Tagged Memory для </a:t>
            </a:r>
            <a:r>
              <a:rPr lang="en-US" sz="900" b="1" i="1" dirty="0" err="1">
                <a:solidFill>
                  <a:srgbClr val="24292F"/>
                </a:solidFill>
                <a:latin typeface="Times New Roman" panose="02020603050405020304" pitchFamily="18" charset="0"/>
                <a:ea typeface="Inter" pitchFamily="34" charset="-122"/>
                <a:cs typeface="Times New Roman" panose="02020603050405020304" pitchFamily="18" charset="0"/>
              </a:rPr>
              <a:t>userspace</a:t>
            </a: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 </a:t>
            </a:r>
            <a:r>
              <a:rPr lang="en-US" sz="900" b="1" i="1" dirty="0" err="1">
                <a:solidFill>
                  <a:srgbClr val="24292F"/>
                </a:solidFill>
                <a:latin typeface="Times New Roman" panose="02020603050405020304" pitchFamily="18" charset="0"/>
                <a:ea typeface="Inter" pitchFamily="34" charset="-122"/>
                <a:cs typeface="Times New Roman" panose="02020603050405020304" pitchFamily="18" charset="0"/>
              </a:rPr>
              <a:t>процессов</a:t>
            </a:r>
            <a:endParaRPr lang="en-US" sz="900" b="1" i="1" dirty="0">
              <a:solidFill>
                <a:srgbClr val="24292F"/>
              </a:solidFill>
              <a:latin typeface="Times New Roman" panose="02020603050405020304" pitchFamily="18" charset="0"/>
              <a:ea typeface="Inter" pitchFamily="34" charset="-122"/>
              <a:cs typeface="Times New Roman" panose="02020603050405020304" pitchFamily="18" charset="0"/>
            </a:endParaRPr>
          </a:p>
        </p:txBody>
      </p:sp>
      <p:sp>
        <p:nvSpPr>
          <p:cNvPr id="30" name="Text 26"/>
          <p:cNvSpPr/>
          <p:nvPr/>
        </p:nvSpPr>
        <p:spPr>
          <a:xfrm>
            <a:off x="3336131" y="2962870"/>
            <a:ext cx="64294" cy="160734"/>
          </a:xfrm>
          <a:prstGeom prst="rect">
            <a:avLst/>
          </a:prstGeom>
          <a:noFill/>
          <a:ln/>
        </p:spPr>
        <p:txBody>
          <a:bodyPr wrap="none" lIns="0" tIns="0" rIns="0" bIns="0" rtlCol="0" anchor="t">
            <a:spAutoFit/>
          </a:bodyPr>
          <a:lstStyle/>
          <a:p>
            <a:pPr marL="0" indent="0" algn="l">
              <a:lnSpc>
                <a:spcPct val="120000"/>
              </a:lnSpc>
              <a:buNone/>
            </a:pPr>
            <a:r>
              <a:rPr lang="en-US" sz="750" b="1" dirty="0">
                <a:solidFill>
                  <a:srgbClr val="2DA44E"/>
                </a:solidFill>
                <a:latin typeface="Fira Code Bold" pitchFamily="34" charset="0"/>
                <a:ea typeface="Fira Code Bold" pitchFamily="34" charset="-122"/>
                <a:cs typeface="Fira Code Bold" pitchFamily="34" charset="-120"/>
              </a:rPr>
              <a:t>→</a:t>
            </a:r>
            <a:endParaRPr lang="en-US" sz="750" dirty="0"/>
          </a:p>
        </p:txBody>
      </p:sp>
      <p:sp>
        <p:nvSpPr>
          <p:cNvPr id="31" name="Text 27"/>
          <p:cNvSpPr/>
          <p:nvPr/>
        </p:nvSpPr>
        <p:spPr>
          <a:xfrm>
            <a:off x="3486150" y="2962870"/>
            <a:ext cx="2314575" cy="317908"/>
          </a:xfrm>
          <a:prstGeom prst="rect">
            <a:avLst/>
          </a:prstGeom>
          <a:noFill/>
          <a:ln/>
        </p:spPr>
        <p:txBody>
          <a:bodyPr wrap="square" lIns="0" tIns="0" rIns="0" bIns="0" rtlCol="0" anchor="t">
            <a:spAutoFit/>
          </a:bodyPr>
          <a:lstStyle/>
          <a:p>
            <a:pPr indent="0">
              <a:lnSpc>
                <a:spcPct val="120000"/>
              </a:lnSpc>
              <a:buNone/>
            </a:pP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AMBA 5 CHI — новая спецификация для когерентности тегов в multi-core </a:t>
            </a:r>
            <a:r>
              <a:rPr lang="en-US" sz="900" b="1" i="1" dirty="0" err="1">
                <a:solidFill>
                  <a:srgbClr val="24292F"/>
                </a:solidFill>
                <a:latin typeface="Times New Roman" panose="02020603050405020304" pitchFamily="18" charset="0"/>
                <a:ea typeface="Inter" pitchFamily="34" charset="-122"/>
                <a:cs typeface="Times New Roman" panose="02020603050405020304" pitchFamily="18" charset="0"/>
              </a:rPr>
              <a:t>системах</a:t>
            </a:r>
            <a:endParaRPr lang="en-US" sz="900" b="1" i="1" dirty="0">
              <a:solidFill>
                <a:srgbClr val="24292F"/>
              </a:solidFill>
              <a:latin typeface="Times New Roman" panose="02020603050405020304" pitchFamily="18" charset="0"/>
              <a:ea typeface="Inter" pitchFamily="34" charset="-122"/>
              <a:cs typeface="Times New Roman" panose="02020603050405020304" pitchFamily="18" charset="0"/>
            </a:endParaRPr>
          </a:p>
        </p:txBody>
      </p:sp>
      <p:sp>
        <p:nvSpPr>
          <p:cNvPr id="33" name="Text 29"/>
          <p:cNvSpPr/>
          <p:nvPr/>
        </p:nvSpPr>
        <p:spPr>
          <a:xfrm>
            <a:off x="6379369" y="950119"/>
            <a:ext cx="2471738" cy="287536"/>
          </a:xfrm>
          <a:prstGeom prst="rect">
            <a:avLst/>
          </a:prstGeom>
          <a:noFill/>
          <a:ln/>
        </p:spPr>
        <p:txBody>
          <a:bodyPr wrap="square" lIns="0" tIns="0" rIns="0" bIns="102108" rtlCol="0" anchor="t">
            <a:spAutoFit/>
          </a:bodyPr>
          <a:lstStyle/>
          <a:p>
            <a:pPr marL="0" indent="0" algn="l">
              <a:buNone/>
            </a:pPr>
            <a:r>
              <a:rPr lang="en-US" sz="1000" b="1" dirty="0">
                <a:solidFill>
                  <a:srgbClr val="24292F"/>
                </a:solidFill>
                <a:latin typeface="Fira Code Bold" pitchFamily="34" charset="0"/>
                <a:ea typeface="Fira Code Bold" pitchFamily="34" charset="-122"/>
                <a:cs typeface="Fira Code Bold" pitchFamily="34" charset="-120"/>
              </a:rPr>
              <a:t>Timeline</a:t>
            </a:r>
            <a:endParaRPr lang="en-US" sz="1000" dirty="0"/>
          </a:p>
        </p:txBody>
      </p:sp>
      <p:sp>
        <p:nvSpPr>
          <p:cNvPr id="34" name="Text 30"/>
          <p:cNvSpPr/>
          <p:nvPr/>
        </p:nvSpPr>
        <p:spPr>
          <a:xfrm>
            <a:off x="6736556" y="1380530"/>
            <a:ext cx="1898452" cy="150019"/>
          </a:xfrm>
          <a:prstGeom prst="rect">
            <a:avLst/>
          </a:prstGeom>
          <a:noFill/>
          <a:ln/>
        </p:spPr>
        <p:txBody>
          <a:bodyPr wrap="square" lIns="0" tIns="0" rIns="0" bIns="0" rtlCol="0" anchor="t">
            <a:spAutoFit/>
          </a:bodyPr>
          <a:lstStyle/>
          <a:p>
            <a:pPr marL="0" indent="0" algn="l">
              <a:buNone/>
            </a:pPr>
            <a:r>
              <a:rPr lang="en-US" sz="800" b="1" dirty="0">
                <a:solidFill>
                  <a:srgbClr val="BF3989"/>
                </a:solidFill>
                <a:latin typeface="Fira Code Bold" pitchFamily="34" charset="0"/>
                <a:ea typeface="Fira Code Bold" pitchFamily="34" charset="-122"/>
                <a:cs typeface="Fira Code Bold" pitchFamily="34" charset="-120"/>
              </a:rPr>
              <a:t>2019</a:t>
            </a:r>
            <a:endParaRPr lang="en-US" sz="800" dirty="0"/>
          </a:p>
        </p:txBody>
      </p:sp>
      <p:sp>
        <p:nvSpPr>
          <p:cNvPr id="35" name="Text 31"/>
          <p:cNvSpPr/>
          <p:nvPr/>
        </p:nvSpPr>
        <p:spPr>
          <a:xfrm>
            <a:off x="6736556" y="1559123"/>
            <a:ext cx="1936428" cy="151708"/>
          </a:xfrm>
          <a:prstGeom prst="rect">
            <a:avLst/>
          </a:prstGeom>
          <a:noFill/>
          <a:ln/>
        </p:spPr>
        <p:txBody>
          <a:bodyPr wrap="none" lIns="0" tIns="0" rIns="0" bIns="0" rtlCol="0" anchor="t">
            <a:spAutoFit/>
          </a:bodyPr>
          <a:lstStyle/>
          <a:p>
            <a:pPr>
              <a:lnSpc>
                <a:spcPct val="120000"/>
              </a:lnSpc>
            </a:pP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Armv8.5-A spec опубликована (</a:t>
            </a:r>
            <a:r>
              <a:rPr lang="en-US" sz="900" b="1" i="1" dirty="0" err="1">
                <a:solidFill>
                  <a:srgbClr val="24292F"/>
                </a:solidFill>
                <a:latin typeface="Times New Roman" panose="02020603050405020304" pitchFamily="18" charset="0"/>
                <a:ea typeface="Inter" pitchFamily="34" charset="-122"/>
                <a:cs typeface="Times New Roman" panose="02020603050405020304" pitchFamily="18" charset="0"/>
              </a:rPr>
              <a:t>август</a:t>
            </a: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a:t>
            </a:r>
          </a:p>
        </p:txBody>
      </p:sp>
      <p:sp>
        <p:nvSpPr>
          <p:cNvPr id="36" name="Text 32"/>
          <p:cNvSpPr/>
          <p:nvPr/>
        </p:nvSpPr>
        <p:spPr>
          <a:xfrm>
            <a:off x="6736556" y="1870574"/>
            <a:ext cx="1716286" cy="150019"/>
          </a:xfrm>
          <a:prstGeom prst="rect">
            <a:avLst/>
          </a:prstGeom>
          <a:noFill/>
          <a:ln/>
        </p:spPr>
        <p:txBody>
          <a:bodyPr wrap="square" lIns="0" tIns="0" rIns="0" bIns="0" rtlCol="0" anchor="t">
            <a:spAutoFit/>
          </a:bodyPr>
          <a:lstStyle/>
          <a:p>
            <a:pPr marL="0" indent="0" algn="l">
              <a:buNone/>
            </a:pPr>
            <a:r>
              <a:rPr lang="en-US" sz="800" b="1" dirty="0">
                <a:solidFill>
                  <a:srgbClr val="BF3989"/>
                </a:solidFill>
                <a:latin typeface="Fira Code Bold" pitchFamily="34" charset="0"/>
                <a:ea typeface="Fira Code Bold" pitchFamily="34" charset="-122"/>
                <a:cs typeface="Fira Code Bold" pitchFamily="34" charset="-120"/>
              </a:rPr>
              <a:t>2021</a:t>
            </a:r>
            <a:endParaRPr lang="en-US" sz="800" dirty="0"/>
          </a:p>
        </p:txBody>
      </p:sp>
      <p:sp>
        <p:nvSpPr>
          <p:cNvPr id="37" name="Text 33"/>
          <p:cNvSpPr/>
          <p:nvPr/>
        </p:nvSpPr>
        <p:spPr>
          <a:xfrm>
            <a:off x="6736556" y="2049168"/>
            <a:ext cx="1772921" cy="151708"/>
          </a:xfrm>
          <a:prstGeom prst="rect">
            <a:avLst/>
          </a:prstGeom>
          <a:noFill/>
          <a:ln/>
        </p:spPr>
        <p:txBody>
          <a:bodyPr wrap="none" lIns="0" tIns="0" rIns="0" bIns="0" rtlCol="0" anchor="t">
            <a:spAutoFit/>
          </a:bodyPr>
          <a:lstStyle/>
          <a:p>
            <a:pPr indent="0">
              <a:lnSpc>
                <a:spcPct val="120000"/>
              </a:lnSpc>
              <a:buNone/>
            </a:pP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Первые Armv9 CPU с MTE в silicon</a:t>
            </a:r>
          </a:p>
        </p:txBody>
      </p:sp>
      <p:sp>
        <p:nvSpPr>
          <p:cNvPr id="38" name="Text 34"/>
          <p:cNvSpPr/>
          <p:nvPr/>
        </p:nvSpPr>
        <p:spPr>
          <a:xfrm>
            <a:off x="6736556" y="2360619"/>
            <a:ext cx="2114550" cy="150019"/>
          </a:xfrm>
          <a:prstGeom prst="rect">
            <a:avLst/>
          </a:prstGeom>
          <a:noFill/>
          <a:ln/>
        </p:spPr>
        <p:txBody>
          <a:bodyPr wrap="square" lIns="0" tIns="0" rIns="0" bIns="0" rtlCol="0" anchor="t">
            <a:spAutoFit/>
          </a:bodyPr>
          <a:lstStyle/>
          <a:p>
            <a:pPr marL="0" indent="0" algn="l">
              <a:buNone/>
            </a:pPr>
            <a:r>
              <a:rPr lang="en-US" sz="800" b="1" dirty="0">
                <a:solidFill>
                  <a:srgbClr val="BF3989"/>
                </a:solidFill>
                <a:latin typeface="Fira Code Bold" pitchFamily="34" charset="0"/>
                <a:ea typeface="Fira Code Bold" pitchFamily="34" charset="-122"/>
                <a:cs typeface="Fira Code Bold" pitchFamily="34" charset="-120"/>
              </a:rPr>
              <a:t>2023</a:t>
            </a:r>
            <a:endParaRPr lang="en-US" sz="800" dirty="0"/>
          </a:p>
        </p:txBody>
      </p:sp>
      <p:sp>
        <p:nvSpPr>
          <p:cNvPr id="39" name="Text 35"/>
          <p:cNvSpPr/>
          <p:nvPr/>
        </p:nvSpPr>
        <p:spPr>
          <a:xfrm>
            <a:off x="6736556" y="2539212"/>
            <a:ext cx="2114550" cy="317908"/>
          </a:xfrm>
          <a:prstGeom prst="rect">
            <a:avLst/>
          </a:prstGeom>
          <a:noFill/>
          <a:ln/>
        </p:spPr>
        <p:txBody>
          <a:bodyPr wrap="square" lIns="0" tIns="0" rIns="0" bIns="0" rtlCol="0" anchor="t">
            <a:spAutoFit/>
          </a:bodyPr>
          <a:lstStyle/>
          <a:p>
            <a:pPr>
              <a:lnSpc>
                <a:spcPct val="120000"/>
              </a:lnSpc>
            </a:pP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Google Pixel 8 — первый mass-market Android с MTE</a:t>
            </a:r>
          </a:p>
        </p:txBody>
      </p:sp>
      <p:sp>
        <p:nvSpPr>
          <p:cNvPr id="40" name="Text 36"/>
          <p:cNvSpPr/>
          <p:nvPr/>
        </p:nvSpPr>
        <p:spPr>
          <a:xfrm>
            <a:off x="6736556" y="2990664"/>
            <a:ext cx="2114550" cy="150019"/>
          </a:xfrm>
          <a:prstGeom prst="rect">
            <a:avLst/>
          </a:prstGeom>
          <a:noFill/>
          <a:ln/>
        </p:spPr>
        <p:txBody>
          <a:bodyPr wrap="square" lIns="0" tIns="0" rIns="0" bIns="0" rtlCol="0" anchor="t">
            <a:spAutoFit/>
          </a:bodyPr>
          <a:lstStyle/>
          <a:p>
            <a:pPr marL="0" indent="0" algn="l">
              <a:buNone/>
            </a:pPr>
            <a:r>
              <a:rPr lang="en-US" sz="800" b="1" dirty="0">
                <a:solidFill>
                  <a:srgbClr val="BF3989"/>
                </a:solidFill>
                <a:latin typeface="Fira Code Bold" pitchFamily="34" charset="0"/>
                <a:ea typeface="Fira Code Bold" pitchFamily="34" charset="-122"/>
                <a:cs typeface="Fira Code Bold" pitchFamily="34" charset="-120"/>
              </a:rPr>
              <a:t>2024</a:t>
            </a:r>
            <a:endParaRPr lang="en-US" sz="800" dirty="0"/>
          </a:p>
        </p:txBody>
      </p:sp>
      <p:sp>
        <p:nvSpPr>
          <p:cNvPr id="41" name="Text 37"/>
          <p:cNvSpPr/>
          <p:nvPr/>
        </p:nvSpPr>
        <p:spPr>
          <a:xfrm>
            <a:off x="6736556" y="3169258"/>
            <a:ext cx="2114550" cy="298543"/>
          </a:xfrm>
          <a:prstGeom prst="rect">
            <a:avLst/>
          </a:prstGeom>
          <a:noFill/>
          <a:ln/>
        </p:spPr>
        <p:txBody>
          <a:bodyPr wrap="square" lIns="0" tIns="0" rIns="0" bIns="0" rtlCol="0" anchor="t">
            <a:spAutoFit/>
          </a:bodyPr>
          <a:lstStyle/>
          <a:p>
            <a:pPr marL="0" indent="0" algn="l">
              <a:lnSpc>
                <a:spcPct val="112000"/>
              </a:lnSpc>
              <a:buNone/>
            </a:pP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Google Pixel 9; UAF-</a:t>
            </a:r>
            <a:r>
              <a:rPr lang="en-US" sz="900" b="1" i="1" dirty="0" err="1">
                <a:solidFill>
                  <a:srgbClr val="24292F"/>
                </a:solidFill>
                <a:latin typeface="Times New Roman" panose="02020603050405020304" pitchFamily="18" charset="0"/>
                <a:ea typeface="Inter" pitchFamily="34" charset="-122"/>
                <a:cs typeface="Times New Roman" panose="02020603050405020304" pitchFamily="18" charset="0"/>
              </a:rPr>
              <a:t>баги</a:t>
            </a: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 </a:t>
            </a:r>
            <a:r>
              <a:rPr lang="en-US" sz="900" b="1" i="1" dirty="0" err="1">
                <a:solidFill>
                  <a:srgbClr val="24292F"/>
                </a:solidFill>
                <a:latin typeface="Times New Roman" panose="02020603050405020304" pitchFamily="18" charset="0"/>
                <a:ea typeface="Inter" pitchFamily="34" charset="-122"/>
                <a:cs typeface="Times New Roman" panose="02020603050405020304" pitchFamily="18" charset="0"/>
              </a:rPr>
              <a:t>найдены</a:t>
            </a: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 Project Zero</a:t>
            </a:r>
          </a:p>
        </p:txBody>
      </p:sp>
      <p:sp>
        <p:nvSpPr>
          <p:cNvPr id="42" name="Text 38"/>
          <p:cNvSpPr/>
          <p:nvPr/>
        </p:nvSpPr>
        <p:spPr>
          <a:xfrm>
            <a:off x="6736556" y="3620709"/>
            <a:ext cx="1809155" cy="150019"/>
          </a:xfrm>
          <a:prstGeom prst="rect">
            <a:avLst/>
          </a:prstGeom>
          <a:noFill/>
          <a:ln/>
        </p:spPr>
        <p:txBody>
          <a:bodyPr wrap="square" lIns="0" tIns="0" rIns="0" bIns="0" rtlCol="0" anchor="t">
            <a:spAutoFit/>
          </a:bodyPr>
          <a:lstStyle/>
          <a:p>
            <a:pPr marL="0" indent="0" algn="l">
              <a:buNone/>
            </a:pPr>
            <a:r>
              <a:rPr lang="en-US" sz="800" b="1" dirty="0">
                <a:solidFill>
                  <a:srgbClr val="BF3989"/>
                </a:solidFill>
                <a:latin typeface="Fira Code Bold" pitchFamily="34" charset="0"/>
                <a:ea typeface="Fira Code Bold" pitchFamily="34" charset="-122"/>
                <a:cs typeface="Fira Code Bold" pitchFamily="34" charset="-120"/>
              </a:rPr>
              <a:t>2025</a:t>
            </a:r>
            <a:endParaRPr lang="en-US" sz="800" dirty="0"/>
          </a:p>
        </p:txBody>
      </p:sp>
      <p:sp>
        <p:nvSpPr>
          <p:cNvPr id="43" name="Text 39"/>
          <p:cNvSpPr/>
          <p:nvPr/>
        </p:nvSpPr>
        <p:spPr>
          <a:xfrm>
            <a:off x="6736556" y="3799303"/>
            <a:ext cx="1936428" cy="143437"/>
          </a:xfrm>
          <a:prstGeom prst="rect">
            <a:avLst/>
          </a:prstGeom>
          <a:noFill/>
          <a:ln/>
        </p:spPr>
        <p:txBody>
          <a:bodyPr wrap="none" lIns="0" tIns="0" rIns="0" bIns="0" rtlCol="0" anchor="t">
            <a:spAutoFit/>
          </a:bodyPr>
          <a:lstStyle/>
          <a:p>
            <a:pPr>
              <a:lnSpc>
                <a:spcPct val="112000"/>
              </a:lnSpc>
            </a:pP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Apple A19 (iPhone 17) </a:t>
            </a:r>
            <a:r>
              <a:rPr lang="en-US" sz="900" b="1" i="1" dirty="0" err="1">
                <a:solidFill>
                  <a:srgbClr val="24292F"/>
                </a:solidFill>
                <a:latin typeface="Times New Roman" panose="02020603050405020304" pitchFamily="18" charset="0"/>
                <a:ea typeface="Inter" pitchFamily="34" charset="-122"/>
                <a:cs typeface="Times New Roman" panose="02020603050405020304" pitchFamily="18" charset="0"/>
              </a:rPr>
              <a:t>добавляет</a:t>
            </a: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 MTE</a:t>
            </a:r>
          </a:p>
        </p:txBody>
      </p:sp>
      <p:sp>
        <p:nvSpPr>
          <p:cNvPr id="44" name="Text 40"/>
          <p:cNvSpPr/>
          <p:nvPr/>
        </p:nvSpPr>
        <p:spPr>
          <a:xfrm>
            <a:off x="6736556" y="4110754"/>
            <a:ext cx="2114550" cy="150019"/>
          </a:xfrm>
          <a:prstGeom prst="rect">
            <a:avLst/>
          </a:prstGeom>
          <a:noFill/>
          <a:ln/>
        </p:spPr>
        <p:txBody>
          <a:bodyPr wrap="square" lIns="0" tIns="0" rIns="0" bIns="0" rtlCol="0" anchor="t">
            <a:spAutoFit/>
          </a:bodyPr>
          <a:lstStyle/>
          <a:p>
            <a:pPr marL="0" indent="0" algn="l">
              <a:buNone/>
            </a:pPr>
            <a:r>
              <a:rPr lang="en-US" sz="800" b="1" dirty="0">
                <a:solidFill>
                  <a:srgbClr val="BF3989"/>
                </a:solidFill>
                <a:latin typeface="Fira Code Bold" pitchFamily="34" charset="0"/>
                <a:ea typeface="Fira Code Bold" pitchFamily="34" charset="-122"/>
                <a:cs typeface="Fira Code Bold" pitchFamily="34" charset="-120"/>
              </a:rPr>
              <a:t>2026</a:t>
            </a:r>
            <a:endParaRPr lang="en-US" sz="800" dirty="0"/>
          </a:p>
        </p:txBody>
      </p:sp>
      <p:sp>
        <p:nvSpPr>
          <p:cNvPr id="45" name="Text 41"/>
          <p:cNvSpPr/>
          <p:nvPr/>
        </p:nvSpPr>
        <p:spPr>
          <a:xfrm>
            <a:off x="6736556" y="4289347"/>
            <a:ext cx="2114550" cy="298543"/>
          </a:xfrm>
          <a:prstGeom prst="rect">
            <a:avLst/>
          </a:prstGeom>
          <a:noFill/>
          <a:ln/>
        </p:spPr>
        <p:txBody>
          <a:bodyPr wrap="square" lIns="0" tIns="0" rIns="0" bIns="0" rtlCol="0" anchor="t">
            <a:spAutoFit/>
          </a:bodyPr>
          <a:lstStyle/>
          <a:p>
            <a:pPr indent="0">
              <a:lnSpc>
                <a:spcPct val="112000"/>
              </a:lnSpc>
              <a:buNone/>
            </a:pPr>
            <a:r>
              <a:rPr lang="en-US" sz="900" b="1" i="1" dirty="0">
                <a:solidFill>
                  <a:srgbClr val="24292F"/>
                </a:solidFill>
                <a:latin typeface="Times New Roman" panose="02020603050405020304" pitchFamily="18" charset="0"/>
                <a:ea typeface="Inter" pitchFamily="34" charset="-122"/>
                <a:cs typeface="Times New Roman" panose="02020603050405020304" pitchFamily="18" charset="0"/>
              </a:rPr>
              <a:t>arXiv:2601.11786 — первый полный perf-анализ на 4 </a:t>
            </a:r>
            <a:r>
              <a:rPr lang="en-US" sz="900" b="1" i="1" dirty="0" err="1">
                <a:solidFill>
                  <a:srgbClr val="24292F"/>
                </a:solidFill>
                <a:latin typeface="Times New Roman" panose="02020603050405020304" pitchFamily="18" charset="0"/>
                <a:ea typeface="Inter" pitchFamily="34" charset="-122"/>
                <a:cs typeface="Times New Roman" panose="02020603050405020304" pitchFamily="18" charset="0"/>
              </a:rPr>
              <a:t>microarch</a:t>
            </a:r>
            <a:endParaRPr lang="en-US" sz="900" b="1" i="1" dirty="0">
              <a:solidFill>
                <a:srgbClr val="24292F"/>
              </a:solidFill>
              <a:latin typeface="Times New Roman" panose="02020603050405020304" pitchFamily="18" charset="0"/>
              <a:ea typeface="Inter" pitchFamily="34" charset="-122"/>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7144" y="7144"/>
            <a:ext cx="9129713" cy="860822"/>
          </a:xfrm>
          <a:prstGeom prst="rect">
            <a:avLst/>
          </a:prstGeom>
          <a:solidFill>
            <a:srgbClr val="FFFFFF"/>
          </a:solidFill>
          <a:ln/>
        </p:spPr>
      </p:sp>
      <p:sp>
        <p:nvSpPr>
          <p:cNvPr id="5" name="Shape 1"/>
          <p:cNvSpPr/>
          <p:nvPr/>
        </p:nvSpPr>
        <p:spPr>
          <a:xfrm>
            <a:off x="7144" y="860822"/>
            <a:ext cx="9129713" cy="7144"/>
          </a:xfrm>
          <a:prstGeom prst="rect">
            <a:avLst/>
          </a:prstGeom>
          <a:solidFill>
            <a:srgbClr val="D0D7DE"/>
          </a:solidFill>
          <a:ln/>
        </p:spPr>
      </p:sp>
      <p:sp>
        <p:nvSpPr>
          <p:cNvPr id="6" name="Text 2"/>
          <p:cNvSpPr/>
          <p:nvPr/>
        </p:nvSpPr>
        <p:spPr>
          <a:xfrm>
            <a:off x="350044" y="221456"/>
            <a:ext cx="8443913" cy="525066"/>
          </a:xfrm>
          <a:prstGeom prst="rect">
            <a:avLst/>
          </a:prstGeom>
          <a:noFill/>
          <a:ln/>
        </p:spPr>
        <p:txBody>
          <a:bodyPr wrap="square" lIns="0" tIns="0" rIns="0" bIns="0" rtlCol="0" anchor="t">
            <a:spAutoFit/>
          </a:bodyPr>
          <a:lstStyle/>
          <a:p>
            <a:pPr marL="0" indent="0" algn="l">
              <a:buNone/>
            </a:pPr>
            <a:r>
              <a:rPr lang="en-US" sz="1400" b="1" dirty="0">
                <a:solidFill>
                  <a:srgbClr val="0969DA"/>
                </a:solidFill>
                <a:latin typeface="Fira Code Bold" pitchFamily="34" charset="0"/>
                <a:ea typeface="Fira Code Bold" pitchFamily="34" charset="-122"/>
                <a:cs typeface="Fira Code Bold" pitchFamily="34" charset="-120"/>
              </a:rPr>
              <a:t>MTE — production-ready инструмент с вероятностной, но не абсолютной защитой</a:t>
            </a:r>
            <a:endParaRPr lang="en-US" sz="1400" dirty="0"/>
          </a:p>
        </p:txBody>
      </p:sp>
      <p:sp>
        <p:nvSpPr>
          <p:cNvPr id="7" name="Shape 3"/>
          <p:cNvSpPr/>
          <p:nvPr/>
        </p:nvSpPr>
        <p:spPr>
          <a:xfrm>
            <a:off x="7144" y="860822"/>
            <a:ext cx="9129713" cy="3049684"/>
          </a:xfrm>
          <a:prstGeom prst="rect">
            <a:avLst/>
          </a:prstGeom>
          <a:solidFill>
            <a:srgbClr val="FFFFFF"/>
          </a:solidFill>
          <a:ln/>
        </p:spPr>
      </p:sp>
      <p:sp>
        <p:nvSpPr>
          <p:cNvPr id="8" name="Text 4"/>
          <p:cNvSpPr/>
          <p:nvPr/>
        </p:nvSpPr>
        <p:spPr>
          <a:xfrm>
            <a:off x="350044" y="1003697"/>
            <a:ext cx="3871913" cy="222625"/>
          </a:xfrm>
          <a:prstGeom prst="rect">
            <a:avLst/>
          </a:prstGeom>
          <a:noFill/>
          <a:ln/>
        </p:spPr>
        <p:txBody>
          <a:bodyPr wrap="square" lIns="0" tIns="0" rIns="0" bIns="68072" rtlCol="0" anchor="t">
            <a:spAutoFit/>
          </a:bodyPr>
          <a:lstStyle/>
          <a:p>
            <a:pPr marL="0" indent="0" algn="l">
              <a:buNone/>
            </a:pPr>
            <a:r>
              <a:rPr lang="en-US" sz="1000" b="1" dirty="0" err="1">
                <a:solidFill>
                  <a:srgbClr val="2DA44E"/>
                </a:solidFill>
                <a:latin typeface="Fira Code Bold" pitchFamily="34" charset="0"/>
                <a:ea typeface="Fira Code Bold" pitchFamily="34" charset="-122"/>
                <a:cs typeface="Fira Code Bold" pitchFamily="34" charset="-120"/>
              </a:rPr>
              <a:t>Рекомендации</a:t>
            </a:r>
            <a:endParaRPr lang="en-US" sz="1000" dirty="0"/>
          </a:p>
        </p:txBody>
      </p:sp>
      <p:sp>
        <p:nvSpPr>
          <p:cNvPr id="9" name="Text 5"/>
          <p:cNvSpPr/>
          <p:nvPr/>
        </p:nvSpPr>
        <p:spPr>
          <a:xfrm>
            <a:off x="350044" y="1376958"/>
            <a:ext cx="3871913" cy="139303"/>
          </a:xfrm>
          <a:prstGeom prst="rect">
            <a:avLst/>
          </a:prstGeom>
          <a:noFill/>
          <a:ln/>
        </p:spPr>
        <p:txBody>
          <a:bodyPr wrap="square" lIns="0" tIns="0" rIns="0" bIns="0" rtlCol="0" anchor="t">
            <a:spAutoFit/>
          </a:bodyPr>
          <a:lstStyle/>
          <a:p>
            <a:pPr marL="0" indent="0" algn="l">
              <a:buNone/>
            </a:pPr>
            <a:r>
              <a:rPr lang="en-US" sz="750" b="1" dirty="0">
                <a:solidFill>
                  <a:srgbClr val="24292F"/>
                </a:solidFill>
                <a:latin typeface="Fira Code Bold" pitchFamily="34" charset="0"/>
                <a:ea typeface="Fira Code Bold" pitchFamily="34" charset="-122"/>
                <a:cs typeface="Fira Code Bold" pitchFamily="34" charset="-120"/>
              </a:rPr>
              <a:t>1. Записывать теги и данные вместе</a:t>
            </a:r>
            <a:endParaRPr lang="en-US" sz="750" dirty="0"/>
          </a:p>
        </p:txBody>
      </p:sp>
      <p:sp>
        <p:nvSpPr>
          <p:cNvPr id="10" name="Text 6"/>
          <p:cNvSpPr/>
          <p:nvPr/>
        </p:nvSpPr>
        <p:spPr>
          <a:xfrm>
            <a:off x="350044" y="1544836"/>
            <a:ext cx="3871913" cy="265329"/>
          </a:xfrm>
          <a:prstGeom prst="rect">
            <a:avLst/>
          </a:prstGeom>
          <a:noFill/>
          <a:ln/>
        </p:spPr>
        <p:txBody>
          <a:bodyPr wrap="square" lIns="0" tIns="0" rIns="0" bIns="0" rtlCol="0" anchor="t">
            <a:spAutoFit/>
          </a:bodyPr>
          <a:lstStyle/>
          <a:p>
            <a:pPr marL="0" indent="0" algn="l">
              <a:lnSpc>
                <a:spcPct val="112000"/>
              </a:lnSpc>
              <a:buNone/>
            </a:pPr>
            <a:r>
              <a:rPr lang="en-US" sz="800" b="1" i="1" dirty="0">
                <a:solidFill>
                  <a:srgbClr val="57606A"/>
                </a:solidFill>
                <a:latin typeface="Times New Roman" panose="02020603050405020304" pitchFamily="18" charset="0"/>
                <a:ea typeface="Inter" pitchFamily="34" charset="-122"/>
                <a:cs typeface="Times New Roman" panose="02020603050405020304" pitchFamily="18" charset="0"/>
              </a:rPr>
              <a:t>Использовать STZGM для zero+tag за одну операцию при инициализации страниц ядром.</a:t>
            </a:r>
            <a:endParaRPr lang="en-US" sz="800" b="1" i="1" dirty="0">
              <a:latin typeface="Times New Roman" panose="02020603050405020304" pitchFamily="18" charset="0"/>
              <a:cs typeface="Times New Roman" panose="02020603050405020304" pitchFamily="18" charset="0"/>
            </a:endParaRPr>
          </a:p>
        </p:txBody>
      </p:sp>
      <p:sp>
        <p:nvSpPr>
          <p:cNvPr id="11" name="Text 7"/>
          <p:cNvSpPr/>
          <p:nvPr/>
        </p:nvSpPr>
        <p:spPr>
          <a:xfrm>
            <a:off x="350044" y="1910562"/>
            <a:ext cx="3871913" cy="139303"/>
          </a:xfrm>
          <a:prstGeom prst="rect">
            <a:avLst/>
          </a:prstGeom>
          <a:noFill/>
          <a:ln/>
        </p:spPr>
        <p:txBody>
          <a:bodyPr wrap="square" lIns="0" tIns="0" rIns="0" bIns="0" rtlCol="0" anchor="t">
            <a:spAutoFit/>
          </a:bodyPr>
          <a:lstStyle/>
          <a:p>
            <a:pPr marL="0" indent="0" algn="l">
              <a:buNone/>
            </a:pPr>
            <a:r>
              <a:rPr lang="en-US" sz="750" b="1" dirty="0">
                <a:solidFill>
                  <a:srgbClr val="24292F"/>
                </a:solidFill>
                <a:latin typeface="Fira Code Bold" pitchFamily="34" charset="0"/>
                <a:ea typeface="Fira Code Bold" pitchFamily="34" charset="-122"/>
                <a:cs typeface="Fira Code Bold" pitchFamily="34" charset="-120"/>
              </a:rPr>
              <a:t>2. Минимизировать de-allocation / re-allocation</a:t>
            </a:r>
            <a:endParaRPr lang="en-US" sz="750" dirty="0"/>
          </a:p>
        </p:txBody>
      </p:sp>
      <p:sp>
        <p:nvSpPr>
          <p:cNvPr id="12" name="Text 8"/>
          <p:cNvSpPr/>
          <p:nvPr/>
        </p:nvSpPr>
        <p:spPr>
          <a:xfrm>
            <a:off x="350044" y="2078441"/>
            <a:ext cx="3871913" cy="265329"/>
          </a:xfrm>
          <a:prstGeom prst="rect">
            <a:avLst/>
          </a:prstGeom>
          <a:noFill/>
          <a:ln/>
        </p:spPr>
        <p:txBody>
          <a:bodyPr wrap="square" lIns="0" tIns="0" rIns="0" bIns="0" rtlCol="0" anchor="t">
            <a:spAutoFit/>
          </a:bodyPr>
          <a:lstStyle/>
          <a:p>
            <a:pPr>
              <a:lnSpc>
                <a:spcPct val="112000"/>
              </a:lnSpc>
            </a:pPr>
            <a:r>
              <a:rPr lang="en-US" sz="800" b="1" i="1" dirty="0">
                <a:solidFill>
                  <a:srgbClr val="57606A"/>
                </a:solidFill>
                <a:latin typeface="Times New Roman" panose="02020603050405020304" pitchFamily="18" charset="0"/>
                <a:ea typeface="Inter" pitchFamily="34" charset="-122"/>
                <a:cs typeface="Times New Roman" panose="02020603050405020304" pitchFamily="18" charset="0"/>
              </a:rPr>
              <a:t>Частые malloc/free усиливают overhead; фиксированные затраты на аллокацию </a:t>
            </a:r>
            <a:r>
              <a:rPr lang="en-US" sz="800" b="1" i="1" dirty="0" err="1">
                <a:solidFill>
                  <a:srgbClr val="57606A"/>
                </a:solidFill>
                <a:latin typeface="Times New Roman" panose="02020603050405020304" pitchFamily="18" charset="0"/>
                <a:ea typeface="Inter" pitchFamily="34" charset="-122"/>
                <a:cs typeface="Times New Roman" panose="02020603050405020304" pitchFamily="18" charset="0"/>
              </a:rPr>
              <a:t>растут</a:t>
            </a:r>
            <a:r>
              <a:rPr lang="en-US" sz="800" b="1" i="1" dirty="0">
                <a:solidFill>
                  <a:srgbClr val="57606A"/>
                </a:solidFill>
                <a:latin typeface="Times New Roman" panose="02020603050405020304" pitchFamily="18" charset="0"/>
                <a:ea typeface="Inter" pitchFamily="34" charset="-122"/>
                <a:cs typeface="Times New Roman" panose="02020603050405020304" pitchFamily="18" charset="0"/>
              </a:rPr>
              <a:t>.</a:t>
            </a:r>
          </a:p>
        </p:txBody>
      </p:sp>
      <p:sp>
        <p:nvSpPr>
          <p:cNvPr id="13" name="Text 9"/>
          <p:cNvSpPr/>
          <p:nvPr/>
        </p:nvSpPr>
        <p:spPr>
          <a:xfrm>
            <a:off x="350044" y="2444167"/>
            <a:ext cx="3871913" cy="139303"/>
          </a:xfrm>
          <a:prstGeom prst="rect">
            <a:avLst/>
          </a:prstGeom>
          <a:noFill/>
          <a:ln/>
        </p:spPr>
        <p:txBody>
          <a:bodyPr wrap="square" lIns="0" tIns="0" rIns="0" bIns="0" rtlCol="0" anchor="t">
            <a:spAutoFit/>
          </a:bodyPr>
          <a:lstStyle/>
          <a:p>
            <a:pPr marL="0" indent="0" algn="l">
              <a:buNone/>
            </a:pPr>
            <a:r>
              <a:rPr lang="en-US" sz="750" b="1" dirty="0">
                <a:solidFill>
                  <a:srgbClr val="24292F"/>
                </a:solidFill>
                <a:latin typeface="Fira Code Bold" pitchFamily="34" charset="0"/>
                <a:ea typeface="Fira Code Bold" pitchFamily="34" charset="-122"/>
                <a:cs typeface="Fira Code Bold" pitchFamily="34" charset="-120"/>
              </a:rPr>
              <a:t>3. Избегать больших fixed-size стек-буферов</a:t>
            </a:r>
            <a:endParaRPr lang="en-US" sz="750" dirty="0"/>
          </a:p>
        </p:txBody>
      </p:sp>
      <p:sp>
        <p:nvSpPr>
          <p:cNvPr id="14" name="Text 10"/>
          <p:cNvSpPr/>
          <p:nvPr/>
        </p:nvSpPr>
        <p:spPr>
          <a:xfrm>
            <a:off x="350044" y="2612045"/>
            <a:ext cx="3871913" cy="265329"/>
          </a:xfrm>
          <a:prstGeom prst="rect">
            <a:avLst/>
          </a:prstGeom>
          <a:noFill/>
          <a:ln/>
        </p:spPr>
        <p:txBody>
          <a:bodyPr wrap="square" lIns="0" tIns="0" rIns="0" bIns="0" rtlCol="0" anchor="t">
            <a:spAutoFit/>
          </a:bodyPr>
          <a:lstStyle/>
          <a:p>
            <a:pPr indent="0">
              <a:lnSpc>
                <a:spcPct val="112000"/>
              </a:lnSpc>
              <a:buNone/>
            </a:pPr>
            <a:r>
              <a:rPr lang="en-US" sz="800" b="1" i="1" dirty="0">
                <a:solidFill>
                  <a:srgbClr val="57606A"/>
                </a:solidFill>
                <a:latin typeface="Times New Roman" panose="02020603050405020304" pitchFamily="18" charset="0"/>
                <a:ea typeface="Inter" pitchFamily="34" charset="-122"/>
                <a:cs typeface="Times New Roman" panose="02020603050405020304" pitchFamily="18" charset="0"/>
              </a:rPr>
              <a:t>Буферы типа PATH_MAX (4096 байт) часто содержат короткие строки; выравнивание до 16 байт → напрасная запись </a:t>
            </a:r>
            <a:r>
              <a:rPr lang="en-US" sz="800" b="1" i="1" dirty="0" err="1">
                <a:solidFill>
                  <a:srgbClr val="57606A"/>
                </a:solidFill>
                <a:latin typeface="Times New Roman" panose="02020603050405020304" pitchFamily="18" charset="0"/>
                <a:ea typeface="Inter" pitchFamily="34" charset="-122"/>
                <a:cs typeface="Times New Roman" panose="02020603050405020304" pitchFamily="18" charset="0"/>
              </a:rPr>
              <a:t>тегов</a:t>
            </a:r>
            <a:r>
              <a:rPr lang="en-US" sz="800" b="1" i="1" dirty="0">
                <a:solidFill>
                  <a:srgbClr val="57606A"/>
                </a:solidFill>
                <a:latin typeface="Times New Roman" panose="02020603050405020304" pitchFamily="18" charset="0"/>
                <a:ea typeface="Inter" pitchFamily="34" charset="-122"/>
                <a:cs typeface="Times New Roman" panose="02020603050405020304" pitchFamily="18" charset="0"/>
              </a:rPr>
              <a:t>.</a:t>
            </a:r>
          </a:p>
        </p:txBody>
      </p:sp>
      <p:sp>
        <p:nvSpPr>
          <p:cNvPr id="15" name="Text 11"/>
          <p:cNvSpPr/>
          <p:nvPr/>
        </p:nvSpPr>
        <p:spPr>
          <a:xfrm>
            <a:off x="350044" y="2977772"/>
            <a:ext cx="3871913" cy="139303"/>
          </a:xfrm>
          <a:prstGeom prst="rect">
            <a:avLst/>
          </a:prstGeom>
          <a:noFill/>
          <a:ln/>
        </p:spPr>
        <p:txBody>
          <a:bodyPr wrap="square" lIns="0" tIns="0" rIns="0" bIns="0" rtlCol="0" anchor="t">
            <a:spAutoFit/>
          </a:bodyPr>
          <a:lstStyle/>
          <a:p>
            <a:pPr marL="0" indent="0" algn="l">
              <a:buNone/>
            </a:pPr>
            <a:r>
              <a:rPr lang="en-US" sz="750" b="1" dirty="0">
                <a:solidFill>
                  <a:srgbClr val="24292F"/>
                </a:solidFill>
                <a:latin typeface="Fira Code Bold" pitchFamily="34" charset="0"/>
                <a:ea typeface="Fira Code Bold" pitchFamily="34" charset="-122"/>
                <a:cs typeface="Fira Code Bold" pitchFamily="34" charset="-120"/>
              </a:rPr>
              <a:t>4. Предпочитать ASYNC в продакшене</a:t>
            </a:r>
            <a:endParaRPr lang="en-US" sz="750" dirty="0"/>
          </a:p>
        </p:txBody>
      </p:sp>
      <p:sp>
        <p:nvSpPr>
          <p:cNvPr id="16" name="Text 12"/>
          <p:cNvSpPr/>
          <p:nvPr/>
        </p:nvSpPr>
        <p:spPr>
          <a:xfrm>
            <a:off x="350044" y="3145650"/>
            <a:ext cx="2144818" cy="127471"/>
          </a:xfrm>
          <a:prstGeom prst="rect">
            <a:avLst/>
          </a:prstGeom>
          <a:noFill/>
          <a:ln/>
        </p:spPr>
        <p:txBody>
          <a:bodyPr wrap="none" lIns="0" tIns="0" rIns="0" bIns="0" rtlCol="0" anchor="t">
            <a:spAutoFit/>
          </a:bodyPr>
          <a:lstStyle/>
          <a:p>
            <a:pPr>
              <a:lnSpc>
                <a:spcPct val="112000"/>
              </a:lnSpc>
            </a:pPr>
            <a:r>
              <a:rPr lang="en-US" sz="800" b="1" i="1" dirty="0">
                <a:solidFill>
                  <a:srgbClr val="57606A"/>
                </a:solidFill>
                <a:latin typeface="Times New Roman" panose="02020603050405020304" pitchFamily="18" charset="0"/>
                <a:ea typeface="Inter" pitchFamily="34" charset="-122"/>
                <a:cs typeface="Times New Roman" panose="02020603050405020304" pitchFamily="18" charset="0"/>
              </a:rPr>
              <a:t>SYNC только для отладочных сборок и CI/CD.</a:t>
            </a:r>
          </a:p>
        </p:txBody>
      </p:sp>
      <p:sp>
        <p:nvSpPr>
          <p:cNvPr id="17" name="Text 13"/>
          <p:cNvSpPr/>
          <p:nvPr/>
        </p:nvSpPr>
        <p:spPr>
          <a:xfrm>
            <a:off x="4914900" y="1003697"/>
            <a:ext cx="3879056" cy="222625"/>
          </a:xfrm>
          <a:prstGeom prst="rect">
            <a:avLst/>
          </a:prstGeom>
          <a:noFill/>
          <a:ln/>
        </p:spPr>
        <p:txBody>
          <a:bodyPr wrap="square" lIns="0" tIns="0" rIns="0" bIns="68072" rtlCol="0" anchor="t">
            <a:spAutoFit/>
          </a:bodyPr>
          <a:lstStyle/>
          <a:p>
            <a:pPr marL="0" indent="0" algn="l">
              <a:buNone/>
            </a:pPr>
            <a:r>
              <a:rPr lang="en-US" sz="1000" b="1" dirty="0" err="1">
                <a:solidFill>
                  <a:srgbClr val="BF3989"/>
                </a:solidFill>
                <a:latin typeface="Fira Code Bold" pitchFamily="34" charset="0"/>
                <a:ea typeface="Fira Code Bold" pitchFamily="34" charset="-122"/>
                <a:cs typeface="Fira Code Bold" pitchFamily="34" charset="-120"/>
              </a:rPr>
              <a:t>Ограничения</a:t>
            </a:r>
            <a:endParaRPr lang="en-US" sz="1000" dirty="0"/>
          </a:p>
        </p:txBody>
      </p:sp>
      <p:sp>
        <p:nvSpPr>
          <p:cNvPr id="18" name="Text 14"/>
          <p:cNvSpPr/>
          <p:nvPr/>
        </p:nvSpPr>
        <p:spPr>
          <a:xfrm>
            <a:off x="4914900" y="1376958"/>
            <a:ext cx="3879056" cy="139303"/>
          </a:xfrm>
          <a:prstGeom prst="rect">
            <a:avLst/>
          </a:prstGeom>
          <a:noFill/>
          <a:ln/>
        </p:spPr>
        <p:txBody>
          <a:bodyPr wrap="square" lIns="0" tIns="0" rIns="0" bIns="0" rtlCol="0" anchor="t">
            <a:spAutoFit/>
          </a:bodyPr>
          <a:lstStyle/>
          <a:p>
            <a:pPr marL="0" indent="0" algn="l">
              <a:buNone/>
            </a:pPr>
            <a:r>
              <a:rPr lang="en-US" sz="750" b="1" dirty="0">
                <a:solidFill>
                  <a:srgbClr val="24292F"/>
                </a:solidFill>
                <a:latin typeface="Fira Code Bold" pitchFamily="34" charset="0"/>
                <a:ea typeface="Fira Code Bold" pitchFamily="34" charset="-122"/>
                <a:cs typeface="Fira Code Bold" pitchFamily="34" charset="-120"/>
              </a:rPr>
              <a:t>1. Вероятностная, не абсолютная защита</a:t>
            </a:r>
            <a:endParaRPr lang="en-US" sz="750" dirty="0"/>
          </a:p>
        </p:txBody>
      </p:sp>
      <p:sp>
        <p:nvSpPr>
          <p:cNvPr id="19" name="Text 15"/>
          <p:cNvSpPr/>
          <p:nvPr/>
        </p:nvSpPr>
        <p:spPr>
          <a:xfrm>
            <a:off x="4914900" y="1544836"/>
            <a:ext cx="3879056" cy="265329"/>
          </a:xfrm>
          <a:prstGeom prst="rect">
            <a:avLst/>
          </a:prstGeom>
          <a:noFill/>
          <a:ln/>
        </p:spPr>
        <p:txBody>
          <a:bodyPr wrap="square" lIns="0" tIns="0" rIns="0" bIns="0" rtlCol="0" anchor="t">
            <a:spAutoFit/>
          </a:bodyPr>
          <a:lstStyle/>
          <a:p>
            <a:pPr indent="0">
              <a:lnSpc>
                <a:spcPct val="112000"/>
              </a:lnSpc>
              <a:buNone/>
            </a:pPr>
            <a:r>
              <a:rPr lang="en-US" sz="800" b="1" i="1" dirty="0">
                <a:solidFill>
                  <a:srgbClr val="57606A"/>
                </a:solidFill>
                <a:latin typeface="Times New Roman" panose="02020603050405020304" pitchFamily="18" charset="0"/>
                <a:ea typeface="Inter" pitchFamily="34" charset="-122"/>
                <a:cs typeface="Times New Roman" panose="02020603050405020304" pitchFamily="18" charset="0"/>
              </a:rPr>
              <a:t>4 бита = 16 значений; вероятность случайного совпадения при «диком» доступе: 1/16 ≈ 6.25%; при N запусках → 100%.</a:t>
            </a:r>
          </a:p>
        </p:txBody>
      </p:sp>
      <p:sp>
        <p:nvSpPr>
          <p:cNvPr id="20" name="Text 16"/>
          <p:cNvSpPr/>
          <p:nvPr/>
        </p:nvSpPr>
        <p:spPr>
          <a:xfrm>
            <a:off x="4914900" y="1910562"/>
            <a:ext cx="3879056" cy="139303"/>
          </a:xfrm>
          <a:prstGeom prst="rect">
            <a:avLst/>
          </a:prstGeom>
          <a:noFill/>
          <a:ln/>
        </p:spPr>
        <p:txBody>
          <a:bodyPr wrap="square" lIns="0" tIns="0" rIns="0" bIns="0" rtlCol="0" anchor="t">
            <a:spAutoFit/>
          </a:bodyPr>
          <a:lstStyle/>
          <a:p>
            <a:pPr marL="0" indent="0" algn="l">
              <a:buNone/>
            </a:pPr>
            <a:r>
              <a:rPr lang="en-US" sz="750" b="1" dirty="0">
                <a:solidFill>
                  <a:srgbClr val="24292F"/>
                </a:solidFill>
                <a:latin typeface="Fira Code Bold" pitchFamily="34" charset="0"/>
                <a:ea typeface="Fira Code Bold" pitchFamily="34" charset="-122"/>
                <a:cs typeface="Fira Code Bold" pitchFamily="34" charset="-120"/>
              </a:rPr>
              <a:t>2. Не защищает алгоритмические уязвимости</a:t>
            </a:r>
            <a:endParaRPr lang="en-US" sz="750" dirty="0"/>
          </a:p>
        </p:txBody>
      </p:sp>
      <p:sp>
        <p:nvSpPr>
          <p:cNvPr id="21" name="Text 17"/>
          <p:cNvSpPr/>
          <p:nvPr/>
        </p:nvSpPr>
        <p:spPr>
          <a:xfrm>
            <a:off x="4914900" y="2078441"/>
            <a:ext cx="3879056" cy="265329"/>
          </a:xfrm>
          <a:prstGeom prst="rect">
            <a:avLst/>
          </a:prstGeom>
          <a:noFill/>
          <a:ln/>
        </p:spPr>
        <p:txBody>
          <a:bodyPr wrap="square" lIns="0" tIns="0" rIns="0" bIns="0" rtlCol="0" anchor="t">
            <a:spAutoFit/>
          </a:bodyPr>
          <a:lstStyle/>
          <a:p>
            <a:pPr>
              <a:lnSpc>
                <a:spcPct val="112000"/>
              </a:lnSpc>
            </a:pPr>
            <a:r>
              <a:rPr lang="en-US" sz="800" b="1" i="1" dirty="0">
                <a:solidFill>
                  <a:srgbClr val="57606A"/>
                </a:solidFill>
                <a:latin typeface="Times New Roman" panose="02020603050405020304" pitchFamily="18" charset="0"/>
                <a:ea typeface="Inter" pitchFamily="34" charset="-122"/>
                <a:cs typeface="Times New Roman" panose="02020603050405020304" pitchFamily="18" charset="0"/>
              </a:rPr>
              <a:t>MTE работает только с нарушениями memory safety, не с логическими ошибками или </a:t>
            </a:r>
            <a:r>
              <a:rPr lang="en-US" sz="800" b="1" i="1" dirty="0" err="1">
                <a:solidFill>
                  <a:srgbClr val="57606A"/>
                </a:solidFill>
                <a:latin typeface="Times New Roman" panose="02020603050405020304" pitchFamily="18" charset="0"/>
                <a:ea typeface="Inter" pitchFamily="34" charset="-122"/>
                <a:cs typeface="Times New Roman" panose="02020603050405020304" pitchFamily="18" charset="0"/>
              </a:rPr>
              <a:t>инъекциями</a:t>
            </a:r>
            <a:r>
              <a:rPr lang="en-US" sz="800" b="1" i="1" dirty="0">
                <a:solidFill>
                  <a:srgbClr val="57606A"/>
                </a:solidFill>
                <a:latin typeface="Times New Roman" panose="02020603050405020304" pitchFamily="18" charset="0"/>
                <a:ea typeface="Inter" pitchFamily="34" charset="-122"/>
                <a:cs typeface="Times New Roman" panose="02020603050405020304" pitchFamily="18" charset="0"/>
              </a:rPr>
              <a:t>.</a:t>
            </a:r>
          </a:p>
        </p:txBody>
      </p:sp>
      <p:sp>
        <p:nvSpPr>
          <p:cNvPr id="22" name="Text 18"/>
          <p:cNvSpPr/>
          <p:nvPr/>
        </p:nvSpPr>
        <p:spPr>
          <a:xfrm>
            <a:off x="4914900" y="2444167"/>
            <a:ext cx="3879056" cy="139303"/>
          </a:xfrm>
          <a:prstGeom prst="rect">
            <a:avLst/>
          </a:prstGeom>
          <a:noFill/>
          <a:ln/>
        </p:spPr>
        <p:txBody>
          <a:bodyPr wrap="square" lIns="0" tIns="0" rIns="0" bIns="0" rtlCol="0" anchor="t">
            <a:spAutoFit/>
          </a:bodyPr>
          <a:lstStyle/>
          <a:p>
            <a:pPr marL="0" indent="0" algn="l">
              <a:buNone/>
            </a:pPr>
            <a:r>
              <a:rPr lang="en-US" sz="750" b="1" dirty="0">
                <a:solidFill>
                  <a:srgbClr val="24292F"/>
                </a:solidFill>
                <a:latin typeface="Fira Code Bold" pitchFamily="34" charset="0"/>
                <a:ea typeface="Fira Code Bold" pitchFamily="34" charset="-122"/>
                <a:cs typeface="Fira Code Bold" pitchFamily="34" charset="-120"/>
              </a:rPr>
              <a:t>3. Stack требует перекомпиляции + BTI + PAC</a:t>
            </a:r>
            <a:endParaRPr lang="en-US" sz="750" dirty="0"/>
          </a:p>
        </p:txBody>
      </p:sp>
      <p:sp>
        <p:nvSpPr>
          <p:cNvPr id="23" name="Text 19"/>
          <p:cNvSpPr/>
          <p:nvPr/>
        </p:nvSpPr>
        <p:spPr>
          <a:xfrm>
            <a:off x="4914900" y="2612045"/>
            <a:ext cx="3693319" cy="127471"/>
          </a:xfrm>
          <a:prstGeom prst="rect">
            <a:avLst/>
          </a:prstGeom>
          <a:noFill/>
          <a:ln/>
        </p:spPr>
        <p:txBody>
          <a:bodyPr wrap="none" lIns="0" tIns="0" rIns="0" bIns="0" rtlCol="0" anchor="t">
            <a:spAutoFit/>
          </a:bodyPr>
          <a:lstStyle/>
          <a:p>
            <a:pPr indent="0">
              <a:lnSpc>
                <a:spcPct val="112000"/>
              </a:lnSpc>
              <a:buNone/>
            </a:pPr>
            <a:r>
              <a:rPr lang="en-US" sz="800" b="1" i="1" dirty="0">
                <a:solidFill>
                  <a:srgbClr val="57606A"/>
                </a:solidFill>
                <a:latin typeface="Times New Roman" panose="02020603050405020304" pitchFamily="18" charset="0"/>
                <a:ea typeface="Inter" pitchFamily="34" charset="-122"/>
                <a:cs typeface="Times New Roman" panose="02020603050405020304" pitchFamily="18" charset="0"/>
              </a:rPr>
              <a:t>Без BTI/PAC атакующий может контролировать SP и обойти MTE для </a:t>
            </a:r>
            <a:r>
              <a:rPr lang="en-US" sz="800" b="1" i="1" dirty="0" err="1">
                <a:solidFill>
                  <a:srgbClr val="57606A"/>
                </a:solidFill>
                <a:latin typeface="Times New Roman" panose="02020603050405020304" pitchFamily="18" charset="0"/>
                <a:ea typeface="Inter" pitchFamily="34" charset="-122"/>
                <a:cs typeface="Times New Roman" panose="02020603050405020304" pitchFamily="18" charset="0"/>
              </a:rPr>
              <a:t>стека</a:t>
            </a:r>
            <a:r>
              <a:rPr lang="en-US" sz="800" b="1" i="1" dirty="0">
                <a:solidFill>
                  <a:srgbClr val="57606A"/>
                </a:solidFill>
                <a:latin typeface="Times New Roman" panose="02020603050405020304" pitchFamily="18" charset="0"/>
                <a:ea typeface="Inter" pitchFamily="34" charset="-122"/>
                <a:cs typeface="Times New Roman" panose="02020603050405020304" pitchFamily="18" charset="0"/>
              </a:rPr>
              <a:t>.</a:t>
            </a:r>
          </a:p>
        </p:txBody>
      </p:sp>
      <p:sp>
        <p:nvSpPr>
          <p:cNvPr id="24" name="Text 20"/>
          <p:cNvSpPr/>
          <p:nvPr/>
        </p:nvSpPr>
        <p:spPr>
          <a:xfrm>
            <a:off x="4914900" y="2837771"/>
            <a:ext cx="3879056" cy="139303"/>
          </a:xfrm>
          <a:prstGeom prst="rect">
            <a:avLst/>
          </a:prstGeom>
          <a:noFill/>
          <a:ln/>
        </p:spPr>
        <p:txBody>
          <a:bodyPr wrap="square" lIns="0" tIns="0" rIns="0" bIns="0" rtlCol="0" anchor="t">
            <a:spAutoFit/>
          </a:bodyPr>
          <a:lstStyle/>
          <a:p>
            <a:pPr marL="0" indent="0" algn="l">
              <a:buNone/>
            </a:pPr>
            <a:r>
              <a:rPr lang="en-US" sz="750" b="1" dirty="0">
                <a:solidFill>
                  <a:srgbClr val="24292F"/>
                </a:solidFill>
                <a:latin typeface="Fira Code Bold" pitchFamily="34" charset="0"/>
                <a:ea typeface="Fira Code Bold" pitchFamily="34" charset="-122"/>
                <a:cs typeface="Fira Code Bold" pitchFamily="34" charset="-120"/>
              </a:rPr>
              <a:t>4. Только Arm</a:t>
            </a:r>
            <a:endParaRPr lang="en-US" sz="750" dirty="0"/>
          </a:p>
        </p:txBody>
      </p:sp>
      <p:sp>
        <p:nvSpPr>
          <p:cNvPr id="25" name="Text 21"/>
          <p:cNvSpPr/>
          <p:nvPr/>
        </p:nvSpPr>
        <p:spPr>
          <a:xfrm>
            <a:off x="4914900" y="3005649"/>
            <a:ext cx="3879056" cy="265329"/>
          </a:xfrm>
          <a:prstGeom prst="rect">
            <a:avLst/>
          </a:prstGeom>
          <a:noFill/>
          <a:ln/>
        </p:spPr>
        <p:txBody>
          <a:bodyPr wrap="square" lIns="0" tIns="0" rIns="0" bIns="0" rtlCol="0" anchor="t">
            <a:spAutoFit/>
          </a:bodyPr>
          <a:lstStyle/>
          <a:p>
            <a:pPr>
              <a:lnSpc>
                <a:spcPct val="112000"/>
              </a:lnSpc>
            </a:pPr>
            <a:r>
              <a:rPr lang="en-US" sz="800" b="1" i="1" dirty="0">
                <a:solidFill>
                  <a:srgbClr val="57606A"/>
                </a:solidFill>
                <a:latin typeface="Times New Roman" panose="02020603050405020304" pitchFamily="18" charset="0"/>
                <a:ea typeface="Inter" pitchFamily="34" charset="-122"/>
                <a:cs typeface="Times New Roman" panose="02020603050405020304" pitchFamily="18" charset="0"/>
              </a:rPr>
              <a:t>Нет аналога на x86/RISC-V; Intel MPX (deprecated 2019) не имеет функционального </a:t>
            </a:r>
            <a:r>
              <a:rPr lang="en-US" sz="800" b="1" i="1" dirty="0" err="1">
                <a:solidFill>
                  <a:srgbClr val="57606A"/>
                </a:solidFill>
                <a:latin typeface="Times New Roman" panose="02020603050405020304" pitchFamily="18" charset="0"/>
                <a:ea typeface="Inter" pitchFamily="34" charset="-122"/>
                <a:cs typeface="Times New Roman" panose="02020603050405020304" pitchFamily="18" charset="0"/>
              </a:rPr>
              <a:t>эквивалента</a:t>
            </a:r>
            <a:r>
              <a:rPr lang="en-US" sz="800" b="1" i="1" dirty="0">
                <a:solidFill>
                  <a:srgbClr val="57606A"/>
                </a:solidFill>
                <a:latin typeface="Times New Roman" panose="02020603050405020304" pitchFamily="18" charset="0"/>
                <a:ea typeface="Inter" pitchFamily="34" charset="-122"/>
                <a:cs typeface="Times New Roman" panose="02020603050405020304" pitchFamily="18" charset="0"/>
              </a:rPr>
              <a:t>.</a:t>
            </a:r>
          </a:p>
        </p:txBody>
      </p:sp>
      <p:sp>
        <p:nvSpPr>
          <p:cNvPr id="26" name="Shape 22"/>
          <p:cNvSpPr/>
          <p:nvPr/>
        </p:nvSpPr>
        <p:spPr>
          <a:xfrm>
            <a:off x="7144" y="3910505"/>
            <a:ext cx="9129713" cy="1225851"/>
          </a:xfrm>
          <a:prstGeom prst="rect">
            <a:avLst/>
          </a:prstGeom>
          <a:solidFill>
            <a:srgbClr val="24292F"/>
          </a:solidFill>
          <a:ln/>
        </p:spPr>
      </p:sp>
      <p:sp>
        <p:nvSpPr>
          <p:cNvPr id="27" name="Shape 23"/>
          <p:cNvSpPr/>
          <p:nvPr/>
        </p:nvSpPr>
        <p:spPr>
          <a:xfrm>
            <a:off x="7144" y="3910505"/>
            <a:ext cx="9129713" cy="7144"/>
          </a:xfrm>
          <a:prstGeom prst="rect">
            <a:avLst/>
          </a:prstGeom>
          <a:solidFill>
            <a:srgbClr val="D0D7DE"/>
          </a:solidFill>
          <a:ln/>
        </p:spPr>
      </p:sp>
      <p:sp>
        <p:nvSpPr>
          <p:cNvPr id="28" name="Text 24"/>
          <p:cNvSpPr/>
          <p:nvPr/>
        </p:nvSpPr>
        <p:spPr>
          <a:xfrm>
            <a:off x="350044" y="4031949"/>
            <a:ext cx="8443913" cy="167878"/>
          </a:xfrm>
          <a:prstGeom prst="rect">
            <a:avLst/>
          </a:prstGeom>
          <a:noFill/>
          <a:ln/>
        </p:spPr>
        <p:txBody>
          <a:bodyPr wrap="square" lIns="0" tIns="0" rIns="0" bIns="0" rtlCol="0" anchor="t">
            <a:spAutoFit/>
          </a:bodyPr>
          <a:lstStyle/>
          <a:p>
            <a:pPr marL="0" indent="0" algn="l">
              <a:buNone/>
            </a:pPr>
            <a:r>
              <a:rPr lang="en-US" sz="900" b="1" dirty="0">
                <a:solidFill>
                  <a:srgbClr val="0969DA"/>
                </a:solidFill>
                <a:latin typeface="Fira Code Bold" pitchFamily="34" charset="0"/>
                <a:ea typeface="Fira Code Bold" pitchFamily="34" charset="-122"/>
                <a:cs typeface="Fira Code Bold" pitchFamily="34" charset="-120"/>
              </a:rPr>
              <a:t>KEY TAKEAWAYS</a:t>
            </a:r>
            <a:endParaRPr lang="en-US" sz="900" dirty="0"/>
          </a:p>
        </p:txBody>
      </p:sp>
      <p:sp>
        <p:nvSpPr>
          <p:cNvPr id="29" name="Text 25"/>
          <p:cNvSpPr/>
          <p:nvPr/>
        </p:nvSpPr>
        <p:spPr>
          <a:xfrm>
            <a:off x="350044" y="4364134"/>
            <a:ext cx="1597326" cy="225028"/>
          </a:xfrm>
          <a:prstGeom prst="rect">
            <a:avLst/>
          </a:prstGeom>
          <a:noFill/>
          <a:ln/>
        </p:spPr>
        <p:txBody>
          <a:bodyPr wrap="square" lIns="0" tIns="0" rIns="0" bIns="0" rtlCol="0" anchor="t">
            <a:spAutoFit/>
          </a:bodyPr>
          <a:lstStyle/>
          <a:p>
            <a:pPr marL="0" indent="0" algn="l">
              <a:buNone/>
            </a:pPr>
            <a:r>
              <a:rPr lang="en-US" sz="1200" b="1" dirty="0">
                <a:solidFill>
                  <a:srgbClr val="0969DA"/>
                </a:solidFill>
                <a:latin typeface="Fira Code Bold" pitchFamily="34" charset="0"/>
                <a:ea typeface="Fira Code Bold" pitchFamily="34" charset="-122"/>
                <a:cs typeface="Fira Code Bold" pitchFamily="34" charset="-120"/>
              </a:rPr>
              <a:t>01</a:t>
            </a:r>
            <a:endParaRPr lang="en-US" sz="1200" dirty="0"/>
          </a:p>
        </p:txBody>
      </p:sp>
      <p:sp>
        <p:nvSpPr>
          <p:cNvPr id="30" name="Text 26"/>
          <p:cNvSpPr/>
          <p:nvPr/>
        </p:nvSpPr>
        <p:spPr>
          <a:xfrm>
            <a:off x="350044" y="4632024"/>
            <a:ext cx="1597326" cy="231987"/>
          </a:xfrm>
          <a:prstGeom prst="rect">
            <a:avLst/>
          </a:prstGeom>
          <a:noFill/>
          <a:ln/>
        </p:spPr>
        <p:txBody>
          <a:bodyPr wrap="square" lIns="0" tIns="0" rIns="0" bIns="0" rtlCol="0" anchor="t">
            <a:spAutoFit/>
          </a:bodyPr>
          <a:lstStyle/>
          <a:p>
            <a:pPr marL="0" indent="0" algn="l">
              <a:lnSpc>
                <a:spcPct val="112000"/>
              </a:lnSpc>
              <a:buNone/>
            </a:pPr>
            <a:r>
              <a:rPr lang="en-US" sz="700" dirty="0">
                <a:solidFill>
                  <a:srgbClr val="F6F8FA"/>
                </a:solidFill>
                <a:latin typeface="Georgia" panose="02040502050405020303" pitchFamily="18" charset="0"/>
                <a:ea typeface="Inter SemiBold" pitchFamily="34" charset="-122"/>
                <a:cs typeface="Inter SemiBold" pitchFamily="34" charset="-120"/>
              </a:rPr>
              <a:t>Lock &amp; Key:</a:t>
            </a:r>
            <a:r>
              <a:rPr lang="en-US" sz="700" dirty="0">
                <a:solidFill>
                  <a:srgbClr val="C9D1D9"/>
                </a:solidFill>
                <a:latin typeface="Georgia" panose="02040502050405020303" pitchFamily="18" charset="0"/>
                <a:ea typeface="Inter" pitchFamily="34" charset="-122"/>
                <a:cs typeface="Inter" pitchFamily="34" charset="-120"/>
              </a:rPr>
              <a:t> 4-битный тег на каждые 16 байт без изменения ABI через TBI.</a:t>
            </a:r>
            <a:endParaRPr lang="en-US" sz="700" dirty="0">
              <a:latin typeface="Georgia" panose="02040502050405020303" pitchFamily="18" charset="0"/>
            </a:endParaRPr>
          </a:p>
        </p:txBody>
      </p:sp>
      <p:sp>
        <p:nvSpPr>
          <p:cNvPr id="31" name="Text 27"/>
          <p:cNvSpPr/>
          <p:nvPr/>
        </p:nvSpPr>
        <p:spPr>
          <a:xfrm>
            <a:off x="2061670" y="4364134"/>
            <a:ext cx="1597354" cy="225028"/>
          </a:xfrm>
          <a:prstGeom prst="rect">
            <a:avLst/>
          </a:prstGeom>
          <a:noFill/>
          <a:ln/>
        </p:spPr>
        <p:txBody>
          <a:bodyPr wrap="square" lIns="0" tIns="0" rIns="0" bIns="0" rtlCol="0" anchor="t">
            <a:spAutoFit/>
          </a:bodyPr>
          <a:lstStyle/>
          <a:p>
            <a:pPr marL="0" indent="0" algn="l">
              <a:buNone/>
            </a:pPr>
            <a:r>
              <a:rPr lang="en-US" sz="1200" b="1" dirty="0">
                <a:solidFill>
                  <a:srgbClr val="0969DA"/>
                </a:solidFill>
                <a:latin typeface="Fira Code Bold" pitchFamily="34" charset="0"/>
                <a:ea typeface="Fira Code Bold" pitchFamily="34" charset="-122"/>
                <a:cs typeface="Fira Code Bold" pitchFamily="34" charset="-120"/>
              </a:rPr>
              <a:t>02</a:t>
            </a:r>
            <a:endParaRPr lang="en-US" sz="1200" dirty="0"/>
          </a:p>
        </p:txBody>
      </p:sp>
      <p:sp>
        <p:nvSpPr>
          <p:cNvPr id="32" name="Text 28"/>
          <p:cNvSpPr/>
          <p:nvPr/>
        </p:nvSpPr>
        <p:spPr>
          <a:xfrm>
            <a:off x="2061670" y="4632024"/>
            <a:ext cx="1597354" cy="352661"/>
          </a:xfrm>
          <a:prstGeom prst="rect">
            <a:avLst/>
          </a:prstGeom>
          <a:noFill/>
          <a:ln/>
        </p:spPr>
        <p:txBody>
          <a:bodyPr wrap="square" lIns="0" tIns="0" rIns="0" bIns="0" rtlCol="0" anchor="t">
            <a:spAutoFit/>
          </a:bodyPr>
          <a:lstStyle/>
          <a:p>
            <a:pPr>
              <a:lnSpc>
                <a:spcPct val="112000"/>
              </a:lnSpc>
            </a:pPr>
            <a:r>
              <a:rPr lang="en-US" sz="700" dirty="0">
                <a:solidFill>
                  <a:srgbClr val="F6F8FA"/>
                </a:solidFill>
                <a:latin typeface="Georgia" panose="02040502050405020303" pitchFamily="18" charset="0"/>
                <a:ea typeface="Inter SemiBold" pitchFamily="34" charset="-122"/>
              </a:rPr>
              <a:t>Три </a:t>
            </a:r>
            <a:r>
              <a:rPr lang="en-US" sz="700" dirty="0" err="1">
                <a:solidFill>
                  <a:srgbClr val="F6F8FA"/>
                </a:solidFill>
                <a:latin typeface="Georgia" panose="02040502050405020303" pitchFamily="18" charset="0"/>
                <a:ea typeface="Inter SemiBold" pitchFamily="34" charset="-122"/>
              </a:rPr>
              <a:t>режима</a:t>
            </a:r>
            <a:r>
              <a:rPr lang="en-US" sz="700" dirty="0">
                <a:solidFill>
                  <a:srgbClr val="F6F8FA"/>
                </a:solidFill>
                <a:latin typeface="Georgia" panose="02040502050405020303" pitchFamily="18" charset="0"/>
                <a:ea typeface="Inter SemiBold" pitchFamily="34" charset="-122"/>
              </a:rPr>
              <a:t>: </a:t>
            </a:r>
            <a:r>
              <a:rPr lang="en-US" sz="700" dirty="0">
                <a:solidFill>
                  <a:srgbClr val="C9D1D9"/>
                </a:solidFill>
                <a:latin typeface="Georgia" panose="02040502050405020303" pitchFamily="18" charset="0"/>
                <a:ea typeface="Inter" pitchFamily="34" charset="-122"/>
              </a:rPr>
              <a:t>SYNC (диагностика), ASYNC (продакшен), ASYMM (</a:t>
            </a:r>
            <a:r>
              <a:rPr lang="en-US" sz="700" dirty="0" err="1">
                <a:solidFill>
                  <a:srgbClr val="C9D1D9"/>
                </a:solidFill>
                <a:latin typeface="Georgia" panose="02040502050405020303" pitchFamily="18" charset="0"/>
                <a:ea typeface="Inter" pitchFamily="34" charset="-122"/>
              </a:rPr>
              <a:t>компромисс</a:t>
            </a:r>
            <a:r>
              <a:rPr lang="en-US" sz="700" dirty="0">
                <a:solidFill>
                  <a:srgbClr val="C9D1D9"/>
                </a:solidFill>
                <a:latin typeface="Georgia" panose="02040502050405020303" pitchFamily="18" charset="0"/>
                <a:ea typeface="Inter" pitchFamily="34" charset="-122"/>
              </a:rPr>
              <a:t>).</a:t>
            </a:r>
          </a:p>
        </p:txBody>
      </p:sp>
      <p:sp>
        <p:nvSpPr>
          <p:cNvPr id="33" name="Text 29"/>
          <p:cNvSpPr/>
          <p:nvPr/>
        </p:nvSpPr>
        <p:spPr>
          <a:xfrm>
            <a:off x="3773323" y="4364134"/>
            <a:ext cx="1597326" cy="225028"/>
          </a:xfrm>
          <a:prstGeom prst="rect">
            <a:avLst/>
          </a:prstGeom>
          <a:noFill/>
          <a:ln/>
        </p:spPr>
        <p:txBody>
          <a:bodyPr wrap="square" lIns="0" tIns="0" rIns="0" bIns="0" rtlCol="0" anchor="t">
            <a:spAutoFit/>
          </a:bodyPr>
          <a:lstStyle/>
          <a:p>
            <a:pPr marL="0" indent="0" algn="l">
              <a:buNone/>
            </a:pPr>
            <a:r>
              <a:rPr lang="en-US" sz="1200" b="1" dirty="0">
                <a:solidFill>
                  <a:srgbClr val="0969DA"/>
                </a:solidFill>
                <a:latin typeface="Fira Code Bold" pitchFamily="34" charset="0"/>
                <a:ea typeface="Fira Code Bold" pitchFamily="34" charset="-122"/>
                <a:cs typeface="Fira Code Bold" pitchFamily="34" charset="-120"/>
              </a:rPr>
              <a:t>03</a:t>
            </a:r>
            <a:endParaRPr lang="en-US" sz="1200" dirty="0"/>
          </a:p>
        </p:txBody>
      </p:sp>
      <p:sp>
        <p:nvSpPr>
          <p:cNvPr id="34" name="Text 30"/>
          <p:cNvSpPr/>
          <p:nvPr/>
        </p:nvSpPr>
        <p:spPr>
          <a:xfrm>
            <a:off x="3773323" y="4632024"/>
            <a:ext cx="1597326" cy="352661"/>
          </a:xfrm>
          <a:prstGeom prst="rect">
            <a:avLst/>
          </a:prstGeom>
          <a:noFill/>
          <a:ln/>
        </p:spPr>
        <p:txBody>
          <a:bodyPr wrap="square" lIns="0" tIns="0" rIns="0" bIns="0" rtlCol="0" anchor="t">
            <a:spAutoFit/>
          </a:bodyPr>
          <a:lstStyle/>
          <a:p>
            <a:pPr indent="0">
              <a:lnSpc>
                <a:spcPct val="112000"/>
              </a:lnSpc>
              <a:buNone/>
            </a:pPr>
            <a:r>
              <a:rPr lang="en-US" sz="700" dirty="0">
                <a:solidFill>
                  <a:srgbClr val="F6F8FA"/>
                </a:solidFill>
                <a:latin typeface="Georgia" panose="02040502050405020303" pitchFamily="18" charset="0"/>
                <a:ea typeface="Inter SemiBold" pitchFamily="34" charset="-122"/>
              </a:rPr>
              <a:t>Heap vs Stack: </a:t>
            </a:r>
            <a:r>
              <a:rPr lang="en-US" sz="700" dirty="0">
                <a:solidFill>
                  <a:srgbClr val="C9D1D9"/>
                </a:solidFill>
                <a:latin typeface="Georgia" panose="02040502050405020303" pitchFamily="18" charset="0"/>
                <a:ea typeface="Inter" pitchFamily="34" charset="-122"/>
              </a:rPr>
              <a:t>Heap без перекомпиляции; stack </a:t>
            </a:r>
            <a:r>
              <a:rPr lang="en-US" sz="700" dirty="0" err="1">
                <a:solidFill>
                  <a:srgbClr val="C9D1D9"/>
                </a:solidFill>
                <a:latin typeface="Georgia" panose="02040502050405020303" pitchFamily="18" charset="0"/>
                <a:ea typeface="Inter" pitchFamily="34" charset="-122"/>
              </a:rPr>
              <a:t>требует</a:t>
            </a:r>
            <a:r>
              <a:rPr lang="en-US" sz="700" dirty="0">
                <a:solidFill>
                  <a:srgbClr val="C9D1D9"/>
                </a:solidFill>
                <a:latin typeface="Georgia" panose="02040502050405020303" pitchFamily="18" charset="0"/>
                <a:ea typeface="Inter" pitchFamily="34" charset="-122"/>
              </a:rPr>
              <a:t> </a:t>
            </a:r>
            <a:r>
              <a:rPr lang="en-US" sz="700" dirty="0" err="1">
                <a:solidFill>
                  <a:srgbClr val="C9D1D9"/>
                </a:solidFill>
                <a:latin typeface="Georgia" panose="02040502050405020303" pitchFamily="18" charset="0"/>
                <a:ea typeface="Inter" pitchFamily="34" charset="-122"/>
              </a:rPr>
              <a:t>BTI+PAC+recompile</a:t>
            </a:r>
            <a:r>
              <a:rPr lang="en-US" sz="700" dirty="0">
                <a:solidFill>
                  <a:srgbClr val="C9D1D9"/>
                </a:solidFill>
                <a:latin typeface="Georgia" panose="02040502050405020303" pitchFamily="18" charset="0"/>
                <a:ea typeface="Inter" pitchFamily="34" charset="-122"/>
              </a:rPr>
              <a:t>.</a:t>
            </a:r>
          </a:p>
        </p:txBody>
      </p:sp>
      <p:sp>
        <p:nvSpPr>
          <p:cNvPr id="35" name="Text 31"/>
          <p:cNvSpPr/>
          <p:nvPr/>
        </p:nvSpPr>
        <p:spPr>
          <a:xfrm>
            <a:off x="5484949" y="4364134"/>
            <a:ext cx="1597354" cy="225028"/>
          </a:xfrm>
          <a:prstGeom prst="rect">
            <a:avLst/>
          </a:prstGeom>
          <a:noFill/>
          <a:ln/>
        </p:spPr>
        <p:txBody>
          <a:bodyPr wrap="square" lIns="0" tIns="0" rIns="0" bIns="0" rtlCol="0" anchor="t">
            <a:spAutoFit/>
          </a:bodyPr>
          <a:lstStyle/>
          <a:p>
            <a:pPr marL="0" indent="0" algn="l">
              <a:buNone/>
            </a:pPr>
            <a:r>
              <a:rPr lang="en-US" sz="1200" b="1" dirty="0">
                <a:solidFill>
                  <a:srgbClr val="0969DA"/>
                </a:solidFill>
                <a:latin typeface="Fira Code Bold" pitchFamily="34" charset="0"/>
                <a:ea typeface="Fira Code Bold" pitchFamily="34" charset="-122"/>
                <a:cs typeface="Fira Code Bold" pitchFamily="34" charset="-120"/>
              </a:rPr>
              <a:t>04</a:t>
            </a:r>
            <a:endParaRPr lang="en-US" sz="1200" dirty="0"/>
          </a:p>
        </p:txBody>
      </p:sp>
      <p:sp>
        <p:nvSpPr>
          <p:cNvPr id="36" name="Text 32"/>
          <p:cNvSpPr/>
          <p:nvPr/>
        </p:nvSpPr>
        <p:spPr>
          <a:xfrm>
            <a:off x="5484949" y="4632024"/>
            <a:ext cx="1597354" cy="352661"/>
          </a:xfrm>
          <a:prstGeom prst="rect">
            <a:avLst/>
          </a:prstGeom>
          <a:noFill/>
          <a:ln/>
        </p:spPr>
        <p:txBody>
          <a:bodyPr wrap="square" lIns="0" tIns="0" rIns="0" bIns="0" rtlCol="0" anchor="t">
            <a:spAutoFit/>
          </a:bodyPr>
          <a:lstStyle/>
          <a:p>
            <a:pPr>
              <a:lnSpc>
                <a:spcPct val="112000"/>
              </a:lnSpc>
            </a:pPr>
            <a:r>
              <a:rPr lang="en-US" sz="700" dirty="0" err="1">
                <a:solidFill>
                  <a:srgbClr val="F6F8FA"/>
                </a:solidFill>
                <a:latin typeface="Georgia" panose="02040502050405020303" pitchFamily="18" charset="0"/>
                <a:ea typeface="Inter SemiBold" pitchFamily="34" charset="-122"/>
              </a:rPr>
              <a:t>Обнаружение</a:t>
            </a:r>
            <a:r>
              <a:rPr lang="en-US" sz="700" dirty="0">
                <a:solidFill>
                  <a:srgbClr val="F6F8FA"/>
                </a:solidFill>
                <a:latin typeface="Georgia" panose="02040502050405020303" pitchFamily="18" charset="0"/>
                <a:ea typeface="Inter SemiBold" pitchFamily="34" charset="-122"/>
              </a:rPr>
              <a:t>: </a:t>
            </a:r>
            <a:r>
              <a:rPr lang="en-US" sz="700" dirty="0">
                <a:solidFill>
                  <a:srgbClr val="C9D1D9"/>
                </a:solidFill>
                <a:latin typeface="Georgia" panose="02040502050405020303" pitchFamily="18" charset="0"/>
                <a:ea typeface="Inter" pitchFamily="34" charset="-122"/>
              </a:rPr>
              <a:t>Детерминировано для buffer overflow и UAF (при </a:t>
            </a:r>
            <a:r>
              <a:rPr lang="en-US" sz="700" dirty="0" err="1">
                <a:solidFill>
                  <a:srgbClr val="C9D1D9"/>
                </a:solidFill>
                <a:latin typeface="Georgia" panose="02040502050405020303" pitchFamily="18" charset="0"/>
                <a:ea typeface="Inter" pitchFamily="34" charset="-122"/>
              </a:rPr>
              <a:t>смене</a:t>
            </a:r>
            <a:r>
              <a:rPr lang="en-US" sz="700" dirty="0">
                <a:solidFill>
                  <a:srgbClr val="C9D1D9"/>
                </a:solidFill>
                <a:latin typeface="Georgia" panose="02040502050405020303" pitchFamily="18" charset="0"/>
                <a:ea typeface="Inter" pitchFamily="34" charset="-122"/>
              </a:rPr>
              <a:t> </a:t>
            </a:r>
            <a:r>
              <a:rPr lang="en-US" sz="700" dirty="0" err="1">
                <a:solidFill>
                  <a:srgbClr val="C9D1D9"/>
                </a:solidFill>
                <a:latin typeface="Georgia" panose="02040502050405020303" pitchFamily="18" charset="0"/>
                <a:ea typeface="Inter" pitchFamily="34" charset="-122"/>
              </a:rPr>
              <a:t>тега</a:t>
            </a:r>
            <a:r>
              <a:rPr lang="en-US" sz="700" dirty="0">
                <a:solidFill>
                  <a:srgbClr val="C9D1D9"/>
                </a:solidFill>
                <a:latin typeface="Georgia" panose="02040502050405020303" pitchFamily="18" charset="0"/>
                <a:ea typeface="Inter" pitchFamily="34" charset="-122"/>
              </a:rPr>
              <a:t>).</a:t>
            </a:r>
          </a:p>
        </p:txBody>
      </p:sp>
      <p:sp>
        <p:nvSpPr>
          <p:cNvPr id="37" name="Text 33"/>
          <p:cNvSpPr/>
          <p:nvPr/>
        </p:nvSpPr>
        <p:spPr>
          <a:xfrm>
            <a:off x="7196603" y="4364134"/>
            <a:ext cx="1597354" cy="225028"/>
          </a:xfrm>
          <a:prstGeom prst="rect">
            <a:avLst/>
          </a:prstGeom>
          <a:noFill/>
          <a:ln/>
        </p:spPr>
        <p:txBody>
          <a:bodyPr wrap="square" lIns="0" tIns="0" rIns="0" bIns="0" rtlCol="0" anchor="t">
            <a:spAutoFit/>
          </a:bodyPr>
          <a:lstStyle/>
          <a:p>
            <a:pPr marL="0" indent="0" algn="l">
              <a:buNone/>
            </a:pPr>
            <a:r>
              <a:rPr lang="en-US" sz="1200" b="1" dirty="0">
                <a:solidFill>
                  <a:srgbClr val="0969DA"/>
                </a:solidFill>
                <a:latin typeface="Fira Code Bold" pitchFamily="34" charset="0"/>
                <a:ea typeface="Fira Code Bold" pitchFamily="34" charset="-122"/>
                <a:cs typeface="Fira Code Bold" pitchFamily="34" charset="-120"/>
              </a:rPr>
              <a:t>05</a:t>
            </a:r>
            <a:endParaRPr lang="en-US" sz="1200" dirty="0"/>
          </a:p>
        </p:txBody>
      </p:sp>
      <p:sp>
        <p:nvSpPr>
          <p:cNvPr id="38" name="Text 34"/>
          <p:cNvSpPr/>
          <p:nvPr/>
        </p:nvSpPr>
        <p:spPr>
          <a:xfrm>
            <a:off x="7196603" y="4632024"/>
            <a:ext cx="1597354" cy="352661"/>
          </a:xfrm>
          <a:prstGeom prst="rect">
            <a:avLst/>
          </a:prstGeom>
          <a:noFill/>
          <a:ln/>
        </p:spPr>
        <p:txBody>
          <a:bodyPr wrap="square" lIns="0" tIns="0" rIns="0" bIns="0" rtlCol="0" anchor="t">
            <a:spAutoFit/>
          </a:bodyPr>
          <a:lstStyle/>
          <a:p>
            <a:pPr indent="0">
              <a:lnSpc>
                <a:spcPct val="112000"/>
              </a:lnSpc>
              <a:buNone/>
            </a:pPr>
            <a:r>
              <a:rPr lang="en-US" sz="700" dirty="0" err="1">
                <a:solidFill>
                  <a:srgbClr val="F6F8FA"/>
                </a:solidFill>
                <a:latin typeface="Georgia" panose="02040502050405020303" pitchFamily="18" charset="0"/>
                <a:ea typeface="Inter SemiBold" pitchFamily="34" charset="-122"/>
              </a:rPr>
              <a:t>Внедрение</a:t>
            </a:r>
            <a:r>
              <a:rPr lang="en-US" sz="700" dirty="0">
                <a:solidFill>
                  <a:srgbClr val="F6F8FA"/>
                </a:solidFill>
                <a:latin typeface="Georgia" panose="02040502050405020303" pitchFamily="18" charset="0"/>
                <a:ea typeface="Inter SemiBold" pitchFamily="34" charset="-122"/>
              </a:rPr>
              <a:t>: </a:t>
            </a:r>
            <a:r>
              <a:rPr lang="en-US" sz="700" dirty="0">
                <a:solidFill>
                  <a:srgbClr val="C9D1D9"/>
                </a:solidFill>
                <a:latin typeface="Georgia" panose="02040502050405020303" pitchFamily="18" charset="0"/>
                <a:ea typeface="Inter" pitchFamily="34" charset="-122"/>
              </a:rPr>
              <a:t>Pixel 8/9, AmpereOne, Apple A19 — MTE </a:t>
            </a:r>
            <a:r>
              <a:rPr lang="en-US" sz="700" dirty="0" err="1">
                <a:solidFill>
                  <a:srgbClr val="C9D1D9"/>
                </a:solidFill>
                <a:latin typeface="Georgia" panose="02040502050405020303" pitchFamily="18" charset="0"/>
                <a:ea typeface="Inter" pitchFamily="34" charset="-122"/>
              </a:rPr>
              <a:t>вышел</a:t>
            </a:r>
            <a:r>
              <a:rPr lang="en-US" sz="700" dirty="0">
                <a:solidFill>
                  <a:srgbClr val="C9D1D9"/>
                </a:solidFill>
                <a:latin typeface="Georgia" panose="02040502050405020303" pitchFamily="18" charset="0"/>
                <a:ea typeface="Inter" pitchFamily="34" charset="-122"/>
              </a:rPr>
              <a:t> в production silicon.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1659136" y="2222599"/>
            <a:ext cx="5825728" cy="621506"/>
          </a:xfrm>
          <a:prstGeom prst="rect">
            <a:avLst/>
          </a:prstGeom>
          <a:noFill/>
          <a:ln/>
        </p:spPr>
        <p:txBody>
          <a:bodyPr wrap="square" lIns="0" tIns="0" rIns="0" bIns="0" rtlCol="0" anchor="t">
            <a:spAutoFit/>
          </a:bodyPr>
          <a:lstStyle/>
          <a:p>
            <a:pPr marL="0" indent="0" algn="ctr">
              <a:buNone/>
            </a:pPr>
            <a:r>
              <a:rPr lang="en-US" sz="3750" b="1" dirty="0">
                <a:solidFill>
                  <a:srgbClr val="0969DA"/>
                </a:solidFill>
                <a:latin typeface="Inter Bold" pitchFamily="34" charset="0"/>
                <a:ea typeface="Inter Bold" pitchFamily="34" charset="-122"/>
                <a:cs typeface="Inter Bold" pitchFamily="34" charset="-120"/>
              </a:rPr>
              <a:t>Спасибо за внимание!</a:t>
            </a:r>
            <a:endParaRPr lang="en-US" sz="375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PCH-DA87399514F6569B2F67895171ADF7E817440AF0D666E3F26E930AF8E78DC0E8" val="[{&quot;GradientColorId&quot;:&quot;&quot;,&quot;IsFree&quot;:true,&quot;IsGradient&quot;:false,&quot;ImagePath&quot;:&quot;&quot;,&quot;GradientColor&quot;:null,&quot;SimpleColor&quot;:&quot;#4472C4&quo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TotalTime>
  <Words>3105</Words>
  <Application>Microsoft Office PowerPoint</Application>
  <PresentationFormat>全屏显示(16:9)</PresentationFormat>
  <Paragraphs>292</Paragraphs>
  <Slides>11</Slides>
  <Notes>11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vt:i4>
      </vt:variant>
    </vt:vector>
  </HeadingPairs>
  <TitlesOfParts>
    <vt:vector size="23" baseType="lpstr">
      <vt:lpstr>Inter</vt:lpstr>
      <vt:lpstr>Inter Bold</vt:lpstr>
      <vt:lpstr>Inter SemiBold</vt:lpstr>
      <vt:lpstr>Arial</vt:lpstr>
      <vt:lpstr>Cascadia Code</vt:lpstr>
      <vt:lpstr>Fira Code</vt:lpstr>
      <vt:lpstr>Fira Code Bold</vt:lpstr>
      <vt:lpstr>Georgia</vt:lpstr>
      <vt:lpstr>Gill Sans MT</vt:lpstr>
      <vt:lpstr>Informal Roman</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stylish ivan</cp:lastModifiedBy>
  <cp:revision>4</cp:revision>
  <dcterms:created xsi:type="dcterms:W3CDTF">2026-04-20T19:56:46Z</dcterms:created>
  <dcterms:modified xsi:type="dcterms:W3CDTF">2026-04-23T15:46:27Z</dcterms:modified>
</cp:coreProperties>
</file>