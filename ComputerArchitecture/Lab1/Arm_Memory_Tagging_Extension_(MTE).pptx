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custDataLst>
    <p:tags r:id="rId14"/>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39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400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Сегодня мы погрузимся в Arm Memory Tagging Extension, или MTE. Это аппаратный механизм, который радикально меняет подход к безопасности памяти в Arm-процессорах. Мы видим, что проблемы с безопасностью памяти — это не просто теоретические риски, а реальная угроза. Например, 70% уязвимостей Microsoft и более 75% уязвимостей Android связаны именно с ошибками памяти. MTE предлагает решение, работающее на уровне железа, с минимальными накладными расходами, менее 2% в асинхронном режиме. Это делает его первым по-настоящему продакшен-готовым инструментом для обнаружения таких ошибок. Давайте глубже разберемся, почему это так важно.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я уже упомянул, масштаб проблемы с ошибками памяти огромен. Эти цифры не просто статистика; они показывают, что традиционные подходы не справляются. Мы видим, что 70-75% всех критических уязвимостей в продуктах Microsoft и Android — это именно memory safety issues. Переписать сотни миллионов строк кода на C/C++ просто невозможно. MTE нацелен на два основных класса ошибок: пространственные, такие как buffer overflows, и временные, например, use-after-free. Эти ошибки лежат в основе большинства современных эксплойтов. MTE — это первый аппаратный инструмент, который может обнаруживать оба этих класса ошибок с очень низкими накладными расходами, что делает его революционным для продакшен-среды. Теперь давайте посмотрим, как MTE работает на низком уровне.</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основе MTE лежит элегантный принцип Lock &amp; Key. Каждые 16 байт памяти получают 4-битный тег, который также хранится в старших битах указателя. Когда программа обращается к памяти, аппаратное обеспечение сравнивает тег указателя с тегом памяти. Если они совпадают, доступ разрешен без задержек. Если нет, это сигнализирует об ошибке. Это происходит благодаря Top Byte Ignore, который позволяет нам использовать старший байт указателя для тега, не меняя при этом существующий ABI. Ключевые особенности включают гранулярность в 16 байт, что обеспечивает детерминированное обнаружение переполнений, и аппаратную генерацию случайных тегов, которая гарантирует обнаружение последовательных переполнений. Использование Normal Tagged Memory означает, что только обращения к этой памяти проверяются, что позволяет существующему коду работать без изменений. Теперь, когда мы понимаем принцип, давайте рассмотрим новые инструкции, которые это обеспечивают.</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Для реализации MTE Armv8.5-A вводит новые инструкции, которые можно разделить на три категории. Во-первых, это операции с тегами памяти, такие как IRG для генерации случайных тегов и STG/LDG для записи и чтения тегов. Эти инструкции позволяют аллокаторам эффективно управлять тегами. Во-вторых, у нас есть инструкции для арифметики указателей, такие как ADDG и SUBG, которые позволяют выполнять арифметические операции, сохраняя целостность тегов. Это критически важно для стека, где каждый объект может получить свой уникальный тег, что позволяет детерминированно обнаруживать переполнения. И, наконец, системные инструкции, такие как LDGM и STZGM, которые позволяют операционной системе эффективно управлять тегами на больших блоках памяти, например, при инициализации страниц. Эти инструкции формируют основу для мощной системы безопасности. Но как это влияет на производительность? Давайте рассмотрим режимы работы MTE.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предлагает три режима работы, каждый из которых имеет свои компромиссы между производительностью и точностью обнаружения. Режим SYNC, или синхронный, обеспечивает точное обнаружение ошибок с немедленным SIGSEGV на нарушающей инструкции. Он идеален для отладки и CI/CD, но может иметь значительные накладные расходы, до 25% и более. ASYNC, или асинхронный режим, предназначен для продакшена. Он накапливает ошибки и проверяет их при системных вызовах или переключениях контекста, что снижает накладные расходы до 1-2%. Это делает его пригодным для реальных приложений. ASYMM — это компромисс, где чтение синхронно, а запись асинхронна, что может быть полезно для read-heavy нагрузок. Важно отметить, что накладные расходы ASYNC режима на реальных устройствах, таких как Pixel 8, действительно минимальны. Это ключевой момент, который отличает MTE от других решений. Далее мы рассмотрим, как MTE обнаруживает пространственные и временные ошибки.</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детерминированно обнаруживает как пространственные, так и временные ошибки памяти, что критически важно для безопасности. Для пространственных ошибок, таких как Buffer Overflow, MTE гарантирует, что аллокатор назначает соседним блокам разные теги. Это обеспечивает детерминированное обнаружение последовательных переполнений. Для временных ошибок, например Use-After-Free, MTE работает так: при освобождении памяти аллокатор меняет тег. Любой висячий указатель со старым тегом немедленно вызывает исключение при попытке доступа. Это означает, что MTE не просто снижает риски, а активно выявляет их, даже в production-режиме. Project Zero подтвердил это, найдя реальные UAF-баги на Pixel 8/9. Теперь давайте посмотрим, как MTE разворачивается на практике для Heap и Stack.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Развертывание MTE различается для кучи и стека, что важно для понимания его практического применения. Для Heap Tagging, что очень удобно, перекомпиляция не требуется в динамически связанных системах, таких как Android. Ядро ОС и libc берут на себя управление тегами, а существующие бинарники работают без изменений. Это означает, что malloc() возвращает уже размеченный указатель, а free() меняет тег, мгновенно выявляя висячие указатели. Со Stack Tagging ситуация иная: здесь нужна перекомпиляция с соответствующими флагами компилятора, чтобы вставить инструкции IRG, ADDG и STG в пролог функции. Каждый объект на стеке получает уникальный тег, но для полной безопасности это требует BTI и PAC, иначе атакующий может обойти защиту. Далее мы сравним MTE с ASan, чтобы понять, почему MTE является первым production-ready инструментом.</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в ASYNC-режиме кардинально меняет ландшафт обнаружения ошибок памяти, предлагая беспрецедентно низкий overhead. В отличие от AddressSanitizer, который может давать 50-200% накладных расходов на CPU и 50-100% на RAM, MTE ASYNC работает с показателями в 1-2% и менее 3% соответственно. Это делает MTE первым по-настоящему production-ready инструментом для обнаружения memory safety ошибок. ASan требует перекомпиляции для кучи, MTE — нет. ASan точен до байта, MTE — до потока, но это приемлемый компромисс для продакшена. Мы видим, что MTE ASYNC на Pixel 8 показывает overhead всего 0.5-2.3% на SPEC CPU 2017. Это позволяет нам рекомендовать SYNC для отладки и CI/CD, а ASYNC — для продакшена. Теперь давайте рассмотрим, как MTE интегрируется в экосистему и его хронологию внедрения.</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прошёл впечатляющий путь от спецификации до массового внедрения, подтверждая свою значимость. Спецификация Armv8.5-A появилась в 2019 году, а уже в 2021 мы увидели первые Armv9 CPU с MTE. Google Pixel 8 в 2023 году стал первым массовым устройством с аппаратной поддержкой MTE, предлагая режимы SYNC для отладки и ASYNC для продакшена. Project Zero в 2024 году подтвердил эффективность MTE, обнаружив реальные UAF-баги в приложениях на Pixel 9. Apple также планирует внедрить MTE в iPhone 17/A19 к 2025 году. Поддержка в Linux Kernel активно развивается, включая патчи для Tagged Memory и когерентности тегов в многоядерных системах. Это показывает, что MTE становится индустриальным стандартом. Теперь давайте перейдем к оптимизациям, ограничениям и основным выводам.</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MTE — это мощный, production-ready инструмент, но важно понимать его возможности и ограничения. Для оптимизации рекомендуется записывать теги и данные вместе, используя STZGM, и минимизировать частые операции de-allocation/re-allocation, так как они увеличивают накладные расходы. Также стоит избегать больших fixed-size стек-буферов, которые могут приводить к напрасной записи тегов. В продакшене всегда отдавайте предпочтение ASYNC-режиму. Однако MTE не является панацеей: это вероятностная защита, не абсолютная, с вероятностью ложного совпадения 1/16. Он не защищает от алгоритмических уязвимостей, и Stack Tagging требует перекомпиляции, BTI и PAC. И, конечно, MTE — это решение только для Arm-архитектуры. В итоге, MTE — это Lock &amp; Key в железе, с тремя режимами работы, поддержкой Heap без перекомпиляции и Stack с ней, способный обнаруживать оба класса ошибок памяти. Его широкое внедрение в 2023-2025 годах подтверждает, что MTE вышел из спецификации в реальный production silicon.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Мы рассмотрели MTE как мощный аппаратный механизм для обнаружения ошибок памяти. Он предлагает беспрецедентную защиту с минимальным overhead, что делает его идеальным для продакшена. Мы обсудили его принципы работы, режимы, интеграцию в экосистему и практические рекомендации. Спасибо за ваше внимание. Готов ответить на ваши вопросы.</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66996"/>
          </a:xfrm>
          <a:prstGeom prst="rect">
            <a:avLst/>
          </a:prstGeom>
        </p:spPr>
      </p:pic>
      <p:sp>
        <p:nvSpPr>
          <p:cNvPr id="4" name="Shape 0"/>
          <p:cNvSpPr/>
          <p:nvPr/>
        </p:nvSpPr>
        <p:spPr>
          <a:xfrm>
            <a:off x="7144" y="7144"/>
            <a:ext cx="6086475" cy="4556206"/>
          </a:xfrm>
          <a:prstGeom prst="rect">
            <a:avLst/>
          </a:prstGeom>
          <a:solidFill>
            <a:srgbClr val="FFFFFF">
              <a:alpha val="80000"/>
            </a:srgbClr>
          </a:solidFill>
          <a:ln/>
        </p:spPr>
      </p:sp>
      <p:sp>
        <p:nvSpPr>
          <p:cNvPr id="5" name="Shape 1"/>
          <p:cNvSpPr/>
          <p:nvPr/>
        </p:nvSpPr>
        <p:spPr>
          <a:xfrm>
            <a:off x="6086475" y="7144"/>
            <a:ext cx="7144" cy="4556206"/>
          </a:xfrm>
          <a:prstGeom prst="rect">
            <a:avLst/>
          </a:prstGeom>
          <a:solidFill>
            <a:srgbClr val="D0D7DE"/>
          </a:solidFill>
          <a:ln/>
        </p:spPr>
      </p:sp>
      <p:sp>
        <p:nvSpPr>
          <p:cNvPr id="6" name="Shape 2"/>
          <p:cNvSpPr/>
          <p:nvPr/>
        </p:nvSpPr>
        <p:spPr>
          <a:xfrm>
            <a:off x="7144" y="4556206"/>
            <a:ext cx="6086475" cy="7144"/>
          </a:xfrm>
          <a:prstGeom prst="rect">
            <a:avLst/>
          </a:prstGeom>
          <a:solidFill>
            <a:srgbClr val="D0D7DE"/>
          </a:solidFill>
          <a:ln/>
        </p:spPr>
      </p:sp>
      <p:sp>
        <p:nvSpPr>
          <p:cNvPr id="7" name="Text 3"/>
          <p:cNvSpPr/>
          <p:nvPr/>
        </p:nvSpPr>
        <p:spPr>
          <a:xfrm>
            <a:off x="435769" y="1195155"/>
            <a:ext cx="5229225" cy="1005818"/>
          </a:xfrm>
          <a:prstGeom prst="rect">
            <a:avLst/>
          </a:prstGeom>
          <a:noFill/>
          <a:ln/>
        </p:spPr>
        <p:txBody>
          <a:bodyPr wrap="square" lIns="0" tIns="0" rIns="0" bIns="0" rtlCol="0" anchor="t">
            <a:spAutoFit/>
          </a:bodyPr>
          <a:lstStyle/>
          <a:p>
            <a:pPr marL="0" indent="0" algn="l">
              <a:lnSpc>
                <a:spcPct val="88000"/>
              </a:lnSpc>
              <a:buNone/>
            </a:pPr>
            <a:r>
              <a:rPr lang="en-US" sz="3300" b="1" dirty="0">
                <a:solidFill>
                  <a:srgbClr val="0969DA"/>
                </a:solidFill>
                <a:latin typeface="Inter Bold" pitchFamily="34" charset="0"/>
                <a:ea typeface="Inter Bold" pitchFamily="34" charset="-122"/>
                <a:cs typeface="Inter Bold" pitchFamily="34" charset="-120"/>
              </a:rPr>
              <a:t>Arm Memory Tagging Extension (MTE)</a:t>
            </a:r>
            <a:endParaRPr lang="en-US" sz="3300" dirty="0"/>
          </a:p>
        </p:txBody>
      </p:sp>
      <p:sp>
        <p:nvSpPr>
          <p:cNvPr id="8" name="Text 4"/>
          <p:cNvSpPr/>
          <p:nvPr/>
        </p:nvSpPr>
        <p:spPr>
          <a:xfrm>
            <a:off x="435769" y="2415285"/>
            <a:ext cx="4706280" cy="862224"/>
          </a:xfrm>
          <a:prstGeom prst="rect">
            <a:avLst/>
          </a:prstGeom>
          <a:noFill/>
          <a:ln/>
        </p:spPr>
        <p:txBody>
          <a:bodyPr wrap="square" lIns="0" tIns="0" rIns="0" bIns="0" rtlCol="0" anchor="t">
            <a:spAutoFit/>
          </a:bodyPr>
          <a:lstStyle/>
          <a:p>
            <a:pPr marL="0" indent="0" algn="l">
              <a:lnSpc>
                <a:spcPct val="112000"/>
              </a:lnSpc>
              <a:buNone/>
            </a:pPr>
            <a:r>
              <a:rPr lang="en-US" sz="1700" dirty="0">
                <a:solidFill>
                  <a:srgbClr val="24292F"/>
                </a:solidFill>
                <a:latin typeface="Gill Sans MT" panose="020B0502020104020203" pitchFamily="34" charset="0"/>
                <a:ea typeface="Inter" pitchFamily="34" charset="-122"/>
                <a:cs typeface="Inter" pitchFamily="34" charset="-120"/>
              </a:rPr>
              <a:t>Аппаратный механизм обнаружения пространственных и временных ошибок памяти в Armv8.5-A и Armv9</a:t>
            </a:r>
            <a:endParaRPr lang="en-US" sz="1700" dirty="0">
              <a:latin typeface="Gill Sans MT" panose="020B0502020104020203" pitchFamily="34" charset="0"/>
            </a:endParaRPr>
          </a:p>
        </p:txBody>
      </p:sp>
      <p:sp>
        <p:nvSpPr>
          <p:cNvPr id="10" name="Shape 6"/>
          <p:cNvSpPr/>
          <p:nvPr/>
        </p:nvSpPr>
        <p:spPr>
          <a:xfrm>
            <a:off x="6093619" y="4556206"/>
            <a:ext cx="3043238" cy="7144"/>
          </a:xfrm>
          <a:prstGeom prst="rect">
            <a:avLst/>
          </a:prstGeom>
          <a:solidFill>
            <a:srgbClr val="D0D7DE"/>
          </a:solidFill>
          <a:ln/>
        </p:spPr>
      </p:sp>
      <p:sp>
        <p:nvSpPr>
          <p:cNvPr id="11" name="Text 7"/>
          <p:cNvSpPr/>
          <p:nvPr/>
        </p:nvSpPr>
        <p:spPr>
          <a:xfrm>
            <a:off x="6379369" y="435769"/>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70%</a:t>
            </a:r>
            <a:endParaRPr lang="en-US" sz="1800" dirty="0"/>
          </a:p>
        </p:txBody>
      </p:sp>
      <p:sp>
        <p:nvSpPr>
          <p:cNvPr id="12" name="Text 8"/>
          <p:cNvSpPr/>
          <p:nvPr/>
        </p:nvSpPr>
        <p:spPr>
          <a:xfrm>
            <a:off x="6379369" y="805458"/>
            <a:ext cx="2471738" cy="281680"/>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57606A"/>
                </a:solidFill>
                <a:latin typeface="Georgia" panose="02040502050405020303" pitchFamily="18" charset="0"/>
                <a:ea typeface="Inter" pitchFamily="34" charset="-122"/>
                <a:cs typeface="Inter" pitchFamily="34" charset="-120"/>
              </a:rPr>
              <a:t>уязвимостей Microsoft вызваны нарушениями </a:t>
            </a:r>
            <a:r>
              <a:rPr lang="en-US" sz="850" dirty="0" err="1">
                <a:solidFill>
                  <a:srgbClr val="57606A"/>
                </a:solidFill>
                <a:latin typeface="Georgia" panose="02040502050405020303" pitchFamily="18" charset="0"/>
                <a:ea typeface="Inter" pitchFamily="34" charset="-122"/>
                <a:cs typeface="Inter" pitchFamily="34" charset="-120"/>
              </a:rPr>
              <a:t>памяти</a:t>
            </a:r>
            <a:r>
              <a:rPr lang="en-US" sz="850" dirty="0">
                <a:solidFill>
                  <a:srgbClr val="57606A"/>
                </a:solidFill>
                <a:latin typeface="Georgia" panose="02040502050405020303" pitchFamily="18" charset="0"/>
                <a:ea typeface="Inter" pitchFamily="34" charset="-122"/>
                <a:cs typeface="Inter" pitchFamily="34" charset="-120"/>
              </a:rPr>
              <a:t> </a:t>
            </a:r>
            <a:endParaRPr lang="en-US" sz="850" dirty="0">
              <a:latin typeface="Georgia" panose="02040502050405020303" pitchFamily="18" charset="0"/>
            </a:endParaRPr>
          </a:p>
        </p:txBody>
      </p:sp>
      <p:sp>
        <p:nvSpPr>
          <p:cNvPr id="13" name="Text 9"/>
          <p:cNvSpPr/>
          <p:nvPr/>
        </p:nvSpPr>
        <p:spPr>
          <a:xfrm>
            <a:off x="6379369" y="1489807"/>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75%+</a:t>
            </a:r>
            <a:endParaRPr lang="en-US" sz="1800" dirty="0"/>
          </a:p>
        </p:txBody>
      </p:sp>
      <p:sp>
        <p:nvSpPr>
          <p:cNvPr id="14" name="Text 10"/>
          <p:cNvSpPr/>
          <p:nvPr/>
        </p:nvSpPr>
        <p:spPr>
          <a:xfrm>
            <a:off x="6379369" y="1859496"/>
            <a:ext cx="2471738" cy="135165"/>
          </a:xfrm>
          <a:prstGeom prst="rect">
            <a:avLst/>
          </a:prstGeom>
          <a:noFill/>
          <a:ln/>
        </p:spPr>
        <p:txBody>
          <a:bodyPr wrap="square" lIns="0" tIns="0" rIns="0" bIns="0" rtlCol="0" anchor="t">
            <a:spAutoFit/>
          </a:bodyPr>
          <a:lstStyle/>
          <a:p>
            <a:pPr>
              <a:lnSpc>
                <a:spcPct val="112000"/>
              </a:lnSpc>
            </a:pPr>
            <a:r>
              <a:rPr lang="en-US" sz="850" dirty="0">
                <a:solidFill>
                  <a:srgbClr val="57606A"/>
                </a:solidFill>
                <a:latin typeface="Georgia" panose="02040502050405020303" pitchFamily="18" charset="0"/>
                <a:ea typeface="Inter" pitchFamily="34" charset="-122"/>
              </a:rPr>
              <a:t>уязвимостей Android — memory safety bugs </a:t>
            </a:r>
          </a:p>
        </p:txBody>
      </p:sp>
      <p:sp>
        <p:nvSpPr>
          <p:cNvPr id="15" name="Text 11"/>
          <p:cNvSpPr/>
          <p:nvPr/>
        </p:nvSpPr>
        <p:spPr>
          <a:xfrm>
            <a:off x="6379369" y="2543845"/>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&lt;2%</a:t>
            </a:r>
            <a:endParaRPr lang="en-US" sz="1800" dirty="0"/>
          </a:p>
        </p:txBody>
      </p:sp>
      <p:sp>
        <p:nvSpPr>
          <p:cNvPr id="16" name="Text 12"/>
          <p:cNvSpPr/>
          <p:nvPr/>
        </p:nvSpPr>
        <p:spPr>
          <a:xfrm>
            <a:off x="6379369" y="2913534"/>
            <a:ext cx="2471738" cy="138692"/>
          </a:xfrm>
          <a:prstGeom prst="rect">
            <a:avLst/>
          </a:prstGeom>
          <a:noFill/>
          <a:ln/>
        </p:spPr>
        <p:txBody>
          <a:bodyPr wrap="square" lIns="0" tIns="0" rIns="0" bIns="0" rtlCol="0" anchor="t">
            <a:spAutoFit/>
          </a:bodyPr>
          <a:lstStyle/>
          <a:p>
            <a:pPr marL="0" indent="0" algn="l">
              <a:lnSpc>
                <a:spcPct val="112000"/>
              </a:lnSpc>
              <a:buNone/>
            </a:pPr>
            <a:r>
              <a:rPr lang="en-US" sz="850" dirty="0">
                <a:solidFill>
                  <a:srgbClr val="57606A"/>
                </a:solidFill>
                <a:latin typeface="Georgia" panose="02040502050405020303" pitchFamily="18" charset="0"/>
                <a:ea typeface="Inter" pitchFamily="34" charset="-122"/>
              </a:rPr>
              <a:t>overhead MTE ASYNC в </a:t>
            </a:r>
            <a:r>
              <a:rPr lang="en-US" sz="850" dirty="0" err="1">
                <a:solidFill>
                  <a:srgbClr val="57606A"/>
                </a:solidFill>
                <a:latin typeface="Georgia" panose="02040502050405020303" pitchFamily="18" charset="0"/>
                <a:ea typeface="Inter" pitchFamily="34" charset="-122"/>
              </a:rPr>
              <a:t>продакшене</a:t>
            </a:r>
            <a:endParaRPr lang="en-US" sz="850" dirty="0">
              <a:solidFill>
                <a:srgbClr val="57606A"/>
              </a:solidFill>
              <a:latin typeface="Georgia" panose="02040502050405020303" pitchFamily="18" charset="0"/>
              <a:ea typeface="Inter" pitchFamily="34" charset="-122"/>
            </a:endParaRPr>
          </a:p>
        </p:txBody>
      </p:sp>
      <p:sp>
        <p:nvSpPr>
          <p:cNvPr id="17" name="Text 13"/>
          <p:cNvSpPr/>
          <p:nvPr/>
        </p:nvSpPr>
        <p:spPr>
          <a:xfrm>
            <a:off x="6379369" y="3597883"/>
            <a:ext cx="2471738" cy="312539"/>
          </a:xfrm>
          <a:prstGeom prst="rect">
            <a:avLst/>
          </a:prstGeom>
          <a:noFill/>
          <a:ln/>
        </p:spPr>
        <p:txBody>
          <a:bodyPr wrap="square" lIns="0" tIns="0" rIns="0" bIns="0" rtlCol="0" anchor="t">
            <a:spAutoFit/>
          </a:bodyPr>
          <a:lstStyle/>
          <a:p>
            <a:pPr marL="0" indent="0" algn="l">
              <a:buNone/>
            </a:pPr>
            <a:r>
              <a:rPr lang="en-US" sz="1800" b="1" dirty="0">
                <a:solidFill>
                  <a:srgbClr val="BF3989"/>
                </a:solidFill>
                <a:latin typeface="Inter Bold" pitchFamily="34" charset="0"/>
                <a:ea typeface="Inter Bold" pitchFamily="34" charset="-122"/>
                <a:cs typeface="Inter Bold" pitchFamily="34" charset="-120"/>
              </a:rPr>
              <a:t>16 байт</a:t>
            </a:r>
            <a:endParaRPr lang="en-US" sz="1800" dirty="0"/>
          </a:p>
        </p:txBody>
      </p:sp>
      <p:sp>
        <p:nvSpPr>
          <p:cNvPr id="18" name="Text 14"/>
          <p:cNvSpPr/>
          <p:nvPr/>
        </p:nvSpPr>
        <p:spPr>
          <a:xfrm>
            <a:off x="6379369" y="3967572"/>
            <a:ext cx="982641" cy="135165"/>
          </a:xfrm>
          <a:prstGeom prst="rect">
            <a:avLst/>
          </a:prstGeom>
          <a:noFill/>
          <a:ln/>
        </p:spPr>
        <p:txBody>
          <a:bodyPr wrap="none" lIns="0" tIns="0" rIns="0" bIns="0" rtlCol="0" anchor="t">
            <a:spAutoFit/>
          </a:bodyPr>
          <a:lstStyle/>
          <a:p>
            <a:pPr marL="0" indent="0" algn="l">
              <a:lnSpc>
                <a:spcPct val="112000"/>
              </a:lnSpc>
              <a:buNone/>
            </a:pPr>
            <a:r>
              <a:rPr lang="en-US" sz="850" dirty="0" err="1">
                <a:solidFill>
                  <a:srgbClr val="57606A"/>
                </a:solidFill>
                <a:latin typeface="Georgia" panose="02040502050405020303" pitchFamily="18" charset="0"/>
                <a:ea typeface="Inter" pitchFamily="34" charset="-122"/>
                <a:cs typeface="Inter" pitchFamily="34" charset="-120"/>
              </a:rPr>
              <a:t>гранулярность</a:t>
            </a:r>
            <a:r>
              <a:rPr lang="en-US" sz="850" dirty="0">
                <a:solidFill>
                  <a:srgbClr val="57606A"/>
                </a:solidFill>
                <a:latin typeface="Georgia" panose="02040502050405020303" pitchFamily="18" charset="0"/>
                <a:ea typeface="Inter" pitchFamily="34" charset="-122"/>
                <a:cs typeface="Inter" pitchFamily="34" charset="-120"/>
              </a:rPr>
              <a:t> </a:t>
            </a:r>
            <a:r>
              <a:rPr lang="en-US" sz="850" dirty="0" err="1">
                <a:solidFill>
                  <a:srgbClr val="57606A"/>
                </a:solidFill>
                <a:latin typeface="Georgia" panose="02040502050405020303" pitchFamily="18" charset="0"/>
                <a:ea typeface="Inter" pitchFamily="34" charset="-122"/>
                <a:cs typeface="Inter" pitchFamily="34" charset="-120"/>
              </a:rPr>
              <a:t>тега</a:t>
            </a:r>
            <a:endParaRPr lang="en-US" sz="850" dirty="0">
              <a:latin typeface="Georgia" panose="02040502050405020303" pitchFamily="18" charset="0"/>
            </a:endParaRPr>
          </a:p>
        </p:txBody>
      </p:sp>
      <p:sp>
        <p:nvSpPr>
          <p:cNvPr id="20" name="Text 16"/>
          <p:cNvSpPr/>
          <p:nvPr/>
        </p:nvSpPr>
        <p:spPr>
          <a:xfrm>
            <a:off x="435769" y="4709796"/>
            <a:ext cx="633187" cy="107722"/>
          </a:xfrm>
          <a:prstGeom prst="rect">
            <a:avLst/>
          </a:prstGeom>
          <a:noFill/>
          <a:ln/>
        </p:spPr>
        <p:txBody>
          <a:bodyPr wrap="none" lIns="0" tIns="0" rIns="0" bIns="0" rtlCol="0" anchor="t">
            <a:spAutoFit/>
          </a:bodyPr>
          <a:lstStyle/>
          <a:p>
            <a:pPr marL="0" indent="0" algn="l">
              <a:buNone/>
            </a:pPr>
            <a:r>
              <a:rPr lang="en-US" sz="700" b="1" dirty="0">
                <a:solidFill>
                  <a:srgbClr val="57606A"/>
                </a:solidFill>
                <a:latin typeface="Informal Roman" panose="030604020304060B0204" pitchFamily="66" charset="0"/>
                <a:ea typeface="Inter Bold" pitchFamily="34" charset="-122"/>
                <a:cs typeface="Inter Bold" pitchFamily="34" charset="-120"/>
              </a:rPr>
              <a:t>АРХИТЕКТУРА</a:t>
            </a:r>
            <a:endParaRPr lang="en-US" sz="700" dirty="0">
              <a:latin typeface="Informal Roman" panose="030604020304060B0204" pitchFamily="66" charset="0"/>
            </a:endParaRPr>
          </a:p>
        </p:txBody>
      </p:sp>
      <p:sp>
        <p:nvSpPr>
          <p:cNvPr id="21" name="Text 17"/>
          <p:cNvSpPr/>
          <p:nvPr/>
        </p:nvSpPr>
        <p:spPr>
          <a:xfrm>
            <a:off x="435769" y="4843742"/>
            <a:ext cx="1019510" cy="138499"/>
          </a:xfrm>
          <a:prstGeom prst="rect">
            <a:avLst/>
          </a:prstGeom>
          <a:noFill/>
          <a:ln/>
        </p:spPr>
        <p:txBody>
          <a:bodyPr wrap="none" lIns="0" tIns="0" rIns="0" bIns="0" rtlCol="0" anchor="t">
            <a:spAutoFit/>
          </a:bodyPr>
          <a:lstStyle/>
          <a:p>
            <a:pPr marL="0" indent="0" algn="l">
              <a:buNone/>
            </a:pPr>
            <a:r>
              <a:rPr lang="en-US" sz="900" dirty="0">
                <a:solidFill>
                  <a:srgbClr val="24292F"/>
                </a:solidFill>
                <a:latin typeface="Georgia" panose="02040502050405020303" pitchFamily="18" charset="0"/>
                <a:ea typeface="Inter SemiBold" pitchFamily="34" charset="-122"/>
                <a:cs typeface="Inter SemiBold" pitchFamily="34" charset="-120"/>
              </a:rPr>
              <a:t>Armv8.5-A / Armv9</a:t>
            </a:r>
            <a:endParaRPr lang="en-US" sz="900" dirty="0">
              <a:latin typeface="Georgia" panose="02040502050405020303" pitchFamily="18" charset="0"/>
            </a:endParaRPr>
          </a:p>
        </p:txBody>
      </p:sp>
      <p:sp>
        <p:nvSpPr>
          <p:cNvPr id="22" name="Text 18"/>
          <p:cNvSpPr/>
          <p:nvPr/>
        </p:nvSpPr>
        <p:spPr>
          <a:xfrm>
            <a:off x="3892451" y="4709796"/>
            <a:ext cx="1539478" cy="107722"/>
          </a:xfrm>
          <a:prstGeom prst="rect">
            <a:avLst/>
          </a:prstGeom>
          <a:noFill/>
          <a:ln/>
        </p:spPr>
        <p:txBody>
          <a:bodyPr wrap="square" lIns="0" tIns="0" rIns="0" bIns="0" rtlCol="0" anchor="t">
            <a:spAutoFit/>
          </a:bodyPr>
          <a:lstStyle/>
          <a:p>
            <a:pPr marL="0" indent="0" algn="l">
              <a:buNone/>
            </a:pPr>
            <a:r>
              <a:rPr lang="en-US" sz="700" b="1" dirty="0">
                <a:solidFill>
                  <a:srgbClr val="57606A"/>
                </a:solidFill>
                <a:latin typeface="Informal Roman" panose="030604020304060B0204" pitchFamily="66" charset="0"/>
                <a:ea typeface="Inter Bold" pitchFamily="34" charset="-122"/>
              </a:rPr>
              <a:t>РЕЖИМЫ</a:t>
            </a:r>
          </a:p>
        </p:txBody>
      </p:sp>
      <p:sp>
        <p:nvSpPr>
          <p:cNvPr id="23" name="Text 19"/>
          <p:cNvSpPr/>
          <p:nvPr/>
        </p:nvSpPr>
        <p:spPr>
          <a:xfrm>
            <a:off x="3892451" y="4843742"/>
            <a:ext cx="1539478" cy="138499"/>
          </a:xfrm>
          <a:prstGeom prst="rect">
            <a:avLst/>
          </a:prstGeom>
          <a:noFill/>
          <a:ln/>
        </p:spPr>
        <p:txBody>
          <a:bodyPr wrap="square" lIns="0" tIns="0" rIns="0" bIns="0" rtlCol="0" anchor="t">
            <a:spAutoFit/>
          </a:bodyPr>
          <a:lstStyle/>
          <a:p>
            <a:pPr marL="0" indent="0" algn="l">
              <a:buNone/>
            </a:pPr>
            <a:r>
              <a:rPr lang="en-US" sz="900" dirty="0">
                <a:solidFill>
                  <a:srgbClr val="24292F"/>
                </a:solidFill>
                <a:latin typeface="Georgia" panose="02040502050405020303" pitchFamily="18" charset="0"/>
                <a:ea typeface="Inter SemiBold" pitchFamily="34" charset="-122"/>
                <a:cs typeface="Inter SemiBold" pitchFamily="34" charset="-120"/>
              </a:rPr>
              <a:t>SYNC · ASYNC · ASYMM</a:t>
            </a:r>
            <a:endParaRPr lang="en-US" sz="900" dirty="0">
              <a:latin typeface="Georgia" panose="02040502050405020303" pitchFamily="18" charset="0"/>
            </a:endParaRPr>
          </a:p>
        </p:txBody>
      </p:sp>
      <p:sp>
        <p:nvSpPr>
          <p:cNvPr id="24" name="Text 20"/>
          <p:cNvSpPr/>
          <p:nvPr/>
        </p:nvSpPr>
        <p:spPr>
          <a:xfrm>
            <a:off x="7770089" y="4653583"/>
            <a:ext cx="1032272" cy="323165"/>
          </a:xfrm>
          <a:prstGeom prst="rect">
            <a:avLst/>
          </a:prstGeom>
          <a:noFill/>
          <a:ln/>
        </p:spPr>
        <p:txBody>
          <a:bodyPr wrap="square" lIns="0" tIns="0" rIns="0" bIns="0" rtlCol="0" anchor="t">
            <a:spAutoFit/>
          </a:bodyPr>
          <a:lstStyle/>
          <a:p>
            <a:pPr marL="0" indent="0" algn="r">
              <a:buNone/>
            </a:pPr>
            <a:r>
              <a:rPr lang="en-US" sz="1050" dirty="0">
                <a:solidFill>
                  <a:srgbClr val="24292F"/>
                </a:solidFill>
                <a:latin typeface="Cascadia Code" panose="020B0609020000020004" pitchFamily="49" charset="0"/>
                <a:ea typeface="Inter SemiBold" pitchFamily="34" charset="-122"/>
                <a:cs typeface="Cascadia Code" panose="020B0609020000020004" pitchFamily="49" charset="0"/>
              </a:rPr>
              <a:t>Чжун Цзяцзюнь
Группа: P3210</a:t>
            </a:r>
            <a:endParaRPr lang="en-US" sz="1050" dirty="0">
              <a:latin typeface="Cascadia Code" panose="020B0609020000020004" pitchFamily="49" charset="0"/>
              <a:cs typeface="Cascadia Code" panose="020B0609020000020004" pitchFamily="49"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70–75% всех критических уязвимостей — это ошибки памяти</a:t>
            </a:r>
            <a:endParaRPr lang="en-US" sz="1600" dirty="0"/>
          </a:p>
        </p:txBody>
      </p:sp>
      <p:sp>
        <p:nvSpPr>
          <p:cNvPr id="7" name="Shape 3"/>
          <p:cNvSpPr/>
          <p:nvPr/>
        </p:nvSpPr>
        <p:spPr>
          <a:xfrm>
            <a:off x="7144" y="735806"/>
            <a:ext cx="9129713" cy="2825353"/>
          </a:xfrm>
          <a:prstGeom prst="rect">
            <a:avLst/>
          </a:prstGeom>
          <a:solidFill>
            <a:srgbClr val="000000">
              <a:alpha val="0"/>
            </a:srgbClr>
          </a:solidFill>
          <a:ln/>
        </p:spPr>
      </p:sp>
      <p:sp>
        <p:nvSpPr>
          <p:cNvPr id="8" name="Shape 4"/>
          <p:cNvSpPr/>
          <p:nvPr/>
        </p:nvSpPr>
        <p:spPr>
          <a:xfrm>
            <a:off x="7144" y="3554016"/>
            <a:ext cx="9129713" cy="7144"/>
          </a:xfrm>
          <a:prstGeom prst="rect">
            <a:avLst/>
          </a:prstGeom>
          <a:solidFill>
            <a:srgbClr val="D0D7DE"/>
          </a:solidFill>
          <a:ln/>
        </p:spPr>
      </p:sp>
      <p:sp>
        <p:nvSpPr>
          <p:cNvPr id="9" name="Text 5"/>
          <p:cNvSpPr/>
          <p:nvPr/>
        </p:nvSpPr>
        <p:spPr>
          <a:xfrm>
            <a:off x="292894" y="1021556"/>
            <a:ext cx="2464594"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MICROSOFT / BLUEHAT 2019</a:t>
            </a:r>
            <a:endParaRPr lang="en-US" sz="750" dirty="0"/>
          </a:p>
        </p:txBody>
      </p:sp>
      <p:sp>
        <p:nvSpPr>
          <p:cNvPr id="10" name="Text 6"/>
          <p:cNvSpPr/>
          <p:nvPr/>
        </p:nvSpPr>
        <p:spPr>
          <a:xfrm>
            <a:off x="292894" y="1266230"/>
            <a:ext cx="2464594"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BF3989"/>
                </a:solidFill>
                <a:latin typeface="Fira Code Bold" pitchFamily="34" charset="0"/>
                <a:ea typeface="Fira Code Bold" pitchFamily="34" charset="-122"/>
                <a:cs typeface="Fira Code Bold" pitchFamily="34" charset="-120"/>
              </a:rPr>
              <a:t>70%</a:t>
            </a:r>
            <a:endParaRPr lang="en-US" sz="3300" dirty="0"/>
          </a:p>
        </p:txBody>
      </p:sp>
      <p:sp>
        <p:nvSpPr>
          <p:cNvPr id="11" name="Text 7"/>
          <p:cNvSpPr/>
          <p:nvPr/>
        </p:nvSpPr>
        <p:spPr>
          <a:xfrm>
            <a:off x="292894" y="1837730"/>
            <a:ext cx="2464594" cy="423834"/>
          </a:xfrm>
          <a:prstGeom prst="rect">
            <a:avLst/>
          </a:prstGeom>
          <a:noFill/>
          <a:ln/>
        </p:spPr>
        <p:txBody>
          <a:bodyPr wrap="square" lIns="0" tIns="0" rIns="0" bIns="0" rtlCol="0" anchor="t">
            <a:spAutoFit/>
          </a:bodyPr>
          <a:lstStyle/>
          <a:p>
            <a:pPr marL="0" indent="0" algn="l">
              <a:lnSpc>
                <a:spcPct val="120000"/>
              </a:lnSpc>
              <a:buNone/>
            </a:pP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Всех закрытых CVE в продуктах Microsoft — memory safety violations</a:t>
            </a:r>
            <a:endParaRPr lang="en-US" sz="1200" dirty="0">
              <a:latin typeface="Times New Roman" panose="02020603050405020304" pitchFamily="18" charset="0"/>
              <a:cs typeface="Times New Roman" panose="02020603050405020304" pitchFamily="18" charset="0"/>
            </a:endParaRPr>
          </a:p>
        </p:txBody>
      </p:sp>
      <p:sp>
        <p:nvSpPr>
          <p:cNvPr id="12" name="Text 8"/>
          <p:cNvSpPr/>
          <p:nvPr/>
        </p:nvSpPr>
        <p:spPr>
          <a:xfrm>
            <a:off x="3336131" y="1021556"/>
            <a:ext cx="2464594"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GOOGLE ANDROID</a:t>
            </a:r>
            <a:endParaRPr lang="en-US" sz="750" dirty="0"/>
          </a:p>
        </p:txBody>
      </p:sp>
      <p:sp>
        <p:nvSpPr>
          <p:cNvPr id="13" name="Text 9"/>
          <p:cNvSpPr/>
          <p:nvPr/>
        </p:nvSpPr>
        <p:spPr>
          <a:xfrm>
            <a:off x="3336131" y="1266230"/>
            <a:ext cx="2464594"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2DA44E"/>
                </a:solidFill>
                <a:latin typeface="Fira Code Bold" pitchFamily="34" charset="0"/>
                <a:ea typeface="Fira Code Bold" pitchFamily="34" charset="-122"/>
                <a:cs typeface="Fira Code Bold" pitchFamily="34" charset="-120"/>
              </a:rPr>
              <a:t>75%+</a:t>
            </a:r>
            <a:endParaRPr lang="en-US" sz="3300" dirty="0"/>
          </a:p>
        </p:txBody>
      </p:sp>
      <p:sp>
        <p:nvSpPr>
          <p:cNvPr id="14" name="Text 10"/>
          <p:cNvSpPr/>
          <p:nvPr/>
        </p:nvSpPr>
        <p:spPr>
          <a:xfrm>
            <a:off x="3336131" y="1837730"/>
            <a:ext cx="2464594" cy="423834"/>
          </a:xfrm>
          <a:prstGeom prst="rect">
            <a:avLst/>
          </a:prstGeom>
          <a:noFill/>
          <a:ln/>
        </p:spPr>
        <p:txBody>
          <a:bodyPr wrap="square" lIns="0" tIns="0" rIns="0" bIns="0" rtlCol="0" anchor="t">
            <a:spAutoFit/>
          </a:bodyPr>
          <a:lstStyle/>
          <a:p>
            <a:pPr marL="0" indent="0" algn="l">
              <a:lnSpc>
                <a:spcPct val="120000"/>
              </a:lnSpc>
              <a:buNone/>
            </a:pP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Уязвимостей</a:t>
            </a: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 Android — нарушения memory safety на протяжении 5+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лет</a:t>
            </a:r>
            <a:endParaRPr lang="en-US" sz="1200"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5" name="Text 11"/>
          <p:cNvSpPr/>
          <p:nvPr/>
        </p:nvSpPr>
        <p:spPr>
          <a:xfrm>
            <a:off x="6379369" y="1021556"/>
            <a:ext cx="2471738"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DEBIAN LINUX</a:t>
            </a:r>
            <a:endParaRPr lang="en-US" sz="750" dirty="0"/>
          </a:p>
        </p:txBody>
      </p:sp>
      <p:sp>
        <p:nvSpPr>
          <p:cNvPr id="16" name="Text 12"/>
          <p:cNvSpPr/>
          <p:nvPr/>
        </p:nvSpPr>
        <p:spPr>
          <a:xfrm>
            <a:off x="6379369" y="1266230"/>
            <a:ext cx="2471738" cy="457200"/>
          </a:xfrm>
          <a:prstGeom prst="rect">
            <a:avLst/>
          </a:prstGeom>
          <a:noFill/>
          <a:ln/>
        </p:spPr>
        <p:txBody>
          <a:bodyPr wrap="none" lIns="0" tIns="0" rIns="0" bIns="0" rtlCol="0" anchor="t">
            <a:spAutoFit/>
          </a:bodyPr>
          <a:lstStyle/>
          <a:p>
            <a:pPr marL="0" indent="0" algn="l">
              <a:lnSpc>
                <a:spcPct val="80000"/>
              </a:lnSpc>
              <a:buNone/>
            </a:pPr>
            <a:r>
              <a:rPr lang="en-US" sz="3300" b="1" dirty="0">
                <a:solidFill>
                  <a:srgbClr val="0969DA"/>
                </a:solidFill>
                <a:latin typeface="Fira Code Bold" pitchFamily="34" charset="0"/>
                <a:ea typeface="Fira Code Bold" pitchFamily="34" charset="-122"/>
                <a:cs typeface="Fira Code Bold" pitchFamily="34" charset="-120"/>
              </a:rPr>
              <a:t>500M+</a:t>
            </a:r>
            <a:endParaRPr lang="en-US" sz="3300" dirty="0"/>
          </a:p>
        </p:txBody>
      </p:sp>
      <p:sp>
        <p:nvSpPr>
          <p:cNvPr id="17" name="Text 13"/>
          <p:cNvSpPr/>
          <p:nvPr/>
        </p:nvSpPr>
        <p:spPr>
          <a:xfrm>
            <a:off x="6379369" y="1837730"/>
            <a:ext cx="2471738" cy="423834"/>
          </a:xfrm>
          <a:prstGeom prst="rect">
            <a:avLst/>
          </a:prstGeom>
          <a:noFill/>
          <a:ln/>
        </p:spPr>
        <p:txBody>
          <a:bodyPr wrap="square" lIns="0" tIns="0" rIns="0" bIns="0" rtlCol="0" anchor="t">
            <a:spAutoFit/>
          </a:bodyPr>
          <a:lstStyle/>
          <a:p>
            <a:pPr>
              <a:lnSpc>
                <a:spcPct val="120000"/>
              </a:lnSpc>
            </a:pP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Строк C/C++ кода только в Debian Stretch —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переписать</a:t>
            </a:r>
            <a:r>
              <a:rPr lang="en-US" sz="1200"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1200" dirty="0" err="1">
                <a:solidFill>
                  <a:srgbClr val="24292F"/>
                </a:solidFill>
                <a:latin typeface="Times New Roman" panose="02020603050405020304" pitchFamily="18" charset="0"/>
                <a:ea typeface="Inter" pitchFamily="34" charset="-122"/>
                <a:cs typeface="Times New Roman" panose="02020603050405020304" pitchFamily="18" charset="0"/>
              </a:rPr>
              <a:t>невозможно</a:t>
            </a:r>
            <a:endParaRPr lang="en-US" sz="1200"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8" name="Shape 14"/>
          <p:cNvSpPr/>
          <p:nvPr/>
        </p:nvSpPr>
        <p:spPr>
          <a:xfrm>
            <a:off x="7144" y="3561159"/>
            <a:ext cx="9129713" cy="1575197"/>
          </a:xfrm>
          <a:prstGeom prst="rect">
            <a:avLst/>
          </a:prstGeom>
          <a:solidFill>
            <a:srgbClr val="FFFFFF"/>
          </a:solidFill>
          <a:ln/>
        </p:spPr>
      </p:sp>
      <p:sp>
        <p:nvSpPr>
          <p:cNvPr id="19" name="Text 15"/>
          <p:cNvSpPr/>
          <p:nvPr/>
        </p:nvSpPr>
        <p:spPr>
          <a:xfrm>
            <a:off x="435769" y="3775472"/>
            <a:ext cx="5222081" cy="187523"/>
          </a:xfrm>
          <a:prstGeom prst="rect">
            <a:avLst/>
          </a:prstGeom>
          <a:noFill/>
          <a:ln/>
        </p:spPr>
        <p:txBody>
          <a:bodyPr wrap="square" lIns="0" tIns="0" rIns="0" bIns="0"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Spatial Safety (пространственная)</a:t>
            </a:r>
            <a:endParaRPr lang="en-US" sz="1000" dirty="0"/>
          </a:p>
        </p:txBody>
      </p:sp>
      <p:sp>
        <p:nvSpPr>
          <p:cNvPr id="20" name="Text 16"/>
          <p:cNvSpPr/>
          <p:nvPr/>
        </p:nvSpPr>
        <p:spPr>
          <a:xfrm>
            <a:off x="435769" y="4020145"/>
            <a:ext cx="5222081"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57606A"/>
                </a:solidFill>
                <a:latin typeface="Inter" pitchFamily="34" charset="0"/>
                <a:ea typeface="Inter" pitchFamily="34" charset="-122"/>
                <a:cs typeface="Inter" pitchFamily="34" charset="-120"/>
              </a:rPr>
              <a:t>Доступ за пределами объекта — buffer overflow, heap metadata corruption → ROP-атаки</a:t>
            </a:r>
            <a:endParaRPr lang="en-US" sz="850" dirty="0"/>
          </a:p>
        </p:txBody>
      </p:sp>
      <p:sp>
        <p:nvSpPr>
          <p:cNvPr id="21" name="Text 17"/>
          <p:cNvSpPr/>
          <p:nvPr/>
        </p:nvSpPr>
        <p:spPr>
          <a:xfrm>
            <a:off x="435769" y="4334470"/>
            <a:ext cx="5222081" cy="187523"/>
          </a:xfrm>
          <a:prstGeom prst="rect">
            <a:avLst/>
          </a:prstGeom>
          <a:noFill/>
          <a:ln/>
        </p:spPr>
        <p:txBody>
          <a:bodyPr wrap="square" lIns="0" tIns="0" rIns="0" bIns="0"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Temporal Safety (временна́я)</a:t>
            </a:r>
            <a:endParaRPr lang="en-US" sz="1000" dirty="0"/>
          </a:p>
        </p:txBody>
      </p:sp>
      <p:sp>
        <p:nvSpPr>
          <p:cNvPr id="22" name="Text 18"/>
          <p:cNvSpPr/>
          <p:nvPr/>
        </p:nvSpPr>
        <p:spPr>
          <a:xfrm>
            <a:off x="435769" y="4579144"/>
            <a:ext cx="5222081" cy="342900"/>
          </a:xfrm>
          <a:prstGeom prst="rect">
            <a:avLst/>
          </a:prstGeom>
          <a:noFill/>
          <a:ln/>
        </p:spPr>
        <p:txBody>
          <a:bodyPr wrap="square" lIns="0" tIns="0" rIns="0" bIns="0" rtlCol="0" anchor="t">
            <a:spAutoFit/>
          </a:bodyPr>
          <a:lstStyle/>
          <a:p>
            <a:pPr marL="0" indent="0" algn="l">
              <a:lnSpc>
                <a:spcPct val="120000"/>
              </a:lnSpc>
              <a:buNone/>
            </a:pPr>
            <a:r>
              <a:rPr lang="en-US" sz="850" dirty="0">
                <a:solidFill>
                  <a:srgbClr val="57606A"/>
                </a:solidFill>
                <a:latin typeface="Inter" pitchFamily="34" charset="0"/>
                <a:ea typeface="Inter" pitchFamily="34" charset="-122"/>
                <a:cs typeface="Inter" pitchFamily="34" charset="-120"/>
              </a:rPr>
              <a:t>Использование после освобождения — use-after-free, use-after-return → type confusion, vtable hijacking</a:t>
            </a:r>
            <a:endParaRPr lang="en-US" sz="850" dirty="0"/>
          </a:p>
        </p:txBody>
      </p:sp>
      <p:sp>
        <p:nvSpPr>
          <p:cNvPr id="23" name="Shape 19"/>
          <p:cNvSpPr/>
          <p:nvPr/>
        </p:nvSpPr>
        <p:spPr>
          <a:xfrm>
            <a:off x="6093619" y="3561159"/>
            <a:ext cx="3043238" cy="1575197"/>
          </a:xfrm>
          <a:prstGeom prst="rect">
            <a:avLst/>
          </a:prstGeom>
          <a:solidFill>
            <a:srgbClr val="F6F8FA"/>
          </a:solidFill>
          <a:ln/>
        </p:spPr>
      </p:sp>
      <p:sp>
        <p:nvSpPr>
          <p:cNvPr id="24" name="Text 20"/>
          <p:cNvSpPr/>
          <p:nvPr/>
        </p:nvSpPr>
        <p:spPr>
          <a:xfrm>
            <a:off x="6379369" y="3834464"/>
            <a:ext cx="2471738" cy="916982"/>
          </a:xfrm>
          <a:prstGeom prst="rect">
            <a:avLst/>
          </a:prstGeom>
          <a:noFill/>
          <a:ln/>
        </p:spPr>
        <p:txBody>
          <a:bodyPr wrap="square" lIns="136017" tIns="0" rIns="0" bIns="0" rtlCol="0" anchor="t">
            <a:spAutoFit/>
          </a:bodyPr>
          <a:lstStyle/>
          <a:p>
            <a:pPr marL="0" indent="0" algn="l">
              <a:lnSpc>
                <a:spcPct val="128000"/>
              </a:lnSpc>
              <a:buNone/>
            </a:pPr>
            <a:r>
              <a:rPr lang="en-US" sz="950" dirty="0">
                <a:solidFill>
                  <a:srgbClr val="0969DA"/>
                </a:solidFill>
                <a:latin typeface="Georgia" panose="02040502050405020303" pitchFamily="18" charset="0"/>
                <a:ea typeface="Inter Medium" pitchFamily="34" charset="-122"/>
                <a:cs typeface="Inter Medium" pitchFamily="34" charset="-120"/>
              </a:rPr>
              <a:t>MTE — первый production-ready аппаратный инструмент, обнаруживающий оба класса ошибок с накладными расходами менее 2% в ASYNC-режиме.</a:t>
            </a:r>
            <a:endParaRPr lang="en-US" sz="950" dirty="0">
              <a:latin typeface="Georgia" panose="02040502050405020303"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50644"/>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Lock &amp; Key: 4-битный тег на каждые 16 байт без изменения ABI</a:t>
            </a:r>
            <a:endParaRPr lang="en-US" sz="1600" dirty="0"/>
          </a:p>
        </p:txBody>
      </p:sp>
      <p:sp>
        <p:nvSpPr>
          <p:cNvPr id="7" name="Shape 3"/>
          <p:cNvSpPr/>
          <p:nvPr/>
        </p:nvSpPr>
        <p:spPr>
          <a:xfrm>
            <a:off x="7144" y="735806"/>
            <a:ext cx="4564856" cy="4400550"/>
          </a:xfrm>
          <a:prstGeom prst="rect">
            <a:avLst/>
          </a:prstGeom>
          <a:solidFill>
            <a:srgbClr val="24292F"/>
          </a:solidFill>
          <a:ln/>
        </p:spPr>
      </p:sp>
      <p:sp>
        <p:nvSpPr>
          <p:cNvPr id="8" name="Shape 4"/>
          <p:cNvSpPr/>
          <p:nvPr/>
        </p:nvSpPr>
        <p:spPr>
          <a:xfrm>
            <a:off x="4564856" y="735806"/>
            <a:ext cx="7144" cy="4400550"/>
          </a:xfrm>
          <a:prstGeom prst="rect">
            <a:avLst/>
          </a:prstGeom>
          <a:solidFill>
            <a:srgbClr val="D0D7DE"/>
          </a:solidFill>
          <a:ln/>
        </p:spPr>
      </p:sp>
      <p:sp>
        <p:nvSpPr>
          <p:cNvPr id="9" name="Shape 5"/>
          <p:cNvSpPr/>
          <p:nvPr/>
        </p:nvSpPr>
        <p:spPr>
          <a:xfrm>
            <a:off x="435769" y="1021556"/>
            <a:ext cx="3707606" cy="1357229"/>
          </a:xfrm>
          <a:prstGeom prst="rect">
            <a:avLst/>
          </a:prstGeom>
          <a:solidFill>
            <a:srgbClr val="1F2428"/>
          </a:solidFill>
          <a:ln w="9144">
            <a:solidFill>
              <a:srgbClr val="444C56"/>
            </a:solidFill>
            <a:prstDash val="solid"/>
          </a:ln>
        </p:spPr>
      </p:sp>
      <p:sp>
        <p:nvSpPr>
          <p:cNvPr id="10" name="Text 6"/>
          <p:cNvSpPr/>
          <p:nvPr/>
        </p:nvSpPr>
        <p:spPr>
          <a:xfrm>
            <a:off x="578644" y="1164431"/>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Pointer (64-bit):</a:t>
            </a:r>
            <a:endParaRPr lang="en-US" sz="850" dirty="0"/>
          </a:p>
        </p:txBody>
      </p:sp>
      <p:sp>
        <p:nvSpPr>
          <p:cNvPr id="11" name="Text 7"/>
          <p:cNvSpPr/>
          <p:nvPr/>
        </p:nvSpPr>
        <p:spPr>
          <a:xfrm>
            <a:off x="578644" y="1347295"/>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 </a:t>
            </a:r>
            <a:r>
              <a:rPr lang="en-US" sz="800" b="1" dirty="0">
                <a:solidFill>
                  <a:srgbClr val="BF3989"/>
                </a:solidFill>
                <a:latin typeface="Fira Code Bold" pitchFamily="34" charset="0"/>
                <a:ea typeface="Fira Code Bold" pitchFamily="34" charset="-122"/>
                <a:cs typeface="Fira Code Bold" pitchFamily="34" charset="-120"/>
              </a:rPr>
              <a:t>TAG: 4 bit</a:t>
            </a:r>
            <a:r>
              <a:rPr lang="en-US" sz="850" dirty="0">
                <a:solidFill>
                  <a:srgbClr val="C9D1D9"/>
                </a:solidFill>
                <a:latin typeface="Fira Code" pitchFamily="34" charset="0"/>
                <a:ea typeface="Fira Code" pitchFamily="34" charset="-122"/>
                <a:cs typeface="Fira Code" pitchFamily="34" charset="-120"/>
              </a:rPr>
              <a:t> | Address: 56 bit ]</a:t>
            </a:r>
            <a:endParaRPr lang="en-US" sz="850" dirty="0"/>
          </a:p>
        </p:txBody>
      </p:sp>
      <p:sp>
        <p:nvSpPr>
          <p:cNvPr id="12" name="Text 8"/>
          <p:cNvSpPr/>
          <p:nvPr/>
        </p:nvSpPr>
        <p:spPr>
          <a:xfrm>
            <a:off x="578644" y="1601595"/>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8B949E"/>
                </a:solidFill>
                <a:latin typeface="Fira Code" pitchFamily="34" charset="0"/>
                <a:ea typeface="Fira Code" pitchFamily="34" charset="-122"/>
                <a:cs typeface="Fira Code" pitchFamily="34" charset="-120"/>
              </a:rPr>
              <a:t>↓ сравнивается при load/store</a:t>
            </a:r>
            <a:endParaRPr lang="en-US" sz="850" dirty="0"/>
          </a:p>
        </p:txBody>
      </p:sp>
      <p:sp>
        <p:nvSpPr>
          <p:cNvPr id="13" name="Text 9"/>
          <p:cNvSpPr/>
          <p:nvPr/>
        </p:nvSpPr>
        <p:spPr>
          <a:xfrm>
            <a:off x="578644" y="1855896"/>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Memory (Normal Tagged):</a:t>
            </a:r>
            <a:endParaRPr lang="en-US" sz="850" dirty="0"/>
          </a:p>
        </p:txBody>
      </p:sp>
      <p:sp>
        <p:nvSpPr>
          <p:cNvPr id="14" name="Text 10"/>
          <p:cNvSpPr/>
          <p:nvPr/>
        </p:nvSpPr>
        <p:spPr>
          <a:xfrm>
            <a:off x="578644" y="2038759"/>
            <a:ext cx="3421856" cy="182863"/>
          </a:xfrm>
          <a:prstGeom prst="rect">
            <a:avLst/>
          </a:prstGeom>
          <a:noFill/>
          <a:ln/>
        </p:spPr>
        <p:txBody>
          <a:bodyPr wrap="none" lIns="0" tIns="0" rIns="0" bIns="0" rtlCol="0" anchor="t">
            <a:spAutoFit/>
          </a:bodyPr>
          <a:lstStyle/>
          <a:p>
            <a:pPr marL="0" indent="0" algn="l">
              <a:lnSpc>
                <a:spcPct val="128000"/>
              </a:lnSpc>
              <a:buNone/>
            </a:pPr>
            <a:r>
              <a:rPr lang="en-US" sz="850" dirty="0">
                <a:solidFill>
                  <a:srgbClr val="C9D1D9"/>
                </a:solidFill>
                <a:latin typeface="Fira Code" pitchFamily="34" charset="0"/>
                <a:ea typeface="Fira Code" pitchFamily="34" charset="-122"/>
                <a:cs typeface="Fira Code" pitchFamily="34" charset="-120"/>
              </a:rPr>
              <a:t>[ </a:t>
            </a:r>
            <a:r>
              <a:rPr lang="en-US" sz="800" b="1" dirty="0">
                <a:solidFill>
                  <a:srgbClr val="2DA44E"/>
                </a:solidFill>
                <a:latin typeface="Fira Code Bold" pitchFamily="34" charset="0"/>
                <a:ea typeface="Fira Code Bold" pitchFamily="34" charset="-122"/>
                <a:cs typeface="Fira Code Bold" pitchFamily="34" charset="-120"/>
              </a:rPr>
              <a:t>ALLOC TAG: 4 bit</a:t>
            </a:r>
            <a:r>
              <a:rPr lang="en-US" sz="850" dirty="0">
                <a:solidFill>
                  <a:srgbClr val="C9D1D9"/>
                </a:solidFill>
                <a:latin typeface="Fira Code" pitchFamily="34" charset="0"/>
                <a:ea typeface="Fira Code" pitchFamily="34" charset="-122"/>
                <a:cs typeface="Fira Code" pitchFamily="34" charset="-120"/>
              </a:rPr>
              <a:t> | 16 bytes data ]</a:t>
            </a:r>
            <a:endParaRPr lang="en-US" sz="850" dirty="0"/>
          </a:p>
        </p:txBody>
      </p:sp>
      <p:sp>
        <p:nvSpPr>
          <p:cNvPr id="15" name="Text 11"/>
          <p:cNvSpPr/>
          <p:nvPr/>
        </p:nvSpPr>
        <p:spPr>
          <a:xfrm>
            <a:off x="435769" y="2578810"/>
            <a:ext cx="87930" cy="187523"/>
          </a:xfrm>
          <a:prstGeom prst="rect">
            <a:avLst/>
          </a:prstGeom>
          <a:noFill/>
          <a:ln/>
        </p:spPr>
        <p:txBody>
          <a:bodyPr wrap="none" lIns="0" tIns="0" rIns="0" bIns="0" rtlCol="0" anchor="t">
            <a:spAutoFit/>
          </a:bodyPr>
          <a:lstStyle/>
          <a:p>
            <a:pPr marL="0" indent="0" algn="l">
              <a:buNone/>
            </a:pPr>
            <a:r>
              <a:rPr lang="en-US" sz="1000" b="1" dirty="0">
                <a:solidFill>
                  <a:srgbClr val="2DA44E"/>
                </a:solidFill>
                <a:latin typeface="Fira Code Bold" pitchFamily="34" charset="0"/>
                <a:ea typeface="Fira Code Bold" pitchFamily="34" charset="-122"/>
                <a:cs typeface="Fira Code Bold" pitchFamily="34" charset="-120"/>
              </a:rPr>
              <a:t>✓</a:t>
            </a:r>
            <a:endParaRPr lang="en-US" sz="1000" dirty="0"/>
          </a:p>
        </p:txBody>
      </p:sp>
      <p:sp>
        <p:nvSpPr>
          <p:cNvPr id="16" name="Text 12"/>
          <p:cNvSpPr/>
          <p:nvPr/>
        </p:nvSpPr>
        <p:spPr>
          <a:xfrm>
            <a:off x="609423" y="2578810"/>
            <a:ext cx="3018234" cy="130805"/>
          </a:xfrm>
          <a:prstGeom prst="rect">
            <a:avLst/>
          </a:prstGeom>
          <a:noFill/>
          <a:ln/>
        </p:spPr>
        <p:txBody>
          <a:bodyPr wrap="square" lIns="0" tIns="0" rIns="0" bIns="0" rtlCol="0" anchor="t">
            <a:spAutoFit/>
          </a:bodyPr>
          <a:lstStyle/>
          <a:p>
            <a:pPr marL="0" indent="0" algn="l">
              <a:buNone/>
            </a:pPr>
            <a:r>
              <a:rPr lang="en-US" sz="850" dirty="0">
                <a:solidFill>
                  <a:srgbClr val="F6F8FA"/>
                </a:solidFill>
                <a:latin typeface="Georgia" panose="02040502050405020303" pitchFamily="18" charset="0"/>
                <a:ea typeface="Inter" pitchFamily="34" charset="-122"/>
                <a:cs typeface="Inter" pitchFamily="34" charset="-120"/>
              </a:rPr>
              <a:t>Теги совпали → доступ разрешён, нулевые задержки</a:t>
            </a:r>
            <a:endParaRPr lang="en-US" sz="850" dirty="0">
              <a:latin typeface="Georgia" panose="02040502050405020303" pitchFamily="18" charset="0"/>
            </a:endParaRPr>
          </a:p>
        </p:txBody>
      </p:sp>
      <p:sp>
        <p:nvSpPr>
          <p:cNvPr id="17" name="Text 13"/>
          <p:cNvSpPr/>
          <p:nvPr/>
        </p:nvSpPr>
        <p:spPr>
          <a:xfrm>
            <a:off x="435769" y="2852058"/>
            <a:ext cx="119658" cy="187523"/>
          </a:xfrm>
          <a:prstGeom prst="rect">
            <a:avLst/>
          </a:prstGeom>
          <a:noFill/>
          <a:ln/>
        </p:spPr>
        <p:txBody>
          <a:bodyPr wrap="none" lIns="0" tIns="0" rIns="0" bIns="0" rtlCol="0" anchor="t">
            <a:spAutoFit/>
          </a:bodyPr>
          <a:lstStyle/>
          <a:p>
            <a:pPr marL="0" indent="0" algn="l">
              <a:buNone/>
            </a:pPr>
            <a:r>
              <a:rPr lang="en-US" sz="1000" b="1" dirty="0">
                <a:solidFill>
                  <a:srgbClr val="BF3989"/>
                </a:solidFill>
                <a:latin typeface="Fira Code Bold" pitchFamily="34" charset="0"/>
                <a:ea typeface="Fira Code Bold" pitchFamily="34" charset="-122"/>
                <a:cs typeface="Fira Code Bold" pitchFamily="34" charset="-120"/>
              </a:rPr>
              <a:t>✗</a:t>
            </a:r>
            <a:endParaRPr lang="en-US" sz="1000" dirty="0"/>
          </a:p>
        </p:txBody>
      </p:sp>
      <p:sp>
        <p:nvSpPr>
          <p:cNvPr id="18" name="Text 14"/>
          <p:cNvSpPr/>
          <p:nvPr/>
        </p:nvSpPr>
        <p:spPr>
          <a:xfrm>
            <a:off x="641152" y="2852058"/>
            <a:ext cx="3502223" cy="130805"/>
          </a:xfrm>
          <a:prstGeom prst="rect">
            <a:avLst/>
          </a:prstGeom>
          <a:noFill/>
          <a:ln/>
        </p:spPr>
        <p:txBody>
          <a:bodyPr wrap="square" lIns="0" tIns="0" rIns="0" bIns="0" rtlCol="0" anchor="t">
            <a:spAutoFit/>
          </a:bodyPr>
          <a:lstStyle/>
          <a:p>
            <a:r>
              <a:rPr lang="en-US" sz="850" dirty="0">
                <a:solidFill>
                  <a:srgbClr val="F6F8FA"/>
                </a:solidFill>
                <a:latin typeface="Georgia" panose="02040502050405020303" pitchFamily="18" charset="0"/>
                <a:ea typeface="Inter" pitchFamily="34" charset="-122"/>
              </a:rPr>
              <a:t>Теги не совпали → SIGSEGV (SYNC) или флаг в TFSR_ELx (ASYNC)</a:t>
            </a:r>
          </a:p>
        </p:txBody>
      </p:sp>
      <p:sp>
        <p:nvSpPr>
          <p:cNvPr id="19" name="Shape 15"/>
          <p:cNvSpPr/>
          <p:nvPr/>
        </p:nvSpPr>
        <p:spPr>
          <a:xfrm>
            <a:off x="435769" y="3341405"/>
            <a:ext cx="3707606" cy="750094"/>
          </a:xfrm>
          <a:prstGeom prst="rect">
            <a:avLst/>
          </a:prstGeom>
          <a:solidFill>
            <a:srgbClr val="1F2428"/>
          </a:solidFill>
          <a:ln w="9144">
            <a:solidFill>
              <a:srgbClr val="444C56"/>
            </a:solidFill>
            <a:prstDash val="solid"/>
          </a:ln>
        </p:spPr>
      </p:sp>
      <p:sp>
        <p:nvSpPr>
          <p:cNvPr id="20" name="Text 16"/>
          <p:cNvSpPr/>
          <p:nvPr/>
        </p:nvSpPr>
        <p:spPr>
          <a:xfrm>
            <a:off x="578644" y="3484280"/>
            <a:ext cx="3421856" cy="150019"/>
          </a:xfrm>
          <a:prstGeom prst="rect">
            <a:avLst/>
          </a:prstGeom>
          <a:noFill/>
          <a:ln/>
        </p:spPr>
        <p:txBody>
          <a:bodyPr wrap="square" lIns="0" tIns="0" rIns="0" bIns="0" rtlCol="0" anchor="t">
            <a:spAutoFit/>
          </a:bodyPr>
          <a:lstStyle/>
          <a:p>
            <a:pPr marL="0" indent="0" algn="l">
              <a:buNone/>
            </a:pPr>
            <a:r>
              <a:rPr lang="en-US" sz="850" dirty="0">
                <a:solidFill>
                  <a:srgbClr val="8B949E"/>
                </a:solidFill>
                <a:latin typeface="Fira Code" pitchFamily="34" charset="0"/>
                <a:ea typeface="Fira Code" pitchFamily="34" charset="-122"/>
                <a:cs typeface="Fira Code" pitchFamily="34" charset="-120"/>
              </a:rPr>
              <a:t>// Top Byte Ignore (TBI)</a:t>
            </a:r>
            <a:endParaRPr lang="en-US" sz="850" dirty="0"/>
          </a:p>
        </p:txBody>
      </p:sp>
      <p:sp>
        <p:nvSpPr>
          <p:cNvPr id="21" name="Text 17"/>
          <p:cNvSpPr/>
          <p:nvPr/>
        </p:nvSpPr>
        <p:spPr>
          <a:xfrm>
            <a:off x="578644" y="3634299"/>
            <a:ext cx="3421856" cy="150019"/>
          </a:xfrm>
          <a:prstGeom prst="rect">
            <a:avLst/>
          </a:prstGeom>
          <a:noFill/>
          <a:ln/>
        </p:spPr>
        <p:txBody>
          <a:bodyPr wrap="square" lIns="0" tIns="0" rIns="0" bIns="0" rtlCol="0" anchor="t">
            <a:spAutoFit/>
          </a:bodyPr>
          <a:lstStyle/>
          <a:p>
            <a:pPr marL="0" indent="0" algn="l">
              <a:buNone/>
            </a:pPr>
            <a:r>
              <a:rPr lang="en-US" sz="850" dirty="0">
                <a:solidFill>
                  <a:srgbClr val="C9D1D9"/>
                </a:solidFill>
                <a:latin typeface="Fira Code" pitchFamily="34" charset="0"/>
                <a:ea typeface="Fira Code" pitchFamily="34" charset="-122"/>
                <a:cs typeface="Fira Code" pitchFamily="34" charset="-120"/>
              </a:rPr>
              <a:t>ptr = </a:t>
            </a:r>
            <a:r>
              <a:rPr lang="en-US" sz="800" b="1" dirty="0">
                <a:solidFill>
                  <a:srgbClr val="BF3989"/>
                </a:solidFill>
                <a:latin typeface="Fira Code Bold" pitchFamily="34" charset="0"/>
                <a:ea typeface="Fira Code Bold" pitchFamily="34" charset="-122"/>
                <a:cs typeface="Fira Code Bold" pitchFamily="34" charset="-120"/>
              </a:rPr>
              <a:t>0xA</a:t>
            </a:r>
            <a:r>
              <a:rPr lang="en-US" sz="850" dirty="0">
                <a:solidFill>
                  <a:srgbClr val="C9D1D9"/>
                </a:solidFill>
                <a:latin typeface="Fira Code" pitchFamily="34" charset="0"/>
                <a:ea typeface="Fira Code" pitchFamily="34" charset="-122"/>
                <a:cs typeface="Fira Code" pitchFamily="34" charset="-120"/>
              </a:rPr>
              <a:t>700007FFF0040</a:t>
            </a:r>
            <a:endParaRPr lang="en-US" sz="850" dirty="0"/>
          </a:p>
        </p:txBody>
      </p:sp>
      <p:sp>
        <p:nvSpPr>
          <p:cNvPr id="22" name="Text 18"/>
          <p:cNvSpPr/>
          <p:nvPr/>
        </p:nvSpPr>
        <p:spPr>
          <a:xfrm>
            <a:off x="578644" y="3784318"/>
            <a:ext cx="3421856" cy="150019"/>
          </a:xfrm>
          <a:prstGeom prst="rect">
            <a:avLst/>
          </a:prstGeom>
          <a:noFill/>
          <a:ln/>
        </p:spPr>
        <p:txBody>
          <a:bodyPr wrap="square" lIns="0" tIns="0" rIns="0" bIns="0" rtlCol="0" anchor="t">
            <a:spAutoFit/>
          </a:bodyPr>
          <a:lstStyle/>
          <a:p>
            <a:pPr marL="0" indent="0" algn="l">
              <a:buNone/>
            </a:pPr>
            <a:r>
              <a:rPr lang="en-US" sz="850" dirty="0">
                <a:solidFill>
                  <a:srgbClr val="8B949E"/>
                </a:solidFill>
                <a:latin typeface="Fira Code" pitchFamily="34" charset="0"/>
                <a:ea typeface="Fira Code" pitchFamily="34" charset="-122"/>
                <a:cs typeface="Fira Code" pitchFamily="34" charset="-120"/>
              </a:rPr>
              <a:t>// ↑ tag ↑ 56-bit address</a:t>
            </a:r>
            <a:endParaRPr lang="en-US" sz="850" dirty="0"/>
          </a:p>
        </p:txBody>
      </p:sp>
      <p:sp>
        <p:nvSpPr>
          <p:cNvPr id="23" name="Shape 19"/>
          <p:cNvSpPr/>
          <p:nvPr/>
        </p:nvSpPr>
        <p:spPr>
          <a:xfrm>
            <a:off x="4572000" y="735806"/>
            <a:ext cx="4564856" cy="4400550"/>
          </a:xfrm>
          <a:prstGeom prst="rect">
            <a:avLst/>
          </a:prstGeom>
          <a:solidFill>
            <a:srgbClr val="FFFFFF"/>
          </a:solidFill>
          <a:ln/>
        </p:spPr>
      </p:sp>
      <p:sp>
        <p:nvSpPr>
          <p:cNvPr id="24" name="Text 20"/>
          <p:cNvSpPr/>
          <p:nvPr/>
        </p:nvSpPr>
        <p:spPr>
          <a:xfrm>
            <a:off x="5000625" y="1021556"/>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1. Tag Granule = 16 байт</a:t>
            </a:r>
            <a:endParaRPr lang="en-US" sz="1000" dirty="0"/>
          </a:p>
        </p:txBody>
      </p:sp>
      <p:sp>
        <p:nvSpPr>
          <p:cNvPr id="25" name="Text 21"/>
          <p:cNvSpPr/>
          <p:nvPr/>
        </p:nvSpPr>
        <p:spPr>
          <a:xfrm>
            <a:off x="5000625" y="1266230"/>
            <a:ext cx="3707606" cy="537904"/>
          </a:xfrm>
          <a:prstGeom prst="rect">
            <a:avLst/>
          </a:prstGeom>
          <a:noFill/>
          <a:ln/>
        </p:spPr>
        <p:txBody>
          <a:bodyPr wrap="square" lIns="0" tIns="0" rIns="0" bIns="0" rtlCol="0" anchor="t">
            <a:spAutoFit/>
          </a:bodyPr>
          <a:lstStyle/>
          <a:p>
            <a:pPr>
              <a:lnSpc>
                <a:spcPct val="120000"/>
              </a:lnSpc>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Каждые 16 байт физической памяти получают один 4-битный тег; выравнивание объектов гарантирует детерминированное обнаружение соседних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переполнений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6" name="Text 22"/>
          <p:cNvSpPr/>
          <p:nvPr/>
        </p:nvSpPr>
        <p:spPr>
          <a:xfrm>
            <a:off x="5000625" y="2102048"/>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2. 4-битный тег = 16 значений</a:t>
            </a:r>
            <a:endParaRPr lang="en-US" sz="1000" dirty="0"/>
          </a:p>
        </p:txBody>
      </p:sp>
      <p:sp>
        <p:nvSpPr>
          <p:cNvPr id="27" name="Text 23"/>
          <p:cNvSpPr/>
          <p:nvPr/>
        </p:nvSpPr>
        <p:spPr>
          <a:xfrm>
            <a:off x="5000625" y="2346722"/>
            <a:ext cx="3707606" cy="353238"/>
          </a:xfrm>
          <a:prstGeom prst="rect">
            <a:avLst/>
          </a:prstGeom>
          <a:noFill/>
          <a:ln/>
        </p:spPr>
        <p:txBody>
          <a:bodyPr wrap="square" lIns="0" tIns="0" rIns="0" bIns="0" rtlCol="0" anchor="t">
            <a:spAutoFit/>
          </a:bodyPr>
          <a:lstStyle/>
          <a:p>
            <a:pPr marL="0" indent="0" algn="l">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Logical tag в старшем байте указателя через TBI без расширения ABI; вероятность ложного совпадения: 1/16 ≈ 6.25%.</a:t>
            </a:r>
            <a:endParaRPr lang="en-US" sz="1000" dirty="0">
              <a:latin typeface="Times New Roman" panose="02020603050405020304" pitchFamily="18" charset="0"/>
              <a:cs typeface="Times New Roman" panose="02020603050405020304" pitchFamily="18" charset="0"/>
            </a:endParaRPr>
          </a:p>
        </p:txBody>
      </p:sp>
      <p:sp>
        <p:nvSpPr>
          <p:cNvPr id="28" name="Text 24"/>
          <p:cNvSpPr/>
          <p:nvPr/>
        </p:nvSpPr>
        <p:spPr>
          <a:xfrm>
            <a:off x="5000625" y="3011091"/>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3. IRG — аппаратная генерация</a:t>
            </a:r>
            <a:endParaRPr lang="en-US" sz="1000" dirty="0"/>
          </a:p>
        </p:txBody>
      </p:sp>
      <p:sp>
        <p:nvSpPr>
          <p:cNvPr id="29" name="Text 25"/>
          <p:cNvSpPr/>
          <p:nvPr/>
        </p:nvSpPr>
        <p:spPr>
          <a:xfrm>
            <a:off x="5000625" y="3255764"/>
            <a:ext cx="3707606" cy="537904"/>
          </a:xfrm>
          <a:prstGeom prst="rect">
            <a:avLst/>
          </a:prstGeom>
          <a:noFill/>
          <a:ln/>
        </p:spPr>
        <p:txBody>
          <a:bodyPr wrap="square" lIns="0" tIns="0" rIns="0" bIns="0" rtlCol="0" anchor="t">
            <a:spAutoFit/>
          </a:bodyPr>
          <a:lstStyle/>
          <a:p>
            <a:pPr>
              <a:lnSpc>
                <a:spcPct val="120000"/>
              </a:lnSpc>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Аллокатор всегда назначает соседним блокам разные теги; последовательные переполнения обнаруживаются с вероятностью 1.</a:t>
            </a:r>
          </a:p>
        </p:txBody>
      </p:sp>
      <p:sp>
        <p:nvSpPr>
          <p:cNvPr id="30" name="Text 26"/>
          <p:cNvSpPr/>
          <p:nvPr/>
        </p:nvSpPr>
        <p:spPr>
          <a:xfrm>
            <a:off x="5000625" y="4091583"/>
            <a:ext cx="3707606" cy="187523"/>
          </a:xfrm>
          <a:prstGeom prst="rect">
            <a:avLst/>
          </a:prstGeom>
          <a:noFill/>
          <a:ln/>
        </p:spPr>
        <p:txBody>
          <a:bodyPr wrap="square" lIns="0" tIns="0" rIns="0" bIns="0" rtlCol="0" anchor="t">
            <a:spAutoFit/>
          </a:bodyPr>
          <a:lstStyle/>
          <a:p>
            <a:pPr marL="0" indent="0" algn="l">
              <a:buNone/>
            </a:pPr>
            <a:r>
              <a:rPr lang="en-US" sz="1000" b="1" dirty="0">
                <a:solidFill>
                  <a:srgbClr val="0969DA"/>
                </a:solidFill>
                <a:latin typeface="Fira Code Bold" pitchFamily="34" charset="0"/>
                <a:ea typeface="Fira Code Bold" pitchFamily="34" charset="-122"/>
                <a:cs typeface="Fira Code Bold" pitchFamily="34" charset="-120"/>
              </a:rPr>
              <a:t>4. Normal Tagged Memory</a:t>
            </a:r>
            <a:endParaRPr lang="en-US" sz="1000" dirty="0"/>
          </a:p>
        </p:txBody>
      </p:sp>
      <p:sp>
        <p:nvSpPr>
          <p:cNvPr id="31" name="Text 27"/>
          <p:cNvSpPr/>
          <p:nvPr/>
        </p:nvSpPr>
        <p:spPr>
          <a:xfrm>
            <a:off x="5000625" y="4336256"/>
            <a:ext cx="3707606" cy="353238"/>
          </a:xfrm>
          <a:prstGeom prst="rect">
            <a:avLst/>
          </a:prstGeom>
          <a:noFill/>
          <a:ln/>
        </p:spPr>
        <p:txBody>
          <a:bodyPr wrap="square" lIns="0" tIns="0" rIns="0" bIns="0" rtlCol="0" anchor="t">
            <a:spAutoFit/>
          </a:bodyPr>
          <a:lstStyle/>
          <a:p>
            <a:pPr indent="0">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Новый тип памяти в Armv8.5-A; только обращения к нему проверяются; существующий код выигрывает без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перекомпиляции</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1035844"/>
          </a:xfrm>
          <a:prstGeom prst="rect">
            <a:avLst/>
          </a:prstGeom>
          <a:solidFill>
            <a:srgbClr val="FFFFFF"/>
          </a:solidFill>
          <a:ln/>
        </p:spPr>
      </p:sp>
      <p:sp>
        <p:nvSpPr>
          <p:cNvPr id="5" name="Shape 1"/>
          <p:cNvSpPr/>
          <p:nvPr/>
        </p:nvSpPr>
        <p:spPr>
          <a:xfrm>
            <a:off x="7144" y="1035844"/>
            <a:ext cx="9129713" cy="7144"/>
          </a:xfrm>
          <a:prstGeom prst="rect">
            <a:avLst/>
          </a:prstGeom>
          <a:solidFill>
            <a:srgbClr val="D0D7DE"/>
          </a:solidFill>
          <a:ln/>
        </p:spPr>
      </p:sp>
      <p:sp>
        <p:nvSpPr>
          <p:cNvPr id="6" name="Text 2"/>
          <p:cNvSpPr/>
          <p:nvPr/>
        </p:nvSpPr>
        <p:spPr>
          <a:xfrm>
            <a:off x="435769" y="292894"/>
            <a:ext cx="827246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Три категории инструкций: теги памяти, арифметика указателей, системный уровень</a:t>
            </a:r>
            <a:endParaRPr lang="en-US" sz="1600" dirty="0"/>
          </a:p>
        </p:txBody>
      </p:sp>
      <p:sp>
        <p:nvSpPr>
          <p:cNvPr id="7" name="Shape 3"/>
          <p:cNvSpPr/>
          <p:nvPr/>
        </p:nvSpPr>
        <p:spPr>
          <a:xfrm>
            <a:off x="7144" y="1035844"/>
            <a:ext cx="9129713" cy="4100513"/>
          </a:xfrm>
          <a:prstGeom prst="rect">
            <a:avLst/>
          </a:prstGeom>
          <a:solidFill>
            <a:srgbClr val="FFFFFF"/>
          </a:solidFill>
          <a:ln/>
        </p:spPr>
      </p:sp>
      <p:sp>
        <p:nvSpPr>
          <p:cNvPr id="8" name="Text 4"/>
          <p:cNvSpPr/>
          <p:nvPr/>
        </p:nvSpPr>
        <p:spPr>
          <a:xfrm>
            <a:off x="292894" y="1250156"/>
            <a:ext cx="2464594" cy="253603"/>
          </a:xfrm>
          <a:prstGeom prst="rect">
            <a:avLst/>
          </a:prstGeom>
          <a:noFill/>
          <a:ln/>
        </p:spPr>
        <p:txBody>
          <a:bodyPr wrap="square" lIns="0" tIns="0" rIns="0" bIns="8509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TAG MEMORY OPERATIONS</a:t>
            </a:r>
            <a:endParaRPr lang="en-US" sz="900" dirty="0"/>
          </a:p>
        </p:txBody>
      </p:sp>
      <p:sp>
        <p:nvSpPr>
          <p:cNvPr id="9" name="Text 5"/>
          <p:cNvSpPr/>
          <p:nvPr/>
        </p:nvSpPr>
        <p:spPr>
          <a:xfrm>
            <a:off x="292894" y="1646634"/>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IRG</a:t>
            </a:r>
            <a:endParaRPr lang="en-US" sz="800" dirty="0"/>
          </a:p>
        </p:txBody>
      </p:sp>
      <p:sp>
        <p:nvSpPr>
          <p:cNvPr id="10" name="Text 6"/>
          <p:cNvSpPr/>
          <p:nvPr/>
        </p:nvSpPr>
        <p:spPr>
          <a:xfrm>
            <a:off x="292894" y="1825228"/>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Генерация случайного тега в регистр — основа статистической гарантии</a:t>
            </a:r>
            <a:endParaRPr lang="en-US" sz="900" dirty="0">
              <a:latin typeface="Times New Roman" panose="02020603050405020304" pitchFamily="18" charset="0"/>
              <a:cs typeface="Times New Roman" panose="02020603050405020304" pitchFamily="18" charset="0"/>
            </a:endParaRPr>
          </a:p>
        </p:txBody>
      </p:sp>
      <p:sp>
        <p:nvSpPr>
          <p:cNvPr id="11" name="Text 7"/>
          <p:cNvSpPr/>
          <p:nvPr/>
        </p:nvSpPr>
        <p:spPr>
          <a:xfrm>
            <a:off x="292894" y="2239566"/>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 / STZG</a:t>
            </a:r>
            <a:endParaRPr lang="en-US" sz="800" dirty="0"/>
          </a:p>
        </p:txBody>
      </p:sp>
      <p:sp>
        <p:nvSpPr>
          <p:cNvPr id="12" name="Text 8"/>
          <p:cNvSpPr/>
          <p:nvPr/>
        </p:nvSpPr>
        <p:spPr>
          <a:xfrm>
            <a:off x="292894" y="2356063"/>
            <a:ext cx="1612621"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Запись тега без / с </a:t>
            </a:r>
            <a:r>
              <a:rPr lang="en-US" sz="900" dirty="0" err="1">
                <a:solidFill>
                  <a:srgbClr val="57606A"/>
                </a:solidFill>
                <a:latin typeface="Times New Roman" panose="02020603050405020304" pitchFamily="18" charset="0"/>
                <a:ea typeface="Inter" pitchFamily="34" charset="-122"/>
                <a:cs typeface="Times New Roman" panose="02020603050405020304" pitchFamily="18" charset="0"/>
              </a:rPr>
              <a:t>обнулением</a:t>
            </a: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900" dirty="0" err="1">
                <a:solidFill>
                  <a:srgbClr val="57606A"/>
                </a:solidFill>
                <a:latin typeface="Times New Roman" panose="02020603050405020304" pitchFamily="18" charset="0"/>
                <a:ea typeface="Inter" pitchFamily="34" charset="-122"/>
                <a:cs typeface="Times New Roman" panose="02020603050405020304" pitchFamily="18" charset="0"/>
              </a:rPr>
              <a:t>данных</a:t>
            </a:r>
            <a:endParaRPr lang="en-US" sz="900" dirty="0">
              <a:solidFill>
                <a:srgbClr val="57606A"/>
              </a:solidFill>
              <a:latin typeface="Times New Roman" panose="02020603050405020304" pitchFamily="18" charset="0"/>
              <a:ea typeface="Inter" pitchFamily="34" charset="-122"/>
              <a:cs typeface="Times New Roman" panose="02020603050405020304" pitchFamily="18" charset="0"/>
            </a:endParaRPr>
          </a:p>
        </p:txBody>
      </p:sp>
      <p:sp>
        <p:nvSpPr>
          <p:cNvPr id="13" name="Text 9"/>
          <p:cNvSpPr/>
          <p:nvPr/>
        </p:nvSpPr>
        <p:spPr>
          <a:xfrm>
            <a:off x="292894" y="2682478"/>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LDG</a:t>
            </a:r>
            <a:endParaRPr lang="en-US" sz="800" dirty="0"/>
          </a:p>
        </p:txBody>
      </p:sp>
      <p:sp>
        <p:nvSpPr>
          <p:cNvPr id="14" name="Text 10"/>
          <p:cNvSpPr/>
          <p:nvPr/>
        </p:nvSpPr>
        <p:spPr>
          <a:xfrm>
            <a:off x="292894" y="2861072"/>
            <a:ext cx="1590179"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Чтение тега из памяти в регистр</a:t>
            </a:r>
            <a:endParaRPr lang="en-US" sz="900" dirty="0">
              <a:latin typeface="Times New Roman" panose="02020603050405020304" pitchFamily="18" charset="0"/>
              <a:cs typeface="Times New Roman" panose="02020603050405020304" pitchFamily="18" charset="0"/>
            </a:endParaRPr>
          </a:p>
        </p:txBody>
      </p:sp>
      <p:sp>
        <p:nvSpPr>
          <p:cNvPr id="15" name="Text 11"/>
          <p:cNvSpPr/>
          <p:nvPr/>
        </p:nvSpPr>
        <p:spPr>
          <a:xfrm>
            <a:off x="292894" y="3125391"/>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ST2G / STZ2G</a:t>
            </a:r>
            <a:endParaRPr lang="en-US" sz="800" dirty="0"/>
          </a:p>
        </p:txBody>
      </p:sp>
      <p:sp>
        <p:nvSpPr>
          <p:cNvPr id="16" name="Text 12"/>
          <p:cNvSpPr/>
          <p:nvPr/>
        </p:nvSpPr>
        <p:spPr>
          <a:xfrm>
            <a:off x="292894" y="3303984"/>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Операции на двух гранулах — эффективнее для крупных блоков</a:t>
            </a:r>
            <a:endParaRPr lang="en-US" sz="900" dirty="0">
              <a:latin typeface="Times New Roman" panose="02020603050405020304" pitchFamily="18" charset="0"/>
              <a:cs typeface="Times New Roman" panose="02020603050405020304" pitchFamily="18" charset="0"/>
            </a:endParaRPr>
          </a:p>
        </p:txBody>
      </p:sp>
      <p:sp>
        <p:nvSpPr>
          <p:cNvPr id="17" name="Text 13"/>
          <p:cNvSpPr/>
          <p:nvPr/>
        </p:nvSpPr>
        <p:spPr>
          <a:xfrm>
            <a:off x="292894" y="3718322"/>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STGP</a:t>
            </a:r>
            <a:endParaRPr lang="en-US" sz="800" dirty="0"/>
          </a:p>
        </p:txBody>
      </p:sp>
      <p:sp>
        <p:nvSpPr>
          <p:cNvPr id="18" name="Text 14"/>
          <p:cNvSpPr/>
          <p:nvPr/>
        </p:nvSpPr>
        <p:spPr>
          <a:xfrm>
            <a:off x="292894" y="3896916"/>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Совместная запись тега и данных одной инструкцией</a:t>
            </a:r>
            <a:endParaRPr lang="en-US" sz="900" dirty="0">
              <a:latin typeface="Times New Roman" panose="02020603050405020304" pitchFamily="18" charset="0"/>
              <a:cs typeface="Times New Roman" panose="02020603050405020304" pitchFamily="18" charset="0"/>
            </a:endParaRPr>
          </a:p>
        </p:txBody>
      </p:sp>
      <p:sp>
        <p:nvSpPr>
          <p:cNvPr id="19" name="Text 15"/>
          <p:cNvSpPr/>
          <p:nvPr/>
        </p:nvSpPr>
        <p:spPr>
          <a:xfrm>
            <a:off x="292894" y="4311253"/>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GMI</a:t>
            </a:r>
            <a:endParaRPr lang="en-US" sz="800" dirty="0"/>
          </a:p>
        </p:txBody>
      </p:sp>
      <p:sp>
        <p:nvSpPr>
          <p:cNvPr id="20" name="Text 16"/>
          <p:cNvSpPr/>
          <p:nvPr/>
        </p:nvSpPr>
        <p:spPr>
          <a:xfrm>
            <a:off x="292894" y="4489847"/>
            <a:ext cx="1979709"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Управление excluded-множеством тегов</a:t>
            </a:r>
            <a:endParaRPr lang="en-US" sz="900" dirty="0">
              <a:latin typeface="Times New Roman" panose="02020603050405020304" pitchFamily="18" charset="0"/>
              <a:cs typeface="Times New Roman" panose="02020603050405020304" pitchFamily="18" charset="0"/>
            </a:endParaRPr>
          </a:p>
        </p:txBody>
      </p:sp>
      <p:sp>
        <p:nvSpPr>
          <p:cNvPr id="21" name="Text 17"/>
          <p:cNvSpPr/>
          <p:nvPr/>
        </p:nvSpPr>
        <p:spPr>
          <a:xfrm>
            <a:off x="3336131" y="1250156"/>
            <a:ext cx="2464594" cy="253603"/>
          </a:xfrm>
          <a:prstGeom prst="rect">
            <a:avLst/>
          </a:prstGeom>
          <a:noFill/>
          <a:ln/>
        </p:spPr>
        <p:txBody>
          <a:bodyPr wrap="square" lIns="0" tIns="0" rIns="0" bIns="8509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POINTER ARITHMETIC / STACK</a:t>
            </a:r>
            <a:endParaRPr lang="en-US" sz="900" dirty="0"/>
          </a:p>
        </p:txBody>
      </p:sp>
      <p:sp>
        <p:nvSpPr>
          <p:cNvPr id="22" name="Text 18"/>
          <p:cNvSpPr/>
          <p:nvPr/>
        </p:nvSpPr>
        <p:spPr>
          <a:xfrm>
            <a:off x="3336131" y="1646634"/>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ADDG</a:t>
            </a:r>
            <a:endParaRPr lang="en-US" sz="800" dirty="0"/>
          </a:p>
        </p:txBody>
      </p:sp>
      <p:sp>
        <p:nvSpPr>
          <p:cNvPr id="23" name="Text 19"/>
          <p:cNvSpPr/>
          <p:nvPr/>
        </p:nvSpPr>
        <p:spPr>
          <a:xfrm>
            <a:off x="3336131" y="1825228"/>
            <a:ext cx="2464594"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Сложение с раздельной арифметикой над адресом и тегом</a:t>
            </a:r>
            <a:endParaRPr lang="en-US" sz="900" dirty="0">
              <a:latin typeface="Times New Roman" panose="02020603050405020304" pitchFamily="18" charset="0"/>
              <a:cs typeface="Times New Roman" panose="02020603050405020304" pitchFamily="18" charset="0"/>
            </a:endParaRPr>
          </a:p>
        </p:txBody>
      </p:sp>
      <p:sp>
        <p:nvSpPr>
          <p:cNvPr id="24" name="Text 20"/>
          <p:cNvSpPr/>
          <p:nvPr/>
        </p:nvSpPr>
        <p:spPr>
          <a:xfrm>
            <a:off x="3336131" y="2239566"/>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SUBG</a:t>
            </a:r>
            <a:endParaRPr lang="en-US" sz="800" dirty="0"/>
          </a:p>
        </p:txBody>
      </p:sp>
      <p:sp>
        <p:nvSpPr>
          <p:cNvPr id="25" name="Text 21"/>
          <p:cNvSpPr/>
          <p:nvPr/>
        </p:nvSpPr>
        <p:spPr>
          <a:xfrm>
            <a:off x="3336131" y="2418159"/>
            <a:ext cx="1907573"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Вычитание с раздельной арифметикой</a:t>
            </a:r>
            <a:endParaRPr lang="en-US" sz="900" dirty="0">
              <a:latin typeface="Times New Roman" panose="02020603050405020304" pitchFamily="18" charset="0"/>
              <a:cs typeface="Times New Roman" panose="02020603050405020304" pitchFamily="18" charset="0"/>
            </a:endParaRPr>
          </a:p>
        </p:txBody>
      </p:sp>
      <p:sp>
        <p:nvSpPr>
          <p:cNvPr id="26" name="Text 22"/>
          <p:cNvSpPr/>
          <p:nvPr/>
        </p:nvSpPr>
        <p:spPr>
          <a:xfrm>
            <a:off x="3336131" y="2682478"/>
            <a:ext cx="2464594"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SUBP(S)</a:t>
            </a:r>
            <a:endParaRPr lang="en-US" sz="800" dirty="0"/>
          </a:p>
        </p:txBody>
      </p:sp>
      <p:sp>
        <p:nvSpPr>
          <p:cNvPr id="27" name="Text 23"/>
          <p:cNvSpPr/>
          <p:nvPr/>
        </p:nvSpPr>
        <p:spPr>
          <a:xfrm>
            <a:off x="3336131" y="2861072"/>
            <a:ext cx="2215350"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56-битное вычитание с игнорированием тега</a:t>
            </a:r>
            <a:endParaRPr lang="en-US" sz="900" dirty="0">
              <a:latin typeface="Times New Roman" panose="02020603050405020304" pitchFamily="18" charset="0"/>
              <a:cs typeface="Times New Roman" panose="02020603050405020304" pitchFamily="18" charset="0"/>
            </a:endParaRPr>
          </a:p>
        </p:txBody>
      </p:sp>
      <p:sp>
        <p:nvSpPr>
          <p:cNvPr id="28" name="Shape 24"/>
          <p:cNvSpPr/>
          <p:nvPr/>
        </p:nvSpPr>
        <p:spPr>
          <a:xfrm>
            <a:off x="3336131" y="3934420"/>
            <a:ext cx="2464594" cy="987623"/>
          </a:xfrm>
          <a:prstGeom prst="rect">
            <a:avLst/>
          </a:prstGeom>
          <a:solidFill>
            <a:srgbClr val="F6F8FA"/>
          </a:solidFill>
          <a:ln/>
        </p:spPr>
      </p:sp>
      <p:sp>
        <p:nvSpPr>
          <p:cNvPr id="29" name="Shape 25"/>
          <p:cNvSpPr/>
          <p:nvPr/>
        </p:nvSpPr>
        <p:spPr>
          <a:xfrm>
            <a:off x="3336131" y="3934420"/>
            <a:ext cx="2464594" cy="7144"/>
          </a:xfrm>
          <a:prstGeom prst="rect">
            <a:avLst/>
          </a:prstGeom>
          <a:solidFill>
            <a:srgbClr val="D0D7DE"/>
          </a:solidFill>
          <a:ln/>
        </p:spPr>
      </p:sp>
      <p:sp>
        <p:nvSpPr>
          <p:cNvPr id="30" name="Shape 26"/>
          <p:cNvSpPr/>
          <p:nvPr/>
        </p:nvSpPr>
        <p:spPr>
          <a:xfrm>
            <a:off x="5793581" y="3934420"/>
            <a:ext cx="7144" cy="987623"/>
          </a:xfrm>
          <a:prstGeom prst="rect">
            <a:avLst/>
          </a:prstGeom>
          <a:solidFill>
            <a:srgbClr val="D0D7DE"/>
          </a:solidFill>
          <a:ln/>
        </p:spPr>
      </p:sp>
      <p:sp>
        <p:nvSpPr>
          <p:cNvPr id="31" name="Shape 27"/>
          <p:cNvSpPr/>
          <p:nvPr/>
        </p:nvSpPr>
        <p:spPr>
          <a:xfrm>
            <a:off x="3336131" y="4914900"/>
            <a:ext cx="2464594" cy="7144"/>
          </a:xfrm>
          <a:prstGeom prst="rect">
            <a:avLst/>
          </a:prstGeom>
          <a:solidFill>
            <a:srgbClr val="D0D7DE"/>
          </a:solidFill>
          <a:ln/>
        </p:spPr>
      </p:sp>
      <p:sp>
        <p:nvSpPr>
          <p:cNvPr id="32" name="Shape 28"/>
          <p:cNvSpPr/>
          <p:nvPr/>
        </p:nvSpPr>
        <p:spPr>
          <a:xfrm>
            <a:off x="3336131" y="3934420"/>
            <a:ext cx="28575" cy="987623"/>
          </a:xfrm>
          <a:prstGeom prst="rect">
            <a:avLst/>
          </a:prstGeom>
          <a:solidFill>
            <a:srgbClr val="0969DA"/>
          </a:solidFill>
          <a:ln/>
        </p:spPr>
      </p:sp>
      <p:sp>
        <p:nvSpPr>
          <p:cNvPr id="33" name="Text 29"/>
          <p:cNvSpPr/>
          <p:nvPr/>
        </p:nvSpPr>
        <p:spPr>
          <a:xfrm>
            <a:off x="3450431" y="4063008"/>
            <a:ext cx="2235994" cy="130373"/>
          </a:xfrm>
          <a:prstGeom prst="rect">
            <a:avLst/>
          </a:prstGeom>
          <a:noFill/>
          <a:ln/>
        </p:spPr>
        <p:txBody>
          <a:bodyPr wrap="square" lIns="0" tIns="0" rIns="0" bIns="0" rtlCol="0" anchor="t">
            <a:spAutoFit/>
          </a:bodyPr>
          <a:lstStyle/>
          <a:p>
            <a:pPr marL="0" indent="0" algn="l">
              <a:buNone/>
            </a:pPr>
            <a:r>
              <a:rPr lang="en-US" sz="700" b="1" dirty="0">
                <a:solidFill>
                  <a:srgbClr val="0969DA"/>
                </a:solidFill>
                <a:latin typeface="Fira Code Bold" pitchFamily="34" charset="0"/>
                <a:ea typeface="Fira Code Bold" pitchFamily="34" charset="-122"/>
                <a:cs typeface="Fira Code Bold" pitchFamily="34" charset="-120"/>
              </a:rPr>
              <a:t>Stack tagging strategy</a:t>
            </a:r>
            <a:endParaRPr lang="en-US" sz="700" dirty="0"/>
          </a:p>
        </p:txBody>
      </p:sp>
      <p:sp>
        <p:nvSpPr>
          <p:cNvPr id="34" name="Text 30"/>
          <p:cNvSpPr/>
          <p:nvPr/>
        </p:nvSpPr>
        <p:spPr>
          <a:xfrm>
            <a:off x="3450431" y="4250531"/>
            <a:ext cx="2235994" cy="581121"/>
          </a:xfrm>
          <a:prstGeom prst="rect">
            <a:avLst/>
          </a:prstGeom>
          <a:noFill/>
          <a:ln/>
        </p:spPr>
        <p:txBody>
          <a:bodyPr wrap="square" lIns="0" tIns="0" rIns="0" bIns="0" rtlCol="0" anchor="t">
            <a:spAutoFit/>
          </a:bodyPr>
          <a:lstStyle/>
          <a:p>
            <a:pPr marL="0" indent="0" algn="l">
              <a:lnSpc>
                <a:spcPct val="120000"/>
              </a:lnSpc>
              <a:buNone/>
            </a:pPr>
            <a:r>
              <a:rPr lang="en-US" sz="800" dirty="0">
                <a:solidFill>
                  <a:srgbClr val="57606A"/>
                </a:solidFill>
                <a:latin typeface="Times New Roman" panose="02020603050405020304" pitchFamily="18" charset="0"/>
                <a:ea typeface="Inter" pitchFamily="34" charset="-122"/>
                <a:cs typeface="Times New Roman" panose="02020603050405020304" pitchFamily="18" charset="0"/>
              </a:rPr>
              <a:t>При входе в функцию IRG → случайный тег; ADDG/SUBG → теги для каждого slot; соседние объекты = разные теги → последовательный overflow всегда обнаружен.</a:t>
            </a:r>
            <a:endParaRPr lang="en-US" sz="800" dirty="0">
              <a:latin typeface="Times New Roman" panose="02020603050405020304" pitchFamily="18" charset="0"/>
              <a:cs typeface="Times New Roman" panose="02020603050405020304" pitchFamily="18" charset="0"/>
            </a:endParaRPr>
          </a:p>
        </p:txBody>
      </p:sp>
      <p:sp>
        <p:nvSpPr>
          <p:cNvPr id="35" name="Text 31"/>
          <p:cNvSpPr/>
          <p:nvPr/>
        </p:nvSpPr>
        <p:spPr>
          <a:xfrm>
            <a:off x="6379369" y="1250156"/>
            <a:ext cx="2471738" cy="253603"/>
          </a:xfrm>
          <a:prstGeom prst="rect">
            <a:avLst/>
          </a:prstGeom>
          <a:noFill/>
          <a:ln/>
        </p:spPr>
        <p:txBody>
          <a:bodyPr wrap="square" lIns="0" tIns="0" rIns="0" bIns="85090" rtlCol="0" anchor="t">
            <a:spAutoFit/>
          </a:bodyPr>
          <a:lstStyle/>
          <a:p>
            <a:pPr marL="0" indent="0" algn="l">
              <a:buNone/>
            </a:pPr>
            <a:r>
              <a:rPr lang="en-US" sz="900" b="1" dirty="0">
                <a:solidFill>
                  <a:srgbClr val="2DA44E"/>
                </a:solidFill>
                <a:latin typeface="Fira Code Bold" pitchFamily="34" charset="0"/>
                <a:ea typeface="Fira Code Bold" pitchFamily="34" charset="-122"/>
                <a:cs typeface="Fira Code Bold" pitchFamily="34" charset="-120"/>
              </a:rPr>
              <a:t>SYSTEM LEVEL EL1+</a:t>
            </a:r>
            <a:endParaRPr lang="en-US" sz="900" dirty="0"/>
          </a:p>
        </p:txBody>
      </p:sp>
      <p:sp>
        <p:nvSpPr>
          <p:cNvPr id="36" name="Text 32"/>
          <p:cNvSpPr/>
          <p:nvPr/>
        </p:nvSpPr>
        <p:spPr>
          <a:xfrm>
            <a:off x="6379369" y="1646634"/>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LDGM</a:t>
            </a:r>
            <a:endParaRPr lang="en-US" sz="800" dirty="0"/>
          </a:p>
        </p:txBody>
      </p:sp>
      <p:sp>
        <p:nvSpPr>
          <p:cNvPr id="37" name="Text 33"/>
          <p:cNvSpPr/>
          <p:nvPr/>
        </p:nvSpPr>
        <p:spPr>
          <a:xfrm>
            <a:off x="6379369" y="1825228"/>
            <a:ext cx="2314736" cy="151708"/>
          </a:xfrm>
          <a:prstGeom prst="rect">
            <a:avLst/>
          </a:prstGeom>
          <a:noFill/>
          <a:ln/>
        </p:spPr>
        <p:txBody>
          <a:bodyPr wrap="non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Массовое чтение тегов (privileged) — для swap</a:t>
            </a:r>
            <a:endParaRPr lang="en-US" sz="900" dirty="0">
              <a:latin typeface="Times New Roman" panose="02020603050405020304" pitchFamily="18" charset="0"/>
              <a:cs typeface="Times New Roman" panose="02020603050405020304" pitchFamily="18" charset="0"/>
            </a:endParaRPr>
          </a:p>
        </p:txBody>
      </p:sp>
      <p:sp>
        <p:nvSpPr>
          <p:cNvPr id="38" name="Text 34"/>
          <p:cNvSpPr/>
          <p:nvPr/>
        </p:nvSpPr>
        <p:spPr>
          <a:xfrm>
            <a:off x="6379369" y="2089547"/>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STGM</a:t>
            </a:r>
            <a:endParaRPr lang="en-US" sz="800" dirty="0"/>
          </a:p>
        </p:txBody>
      </p:sp>
      <p:sp>
        <p:nvSpPr>
          <p:cNvPr id="39" name="Text 35"/>
          <p:cNvSpPr/>
          <p:nvPr/>
        </p:nvSpPr>
        <p:spPr>
          <a:xfrm>
            <a:off x="6379369" y="2268141"/>
            <a:ext cx="2471738" cy="317908"/>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Массовая запись тегов — инициализация, восстановление</a:t>
            </a:r>
            <a:endParaRPr lang="en-US" sz="900" dirty="0">
              <a:latin typeface="Times New Roman" panose="02020603050405020304" pitchFamily="18" charset="0"/>
              <a:cs typeface="Times New Roman" panose="02020603050405020304" pitchFamily="18" charset="0"/>
            </a:endParaRPr>
          </a:p>
        </p:txBody>
      </p:sp>
      <p:sp>
        <p:nvSpPr>
          <p:cNvPr id="40" name="Text 36"/>
          <p:cNvSpPr/>
          <p:nvPr/>
        </p:nvSpPr>
        <p:spPr>
          <a:xfrm>
            <a:off x="6379369" y="2682478"/>
            <a:ext cx="2471738" cy="150019"/>
          </a:xfrm>
          <a:prstGeom prst="rect">
            <a:avLst/>
          </a:prstGeom>
          <a:noFill/>
          <a:ln/>
        </p:spPr>
        <p:txBody>
          <a:bodyPr wrap="square" lIns="0" tIns="0" rIns="0" bIns="0" rtlCol="0" anchor="t">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STZGM</a:t>
            </a:r>
            <a:endParaRPr lang="en-US" sz="800" dirty="0"/>
          </a:p>
        </p:txBody>
      </p:sp>
      <p:sp>
        <p:nvSpPr>
          <p:cNvPr id="41" name="Text 37"/>
          <p:cNvSpPr/>
          <p:nvPr/>
        </p:nvSpPr>
        <p:spPr>
          <a:xfrm>
            <a:off x="6379369" y="2861072"/>
            <a:ext cx="2471738" cy="484107"/>
          </a:xfrm>
          <a:prstGeom prst="rect">
            <a:avLst/>
          </a:prstGeom>
          <a:noFill/>
          <a:ln/>
        </p:spPr>
        <p:txBody>
          <a:bodyPr wrap="square" lIns="0" tIns="0" rIns="0" bIns="0" rtlCol="0" anchor="t">
            <a:spAutoFit/>
          </a:bodyPr>
          <a:lstStyle/>
          <a:p>
            <a:pPr marL="0" indent="0" algn="l">
              <a:lnSpc>
                <a:spcPct val="120000"/>
              </a:lnSpc>
              <a:buNone/>
            </a:pPr>
            <a:r>
              <a:rPr lang="en-US" sz="900" dirty="0">
                <a:solidFill>
                  <a:srgbClr val="57606A"/>
                </a:solidFill>
                <a:latin typeface="Times New Roman" panose="02020603050405020304" pitchFamily="18" charset="0"/>
                <a:ea typeface="Inter" pitchFamily="34" charset="-122"/>
                <a:cs typeface="Times New Roman" panose="02020603050405020304" pitchFamily="18" charset="0"/>
              </a:rPr>
              <a:t>Zero + tag за одну операцию — высокоэффективная инициализация страниц в ядре</a:t>
            </a:r>
            <a:endParaRPr lang="en-US" sz="9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592931"/>
          </a:xfrm>
          <a:prstGeom prst="rect">
            <a:avLst/>
          </a:prstGeom>
          <a:solidFill>
            <a:srgbClr val="FFFFFF"/>
          </a:solidFill>
          <a:ln/>
        </p:spPr>
      </p:sp>
      <p:sp>
        <p:nvSpPr>
          <p:cNvPr id="5" name="Shape 1"/>
          <p:cNvSpPr/>
          <p:nvPr/>
        </p:nvSpPr>
        <p:spPr>
          <a:xfrm>
            <a:off x="7144" y="592931"/>
            <a:ext cx="9129713" cy="7144"/>
          </a:xfrm>
          <a:prstGeom prst="rect">
            <a:avLst/>
          </a:prstGeom>
          <a:solidFill>
            <a:srgbClr val="D0D7DE"/>
          </a:solidFill>
          <a:ln/>
        </p:spPr>
      </p:sp>
      <p:sp>
        <p:nvSpPr>
          <p:cNvPr id="6" name="Text 2"/>
          <p:cNvSpPr/>
          <p:nvPr/>
        </p:nvSpPr>
        <p:spPr>
          <a:xfrm>
            <a:off x="435769" y="221456"/>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SYNC для отладки, ASYNC для продакшена, ASYMM — компромисс</a:t>
            </a:r>
            <a:endParaRPr lang="en-US" sz="1600" dirty="0"/>
          </a:p>
        </p:txBody>
      </p:sp>
      <p:sp>
        <p:nvSpPr>
          <p:cNvPr id="7" name="Shape 3"/>
          <p:cNvSpPr/>
          <p:nvPr/>
        </p:nvSpPr>
        <p:spPr>
          <a:xfrm>
            <a:off x="435769" y="807244"/>
            <a:ext cx="2643188" cy="3679031"/>
          </a:xfrm>
          <a:prstGeom prst="rect">
            <a:avLst/>
          </a:prstGeom>
          <a:solidFill>
            <a:srgbClr val="FFFFFF"/>
          </a:solidFill>
          <a:ln w="9144">
            <a:solidFill>
              <a:srgbClr val="D0D7DE"/>
            </a:solidFill>
            <a:prstDash val="solid"/>
          </a:ln>
        </p:spPr>
        <p:txBody>
          <a:bodyPr/>
          <a:lstStyle/>
          <a:p>
            <a:endParaRPr lang="ru-RU"/>
          </a:p>
        </p:txBody>
      </p:sp>
      <p:sp>
        <p:nvSpPr>
          <p:cNvPr id="8" name="Text 4"/>
          <p:cNvSpPr/>
          <p:nvPr/>
        </p:nvSpPr>
        <p:spPr>
          <a:xfrm>
            <a:off x="737120" y="1015900"/>
            <a:ext cx="1349328" cy="307777"/>
          </a:xfrm>
          <a:prstGeom prst="rect">
            <a:avLst/>
          </a:prstGeom>
          <a:noFill/>
          <a:ln/>
        </p:spPr>
        <p:txBody>
          <a:bodyPr wrap="square" lIns="0" tIns="0" rIns="0" bIns="0" rtlCol="0" anchor="t">
            <a:spAutoFit/>
          </a:bodyPr>
          <a:lstStyle/>
          <a:p>
            <a:pPr marL="0" indent="0" algn="l">
              <a:buNone/>
            </a:pPr>
            <a:r>
              <a:rPr lang="en-US" sz="2000" b="1" dirty="0">
                <a:solidFill>
                  <a:srgbClr val="BF3989"/>
                </a:solidFill>
                <a:latin typeface="Fira Code Bold" pitchFamily="34" charset="0"/>
                <a:ea typeface="Fira Code Bold" pitchFamily="34" charset="-122"/>
                <a:cs typeface="Fira Code Bold" pitchFamily="34" charset="-120"/>
              </a:rPr>
              <a:t>SYNC</a:t>
            </a:r>
            <a:endParaRPr lang="en-US" sz="2000" dirty="0"/>
          </a:p>
        </p:txBody>
      </p:sp>
      <p:sp>
        <p:nvSpPr>
          <p:cNvPr id="9" name="Shape 5"/>
          <p:cNvSpPr/>
          <p:nvPr/>
        </p:nvSpPr>
        <p:spPr>
          <a:xfrm>
            <a:off x="2232422" y="1051917"/>
            <a:ext cx="675084" cy="201811"/>
          </a:xfrm>
          <a:prstGeom prst="rect">
            <a:avLst/>
          </a:prstGeom>
          <a:solidFill>
            <a:srgbClr val="F6F8FA"/>
          </a:solidFill>
          <a:ln w="9144">
            <a:solidFill>
              <a:srgbClr val="D0D7DE"/>
            </a:solidFill>
            <a:prstDash val="solid"/>
          </a:ln>
        </p:spPr>
      </p:sp>
      <p:sp>
        <p:nvSpPr>
          <p:cNvPr id="10" name="Text 6"/>
          <p:cNvSpPr/>
          <p:nvPr/>
        </p:nvSpPr>
        <p:spPr>
          <a:xfrm>
            <a:off x="2232422" y="1051917"/>
            <a:ext cx="675084"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5–25% CPU</a:t>
            </a:r>
            <a:endParaRPr lang="en-US" sz="750" dirty="0"/>
          </a:p>
        </p:txBody>
      </p:sp>
      <p:sp>
        <p:nvSpPr>
          <p:cNvPr id="11" name="Shape 7"/>
          <p:cNvSpPr/>
          <p:nvPr/>
        </p:nvSpPr>
        <p:spPr>
          <a:xfrm>
            <a:off x="607219" y="1455539"/>
            <a:ext cx="2300288" cy="571500"/>
          </a:xfrm>
          <a:prstGeom prst="rect">
            <a:avLst/>
          </a:prstGeom>
          <a:solidFill>
            <a:srgbClr val="F6F8FA"/>
          </a:solidFill>
          <a:ln w="9144">
            <a:solidFill>
              <a:srgbClr val="D0D7DE"/>
            </a:solidFill>
            <a:prstDash val="dash"/>
          </a:ln>
        </p:spPr>
      </p:sp>
      <p:sp>
        <p:nvSpPr>
          <p:cNvPr id="12" name="Text 8"/>
          <p:cNvSpPr/>
          <p:nvPr/>
        </p:nvSpPr>
        <p:spPr>
          <a:xfrm>
            <a:off x="1649313" y="1630766"/>
            <a:ext cx="55364" cy="207169"/>
          </a:xfrm>
          <a:prstGeom prst="rect">
            <a:avLst/>
          </a:prstGeom>
          <a:noFill/>
          <a:ln/>
        </p:spPr>
        <p:txBody>
          <a:bodyPr wrap="none" lIns="0" tIns="0" rIns="0" bIns="0" rtlCol="0" anchor="t">
            <a:spAutoFit/>
          </a:bodyPr>
          <a:lstStyle/>
          <a:p>
            <a:pPr marL="0" indent="0" algn="l">
              <a:buNone/>
            </a:pPr>
            <a:r>
              <a:rPr lang="en-US" sz="1200" b="1" dirty="0">
                <a:solidFill>
                  <a:srgbClr val="BF3989"/>
                </a:solidFill>
                <a:latin typeface="Inter SemiBold" pitchFamily="34" charset="0"/>
                <a:ea typeface="Inter SemiBold" pitchFamily="34" charset="-122"/>
                <a:cs typeface="Inter SemiBold" pitchFamily="34" charset="-120"/>
              </a:rPr>
              <a:t>!</a:t>
            </a:r>
            <a:endParaRPr lang="en-US" sz="1200" dirty="0"/>
          </a:p>
        </p:txBody>
      </p:sp>
      <p:sp>
        <p:nvSpPr>
          <p:cNvPr id="13" name="Text 9"/>
          <p:cNvSpPr/>
          <p:nvPr/>
        </p:nvSpPr>
        <p:spPr>
          <a:xfrm>
            <a:off x="1243013" y="1903809"/>
            <a:ext cx="1213474"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Точное исключение (Precise)</a:t>
            </a:r>
            <a:endParaRPr lang="en-US" sz="600" b="1" dirty="0">
              <a:latin typeface="Georgia" panose="02040502050405020303" pitchFamily="18" charset="0"/>
            </a:endParaRPr>
          </a:p>
        </p:txBody>
      </p:sp>
      <p:sp>
        <p:nvSpPr>
          <p:cNvPr id="14" name="Text 10"/>
          <p:cNvSpPr/>
          <p:nvPr/>
        </p:nvSpPr>
        <p:spPr>
          <a:xfrm>
            <a:off x="607219" y="2198489"/>
            <a:ext cx="171450" cy="114262"/>
          </a:xfrm>
          <a:prstGeom prst="rect">
            <a:avLst/>
          </a:prstGeom>
          <a:noFill/>
          <a:ln/>
        </p:spPr>
        <p:txBody>
          <a:bodyPr wrap="squar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5" name="Text 11"/>
          <p:cNvSpPr/>
          <p:nvPr/>
        </p:nvSpPr>
        <p:spPr>
          <a:xfrm>
            <a:off x="778669" y="2198489"/>
            <a:ext cx="1562928"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SIGSEGV на нарушающей инструкции</a:t>
            </a:r>
            <a:endParaRPr lang="en-US" sz="750" b="1" dirty="0"/>
          </a:p>
        </p:txBody>
      </p:sp>
      <p:sp>
        <p:nvSpPr>
          <p:cNvPr id="16" name="Text 12"/>
          <p:cNvSpPr/>
          <p:nvPr/>
        </p:nvSpPr>
        <p:spPr>
          <a:xfrm>
            <a:off x="607219"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7" name="Text 13"/>
          <p:cNvSpPr/>
          <p:nvPr/>
        </p:nvSpPr>
        <p:spPr>
          <a:xfrm>
            <a:off x="778669" y="2409927"/>
            <a:ext cx="1029128"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si_code = SEGV_MTESERR</a:t>
            </a:r>
            <a:endParaRPr lang="en-US" sz="750" b="1" dirty="0"/>
          </a:p>
        </p:txBody>
      </p:sp>
      <p:sp>
        <p:nvSpPr>
          <p:cNvPr id="18" name="Text 14"/>
          <p:cNvSpPr/>
          <p:nvPr/>
        </p:nvSpPr>
        <p:spPr>
          <a:xfrm>
            <a:off x="607219" y="2621366"/>
            <a:ext cx="100013" cy="280002"/>
          </a:xfrm>
          <a:prstGeom prst="rect">
            <a:avLst/>
          </a:prstGeom>
          <a:noFill/>
          <a:ln/>
        </p:spPr>
        <p:txBody>
          <a:bodyPr wrap="squar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19" name="Text 15"/>
          <p:cNvSpPr/>
          <p:nvPr/>
        </p:nvSpPr>
        <p:spPr>
          <a:xfrm>
            <a:off x="778669" y="2621366"/>
            <a:ext cx="2128838" cy="122341"/>
          </a:xfrm>
          <a:prstGeom prst="rect">
            <a:avLst/>
          </a:prstGeom>
          <a:noFill/>
          <a:ln/>
        </p:spPr>
        <p:txBody>
          <a:bodyPr wrap="squar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Сериализация: load-tag → check → load-val</a:t>
            </a:r>
            <a:endParaRPr lang="en-US" sz="750" b="1" dirty="0"/>
          </a:p>
        </p:txBody>
      </p:sp>
      <p:sp>
        <p:nvSpPr>
          <p:cNvPr id="20" name="Shape 16"/>
          <p:cNvSpPr/>
          <p:nvPr/>
        </p:nvSpPr>
        <p:spPr>
          <a:xfrm>
            <a:off x="607219" y="4109442"/>
            <a:ext cx="2300288" cy="205383"/>
          </a:xfrm>
          <a:prstGeom prst="rect">
            <a:avLst/>
          </a:prstGeom>
          <a:solidFill>
            <a:srgbClr val="F6F8FA"/>
          </a:solidFill>
          <a:ln/>
        </p:spPr>
      </p:sp>
      <p:sp>
        <p:nvSpPr>
          <p:cNvPr id="21" name="Shape 17"/>
          <p:cNvSpPr/>
          <p:nvPr/>
        </p:nvSpPr>
        <p:spPr>
          <a:xfrm>
            <a:off x="607219" y="4109442"/>
            <a:ext cx="2300288" cy="7144"/>
          </a:xfrm>
          <a:prstGeom prst="rect">
            <a:avLst/>
          </a:prstGeom>
          <a:solidFill>
            <a:srgbClr val="D0D7DE"/>
          </a:solidFill>
          <a:ln/>
        </p:spPr>
      </p:sp>
      <p:sp>
        <p:nvSpPr>
          <p:cNvPr id="22" name="Text 18"/>
          <p:cNvSpPr/>
          <p:nvPr/>
        </p:nvSpPr>
        <p:spPr>
          <a:xfrm>
            <a:off x="607219"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CI/CD, ОТЛАДКА</a:t>
            </a:r>
            <a:endParaRPr lang="en-US" sz="600" dirty="0"/>
          </a:p>
        </p:txBody>
      </p:sp>
      <p:sp>
        <p:nvSpPr>
          <p:cNvPr id="23" name="Shape 19"/>
          <p:cNvSpPr/>
          <p:nvPr/>
        </p:nvSpPr>
        <p:spPr>
          <a:xfrm>
            <a:off x="3250406" y="807244"/>
            <a:ext cx="2643188" cy="3679031"/>
          </a:xfrm>
          <a:prstGeom prst="rect">
            <a:avLst/>
          </a:prstGeom>
          <a:solidFill>
            <a:srgbClr val="FFFFFF"/>
          </a:solidFill>
          <a:ln w="9144">
            <a:solidFill>
              <a:srgbClr val="D0D7DE"/>
            </a:solidFill>
            <a:prstDash val="solid"/>
          </a:ln>
        </p:spPr>
        <p:txBody>
          <a:bodyPr/>
          <a:lstStyle/>
          <a:p>
            <a:endParaRPr lang="ru-RU" dirty="0"/>
          </a:p>
        </p:txBody>
      </p:sp>
      <p:sp>
        <p:nvSpPr>
          <p:cNvPr id="24" name="Text 20"/>
          <p:cNvSpPr/>
          <p:nvPr/>
        </p:nvSpPr>
        <p:spPr>
          <a:xfrm>
            <a:off x="3421856" y="1015899"/>
            <a:ext cx="769441" cy="307777"/>
          </a:xfrm>
          <a:prstGeom prst="rect">
            <a:avLst/>
          </a:prstGeom>
          <a:noFill/>
          <a:ln/>
        </p:spPr>
        <p:txBody>
          <a:bodyPr wrap="none" lIns="0" tIns="0" rIns="0" bIns="0" rtlCol="0" anchor="t">
            <a:spAutoFit/>
          </a:bodyPr>
          <a:lstStyle/>
          <a:p>
            <a:pPr marL="0" indent="0" algn="l">
              <a:buNone/>
            </a:pPr>
            <a:r>
              <a:rPr lang="en-US" sz="2000" b="1" dirty="0">
                <a:solidFill>
                  <a:srgbClr val="2DA44E"/>
                </a:solidFill>
                <a:latin typeface="Fira Code Bold" pitchFamily="34" charset="0"/>
                <a:ea typeface="Fira Code Bold" pitchFamily="34" charset="-122"/>
                <a:cs typeface="Fira Code Bold" pitchFamily="34" charset="-120"/>
              </a:rPr>
              <a:t>ASYNC</a:t>
            </a:r>
            <a:endParaRPr lang="en-US" sz="2000" dirty="0"/>
          </a:p>
        </p:txBody>
      </p:sp>
      <p:sp>
        <p:nvSpPr>
          <p:cNvPr id="25" name="Shape 21"/>
          <p:cNvSpPr/>
          <p:nvPr/>
        </p:nvSpPr>
        <p:spPr>
          <a:xfrm>
            <a:off x="5047059" y="1051917"/>
            <a:ext cx="675084" cy="201811"/>
          </a:xfrm>
          <a:prstGeom prst="rect">
            <a:avLst/>
          </a:prstGeom>
          <a:solidFill>
            <a:srgbClr val="F6F8FA"/>
          </a:solidFill>
          <a:ln w="9144">
            <a:solidFill>
              <a:srgbClr val="D0D7DE"/>
            </a:solidFill>
            <a:prstDash val="solid"/>
          </a:ln>
        </p:spPr>
      </p:sp>
      <p:sp>
        <p:nvSpPr>
          <p:cNvPr id="26" name="Text 22"/>
          <p:cNvSpPr/>
          <p:nvPr/>
        </p:nvSpPr>
        <p:spPr>
          <a:xfrm>
            <a:off x="5047059" y="1051917"/>
            <a:ext cx="675084"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~1–2% CPU</a:t>
            </a:r>
            <a:endParaRPr lang="en-US" sz="750" dirty="0"/>
          </a:p>
        </p:txBody>
      </p:sp>
      <p:sp>
        <p:nvSpPr>
          <p:cNvPr id="27" name="Shape 23"/>
          <p:cNvSpPr/>
          <p:nvPr/>
        </p:nvSpPr>
        <p:spPr>
          <a:xfrm>
            <a:off x="3421856" y="1455539"/>
            <a:ext cx="2300288" cy="571500"/>
          </a:xfrm>
          <a:prstGeom prst="rect">
            <a:avLst/>
          </a:prstGeom>
          <a:solidFill>
            <a:srgbClr val="F6F8FA"/>
          </a:solidFill>
          <a:ln w="9144">
            <a:solidFill>
              <a:srgbClr val="D0D7DE"/>
            </a:solidFill>
            <a:prstDash val="dash"/>
          </a:ln>
        </p:spPr>
      </p:sp>
      <p:sp>
        <p:nvSpPr>
          <p:cNvPr id="28" name="Shape 24"/>
          <p:cNvSpPr/>
          <p:nvPr/>
        </p:nvSpPr>
        <p:spPr>
          <a:xfrm>
            <a:off x="4357688" y="1669852"/>
            <a:ext cx="428625" cy="142875"/>
          </a:xfrm>
          <a:prstGeom prst="roundRect">
            <a:avLst/>
          </a:prstGeom>
          <a:solidFill>
            <a:srgbClr val="2DA44E"/>
          </a:solidFill>
          <a:ln/>
        </p:spPr>
      </p:sp>
      <p:sp>
        <p:nvSpPr>
          <p:cNvPr id="29" name="Text 25"/>
          <p:cNvSpPr/>
          <p:nvPr/>
        </p:nvSpPr>
        <p:spPr>
          <a:xfrm>
            <a:off x="4825603" y="1669852"/>
            <a:ext cx="139303" cy="173236"/>
          </a:xfrm>
          <a:prstGeom prst="rect">
            <a:avLst/>
          </a:prstGeom>
          <a:noFill/>
          <a:ln/>
        </p:spPr>
        <p:txBody>
          <a:bodyPr wrap="none" lIns="0" tIns="0" rIns="0" bIns="0" rtlCol="0" anchor="t">
            <a:spAutoFit/>
          </a:bodyPr>
          <a:lstStyle/>
          <a:p>
            <a:pPr marL="0" indent="0" algn="l">
              <a:buNone/>
            </a:pPr>
            <a:r>
              <a:rPr lang="en-US" sz="1000" b="1" dirty="0">
                <a:solidFill>
                  <a:srgbClr val="2DA44E"/>
                </a:solidFill>
                <a:latin typeface="Inter SemiBold" pitchFamily="34" charset="0"/>
                <a:ea typeface="Inter SemiBold" pitchFamily="34" charset="-122"/>
                <a:cs typeface="Inter SemiBold" pitchFamily="34" charset="-120"/>
              </a:rPr>
              <a:t>...</a:t>
            </a:r>
            <a:endParaRPr lang="en-US" sz="1000" dirty="0"/>
          </a:p>
        </p:txBody>
      </p:sp>
      <p:sp>
        <p:nvSpPr>
          <p:cNvPr id="30" name="Text 26"/>
          <p:cNvSpPr/>
          <p:nvPr/>
        </p:nvSpPr>
        <p:spPr>
          <a:xfrm>
            <a:off x="3993356" y="1903809"/>
            <a:ext cx="1373774"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Отложенная проверка (Deferred</a:t>
            </a:r>
            <a:r>
              <a:rPr lang="en-US" sz="600" dirty="0">
                <a:solidFill>
                  <a:srgbClr val="57606A"/>
                </a:solidFill>
                <a:latin typeface="Georgia" panose="02040502050405020303" pitchFamily="18" charset="0"/>
                <a:ea typeface="Inter" pitchFamily="34" charset="-122"/>
                <a:cs typeface="Inter" pitchFamily="34" charset="-120"/>
              </a:rPr>
              <a:t>)</a:t>
            </a:r>
            <a:endParaRPr lang="en-US" sz="600" dirty="0">
              <a:latin typeface="Georgia" panose="02040502050405020303" pitchFamily="18" charset="0"/>
            </a:endParaRPr>
          </a:p>
        </p:txBody>
      </p:sp>
      <p:sp>
        <p:nvSpPr>
          <p:cNvPr id="31" name="Text 27"/>
          <p:cNvSpPr/>
          <p:nvPr/>
        </p:nvSpPr>
        <p:spPr>
          <a:xfrm>
            <a:off x="3421856" y="2198489"/>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2" name="Text 28"/>
          <p:cNvSpPr/>
          <p:nvPr/>
        </p:nvSpPr>
        <p:spPr>
          <a:xfrm>
            <a:off x="3593306" y="2198489"/>
            <a:ext cx="1155766"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Ошибки копятся в TFSR_ELx</a:t>
            </a:r>
            <a:endParaRPr lang="en-US" sz="750" b="1" dirty="0"/>
          </a:p>
        </p:txBody>
      </p:sp>
      <p:sp>
        <p:nvSpPr>
          <p:cNvPr id="33" name="Text 29"/>
          <p:cNvSpPr/>
          <p:nvPr/>
        </p:nvSpPr>
        <p:spPr>
          <a:xfrm>
            <a:off x="3421856"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4" name="Text 30"/>
          <p:cNvSpPr/>
          <p:nvPr/>
        </p:nvSpPr>
        <p:spPr>
          <a:xfrm>
            <a:off x="3593306" y="2409927"/>
            <a:ext cx="153728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Проверка при syscall / context switch</a:t>
            </a:r>
            <a:endParaRPr lang="en-US" sz="750" b="1" dirty="0"/>
          </a:p>
        </p:txBody>
      </p:sp>
      <p:sp>
        <p:nvSpPr>
          <p:cNvPr id="35" name="Text 31"/>
          <p:cNvSpPr/>
          <p:nvPr/>
        </p:nvSpPr>
        <p:spPr>
          <a:xfrm>
            <a:off x="3421856" y="2621366"/>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36" name="Text 32"/>
          <p:cNvSpPr/>
          <p:nvPr/>
        </p:nvSpPr>
        <p:spPr>
          <a:xfrm>
            <a:off x="3593306" y="2621366"/>
            <a:ext cx="129202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Точная инструкция неизвестна</a:t>
            </a:r>
            <a:endParaRPr lang="en-US" sz="750" b="1" dirty="0"/>
          </a:p>
        </p:txBody>
      </p:sp>
      <p:sp>
        <p:nvSpPr>
          <p:cNvPr id="37" name="Shape 33"/>
          <p:cNvSpPr/>
          <p:nvPr/>
        </p:nvSpPr>
        <p:spPr>
          <a:xfrm>
            <a:off x="3421856" y="4109442"/>
            <a:ext cx="2300288" cy="205383"/>
          </a:xfrm>
          <a:prstGeom prst="rect">
            <a:avLst/>
          </a:prstGeom>
          <a:solidFill>
            <a:srgbClr val="F6F8FA"/>
          </a:solidFill>
          <a:ln/>
        </p:spPr>
      </p:sp>
      <p:sp>
        <p:nvSpPr>
          <p:cNvPr id="38" name="Shape 34"/>
          <p:cNvSpPr/>
          <p:nvPr/>
        </p:nvSpPr>
        <p:spPr>
          <a:xfrm>
            <a:off x="3421856" y="4109442"/>
            <a:ext cx="2300288" cy="7144"/>
          </a:xfrm>
          <a:prstGeom prst="rect">
            <a:avLst/>
          </a:prstGeom>
          <a:solidFill>
            <a:srgbClr val="D0D7DE"/>
          </a:solidFill>
          <a:ln/>
        </p:spPr>
      </p:sp>
      <p:sp>
        <p:nvSpPr>
          <p:cNvPr id="39" name="Text 35"/>
          <p:cNvSpPr/>
          <p:nvPr/>
        </p:nvSpPr>
        <p:spPr>
          <a:xfrm>
            <a:off x="3421856"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PRODUCTION</a:t>
            </a:r>
            <a:endParaRPr lang="en-US" sz="600" dirty="0"/>
          </a:p>
        </p:txBody>
      </p:sp>
      <p:sp>
        <p:nvSpPr>
          <p:cNvPr id="40" name="Shape 36"/>
          <p:cNvSpPr/>
          <p:nvPr/>
        </p:nvSpPr>
        <p:spPr>
          <a:xfrm>
            <a:off x="6065044" y="807244"/>
            <a:ext cx="2643188" cy="3679031"/>
          </a:xfrm>
          <a:prstGeom prst="rect">
            <a:avLst/>
          </a:prstGeom>
          <a:solidFill>
            <a:srgbClr val="FFFFFF"/>
          </a:solidFill>
          <a:ln w="9144">
            <a:solidFill>
              <a:srgbClr val="D0D7DE"/>
            </a:solidFill>
            <a:prstDash val="solid"/>
          </a:ln>
        </p:spPr>
      </p:sp>
      <p:sp>
        <p:nvSpPr>
          <p:cNvPr id="41" name="Text 37"/>
          <p:cNvSpPr/>
          <p:nvPr/>
        </p:nvSpPr>
        <p:spPr>
          <a:xfrm>
            <a:off x="6236494" y="1021556"/>
            <a:ext cx="769441" cy="307777"/>
          </a:xfrm>
          <a:prstGeom prst="rect">
            <a:avLst/>
          </a:prstGeom>
          <a:noFill/>
          <a:ln/>
        </p:spPr>
        <p:txBody>
          <a:bodyPr wrap="none" lIns="0" tIns="0" rIns="0" bIns="0" rtlCol="0" anchor="t">
            <a:spAutoFit/>
          </a:bodyPr>
          <a:lstStyle/>
          <a:p>
            <a:pPr marL="0" indent="0" algn="l">
              <a:buNone/>
            </a:pPr>
            <a:r>
              <a:rPr lang="en-US" sz="2000" b="1" dirty="0">
                <a:solidFill>
                  <a:srgbClr val="0969DA"/>
                </a:solidFill>
                <a:latin typeface="Fira Code Bold" pitchFamily="34" charset="0"/>
                <a:ea typeface="Fira Code Bold" pitchFamily="34" charset="-122"/>
                <a:cs typeface="Fira Code Bold" pitchFamily="34" charset="-120"/>
              </a:rPr>
              <a:t>ASYMM</a:t>
            </a:r>
            <a:endParaRPr lang="en-US" sz="2000" dirty="0"/>
          </a:p>
        </p:txBody>
      </p:sp>
      <p:sp>
        <p:nvSpPr>
          <p:cNvPr id="42" name="Shape 38"/>
          <p:cNvSpPr/>
          <p:nvPr/>
        </p:nvSpPr>
        <p:spPr>
          <a:xfrm>
            <a:off x="7922419" y="1051917"/>
            <a:ext cx="614363" cy="201811"/>
          </a:xfrm>
          <a:prstGeom prst="rect">
            <a:avLst/>
          </a:prstGeom>
          <a:solidFill>
            <a:srgbClr val="F6F8FA"/>
          </a:solidFill>
          <a:ln w="9144">
            <a:solidFill>
              <a:srgbClr val="D0D7DE"/>
            </a:solidFill>
            <a:prstDash val="solid"/>
          </a:ln>
        </p:spPr>
      </p:sp>
      <p:sp>
        <p:nvSpPr>
          <p:cNvPr id="43" name="Text 39"/>
          <p:cNvSpPr/>
          <p:nvPr/>
        </p:nvSpPr>
        <p:spPr>
          <a:xfrm>
            <a:off x="7922419" y="1051917"/>
            <a:ext cx="614363" cy="201811"/>
          </a:xfrm>
          <a:prstGeom prst="rect">
            <a:avLst/>
          </a:prstGeom>
          <a:noFill/>
          <a:ln/>
        </p:spPr>
        <p:txBody>
          <a:bodyPr wrap="none" lIns="68072" tIns="34036" rIns="68072" bIns="34036"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1–5% CPU</a:t>
            </a:r>
            <a:endParaRPr lang="en-US" sz="750" dirty="0"/>
          </a:p>
        </p:txBody>
      </p:sp>
      <p:sp>
        <p:nvSpPr>
          <p:cNvPr id="44" name="Shape 40"/>
          <p:cNvSpPr/>
          <p:nvPr/>
        </p:nvSpPr>
        <p:spPr>
          <a:xfrm>
            <a:off x="6236494" y="1455539"/>
            <a:ext cx="2300288" cy="571500"/>
          </a:xfrm>
          <a:prstGeom prst="rect">
            <a:avLst/>
          </a:prstGeom>
          <a:solidFill>
            <a:srgbClr val="F6F8FA"/>
          </a:solidFill>
          <a:ln w="9144">
            <a:solidFill>
              <a:srgbClr val="D0D7DE"/>
            </a:solidFill>
            <a:prstDash val="dash"/>
          </a:ln>
        </p:spPr>
        <p:txBody>
          <a:bodyPr/>
          <a:lstStyle/>
          <a:p>
            <a:endParaRPr lang="ru-RU" dirty="0"/>
          </a:p>
        </p:txBody>
      </p:sp>
      <p:sp>
        <p:nvSpPr>
          <p:cNvPr id="45" name="Text 41"/>
          <p:cNvSpPr/>
          <p:nvPr/>
        </p:nvSpPr>
        <p:spPr>
          <a:xfrm>
            <a:off x="6971407" y="1903809"/>
            <a:ext cx="966611" cy="92333"/>
          </a:xfrm>
          <a:prstGeom prst="rect">
            <a:avLst/>
          </a:prstGeom>
          <a:noFill/>
          <a:ln/>
        </p:spPr>
        <p:txBody>
          <a:bodyPr wrap="none" lIns="0" tIns="0" rIns="0" bIns="0" rtlCol="0" anchor="t">
            <a:spAutoFit/>
          </a:bodyPr>
          <a:lstStyle/>
          <a:p>
            <a:pPr marL="0" indent="0" algn="l">
              <a:buNone/>
            </a:pPr>
            <a:r>
              <a:rPr lang="en-US" sz="600" b="1" dirty="0">
                <a:solidFill>
                  <a:srgbClr val="57606A"/>
                </a:solidFill>
                <a:latin typeface="Georgia" panose="02040502050405020303" pitchFamily="18" charset="0"/>
                <a:ea typeface="Inter" pitchFamily="34" charset="-122"/>
                <a:cs typeface="Inter" pitchFamily="34" charset="-120"/>
              </a:rPr>
              <a:t>Sync Read / Async Write</a:t>
            </a:r>
            <a:endParaRPr lang="en-US" sz="600" b="1" dirty="0">
              <a:latin typeface="Georgia" panose="02040502050405020303" pitchFamily="18" charset="0"/>
            </a:endParaRPr>
          </a:p>
        </p:txBody>
      </p:sp>
      <p:sp>
        <p:nvSpPr>
          <p:cNvPr id="46" name="Text 42"/>
          <p:cNvSpPr/>
          <p:nvPr/>
        </p:nvSpPr>
        <p:spPr>
          <a:xfrm>
            <a:off x="6236494" y="2198489"/>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47" name="Text 43"/>
          <p:cNvSpPr/>
          <p:nvPr/>
        </p:nvSpPr>
        <p:spPr>
          <a:xfrm>
            <a:off x="6407944" y="2198489"/>
            <a:ext cx="131286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Reads: synchronous (безопасно)</a:t>
            </a:r>
            <a:endParaRPr lang="en-US" sz="750" b="1" dirty="0"/>
          </a:p>
        </p:txBody>
      </p:sp>
      <p:sp>
        <p:nvSpPr>
          <p:cNvPr id="48" name="Text 44"/>
          <p:cNvSpPr/>
          <p:nvPr/>
        </p:nvSpPr>
        <p:spPr>
          <a:xfrm>
            <a:off x="6236494" y="2409927"/>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49" name="Text 45"/>
          <p:cNvSpPr/>
          <p:nvPr/>
        </p:nvSpPr>
        <p:spPr>
          <a:xfrm>
            <a:off x="6407944" y="2409927"/>
            <a:ext cx="1248740"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Writes: asynchronous (быстро)</a:t>
            </a:r>
            <a:endParaRPr lang="en-US" sz="750" b="1" dirty="0"/>
          </a:p>
        </p:txBody>
      </p:sp>
      <p:sp>
        <p:nvSpPr>
          <p:cNvPr id="50" name="Text 46"/>
          <p:cNvSpPr/>
          <p:nvPr/>
        </p:nvSpPr>
        <p:spPr>
          <a:xfrm>
            <a:off x="6236494" y="2621366"/>
            <a:ext cx="100013" cy="140001"/>
          </a:xfrm>
          <a:prstGeom prst="rect">
            <a:avLst/>
          </a:prstGeom>
          <a:noFill/>
          <a:ln/>
        </p:spPr>
        <p:txBody>
          <a:bodyPr wrap="none" lIns="0" tIns="0" rIns="0" bIns="0" rtlCol="0" anchor="t">
            <a:spAutoFit/>
          </a:bodyPr>
          <a:lstStyle/>
          <a:p>
            <a:pPr marL="0" indent="0" algn="l">
              <a:lnSpc>
                <a:spcPct val="112000"/>
              </a:lnSpc>
              <a:buNone/>
            </a:pPr>
            <a:r>
              <a:rPr lang="en-US" sz="700" b="1" dirty="0">
                <a:solidFill>
                  <a:srgbClr val="0969DA"/>
                </a:solidFill>
                <a:latin typeface="Inter SemiBold" pitchFamily="34" charset="0"/>
                <a:ea typeface="Inter SemiBold" pitchFamily="34" charset="-122"/>
                <a:cs typeface="Inter SemiBold" pitchFamily="34" charset="-120"/>
              </a:rPr>
              <a:t>→</a:t>
            </a:r>
            <a:endParaRPr lang="en-US" sz="700" dirty="0"/>
          </a:p>
        </p:txBody>
      </p:sp>
      <p:sp>
        <p:nvSpPr>
          <p:cNvPr id="51" name="Text 47"/>
          <p:cNvSpPr/>
          <p:nvPr/>
        </p:nvSpPr>
        <p:spPr>
          <a:xfrm>
            <a:off x="6407944" y="2621366"/>
            <a:ext cx="1311256" cy="122341"/>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24292F"/>
                </a:solidFill>
                <a:ea typeface="Inter" pitchFamily="34" charset="-122"/>
                <a:cs typeface="Inter" pitchFamily="34" charset="-120"/>
              </a:rPr>
              <a:t>Баланс диагностики и скорости</a:t>
            </a:r>
            <a:endParaRPr lang="en-US" sz="750" b="1" dirty="0"/>
          </a:p>
        </p:txBody>
      </p:sp>
      <p:sp>
        <p:nvSpPr>
          <p:cNvPr id="52" name="Shape 48"/>
          <p:cNvSpPr/>
          <p:nvPr/>
        </p:nvSpPr>
        <p:spPr>
          <a:xfrm>
            <a:off x="6236494" y="4109442"/>
            <a:ext cx="2300288" cy="205383"/>
          </a:xfrm>
          <a:prstGeom prst="rect">
            <a:avLst/>
          </a:prstGeom>
          <a:solidFill>
            <a:srgbClr val="F6F8FA"/>
          </a:solidFill>
          <a:ln/>
        </p:spPr>
      </p:sp>
      <p:sp>
        <p:nvSpPr>
          <p:cNvPr id="53" name="Shape 49"/>
          <p:cNvSpPr/>
          <p:nvPr/>
        </p:nvSpPr>
        <p:spPr>
          <a:xfrm>
            <a:off x="6236494" y="4109442"/>
            <a:ext cx="2300288" cy="7144"/>
          </a:xfrm>
          <a:prstGeom prst="rect">
            <a:avLst/>
          </a:prstGeom>
          <a:solidFill>
            <a:srgbClr val="D0D7DE"/>
          </a:solidFill>
          <a:ln/>
        </p:spPr>
      </p:sp>
      <p:sp>
        <p:nvSpPr>
          <p:cNvPr id="54" name="Text 50"/>
          <p:cNvSpPr/>
          <p:nvPr/>
        </p:nvSpPr>
        <p:spPr>
          <a:xfrm>
            <a:off x="6236494" y="4109442"/>
            <a:ext cx="2300288" cy="205383"/>
          </a:xfrm>
          <a:prstGeom prst="rect">
            <a:avLst/>
          </a:prstGeom>
          <a:noFill/>
          <a:ln/>
        </p:spPr>
        <p:txBody>
          <a:bodyPr wrap="square" lIns="51054" tIns="51054" rIns="51054" bIns="51054" rtlCol="0" anchor="t">
            <a:spAutoFit/>
          </a:bodyPr>
          <a:lstStyle/>
          <a:p>
            <a:pPr marL="0" indent="0" algn="ctr">
              <a:buNone/>
            </a:pPr>
            <a:r>
              <a:rPr lang="en-US" sz="600" b="1" dirty="0">
                <a:solidFill>
                  <a:srgbClr val="24292F"/>
                </a:solidFill>
                <a:latin typeface="Fira Code Bold" pitchFamily="34" charset="0"/>
                <a:ea typeface="Fira Code Bold" pitchFamily="34" charset="-122"/>
                <a:cs typeface="Fira Code Bold" pitchFamily="34" charset="-120"/>
              </a:rPr>
              <a:t>ПРИМЕНЕНИЕ: READ-HEAVY SERVER</a:t>
            </a:r>
            <a:endParaRPr lang="en-US" sz="600" dirty="0"/>
          </a:p>
        </p:txBody>
      </p:sp>
      <p:sp>
        <p:nvSpPr>
          <p:cNvPr id="55" name="Shape 51"/>
          <p:cNvSpPr/>
          <p:nvPr/>
        </p:nvSpPr>
        <p:spPr>
          <a:xfrm>
            <a:off x="7144" y="4700588"/>
            <a:ext cx="9129713" cy="435769"/>
          </a:xfrm>
          <a:prstGeom prst="rect">
            <a:avLst/>
          </a:prstGeom>
          <a:solidFill>
            <a:srgbClr val="24292F"/>
          </a:solidFill>
          <a:ln/>
        </p:spPr>
      </p:sp>
      <p:sp>
        <p:nvSpPr>
          <p:cNvPr id="56" name="Text 52"/>
          <p:cNvSpPr/>
          <p:nvPr/>
        </p:nvSpPr>
        <p:spPr>
          <a:xfrm>
            <a:off x="435769" y="4853285"/>
            <a:ext cx="1153716" cy="130373"/>
          </a:xfrm>
          <a:prstGeom prst="rect">
            <a:avLst/>
          </a:prstGeom>
          <a:noFill/>
          <a:ln/>
        </p:spPr>
        <p:txBody>
          <a:bodyPr wrap="none" lIns="0" tIns="0" rIns="0" bIns="0" rtlCol="0" anchor="t">
            <a:spAutoFit/>
          </a:bodyPr>
          <a:lstStyle/>
          <a:p>
            <a:pPr marL="0" indent="0" algn="l">
              <a:buNone/>
            </a:pPr>
            <a:r>
              <a:rPr lang="en-US" sz="700" b="1" dirty="0">
                <a:solidFill>
                  <a:srgbClr val="0969DA"/>
                </a:solidFill>
                <a:latin typeface="Fira Code Bold" pitchFamily="34" charset="0"/>
                <a:ea typeface="Fira Code Bold" pitchFamily="34" charset="-122"/>
                <a:cs typeface="Fira Code Bold" pitchFamily="34" charset="-120"/>
              </a:rPr>
              <a:t>PERFORMANCE INSIGHT</a:t>
            </a:r>
            <a:endParaRPr lang="en-US" sz="700" dirty="0"/>
          </a:p>
        </p:txBody>
      </p:sp>
      <p:sp>
        <p:nvSpPr>
          <p:cNvPr id="57" name="Text 53"/>
          <p:cNvSpPr/>
          <p:nvPr/>
        </p:nvSpPr>
        <p:spPr>
          <a:xfrm>
            <a:off x="1732359" y="4843463"/>
            <a:ext cx="5259453"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C9D1D9"/>
                </a:solidFill>
                <a:latin typeface="Georgia" panose="02040502050405020303" pitchFamily="18" charset="0"/>
                <a:ea typeface="Inter" pitchFamily="34" charset="-122"/>
                <a:cs typeface="Inter" pitchFamily="34" charset="-120"/>
              </a:rPr>
              <a:t>На Pixel 8 (A7x/A5x) </a:t>
            </a:r>
            <a:r>
              <a:rPr lang="en-US" sz="750" b="1" dirty="0">
                <a:solidFill>
                  <a:srgbClr val="C9D1D9"/>
                </a:solidFill>
                <a:latin typeface="Georgia" panose="02040502050405020303" pitchFamily="18" charset="0"/>
                <a:ea typeface="Inter SemiBold" pitchFamily="34" charset="-122"/>
                <a:cs typeface="Inter SemiBold" pitchFamily="34" charset="-120"/>
              </a:rPr>
              <a:t>ASYNC overhead &lt;2%</a:t>
            </a:r>
            <a:r>
              <a:rPr lang="en-US" sz="800" dirty="0">
                <a:solidFill>
                  <a:srgbClr val="C9D1D9"/>
                </a:solidFill>
                <a:latin typeface="Georgia" panose="02040502050405020303" pitchFamily="18" charset="0"/>
                <a:ea typeface="Inter" pitchFamily="34" charset="-122"/>
                <a:cs typeface="Inter" pitchFamily="34" charset="-120"/>
              </a:rPr>
              <a:t>. На AmpereOne </a:t>
            </a:r>
            <a:r>
              <a:rPr lang="en-US" sz="750" b="1" dirty="0">
                <a:solidFill>
                  <a:srgbClr val="C9D1D9"/>
                </a:solidFill>
                <a:latin typeface="Georgia" panose="02040502050405020303" pitchFamily="18" charset="0"/>
                <a:ea typeface="Inter SemiBold" pitchFamily="34" charset="-122"/>
                <a:cs typeface="Inter SemiBold" pitchFamily="34" charset="-120"/>
              </a:rPr>
              <a:t>SYNC overhead до 50%</a:t>
            </a:r>
            <a:r>
              <a:rPr lang="en-US" sz="800" dirty="0">
                <a:solidFill>
                  <a:srgbClr val="C9D1D9"/>
                </a:solidFill>
                <a:latin typeface="Georgia" panose="02040502050405020303" pitchFamily="18" charset="0"/>
                <a:ea typeface="Inter" pitchFamily="34" charset="-122"/>
                <a:cs typeface="Inter" pitchFamily="34" charset="-120"/>
              </a:rPr>
              <a:t> для store-heavy workloads.</a:t>
            </a:r>
            <a:endParaRPr lang="en-US" sz="800" dirty="0">
              <a:latin typeface="Georgia" panose="02040502050405020303" pitchFamily="18" charset="0"/>
            </a:endParaRPr>
          </a:p>
        </p:txBody>
      </p:sp>
      <p:sp>
        <p:nvSpPr>
          <p:cNvPr id="2" name="Shape 40">
            <a:extLst>
              <a:ext uri="{FF2B5EF4-FFF2-40B4-BE49-F238E27FC236}">
                <a16:creationId xmlns:a16="http://schemas.microsoft.com/office/drawing/2014/main" id="{6EFE8EBB-9588-62A1-8831-4B6441E71AEF}"/>
              </a:ext>
            </a:extLst>
          </p:cNvPr>
          <p:cNvSpPr/>
          <p:nvPr/>
        </p:nvSpPr>
        <p:spPr>
          <a:xfrm>
            <a:off x="7173955" y="1620933"/>
            <a:ext cx="240365" cy="217002"/>
          </a:xfrm>
          <a:prstGeom prst="rect">
            <a:avLst/>
          </a:prstGeom>
          <a:solidFill>
            <a:srgbClr val="4472C4"/>
          </a:solidFill>
          <a:ln w="9144">
            <a:solidFill>
              <a:srgbClr val="D0D7DE"/>
            </a:solidFill>
            <a:prstDash val="dash"/>
          </a:ln>
        </p:spPr>
        <p:txBody>
          <a:bodyPr/>
          <a:lstStyle/>
          <a:p>
            <a:endParaRPr lang="ru-RU" dirty="0">
              <a:solidFill>
                <a:srgbClr val="4472C4"/>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978694"/>
          </a:xfrm>
          <a:prstGeom prst="rect">
            <a:avLst/>
          </a:prstGeom>
          <a:solidFill>
            <a:srgbClr val="FFFFFF"/>
          </a:solidFill>
          <a:ln/>
        </p:spPr>
      </p:sp>
      <p:sp>
        <p:nvSpPr>
          <p:cNvPr id="5" name="Shape 1"/>
          <p:cNvSpPr/>
          <p:nvPr/>
        </p:nvSpPr>
        <p:spPr>
          <a:xfrm>
            <a:off x="7144" y="978694"/>
            <a:ext cx="9129713" cy="7144"/>
          </a:xfrm>
          <a:prstGeom prst="rect">
            <a:avLst/>
          </a:prstGeom>
          <a:solidFill>
            <a:srgbClr val="D0D7DE"/>
          </a:solidFill>
          <a:ln/>
        </p:spPr>
      </p:sp>
      <p:sp>
        <p:nvSpPr>
          <p:cNvPr id="6" name="Text 2"/>
          <p:cNvSpPr/>
          <p:nvPr/>
        </p:nvSpPr>
        <p:spPr>
          <a:xfrm>
            <a:off x="350044" y="292894"/>
            <a:ext cx="844391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MTE детерминировано обнаруживает переполнения и use-after-free</a:t>
            </a:r>
            <a:endParaRPr lang="en-US" sz="1600" dirty="0"/>
          </a:p>
        </p:txBody>
      </p:sp>
      <p:sp>
        <p:nvSpPr>
          <p:cNvPr id="7" name="Shape 3"/>
          <p:cNvSpPr/>
          <p:nvPr/>
        </p:nvSpPr>
        <p:spPr>
          <a:xfrm>
            <a:off x="7144" y="978694"/>
            <a:ext cx="4564856" cy="3771900"/>
          </a:xfrm>
          <a:prstGeom prst="rect">
            <a:avLst/>
          </a:prstGeom>
          <a:solidFill>
            <a:srgbClr val="FFFFFF"/>
          </a:solidFill>
          <a:ln/>
        </p:spPr>
      </p:sp>
      <p:sp>
        <p:nvSpPr>
          <p:cNvPr id="8" name="Shape 4"/>
          <p:cNvSpPr/>
          <p:nvPr/>
        </p:nvSpPr>
        <p:spPr>
          <a:xfrm>
            <a:off x="4564856" y="978694"/>
            <a:ext cx="7144" cy="3771900"/>
          </a:xfrm>
          <a:prstGeom prst="rect">
            <a:avLst/>
          </a:prstGeom>
          <a:solidFill>
            <a:srgbClr val="D0D7DE"/>
          </a:solidFill>
          <a:ln/>
        </p:spPr>
      </p:sp>
      <p:sp>
        <p:nvSpPr>
          <p:cNvPr id="9" name="Text 5"/>
          <p:cNvSpPr/>
          <p:nvPr/>
        </p:nvSpPr>
        <p:spPr>
          <a:xfrm>
            <a:off x="350044" y="1150144"/>
            <a:ext cx="3879056" cy="282178"/>
          </a:xfrm>
          <a:prstGeom prst="rect">
            <a:avLst/>
          </a:prstGeom>
          <a:noFill/>
          <a:ln/>
        </p:spPr>
        <p:txBody>
          <a:bodyPr wrap="square" lIns="0" tIns="0" rIns="0" bIns="51054" rtlCol="0" anchor="t">
            <a:spAutoFit/>
          </a:bodyPr>
          <a:lstStyle/>
          <a:p>
            <a:pPr marL="0" indent="0" algn="l">
              <a:buNone/>
            </a:pPr>
            <a:r>
              <a:rPr lang="en-US" sz="1200" b="1" dirty="0">
                <a:solidFill>
                  <a:srgbClr val="BF3989"/>
                </a:solidFill>
                <a:latin typeface="Fira Code Bold" pitchFamily="34" charset="0"/>
                <a:ea typeface="Fira Code Bold" pitchFamily="34" charset="-122"/>
                <a:cs typeface="Fira Code Bold" pitchFamily="34" charset="-120"/>
              </a:rPr>
              <a:t>Spatial Safety (Пространственная)</a:t>
            </a:r>
            <a:endParaRPr lang="en-US" sz="1200" dirty="0"/>
          </a:p>
        </p:txBody>
      </p:sp>
      <p:sp>
        <p:nvSpPr>
          <p:cNvPr id="10" name="Text 6"/>
          <p:cNvSpPr/>
          <p:nvPr/>
        </p:nvSpPr>
        <p:spPr>
          <a:xfrm>
            <a:off x="350044" y="1546622"/>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Buffer Overflow на стеке</a:t>
            </a:r>
            <a:endParaRPr lang="en-US" sz="900" dirty="0"/>
          </a:p>
        </p:txBody>
      </p:sp>
      <p:sp>
        <p:nvSpPr>
          <p:cNvPr id="11" name="Text 7"/>
          <p:cNvSpPr/>
          <p:nvPr/>
        </p:nvSpPr>
        <p:spPr>
          <a:xfrm>
            <a:off x="350044" y="1771650"/>
            <a:ext cx="3879056" cy="374846"/>
          </a:xfrm>
          <a:prstGeom prst="rect">
            <a:avLst/>
          </a:prstGeom>
          <a:noFill/>
          <a:ln/>
        </p:spPr>
        <p:txBody>
          <a:bodyPr wrap="square" lIns="0" tIns="0" rIns="0" bIns="0" rtlCol="0" anchor="t">
            <a:spAutoFit/>
          </a:bodyPr>
          <a:lstStyle/>
          <a:p>
            <a:pPr marL="0" indent="0" algn="l">
              <a:lnSpc>
                <a:spcPct val="120000"/>
              </a:lnSpc>
              <a:buNone/>
            </a:pPr>
            <a:r>
              <a:rPr lang="en-US" sz="1050" dirty="0">
                <a:solidFill>
                  <a:srgbClr val="57606A"/>
                </a:solidFill>
                <a:latin typeface="Times New Roman" panose="02020603050405020304" pitchFamily="18" charset="0"/>
                <a:ea typeface="Inter" pitchFamily="34" charset="-122"/>
                <a:cs typeface="Times New Roman" panose="02020603050405020304" pitchFamily="18" charset="0"/>
              </a:rPr>
              <a:t>Перезапись return address → ROP / stack smashing. Основа эксплойтов с 1988 года (Worm Морриса).</a:t>
            </a:r>
            <a:endParaRPr lang="en-US" sz="1050" dirty="0">
              <a:latin typeface="Times New Roman" panose="02020603050405020304" pitchFamily="18" charset="0"/>
              <a:cs typeface="Times New Roman" panose="02020603050405020304" pitchFamily="18" charset="0"/>
            </a:endParaRPr>
          </a:p>
        </p:txBody>
      </p:sp>
      <p:sp>
        <p:nvSpPr>
          <p:cNvPr id="12" name="Text 8"/>
          <p:cNvSpPr/>
          <p:nvPr/>
        </p:nvSpPr>
        <p:spPr>
          <a:xfrm>
            <a:off x="350044" y="2228850"/>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Heap Buffer Overflow</a:t>
            </a:r>
            <a:endParaRPr lang="en-US" sz="900" dirty="0"/>
          </a:p>
        </p:txBody>
      </p:sp>
      <p:sp>
        <p:nvSpPr>
          <p:cNvPr id="13" name="Text 9"/>
          <p:cNvSpPr/>
          <p:nvPr/>
        </p:nvSpPr>
        <p:spPr>
          <a:xfrm>
            <a:off x="350044" y="2453878"/>
            <a:ext cx="3879056" cy="176972"/>
          </a:xfrm>
          <a:prstGeom prst="rect">
            <a:avLst/>
          </a:prstGeom>
          <a:noFill/>
          <a:ln/>
        </p:spPr>
        <p:txBody>
          <a:bodyPr wrap="square" lIns="0" tIns="0" rIns="0" bIns="0" rtlCol="0" anchor="t">
            <a:spAutoFit/>
          </a:bodyPr>
          <a:lstStyle/>
          <a:p>
            <a:pPr marL="0" indent="0" algn="l">
              <a:lnSpc>
                <a:spcPct val="120000"/>
              </a:lnSpc>
              <a:buNone/>
            </a:pPr>
            <a:r>
              <a:rPr lang="en-US" sz="1050" dirty="0">
                <a:solidFill>
                  <a:srgbClr val="57606A"/>
                </a:solidFill>
                <a:latin typeface="Times New Roman" panose="02020603050405020304" pitchFamily="18" charset="0"/>
                <a:ea typeface="Inter" pitchFamily="34" charset="-122"/>
                <a:cs typeface="Times New Roman" panose="02020603050405020304" pitchFamily="18" charset="0"/>
              </a:rPr>
              <a:t>Перезапись метаданных аллокатора или данных соседнего объекта.</a:t>
            </a:r>
            <a:endParaRPr lang="en-US" sz="1050" dirty="0">
              <a:latin typeface="Times New Roman" panose="02020603050405020304" pitchFamily="18" charset="0"/>
              <a:cs typeface="Times New Roman" panose="02020603050405020304" pitchFamily="18" charset="0"/>
            </a:endParaRPr>
          </a:p>
        </p:txBody>
      </p:sp>
      <p:sp>
        <p:nvSpPr>
          <p:cNvPr id="14" name="Shape 10"/>
          <p:cNvSpPr/>
          <p:nvPr/>
        </p:nvSpPr>
        <p:spPr>
          <a:xfrm>
            <a:off x="350044" y="3255764"/>
            <a:ext cx="3879056" cy="1323380"/>
          </a:xfrm>
          <a:prstGeom prst="rect">
            <a:avLst/>
          </a:prstGeom>
          <a:solidFill>
            <a:srgbClr val="F6F8FA"/>
          </a:solidFill>
          <a:ln w="9144">
            <a:solidFill>
              <a:srgbClr val="D0D7DE"/>
            </a:solidFill>
            <a:prstDash val="solid"/>
          </a:ln>
        </p:spPr>
      </p:sp>
      <p:sp>
        <p:nvSpPr>
          <p:cNvPr id="15" name="Text 11"/>
          <p:cNvSpPr/>
          <p:nvPr/>
        </p:nvSpPr>
        <p:spPr>
          <a:xfrm>
            <a:off x="435769" y="3355777"/>
            <a:ext cx="3707606"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КАК MTE ОБНАРУЖИВАЕТ</a:t>
            </a:r>
            <a:endParaRPr lang="en-US" sz="750" dirty="0"/>
          </a:p>
        </p:txBody>
      </p:sp>
      <p:sp>
        <p:nvSpPr>
          <p:cNvPr id="16" name="Text 12"/>
          <p:cNvSpPr/>
          <p:nvPr/>
        </p:nvSpPr>
        <p:spPr>
          <a:xfrm>
            <a:off x="435769" y="360045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17" name="Text 13"/>
          <p:cNvSpPr/>
          <p:nvPr/>
        </p:nvSpPr>
        <p:spPr>
          <a:xfrm>
            <a:off x="571500" y="3600450"/>
            <a:ext cx="3571875" cy="127471"/>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Аллокатор назначает соседним блокам разные теги (гарантировано через IRG)</a:t>
            </a:r>
            <a:endParaRPr lang="en-US" sz="800" dirty="0">
              <a:latin typeface="Times New Roman" panose="02020603050405020304" pitchFamily="18" charset="0"/>
              <a:cs typeface="Times New Roman" panose="02020603050405020304" pitchFamily="18" charset="0"/>
            </a:endParaRPr>
          </a:p>
        </p:txBody>
      </p:sp>
      <p:sp>
        <p:nvSpPr>
          <p:cNvPr id="18" name="Text 14"/>
          <p:cNvSpPr/>
          <p:nvPr/>
        </p:nvSpPr>
        <p:spPr>
          <a:xfrm>
            <a:off x="435769" y="3971925"/>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19" name="Text 15"/>
          <p:cNvSpPr/>
          <p:nvPr/>
        </p:nvSpPr>
        <p:spPr>
          <a:xfrm>
            <a:off x="571500" y="3971925"/>
            <a:ext cx="3571875" cy="127471"/>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Последовательный overflow всегда </a:t>
            </a:r>
            <a:r>
              <a:rPr lang="en-US" sz="800" dirty="0" err="1">
                <a:solidFill>
                  <a:srgbClr val="24292F"/>
                </a:solidFill>
                <a:latin typeface="Times New Roman" panose="02020603050405020304" pitchFamily="18" charset="0"/>
                <a:ea typeface="Inter" pitchFamily="34" charset="-122"/>
                <a:cs typeface="Times New Roman" panose="02020603050405020304" pitchFamily="18" charset="0"/>
              </a:rPr>
              <a:t>обнаруживается</a:t>
            </a:r>
            <a:r>
              <a:rPr lang="en-US" sz="800" dirty="0">
                <a:solidFill>
                  <a:srgbClr val="24292F"/>
                </a:solidFill>
                <a:latin typeface="Times New Roman" panose="02020603050405020304" pitchFamily="18" charset="0"/>
                <a:ea typeface="Inter" pitchFamily="34" charset="-122"/>
                <a:cs typeface="Times New Roman" panose="02020603050405020304" pitchFamily="18" charset="0"/>
              </a:rPr>
              <a:t> </a:t>
            </a:r>
            <a:endParaRPr lang="en-US" sz="800" dirty="0">
              <a:latin typeface="Times New Roman" panose="02020603050405020304" pitchFamily="18" charset="0"/>
              <a:cs typeface="Times New Roman" panose="02020603050405020304" pitchFamily="18" charset="0"/>
            </a:endParaRPr>
          </a:p>
        </p:txBody>
      </p:sp>
      <p:sp>
        <p:nvSpPr>
          <p:cNvPr id="20" name="Text 16"/>
          <p:cNvSpPr/>
          <p:nvPr/>
        </p:nvSpPr>
        <p:spPr>
          <a:xfrm>
            <a:off x="435769" y="434340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BF3989"/>
                </a:solidFill>
                <a:latin typeface="Fira Code Bold" pitchFamily="34" charset="0"/>
                <a:ea typeface="Fira Code Bold" pitchFamily="34" charset="-122"/>
                <a:cs typeface="Fira Code Bold" pitchFamily="34" charset="-120"/>
              </a:rPr>
              <a:t>→</a:t>
            </a:r>
            <a:endParaRPr lang="en-US" sz="750" dirty="0"/>
          </a:p>
        </p:txBody>
      </p:sp>
      <p:sp>
        <p:nvSpPr>
          <p:cNvPr id="21" name="Text 17"/>
          <p:cNvSpPr/>
          <p:nvPr/>
        </p:nvSpPr>
        <p:spPr>
          <a:xfrm>
            <a:off x="571500" y="4343400"/>
            <a:ext cx="3026470"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«Дикий» произвольный доступ — вероятностно 15/16 ≈ 93.75%</a:t>
            </a:r>
            <a:endParaRPr lang="en-US" sz="800" dirty="0">
              <a:latin typeface="Georgia" panose="02040502050405020303" pitchFamily="18" charset="0"/>
            </a:endParaRPr>
          </a:p>
        </p:txBody>
      </p:sp>
      <p:sp>
        <p:nvSpPr>
          <p:cNvPr id="22" name="Shape 18"/>
          <p:cNvSpPr/>
          <p:nvPr/>
        </p:nvSpPr>
        <p:spPr>
          <a:xfrm>
            <a:off x="4572000" y="978694"/>
            <a:ext cx="4564856" cy="3771900"/>
          </a:xfrm>
          <a:prstGeom prst="rect">
            <a:avLst/>
          </a:prstGeom>
          <a:solidFill>
            <a:srgbClr val="FFFFFF"/>
          </a:solidFill>
          <a:ln/>
        </p:spPr>
      </p:sp>
      <p:sp>
        <p:nvSpPr>
          <p:cNvPr id="23" name="Text 19"/>
          <p:cNvSpPr/>
          <p:nvPr/>
        </p:nvSpPr>
        <p:spPr>
          <a:xfrm>
            <a:off x="4914900" y="1150144"/>
            <a:ext cx="3879056" cy="236219"/>
          </a:xfrm>
          <a:prstGeom prst="rect">
            <a:avLst/>
          </a:prstGeom>
          <a:noFill/>
          <a:ln/>
        </p:spPr>
        <p:txBody>
          <a:bodyPr wrap="square" lIns="0" tIns="0" rIns="0" bIns="51054"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Temporal Safety (</a:t>
            </a:r>
            <a:r>
              <a:rPr lang="en-US" sz="1200" b="1" dirty="0" err="1">
                <a:solidFill>
                  <a:srgbClr val="0969DA"/>
                </a:solidFill>
                <a:latin typeface="Fira Code Bold" pitchFamily="34" charset="0"/>
                <a:ea typeface="Fira Code Bold" pitchFamily="34" charset="-122"/>
                <a:cs typeface="Fira Code Bold" pitchFamily="34" charset="-120"/>
              </a:rPr>
              <a:t>Временная</a:t>
            </a:r>
            <a:r>
              <a:rPr lang="en-US" sz="1200" b="1" dirty="0">
                <a:solidFill>
                  <a:srgbClr val="0969DA"/>
                </a:solidFill>
                <a:latin typeface="Fira Code Bold" pitchFamily="34" charset="0"/>
                <a:ea typeface="Fira Code Bold" pitchFamily="34" charset="-122"/>
                <a:cs typeface="Fira Code Bold" pitchFamily="34" charset="-120"/>
              </a:rPr>
              <a:t>)</a:t>
            </a:r>
            <a:endParaRPr lang="en-US" sz="1200" dirty="0"/>
          </a:p>
        </p:txBody>
      </p:sp>
      <p:sp>
        <p:nvSpPr>
          <p:cNvPr id="24" name="Text 20"/>
          <p:cNvSpPr/>
          <p:nvPr/>
        </p:nvSpPr>
        <p:spPr>
          <a:xfrm>
            <a:off x="4914900" y="1546622"/>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Use-After-Free</a:t>
            </a:r>
            <a:endParaRPr lang="en-US" sz="900" dirty="0"/>
          </a:p>
        </p:txBody>
      </p:sp>
      <p:sp>
        <p:nvSpPr>
          <p:cNvPr id="25" name="Text 21"/>
          <p:cNvSpPr/>
          <p:nvPr/>
        </p:nvSpPr>
        <p:spPr>
          <a:xfrm>
            <a:off x="4914900" y="1771650"/>
            <a:ext cx="3879056" cy="537904"/>
          </a:xfrm>
          <a:prstGeom prst="rect">
            <a:avLst/>
          </a:prstGeom>
          <a:noFill/>
          <a:ln/>
        </p:spPr>
        <p:txBody>
          <a:bodyPr wrap="square" lIns="0" tIns="0" rIns="0" bIns="0" rtlCol="0" anchor="t">
            <a:spAutoFit/>
          </a:bodyPr>
          <a:lstStyle/>
          <a:p>
            <a:pPr marL="0" indent="0" algn="l">
              <a:lnSpc>
                <a:spcPct val="120000"/>
              </a:lnSpc>
              <a:buNone/>
            </a:pP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Висячий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указатель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на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освобождённый</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объект</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Если</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память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переназначена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перезапись</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нового</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объекта</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a:t>
            </a:r>
            <a:r>
              <a:rPr lang="en-US" sz="1000" dirty="0" err="1">
                <a:solidFill>
                  <a:srgbClr val="57606A"/>
                </a:solidFill>
                <a:latin typeface="Times New Roman" panose="02020603050405020304" pitchFamily="18" charset="0"/>
                <a:ea typeface="Inter" pitchFamily="34" charset="-122"/>
                <a:cs typeface="Times New Roman" panose="02020603050405020304" pitchFamily="18" charset="0"/>
              </a:rPr>
              <a:t>vtable</a:t>
            </a: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 function pointer → type confusion).</a:t>
            </a:r>
            <a:endParaRPr lang="en-US" sz="1000" dirty="0">
              <a:latin typeface="Times New Roman" panose="02020603050405020304" pitchFamily="18" charset="0"/>
              <a:cs typeface="Times New Roman" panose="02020603050405020304" pitchFamily="18" charset="0"/>
            </a:endParaRPr>
          </a:p>
        </p:txBody>
      </p:sp>
      <p:sp>
        <p:nvSpPr>
          <p:cNvPr id="26" name="Text 22"/>
          <p:cNvSpPr/>
          <p:nvPr/>
        </p:nvSpPr>
        <p:spPr>
          <a:xfrm>
            <a:off x="4914900" y="2400300"/>
            <a:ext cx="38790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Use-After-Return</a:t>
            </a:r>
            <a:endParaRPr lang="en-US" sz="900" dirty="0"/>
          </a:p>
        </p:txBody>
      </p:sp>
      <p:sp>
        <p:nvSpPr>
          <p:cNvPr id="27" name="Text 23"/>
          <p:cNvSpPr/>
          <p:nvPr/>
        </p:nvSpPr>
        <p:spPr>
          <a:xfrm>
            <a:off x="4914900" y="2625328"/>
            <a:ext cx="3879056" cy="353238"/>
          </a:xfrm>
          <a:prstGeom prst="rect">
            <a:avLst/>
          </a:prstGeom>
          <a:noFill/>
          <a:ln/>
        </p:spPr>
        <p:txBody>
          <a:bodyPr wrap="square" lIns="0" tIns="0" rIns="0" bIns="0" rtlCol="0" anchor="t">
            <a:spAutoFit/>
          </a:bodyPr>
          <a:lstStyle/>
          <a:p>
            <a:pPr marL="0" indent="0" algn="l">
              <a:lnSpc>
                <a:spcPct val="120000"/>
              </a:lnSpc>
              <a:buNone/>
            </a:pPr>
            <a:r>
              <a:rPr lang="en-US" sz="1000" dirty="0">
                <a:solidFill>
                  <a:srgbClr val="57606A"/>
                </a:solidFill>
                <a:latin typeface="Times New Roman" panose="02020603050405020304" pitchFamily="18" charset="0"/>
                <a:ea typeface="Inter" pitchFamily="34" charset="-122"/>
                <a:cs typeface="Times New Roman" panose="02020603050405020304" pitchFamily="18" charset="0"/>
              </a:rPr>
              <a:t>Указатель на объект стека, использованный после возврата из функции — стек-фрейм уже перезаписан.</a:t>
            </a:r>
            <a:endParaRPr lang="en-US" sz="1000" dirty="0">
              <a:latin typeface="Times New Roman" panose="02020603050405020304" pitchFamily="18" charset="0"/>
              <a:cs typeface="Times New Roman" panose="02020603050405020304" pitchFamily="18" charset="0"/>
            </a:endParaRPr>
          </a:p>
        </p:txBody>
      </p:sp>
      <p:sp>
        <p:nvSpPr>
          <p:cNvPr id="28" name="Shape 24"/>
          <p:cNvSpPr/>
          <p:nvPr/>
        </p:nvSpPr>
        <p:spPr>
          <a:xfrm>
            <a:off x="4914900" y="3405783"/>
            <a:ext cx="3879056" cy="1173361"/>
          </a:xfrm>
          <a:prstGeom prst="rect">
            <a:avLst/>
          </a:prstGeom>
          <a:solidFill>
            <a:srgbClr val="F6F8FA"/>
          </a:solidFill>
          <a:ln w="9144">
            <a:solidFill>
              <a:srgbClr val="D0D7DE"/>
            </a:solidFill>
            <a:prstDash val="solid"/>
          </a:ln>
        </p:spPr>
      </p:sp>
      <p:sp>
        <p:nvSpPr>
          <p:cNvPr id="29" name="Text 25"/>
          <p:cNvSpPr/>
          <p:nvPr/>
        </p:nvSpPr>
        <p:spPr>
          <a:xfrm>
            <a:off x="5000625" y="3505795"/>
            <a:ext cx="3707606" cy="130373"/>
          </a:xfrm>
          <a:prstGeom prst="rect">
            <a:avLst/>
          </a:prstGeom>
          <a:noFill/>
          <a:ln/>
        </p:spPr>
        <p:txBody>
          <a:bodyPr wrap="square" lIns="0" tIns="0" rIns="0" bIns="0" rtlCol="0" anchor="t">
            <a:spAutoFit/>
          </a:bodyPr>
          <a:lstStyle/>
          <a:p>
            <a:pPr marL="0" indent="0" algn="l">
              <a:buNone/>
            </a:pPr>
            <a:r>
              <a:rPr lang="en-US" sz="750" dirty="0">
                <a:solidFill>
                  <a:srgbClr val="57606A"/>
                </a:solidFill>
                <a:latin typeface="Fira Code" pitchFamily="34" charset="0"/>
                <a:ea typeface="Fira Code" pitchFamily="34" charset="-122"/>
                <a:cs typeface="Fira Code" pitchFamily="34" charset="-120"/>
              </a:rPr>
              <a:t>КАК MTE ОБНАРУЖИВАЕТ</a:t>
            </a:r>
            <a:endParaRPr lang="en-US" sz="750" dirty="0"/>
          </a:p>
        </p:txBody>
      </p:sp>
      <p:sp>
        <p:nvSpPr>
          <p:cNvPr id="30" name="Text 26"/>
          <p:cNvSpPr/>
          <p:nvPr/>
        </p:nvSpPr>
        <p:spPr>
          <a:xfrm>
            <a:off x="5000625" y="3750469"/>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1" name="Text 27"/>
          <p:cNvSpPr/>
          <p:nvPr/>
        </p:nvSpPr>
        <p:spPr>
          <a:xfrm>
            <a:off x="5136356" y="3750469"/>
            <a:ext cx="2391680" cy="127214"/>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При free() аллокатор назначает памяти новый тег</a:t>
            </a:r>
            <a:endParaRPr lang="en-US" sz="800" dirty="0">
              <a:latin typeface="Georgia" panose="02040502050405020303" pitchFamily="18" charset="0"/>
            </a:endParaRPr>
          </a:p>
        </p:txBody>
      </p:sp>
      <p:sp>
        <p:nvSpPr>
          <p:cNvPr id="32" name="Text 28"/>
          <p:cNvSpPr/>
          <p:nvPr/>
        </p:nvSpPr>
        <p:spPr>
          <a:xfrm>
            <a:off x="5000625" y="3971925"/>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3" name="Text 29"/>
          <p:cNvSpPr/>
          <p:nvPr/>
        </p:nvSpPr>
        <p:spPr>
          <a:xfrm>
            <a:off x="5136356" y="3971925"/>
            <a:ext cx="3571875" cy="127214"/>
          </a:xfrm>
          <a:prstGeom prst="rect">
            <a:avLst/>
          </a:prstGeom>
          <a:noFill/>
          <a:ln/>
        </p:spPr>
        <p:txBody>
          <a:bodyPr wrap="squar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Висячий указатель хранит старый тег — несоответствие неизбежно</a:t>
            </a:r>
            <a:endParaRPr lang="en-US" sz="800" dirty="0">
              <a:latin typeface="Georgia" panose="02040502050405020303" pitchFamily="18" charset="0"/>
            </a:endParaRPr>
          </a:p>
        </p:txBody>
      </p:sp>
      <p:sp>
        <p:nvSpPr>
          <p:cNvPr id="34" name="Text 30"/>
          <p:cNvSpPr/>
          <p:nvPr/>
        </p:nvSpPr>
        <p:spPr>
          <a:xfrm>
            <a:off x="5000625" y="4343400"/>
            <a:ext cx="64294" cy="150019"/>
          </a:xfrm>
          <a:prstGeom prst="rect">
            <a:avLst/>
          </a:prstGeom>
          <a:noFill/>
          <a:ln/>
        </p:spPr>
        <p:txBody>
          <a:bodyPr wrap="none" lIns="0" tIns="0" rIns="0" bIns="0" rtlCol="0" anchor="t">
            <a:spAutoFit/>
          </a:bodyPr>
          <a:lstStyle/>
          <a:p>
            <a:pPr marL="0" indent="0" algn="l">
              <a:lnSpc>
                <a:spcPct val="112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35" name="Text 31"/>
          <p:cNvSpPr/>
          <p:nvPr/>
        </p:nvSpPr>
        <p:spPr>
          <a:xfrm>
            <a:off x="5136356" y="4343400"/>
            <a:ext cx="3161122" cy="127407"/>
          </a:xfrm>
          <a:prstGeom prst="rect">
            <a:avLst/>
          </a:prstGeom>
          <a:noFill/>
          <a:ln/>
        </p:spPr>
        <p:txBody>
          <a:bodyPr wrap="none" lIns="0" tIns="0" rIns="0" bIns="0" rtlCol="0" anchor="t">
            <a:spAutoFit/>
          </a:bodyPr>
          <a:lstStyle/>
          <a:p>
            <a:pPr marL="0" indent="0" algn="l">
              <a:lnSpc>
                <a:spcPct val="112000"/>
              </a:lnSpc>
              <a:buNone/>
            </a:pPr>
            <a:r>
              <a:rPr lang="en-US" sz="800" dirty="0">
                <a:solidFill>
                  <a:srgbClr val="24292F"/>
                </a:solidFill>
                <a:latin typeface="Georgia" panose="02040502050405020303" pitchFamily="18" charset="0"/>
                <a:ea typeface="Inter" pitchFamily="34" charset="-122"/>
                <a:cs typeface="Inter" pitchFamily="34" charset="-120"/>
              </a:rPr>
              <a:t>Обращение через висячий указатель → немедленное исключение</a:t>
            </a:r>
            <a:endParaRPr lang="en-US" sz="800" dirty="0">
              <a:latin typeface="Georgia" panose="02040502050405020303" pitchFamily="18" charset="0"/>
            </a:endParaRPr>
          </a:p>
        </p:txBody>
      </p:sp>
      <p:sp>
        <p:nvSpPr>
          <p:cNvPr id="36" name="Shape 32"/>
          <p:cNvSpPr/>
          <p:nvPr/>
        </p:nvSpPr>
        <p:spPr>
          <a:xfrm>
            <a:off x="7144" y="4750594"/>
            <a:ext cx="9129713" cy="385763"/>
          </a:xfrm>
          <a:prstGeom prst="rect">
            <a:avLst/>
          </a:prstGeom>
          <a:solidFill>
            <a:srgbClr val="24292F"/>
          </a:solidFill>
          <a:ln/>
        </p:spPr>
      </p:sp>
      <p:sp>
        <p:nvSpPr>
          <p:cNvPr id="37" name="Shape 33"/>
          <p:cNvSpPr/>
          <p:nvPr/>
        </p:nvSpPr>
        <p:spPr>
          <a:xfrm>
            <a:off x="7144" y="4750594"/>
            <a:ext cx="9129713" cy="7144"/>
          </a:xfrm>
          <a:prstGeom prst="rect">
            <a:avLst/>
          </a:prstGeom>
          <a:solidFill>
            <a:srgbClr val="D0D7DE"/>
          </a:solidFill>
          <a:ln/>
        </p:spPr>
      </p:sp>
      <p:sp>
        <p:nvSpPr>
          <p:cNvPr id="38" name="Shape 34"/>
          <p:cNvSpPr/>
          <p:nvPr/>
        </p:nvSpPr>
        <p:spPr>
          <a:xfrm>
            <a:off x="350044" y="4843463"/>
            <a:ext cx="1268016" cy="207169"/>
          </a:xfrm>
          <a:prstGeom prst="rect">
            <a:avLst/>
          </a:prstGeom>
          <a:solidFill>
            <a:srgbClr val="2DA44E"/>
          </a:solidFill>
          <a:ln/>
        </p:spPr>
      </p:sp>
      <p:sp>
        <p:nvSpPr>
          <p:cNvPr id="39" name="Text 35"/>
          <p:cNvSpPr/>
          <p:nvPr/>
        </p:nvSpPr>
        <p:spPr>
          <a:xfrm>
            <a:off x="350044" y="4843463"/>
            <a:ext cx="1268016" cy="207169"/>
          </a:xfrm>
          <a:prstGeom prst="rect">
            <a:avLst/>
          </a:prstGeom>
          <a:noFill/>
          <a:ln/>
        </p:spPr>
        <p:txBody>
          <a:bodyPr wrap="none" lIns="68072" tIns="34036" rIns="68072" bIns="34036" rtlCol="0" anchor="t">
            <a:spAutoFit/>
          </a:bodyPr>
          <a:lstStyle/>
          <a:p>
            <a:pPr marL="0" indent="0" algn="l">
              <a:lnSpc>
                <a:spcPct val="120000"/>
              </a:lnSpc>
              <a:buNone/>
            </a:pPr>
            <a:r>
              <a:rPr lang="en-US" sz="700" b="1" dirty="0">
                <a:solidFill>
                  <a:srgbClr val="FFFFFF"/>
                </a:solidFill>
                <a:latin typeface="Fira Code Bold" pitchFamily="34" charset="0"/>
                <a:ea typeface="Fira Code Bold" pitchFamily="34" charset="-122"/>
                <a:cs typeface="Fira Code Bold" pitchFamily="34" charset="-120"/>
              </a:rPr>
              <a:t>Project Zero (2023)</a:t>
            </a:r>
            <a:endParaRPr lang="en-US" sz="700" dirty="0"/>
          </a:p>
        </p:txBody>
      </p:sp>
      <p:sp>
        <p:nvSpPr>
          <p:cNvPr id="40" name="Text 36"/>
          <p:cNvSpPr/>
          <p:nvPr/>
        </p:nvSpPr>
        <p:spPr>
          <a:xfrm>
            <a:off x="1732359" y="4861322"/>
            <a:ext cx="5281017" cy="171450"/>
          </a:xfrm>
          <a:prstGeom prst="rect">
            <a:avLst/>
          </a:prstGeom>
          <a:noFill/>
          <a:ln/>
        </p:spPr>
        <p:txBody>
          <a:bodyPr wrap="none" lIns="0" tIns="0" rIns="0" bIns="0" rtlCol="0" anchor="t">
            <a:spAutoFit/>
          </a:bodyPr>
          <a:lstStyle/>
          <a:p>
            <a:pPr marL="0" indent="0" algn="l">
              <a:lnSpc>
                <a:spcPct val="120000"/>
              </a:lnSpc>
              <a:buNone/>
            </a:pPr>
            <a:r>
              <a:rPr lang="en-US" sz="850" dirty="0">
                <a:solidFill>
                  <a:srgbClr val="F6F8FA"/>
                </a:solidFill>
                <a:latin typeface="Inter" pitchFamily="34" charset="0"/>
                <a:ea typeface="Inter" pitchFamily="34" charset="-122"/>
                <a:cs typeface="Inter" pitchFamily="34" charset="-120"/>
              </a:rPr>
              <a:t>MTE обнаружил реальные UAF-баги в приложениях на Pixel 8/9 в production-режиме ASYNC.</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1035844"/>
          </a:xfrm>
          <a:prstGeom prst="rect">
            <a:avLst/>
          </a:prstGeom>
          <a:solidFill>
            <a:srgbClr val="FFFFFF"/>
          </a:solidFill>
          <a:ln/>
        </p:spPr>
      </p:sp>
      <p:sp>
        <p:nvSpPr>
          <p:cNvPr id="5" name="Shape 1"/>
          <p:cNvSpPr/>
          <p:nvPr/>
        </p:nvSpPr>
        <p:spPr>
          <a:xfrm>
            <a:off x="7144" y="1035844"/>
            <a:ext cx="9129713" cy="7144"/>
          </a:xfrm>
          <a:prstGeom prst="rect">
            <a:avLst/>
          </a:prstGeom>
          <a:solidFill>
            <a:srgbClr val="D0D7DE"/>
          </a:solidFill>
          <a:ln/>
        </p:spPr>
      </p:sp>
      <p:sp>
        <p:nvSpPr>
          <p:cNvPr id="6" name="Text 2"/>
          <p:cNvSpPr/>
          <p:nvPr/>
        </p:nvSpPr>
        <p:spPr>
          <a:xfrm>
            <a:off x="435769" y="292894"/>
            <a:ext cx="8272463" cy="600075"/>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Heap tagging без перекомпиляции; stack требует BTI + PAC + recompile</a:t>
            </a:r>
            <a:endParaRPr lang="en-US" sz="1600" dirty="0"/>
          </a:p>
        </p:txBody>
      </p:sp>
      <p:sp>
        <p:nvSpPr>
          <p:cNvPr id="7" name="Shape 3"/>
          <p:cNvSpPr/>
          <p:nvPr/>
        </p:nvSpPr>
        <p:spPr>
          <a:xfrm>
            <a:off x="7144" y="1035844"/>
            <a:ext cx="4564856" cy="4100513"/>
          </a:xfrm>
          <a:prstGeom prst="rect">
            <a:avLst/>
          </a:prstGeom>
          <a:solidFill>
            <a:srgbClr val="FFFFFF"/>
          </a:solidFill>
          <a:ln/>
        </p:spPr>
      </p:sp>
      <p:sp>
        <p:nvSpPr>
          <p:cNvPr id="8" name="Shape 4"/>
          <p:cNvSpPr/>
          <p:nvPr/>
        </p:nvSpPr>
        <p:spPr>
          <a:xfrm>
            <a:off x="4564856" y="1035844"/>
            <a:ext cx="7144" cy="4100513"/>
          </a:xfrm>
          <a:prstGeom prst="rect">
            <a:avLst/>
          </a:prstGeom>
          <a:solidFill>
            <a:srgbClr val="D0D7DE"/>
          </a:solidFill>
          <a:ln/>
        </p:spPr>
      </p:sp>
      <p:sp>
        <p:nvSpPr>
          <p:cNvPr id="9" name="Text 5"/>
          <p:cNvSpPr/>
          <p:nvPr/>
        </p:nvSpPr>
        <p:spPr>
          <a:xfrm>
            <a:off x="435769" y="1321594"/>
            <a:ext cx="3707606" cy="325041"/>
          </a:xfrm>
          <a:prstGeom prst="rect">
            <a:avLst/>
          </a:prstGeom>
          <a:noFill/>
          <a:ln/>
        </p:spPr>
        <p:txBody>
          <a:bodyPr wrap="square" lIns="0" tIns="0" rIns="0" bIns="102108" rtlCol="0" anchor="t">
            <a:spAutoFit/>
          </a:bodyPr>
          <a:lstStyle/>
          <a:p>
            <a:pPr marL="0" indent="0" algn="l">
              <a:buNone/>
            </a:pPr>
            <a:r>
              <a:rPr lang="en-US" sz="1200" b="1" dirty="0">
                <a:solidFill>
                  <a:srgbClr val="24292F"/>
                </a:solidFill>
                <a:latin typeface="Fira Code Bold" pitchFamily="34" charset="0"/>
                <a:ea typeface="Fira Code Bold" pitchFamily="34" charset="-122"/>
                <a:cs typeface="Fira Code Bold" pitchFamily="34" charset="-120"/>
              </a:rPr>
              <a:t>Heap Tagging (без перекомпиляции)</a:t>
            </a:r>
            <a:endParaRPr lang="en-US" sz="1200" dirty="0"/>
          </a:p>
        </p:txBody>
      </p:sp>
      <p:sp>
        <p:nvSpPr>
          <p:cNvPr id="10" name="Text 6"/>
          <p:cNvSpPr/>
          <p:nvPr/>
        </p:nvSpPr>
        <p:spPr>
          <a:xfrm>
            <a:off x="435769" y="1818084"/>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1" name="Text 7"/>
          <p:cNvSpPr/>
          <p:nvPr/>
        </p:nvSpPr>
        <p:spPr>
          <a:xfrm>
            <a:off x="598652" y="1818084"/>
            <a:ext cx="2726708"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В dynamically linked системах — только ядро ОС и libc.</a:t>
            </a:r>
            <a:endParaRPr lang="en-US" sz="850" b="1" dirty="0">
              <a:latin typeface="Times New Roman" panose="02020603050405020304" pitchFamily="18" charset="0"/>
              <a:cs typeface="Times New Roman" panose="02020603050405020304" pitchFamily="18" charset="0"/>
            </a:endParaRPr>
          </a:p>
        </p:txBody>
      </p:sp>
      <p:sp>
        <p:nvSpPr>
          <p:cNvPr id="12" name="Text 8"/>
          <p:cNvSpPr/>
          <p:nvPr/>
        </p:nvSpPr>
        <p:spPr>
          <a:xfrm>
            <a:off x="435769" y="2109192"/>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3" name="Text 9"/>
          <p:cNvSpPr/>
          <p:nvPr/>
        </p:nvSpPr>
        <p:spPr>
          <a:xfrm>
            <a:off x="598652" y="2109192"/>
            <a:ext cx="1865895"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Существующие бинари не трогаются.</a:t>
            </a:r>
            <a:endParaRPr lang="en-US" sz="850" b="1" dirty="0">
              <a:latin typeface="Times New Roman" panose="02020603050405020304" pitchFamily="18" charset="0"/>
              <a:cs typeface="Times New Roman" panose="02020603050405020304" pitchFamily="18" charset="0"/>
            </a:endParaRPr>
          </a:p>
        </p:txBody>
      </p:sp>
      <p:sp>
        <p:nvSpPr>
          <p:cNvPr id="14" name="Text 10"/>
          <p:cNvSpPr/>
          <p:nvPr/>
        </p:nvSpPr>
        <p:spPr>
          <a:xfrm>
            <a:off x="435769" y="2400300"/>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5" name="Text 11"/>
          <p:cNvSpPr/>
          <p:nvPr/>
        </p:nvSpPr>
        <p:spPr>
          <a:xfrm>
            <a:off x="598652" y="2400300"/>
            <a:ext cx="2713884"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malloc() → IRG → STG → tagged pointer возвращается.</a:t>
            </a:r>
            <a:endParaRPr lang="en-US" sz="850" b="1" dirty="0">
              <a:latin typeface="Times New Roman" panose="02020603050405020304" pitchFamily="18" charset="0"/>
              <a:cs typeface="Times New Roman" panose="02020603050405020304" pitchFamily="18" charset="0"/>
            </a:endParaRPr>
          </a:p>
        </p:txBody>
      </p:sp>
      <p:sp>
        <p:nvSpPr>
          <p:cNvPr id="16" name="Text 12"/>
          <p:cNvSpPr/>
          <p:nvPr/>
        </p:nvSpPr>
        <p:spPr>
          <a:xfrm>
            <a:off x="435769" y="2691408"/>
            <a:ext cx="77158" cy="176808"/>
          </a:xfrm>
          <a:prstGeom prst="rect">
            <a:avLst/>
          </a:prstGeom>
          <a:noFill/>
          <a:ln/>
        </p:spPr>
        <p:txBody>
          <a:bodyPr wrap="non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a:t>
            </a:r>
            <a:endParaRPr lang="en-US" sz="900" dirty="0"/>
          </a:p>
        </p:txBody>
      </p:sp>
      <p:sp>
        <p:nvSpPr>
          <p:cNvPr id="17" name="Text 13"/>
          <p:cNvSpPr/>
          <p:nvPr/>
        </p:nvSpPr>
        <p:spPr>
          <a:xfrm>
            <a:off x="598652" y="2691408"/>
            <a:ext cx="3544723" cy="143309"/>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free() → новый тег → висячие указатели немедленно обнаруживаются.</a:t>
            </a:r>
            <a:endParaRPr lang="en-US" sz="850" b="1" dirty="0">
              <a:latin typeface="Times New Roman" panose="02020603050405020304" pitchFamily="18" charset="0"/>
              <a:cs typeface="Times New Roman" panose="02020603050405020304" pitchFamily="18" charset="0"/>
            </a:endParaRPr>
          </a:p>
        </p:txBody>
      </p:sp>
      <p:sp>
        <p:nvSpPr>
          <p:cNvPr id="18" name="Text 14"/>
          <p:cNvSpPr/>
          <p:nvPr/>
        </p:nvSpPr>
        <p:spPr>
          <a:xfrm>
            <a:off x="435769" y="3205758"/>
            <a:ext cx="3707606" cy="112514"/>
          </a:xfrm>
          <a:prstGeom prst="rect">
            <a:avLst/>
          </a:prstGeom>
          <a:noFill/>
          <a:ln/>
        </p:spPr>
        <p:txBody>
          <a:bodyPr wrap="square" lIns="0" tIns="0" rIns="0" bIns="0" rtlCol="0" anchor="t">
            <a:spAutoFit/>
          </a:bodyPr>
          <a:lstStyle/>
          <a:p>
            <a:pPr marL="0" indent="0" algn="l">
              <a:buNone/>
            </a:pPr>
            <a:r>
              <a:rPr lang="en-US" sz="600" dirty="0">
                <a:solidFill>
                  <a:srgbClr val="57606A"/>
                </a:solidFill>
                <a:latin typeface="Fira Code" pitchFamily="34" charset="0"/>
                <a:ea typeface="Fira Code" pitchFamily="34" charset="-122"/>
                <a:cs typeface="Fira Code" pitchFamily="34" charset="-120"/>
              </a:rPr>
              <a:t>ANDROID NDK EXAMPLE</a:t>
            </a:r>
            <a:endParaRPr lang="en-US" sz="600" dirty="0"/>
          </a:p>
        </p:txBody>
      </p:sp>
      <p:sp>
        <p:nvSpPr>
          <p:cNvPr id="19" name="Shape 15"/>
          <p:cNvSpPr/>
          <p:nvPr/>
        </p:nvSpPr>
        <p:spPr>
          <a:xfrm>
            <a:off x="435769" y="3375422"/>
            <a:ext cx="3707606" cy="620055"/>
          </a:xfrm>
          <a:prstGeom prst="rect">
            <a:avLst/>
          </a:prstGeom>
          <a:solidFill>
            <a:srgbClr val="1F2428"/>
          </a:solidFill>
          <a:ln w="9144">
            <a:solidFill>
              <a:srgbClr val="444C56"/>
            </a:solidFill>
            <a:prstDash val="solid"/>
          </a:ln>
        </p:spPr>
      </p:sp>
      <p:sp>
        <p:nvSpPr>
          <p:cNvPr id="20" name="Text 16"/>
          <p:cNvSpPr/>
          <p:nvPr/>
        </p:nvSpPr>
        <p:spPr>
          <a:xfrm>
            <a:off x="435769" y="3375422"/>
            <a:ext cx="3707606" cy="620055"/>
          </a:xfrm>
          <a:prstGeom prst="rect">
            <a:avLst/>
          </a:prstGeom>
          <a:noFill/>
          <a:ln/>
        </p:spPr>
        <p:txBody>
          <a:bodyPr wrap="square" lIns="170053" tIns="170053" rIns="170053" bIns="170053" rtlCol="0" anchor="t">
            <a:spAutoFit/>
          </a:bodyPr>
          <a:lstStyle/>
          <a:p>
            <a:pPr marL="0" indent="0" algn="l">
              <a:lnSpc>
                <a:spcPct val="128000"/>
              </a:lnSpc>
              <a:buNone/>
            </a:pPr>
            <a:r>
              <a:rPr lang="en-US" sz="750" dirty="0">
                <a:solidFill>
                  <a:srgbClr val="D2A8FF"/>
                </a:solidFill>
                <a:latin typeface="Fira Code" pitchFamily="34" charset="0"/>
                <a:ea typeface="Fira Code" pitchFamily="34" charset="-122"/>
                <a:cs typeface="Fira Code" pitchFamily="34" charset="-120"/>
              </a:rPr>
              <a:t>android_mallopt</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M_BIONIC_SET_HEAP_TAGGING_LEVEL</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M_HEAP_TAGGING_LEVEL_SYNC</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8B949E"/>
                </a:solidFill>
                <a:latin typeface="Fira Code" pitchFamily="34" charset="0"/>
                <a:ea typeface="Fira Code" pitchFamily="34" charset="-122"/>
                <a:cs typeface="Fira Code" pitchFamily="34" charset="-120"/>
              </a:rPr>
              <a:t>// or ASYNC</a:t>
            </a:r>
            <a:r>
              <a:rPr lang="en-US" sz="750" dirty="0">
                <a:solidFill>
                  <a:srgbClr val="C9D1D9"/>
                </a:solidFill>
                <a:latin typeface="Fira Code" pitchFamily="34" charset="0"/>
                <a:ea typeface="Fira Code" pitchFamily="34" charset="-122"/>
                <a:cs typeface="Fira Code" pitchFamily="34" charset="-120"/>
              </a:rPr>
              <a:t> );</a:t>
            </a:r>
            <a:endParaRPr lang="en-US" sz="750" dirty="0"/>
          </a:p>
        </p:txBody>
      </p:sp>
      <p:sp>
        <p:nvSpPr>
          <p:cNvPr id="21" name="Shape 17"/>
          <p:cNvSpPr/>
          <p:nvPr/>
        </p:nvSpPr>
        <p:spPr>
          <a:xfrm>
            <a:off x="4572000" y="1035844"/>
            <a:ext cx="4564856" cy="4100513"/>
          </a:xfrm>
          <a:prstGeom prst="rect">
            <a:avLst/>
          </a:prstGeom>
          <a:solidFill>
            <a:srgbClr val="F6F8FA"/>
          </a:solidFill>
          <a:ln/>
        </p:spPr>
      </p:sp>
      <p:sp>
        <p:nvSpPr>
          <p:cNvPr id="22" name="Text 18"/>
          <p:cNvSpPr/>
          <p:nvPr/>
        </p:nvSpPr>
        <p:spPr>
          <a:xfrm>
            <a:off x="5000625" y="1321594"/>
            <a:ext cx="3707606" cy="550069"/>
          </a:xfrm>
          <a:prstGeom prst="rect">
            <a:avLst/>
          </a:prstGeom>
          <a:noFill/>
          <a:ln/>
        </p:spPr>
        <p:txBody>
          <a:bodyPr wrap="square" lIns="0" tIns="0" rIns="0" bIns="102108" rtlCol="0" anchor="t">
            <a:spAutoFit/>
          </a:bodyPr>
          <a:lstStyle/>
          <a:p>
            <a:pPr marL="0" indent="0" algn="l">
              <a:buNone/>
            </a:pPr>
            <a:r>
              <a:rPr lang="en-US" sz="1200" b="1" dirty="0">
                <a:solidFill>
                  <a:srgbClr val="24292F"/>
                </a:solidFill>
                <a:latin typeface="Fira Code Bold" pitchFamily="34" charset="0"/>
                <a:ea typeface="Fira Code Bold" pitchFamily="34" charset="-122"/>
                <a:cs typeface="Fira Code Bold" pitchFamily="34" charset="-120"/>
              </a:rPr>
              <a:t>Stack Tagging (требует перекомпиляции)</a:t>
            </a:r>
            <a:endParaRPr lang="en-US" sz="1200" dirty="0"/>
          </a:p>
        </p:txBody>
      </p:sp>
      <p:sp>
        <p:nvSpPr>
          <p:cNvPr id="23" name="Text 19"/>
          <p:cNvSpPr/>
          <p:nvPr/>
        </p:nvSpPr>
        <p:spPr>
          <a:xfrm>
            <a:off x="5000625" y="2043113"/>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4" name="Text 20"/>
          <p:cNvSpPr/>
          <p:nvPr/>
        </p:nvSpPr>
        <p:spPr>
          <a:xfrm>
            <a:off x="5163508" y="2043113"/>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Компилятор (Clang/GCC с -fsanitize=memtag-stack) вставляет IRG + ADDG + STG в пролог функции.</a:t>
            </a:r>
            <a:endParaRPr lang="en-US" sz="850" b="1" dirty="0">
              <a:latin typeface="Times New Roman" panose="02020603050405020304" pitchFamily="18" charset="0"/>
              <a:cs typeface="Times New Roman" panose="02020603050405020304" pitchFamily="18" charset="0"/>
            </a:endParaRPr>
          </a:p>
        </p:txBody>
      </p:sp>
      <p:sp>
        <p:nvSpPr>
          <p:cNvPr id="25" name="Text 21"/>
          <p:cNvSpPr/>
          <p:nvPr/>
        </p:nvSpPr>
        <p:spPr>
          <a:xfrm>
            <a:off x="5000625" y="2500313"/>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6" name="Text 22"/>
          <p:cNvSpPr/>
          <p:nvPr/>
        </p:nvSpPr>
        <p:spPr>
          <a:xfrm>
            <a:off x="5163508" y="2500313"/>
            <a:ext cx="2390078" cy="143309"/>
          </a:xfrm>
          <a:prstGeom prst="rect">
            <a:avLst/>
          </a:prstGeom>
          <a:noFill/>
          <a:ln/>
        </p:spPr>
        <p:txBody>
          <a:bodyPr wrap="non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Каждый stack-объект получает уникальный тег.</a:t>
            </a:r>
            <a:endParaRPr lang="en-US" sz="850" b="1" dirty="0">
              <a:latin typeface="Times New Roman" panose="02020603050405020304" pitchFamily="18" charset="0"/>
              <a:cs typeface="Times New Roman" panose="02020603050405020304" pitchFamily="18" charset="0"/>
            </a:endParaRPr>
          </a:p>
        </p:txBody>
      </p:sp>
      <p:sp>
        <p:nvSpPr>
          <p:cNvPr id="27" name="Text 23"/>
          <p:cNvSpPr/>
          <p:nvPr/>
        </p:nvSpPr>
        <p:spPr>
          <a:xfrm>
            <a:off x="5000625" y="2791420"/>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28" name="Text 24"/>
          <p:cNvSpPr/>
          <p:nvPr/>
        </p:nvSpPr>
        <p:spPr>
          <a:xfrm>
            <a:off x="5163508" y="2791420"/>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Требует BTI (Branch Target Identification) + PAC (Pointer Authentication Code) для полной безопасности.</a:t>
            </a:r>
            <a:endParaRPr lang="en-US" sz="850" b="1" dirty="0">
              <a:latin typeface="Times New Roman" panose="02020603050405020304" pitchFamily="18" charset="0"/>
              <a:cs typeface="Times New Roman" panose="02020603050405020304" pitchFamily="18" charset="0"/>
            </a:endParaRPr>
          </a:p>
        </p:txBody>
      </p:sp>
      <p:sp>
        <p:nvSpPr>
          <p:cNvPr id="29" name="Text 25"/>
          <p:cNvSpPr/>
          <p:nvPr/>
        </p:nvSpPr>
        <p:spPr>
          <a:xfrm>
            <a:off x="5000625" y="3248620"/>
            <a:ext cx="77158" cy="176808"/>
          </a:xfrm>
          <a:prstGeom prst="rect">
            <a:avLst/>
          </a:prstGeom>
          <a:noFill/>
          <a:ln/>
        </p:spPr>
        <p:txBody>
          <a:bodyPr wrap="none" lIns="0" tIns="0" rIns="0" bIns="0" rtlCol="0" anchor="t">
            <a:spAutoFit/>
          </a:bodyPr>
          <a:lstStyle/>
          <a:p>
            <a:pPr marL="0" indent="0" algn="l">
              <a:buNone/>
            </a:pPr>
            <a:r>
              <a:rPr lang="en-US" sz="900" b="1" dirty="0">
                <a:solidFill>
                  <a:srgbClr val="BF3989"/>
                </a:solidFill>
                <a:latin typeface="Fira Code Bold" pitchFamily="34" charset="0"/>
                <a:ea typeface="Fira Code Bold" pitchFamily="34" charset="-122"/>
                <a:cs typeface="Fira Code Bold" pitchFamily="34" charset="-120"/>
              </a:rPr>
              <a:t>→</a:t>
            </a:r>
            <a:endParaRPr lang="en-US" sz="900" dirty="0"/>
          </a:p>
        </p:txBody>
      </p:sp>
      <p:sp>
        <p:nvSpPr>
          <p:cNvPr id="30" name="Text 26"/>
          <p:cNvSpPr/>
          <p:nvPr/>
        </p:nvSpPr>
        <p:spPr>
          <a:xfrm>
            <a:off x="5163508" y="3248620"/>
            <a:ext cx="3544723" cy="300275"/>
          </a:xfrm>
          <a:prstGeom prst="rect">
            <a:avLst/>
          </a:prstGeom>
          <a:noFill/>
          <a:ln/>
        </p:spPr>
        <p:txBody>
          <a:bodyPr wrap="square" lIns="0" tIns="0" rIns="0" bIns="0" rtlCol="0" anchor="t">
            <a:spAutoFit/>
          </a:bodyPr>
          <a:lstStyle/>
          <a:p>
            <a:pPr marL="0" indent="0" algn="l">
              <a:lnSpc>
                <a:spcPct val="120000"/>
              </a:lnSpc>
              <a:buNone/>
            </a:pPr>
            <a:r>
              <a:rPr lang="en-US" sz="850" b="1" dirty="0">
                <a:solidFill>
                  <a:srgbClr val="24292F"/>
                </a:solidFill>
                <a:latin typeface="Times New Roman" panose="02020603050405020304" pitchFamily="18" charset="0"/>
                <a:ea typeface="Inter" pitchFamily="34" charset="-122"/>
                <a:cs typeface="Times New Roman" panose="02020603050405020304" pitchFamily="18" charset="0"/>
              </a:rPr>
              <a:t>Без BTI/PAC атакующий может контролировать SP и обойти MTE для стека.</a:t>
            </a:r>
            <a:endParaRPr lang="en-US" sz="850" b="1" dirty="0">
              <a:latin typeface="Times New Roman" panose="02020603050405020304" pitchFamily="18" charset="0"/>
              <a:cs typeface="Times New Roman" panose="02020603050405020304" pitchFamily="18" charset="0"/>
            </a:endParaRPr>
          </a:p>
        </p:txBody>
      </p:sp>
      <p:sp>
        <p:nvSpPr>
          <p:cNvPr id="31" name="Text 27"/>
          <p:cNvSpPr/>
          <p:nvPr/>
        </p:nvSpPr>
        <p:spPr>
          <a:xfrm>
            <a:off x="5000625" y="3762970"/>
            <a:ext cx="3707606" cy="112514"/>
          </a:xfrm>
          <a:prstGeom prst="rect">
            <a:avLst/>
          </a:prstGeom>
          <a:noFill/>
          <a:ln/>
        </p:spPr>
        <p:txBody>
          <a:bodyPr wrap="square" lIns="0" tIns="0" rIns="0" bIns="0" rtlCol="0" anchor="t">
            <a:spAutoFit/>
          </a:bodyPr>
          <a:lstStyle/>
          <a:p>
            <a:pPr marL="0" indent="0" algn="l">
              <a:buNone/>
            </a:pPr>
            <a:r>
              <a:rPr lang="en-US" sz="600" dirty="0">
                <a:solidFill>
                  <a:srgbClr val="57606A"/>
                </a:solidFill>
                <a:latin typeface="Fira Code" pitchFamily="34" charset="0"/>
                <a:ea typeface="Fira Code" pitchFamily="34" charset="-122"/>
                <a:cs typeface="Fira Code" pitchFamily="34" charset="-120"/>
              </a:rPr>
              <a:t>LINUX KERNEL EXAMPLE</a:t>
            </a:r>
            <a:endParaRPr lang="en-US" sz="600" dirty="0"/>
          </a:p>
        </p:txBody>
      </p:sp>
      <p:sp>
        <p:nvSpPr>
          <p:cNvPr id="32" name="Shape 28"/>
          <p:cNvSpPr/>
          <p:nvPr/>
        </p:nvSpPr>
        <p:spPr>
          <a:xfrm>
            <a:off x="5000625" y="3932634"/>
            <a:ext cx="3707606" cy="620055"/>
          </a:xfrm>
          <a:prstGeom prst="rect">
            <a:avLst/>
          </a:prstGeom>
          <a:solidFill>
            <a:srgbClr val="1F2428"/>
          </a:solidFill>
          <a:ln w="9144">
            <a:solidFill>
              <a:srgbClr val="444C56"/>
            </a:solidFill>
            <a:prstDash val="solid"/>
          </a:ln>
        </p:spPr>
      </p:sp>
      <p:sp>
        <p:nvSpPr>
          <p:cNvPr id="33" name="Text 29"/>
          <p:cNvSpPr/>
          <p:nvPr/>
        </p:nvSpPr>
        <p:spPr>
          <a:xfrm>
            <a:off x="5000625" y="3932634"/>
            <a:ext cx="3707606" cy="620055"/>
          </a:xfrm>
          <a:prstGeom prst="rect">
            <a:avLst/>
          </a:prstGeom>
          <a:noFill/>
          <a:ln/>
        </p:spPr>
        <p:txBody>
          <a:bodyPr wrap="square" lIns="170053" tIns="170053" rIns="170053" bIns="170053" rtlCol="0" anchor="t">
            <a:spAutoFit/>
          </a:bodyPr>
          <a:lstStyle/>
          <a:p>
            <a:pPr marL="0" indent="0" algn="l">
              <a:lnSpc>
                <a:spcPct val="128000"/>
              </a:lnSpc>
              <a:buNone/>
            </a:pPr>
            <a:r>
              <a:rPr lang="en-US" sz="750" dirty="0">
                <a:solidFill>
                  <a:srgbClr val="D2A8FF"/>
                </a:solidFill>
                <a:latin typeface="Fira Code" pitchFamily="34" charset="0"/>
                <a:ea typeface="Fira Code" pitchFamily="34" charset="-122"/>
                <a:cs typeface="Fira Code" pitchFamily="34" charset="-120"/>
              </a:rPr>
              <a:t>prctl</a:t>
            </a:r>
            <a:r>
              <a:rPr lang="en-US" sz="750" dirty="0">
                <a:solidFill>
                  <a:srgbClr val="C9D1D9"/>
                </a:solidFill>
                <a:latin typeface="Fira Code" pitchFamily="34" charset="0"/>
                <a:ea typeface="Fira Code" pitchFamily="34" charset="-122"/>
                <a:cs typeface="Fira Code" pitchFamily="34" charset="-120"/>
              </a:rPr>
              <a:t>(</a:t>
            </a:r>
            <a:r>
              <a:rPr lang="en-US" sz="750" dirty="0">
                <a:solidFill>
                  <a:srgbClr val="79C0FF"/>
                </a:solidFill>
                <a:latin typeface="Fira Code" pitchFamily="34" charset="0"/>
                <a:ea typeface="Fira Code" pitchFamily="34" charset="-122"/>
                <a:cs typeface="Fira Code" pitchFamily="34" charset="-120"/>
              </a:rPr>
              <a:t>PR_SET_TAGGED_ADDR_CTRL</a:t>
            </a:r>
            <a:r>
              <a:rPr lang="en-US" sz="750" dirty="0">
                <a:solidFill>
                  <a:srgbClr val="C9D1D9"/>
                </a:solidFill>
                <a:latin typeface="Fira Code" pitchFamily="34" charset="0"/>
                <a:ea typeface="Fira Code" pitchFamily="34" charset="-122"/>
                <a:cs typeface="Fira Code" pitchFamily="34" charset="-120"/>
              </a:rPr>
              <a:t>, </a:t>
            </a:r>
            <a:r>
              <a:rPr lang="en-US" sz="750" dirty="0">
                <a:solidFill>
                  <a:srgbClr val="79C0FF"/>
                </a:solidFill>
                <a:latin typeface="Fira Code" pitchFamily="34" charset="0"/>
                <a:ea typeface="Fira Code" pitchFamily="34" charset="-122"/>
                <a:cs typeface="Fira Code" pitchFamily="34" charset="-120"/>
              </a:rPr>
              <a:t>PR_TAGGED_ADDR_ENABLE</a:t>
            </a:r>
            <a:r>
              <a:rPr lang="en-US" sz="750" dirty="0">
                <a:solidFill>
                  <a:srgbClr val="C9D1D9"/>
                </a:solidFill>
                <a:latin typeface="Fira Code" pitchFamily="34" charset="0"/>
                <a:ea typeface="Fira Code" pitchFamily="34" charset="-122"/>
                <a:cs typeface="Fira Code" pitchFamily="34" charset="-120"/>
              </a:rPr>
              <a:t> | </a:t>
            </a:r>
            <a:r>
              <a:rPr lang="en-US" sz="750" dirty="0">
                <a:solidFill>
                  <a:srgbClr val="79C0FF"/>
                </a:solidFill>
                <a:latin typeface="Fira Code" pitchFamily="34" charset="0"/>
                <a:ea typeface="Fira Code" pitchFamily="34" charset="-122"/>
                <a:cs typeface="Fira Code" pitchFamily="34" charset="-120"/>
              </a:rPr>
              <a:t>PR_MTE_TCF_ASYNC</a:t>
            </a:r>
            <a:r>
              <a:rPr lang="en-US" sz="750" dirty="0">
                <a:solidFill>
                  <a:srgbClr val="C9D1D9"/>
                </a:solidFill>
                <a:latin typeface="Fira Code" pitchFamily="34" charset="0"/>
                <a:ea typeface="Fira Code" pitchFamily="34" charset="-122"/>
                <a:cs typeface="Fira Code" pitchFamily="34" charset="-120"/>
              </a:rPr>
              <a:t>, 0, 0, 0);</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MTE в ASYNC-режиме: &lt;2% overhead против 50–100% у ASan</a:t>
            </a:r>
            <a:endParaRPr lang="en-US" sz="1600" dirty="0"/>
          </a:p>
        </p:txBody>
      </p:sp>
      <p:sp>
        <p:nvSpPr>
          <p:cNvPr id="7" name="Shape 3"/>
          <p:cNvSpPr/>
          <p:nvPr/>
        </p:nvSpPr>
        <p:spPr>
          <a:xfrm>
            <a:off x="292894" y="878681"/>
            <a:ext cx="8558213" cy="2450306"/>
          </a:xfrm>
          <a:prstGeom prst="rect">
            <a:avLst/>
          </a:prstGeom>
          <a:solidFill>
            <a:srgbClr val="FFFFFF"/>
          </a:solidFill>
          <a:ln w="9144">
            <a:solidFill>
              <a:srgbClr val="D0D7DE"/>
            </a:solidFill>
            <a:prstDash val="solid"/>
          </a:ln>
        </p:spPr>
      </p:sp>
      <p:sp>
        <p:nvSpPr>
          <p:cNvPr id="8" name="Shape 4"/>
          <p:cNvSpPr/>
          <p:nvPr/>
        </p:nvSpPr>
        <p:spPr>
          <a:xfrm>
            <a:off x="296466" y="882253"/>
            <a:ext cx="2565304" cy="271463"/>
          </a:xfrm>
          <a:prstGeom prst="rect">
            <a:avLst/>
          </a:prstGeom>
          <a:solidFill>
            <a:srgbClr val="F6F8FA"/>
          </a:solidFill>
          <a:ln w="9144">
            <a:solidFill>
              <a:srgbClr val="D0D7DE"/>
            </a:solidFill>
            <a:prstDash val="solid"/>
          </a:ln>
        </p:spPr>
      </p:sp>
      <p:sp>
        <p:nvSpPr>
          <p:cNvPr id="9" name="Text 5"/>
          <p:cNvSpPr/>
          <p:nvPr/>
        </p:nvSpPr>
        <p:spPr>
          <a:xfrm>
            <a:off x="296466" y="882253"/>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Характеристика</a:t>
            </a:r>
            <a:endParaRPr lang="en-US" sz="800" dirty="0"/>
          </a:p>
        </p:txBody>
      </p:sp>
      <p:sp>
        <p:nvSpPr>
          <p:cNvPr id="10" name="Shape 6"/>
          <p:cNvSpPr/>
          <p:nvPr/>
        </p:nvSpPr>
        <p:spPr>
          <a:xfrm>
            <a:off x="2861770" y="882253"/>
            <a:ext cx="2992868" cy="271463"/>
          </a:xfrm>
          <a:prstGeom prst="rect">
            <a:avLst/>
          </a:prstGeom>
          <a:solidFill>
            <a:srgbClr val="F6F8FA"/>
          </a:solidFill>
          <a:ln w="9144">
            <a:solidFill>
              <a:srgbClr val="D0D7DE"/>
            </a:solidFill>
            <a:prstDash val="solid"/>
          </a:ln>
        </p:spPr>
      </p:sp>
      <p:sp>
        <p:nvSpPr>
          <p:cNvPr id="11" name="Text 7"/>
          <p:cNvSpPr/>
          <p:nvPr/>
        </p:nvSpPr>
        <p:spPr>
          <a:xfrm>
            <a:off x="2861770" y="882253"/>
            <a:ext cx="2992868"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AddressSanitizer (ASan)</a:t>
            </a:r>
            <a:endParaRPr lang="en-US" sz="800" dirty="0"/>
          </a:p>
        </p:txBody>
      </p:sp>
      <p:sp>
        <p:nvSpPr>
          <p:cNvPr id="12" name="Shape 8"/>
          <p:cNvSpPr/>
          <p:nvPr/>
        </p:nvSpPr>
        <p:spPr>
          <a:xfrm>
            <a:off x="5854638" y="882253"/>
            <a:ext cx="2992896" cy="271463"/>
          </a:xfrm>
          <a:prstGeom prst="rect">
            <a:avLst/>
          </a:prstGeom>
          <a:solidFill>
            <a:srgbClr val="F6F8FA"/>
          </a:solidFill>
          <a:ln w="9144">
            <a:solidFill>
              <a:srgbClr val="D0D7DE"/>
            </a:solidFill>
            <a:prstDash val="solid"/>
          </a:ln>
        </p:spPr>
      </p:sp>
      <p:sp>
        <p:nvSpPr>
          <p:cNvPr id="13" name="Text 9"/>
          <p:cNvSpPr/>
          <p:nvPr/>
        </p:nvSpPr>
        <p:spPr>
          <a:xfrm>
            <a:off x="5854638" y="882253"/>
            <a:ext cx="2992896"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24292F"/>
                </a:solidFill>
                <a:latin typeface="Fira Code Bold" pitchFamily="34" charset="0"/>
                <a:ea typeface="Fira Code Bold" pitchFamily="34" charset="-122"/>
                <a:cs typeface="Fira Code Bold" pitchFamily="34" charset="-120"/>
              </a:rPr>
              <a:t>MTE ASYNC</a:t>
            </a:r>
            <a:endParaRPr lang="en-US" sz="800" dirty="0"/>
          </a:p>
        </p:txBody>
      </p:sp>
      <p:sp>
        <p:nvSpPr>
          <p:cNvPr id="14" name="Text 10"/>
          <p:cNvSpPr/>
          <p:nvPr/>
        </p:nvSpPr>
        <p:spPr>
          <a:xfrm>
            <a:off x="296466" y="1146572"/>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CPU overhead</a:t>
            </a:r>
            <a:endParaRPr lang="en-US" sz="800" dirty="0"/>
          </a:p>
        </p:txBody>
      </p:sp>
      <p:sp>
        <p:nvSpPr>
          <p:cNvPr id="15" name="Text 11"/>
          <p:cNvSpPr/>
          <p:nvPr/>
        </p:nvSpPr>
        <p:spPr>
          <a:xfrm>
            <a:off x="2861770" y="1152011"/>
            <a:ext cx="2992868"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57606A"/>
                </a:solidFill>
                <a:latin typeface="Georgia" panose="02040502050405020303" pitchFamily="18" charset="0"/>
                <a:ea typeface="Inter SemiBold" pitchFamily="34" charset="-122"/>
                <a:cs typeface="Inter SemiBold" pitchFamily="34" charset="-120"/>
              </a:rPr>
              <a:t>50–200%</a:t>
            </a:r>
            <a:endParaRPr lang="en-US" sz="800" dirty="0">
              <a:latin typeface="Georgia" panose="02040502050405020303" pitchFamily="18" charset="0"/>
            </a:endParaRPr>
          </a:p>
        </p:txBody>
      </p:sp>
      <p:sp>
        <p:nvSpPr>
          <p:cNvPr id="16" name="Shape 12"/>
          <p:cNvSpPr/>
          <p:nvPr/>
        </p:nvSpPr>
        <p:spPr>
          <a:xfrm>
            <a:off x="5854638" y="1146572"/>
            <a:ext cx="2992896" cy="271463"/>
          </a:xfrm>
          <a:prstGeom prst="rect">
            <a:avLst/>
          </a:prstGeom>
          <a:solidFill>
            <a:srgbClr val="0969DA">
              <a:alpha val="5000"/>
            </a:srgbClr>
          </a:solidFill>
          <a:ln w="9144">
            <a:solidFill>
              <a:srgbClr val="D0D7DE"/>
            </a:solidFill>
            <a:prstDash val="solid"/>
          </a:ln>
        </p:spPr>
      </p:sp>
      <p:sp>
        <p:nvSpPr>
          <p:cNvPr id="17" name="Text 13"/>
          <p:cNvSpPr/>
          <p:nvPr/>
        </p:nvSpPr>
        <p:spPr>
          <a:xfrm>
            <a:off x="5854638" y="1152011"/>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rPr>
              <a:t>~1–2%</a:t>
            </a:r>
          </a:p>
        </p:txBody>
      </p:sp>
      <p:sp>
        <p:nvSpPr>
          <p:cNvPr id="18" name="Text 14"/>
          <p:cNvSpPr/>
          <p:nvPr/>
        </p:nvSpPr>
        <p:spPr>
          <a:xfrm>
            <a:off x="296466" y="1418034"/>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RAM overhead</a:t>
            </a:r>
            <a:endParaRPr lang="en-US" sz="800" dirty="0"/>
          </a:p>
        </p:txBody>
      </p:sp>
      <p:sp>
        <p:nvSpPr>
          <p:cNvPr id="19" name="Text 15"/>
          <p:cNvSpPr/>
          <p:nvPr/>
        </p:nvSpPr>
        <p:spPr>
          <a:xfrm>
            <a:off x="2861770" y="1423473"/>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+50–100%</a:t>
            </a:r>
          </a:p>
        </p:txBody>
      </p:sp>
      <p:sp>
        <p:nvSpPr>
          <p:cNvPr id="20" name="Shape 16"/>
          <p:cNvSpPr/>
          <p:nvPr/>
        </p:nvSpPr>
        <p:spPr>
          <a:xfrm>
            <a:off x="5854638" y="1418034"/>
            <a:ext cx="2992896" cy="271463"/>
          </a:xfrm>
          <a:prstGeom prst="rect">
            <a:avLst/>
          </a:prstGeom>
          <a:solidFill>
            <a:srgbClr val="0969DA">
              <a:alpha val="5000"/>
            </a:srgbClr>
          </a:solidFill>
          <a:ln w="9144">
            <a:solidFill>
              <a:srgbClr val="D0D7DE"/>
            </a:solidFill>
            <a:prstDash val="solid"/>
          </a:ln>
        </p:spPr>
      </p:sp>
      <p:sp>
        <p:nvSpPr>
          <p:cNvPr id="21" name="Text 17"/>
          <p:cNvSpPr/>
          <p:nvPr/>
        </p:nvSpPr>
        <p:spPr>
          <a:xfrm>
            <a:off x="5854638" y="1423473"/>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rPr>
              <a:t>&lt;3%</a:t>
            </a:r>
          </a:p>
        </p:txBody>
      </p:sp>
      <p:sp>
        <p:nvSpPr>
          <p:cNvPr id="22" name="Text 18"/>
          <p:cNvSpPr/>
          <p:nvPr/>
        </p:nvSpPr>
        <p:spPr>
          <a:xfrm>
            <a:off x="296466" y="1689497"/>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Heap: изменение кода</a:t>
            </a:r>
            <a:endParaRPr lang="en-US" sz="800" dirty="0"/>
          </a:p>
        </p:txBody>
      </p:sp>
      <p:sp>
        <p:nvSpPr>
          <p:cNvPr id="23" name="Text 19"/>
          <p:cNvSpPr/>
          <p:nvPr/>
        </p:nvSpPr>
        <p:spPr>
          <a:xfrm>
            <a:off x="2861770" y="1694936"/>
            <a:ext cx="2992868" cy="260584"/>
          </a:xfrm>
          <a:prstGeom prst="rect">
            <a:avLst/>
          </a:prstGeom>
          <a:noFill/>
          <a:ln/>
        </p:spPr>
        <p:txBody>
          <a:bodyPr wrap="square" lIns="102108" tIns="68072" rIns="102108" bIns="68072" rtlCol="0" anchor="ctr">
            <a:spAutoFit/>
          </a:bodyPr>
          <a:lstStyle/>
          <a:p>
            <a:pPr indent="0">
              <a:buNone/>
            </a:pPr>
            <a:r>
              <a:rPr lang="en-US" sz="800" dirty="0">
                <a:solidFill>
                  <a:srgbClr val="57606A"/>
                </a:solidFill>
                <a:latin typeface="Georgia" panose="02040502050405020303" pitchFamily="18" charset="0"/>
                <a:ea typeface="Inter SemiBold" pitchFamily="34" charset="-122"/>
              </a:rPr>
              <a:t>Recompile</a:t>
            </a:r>
          </a:p>
        </p:txBody>
      </p:sp>
      <p:sp>
        <p:nvSpPr>
          <p:cNvPr id="24" name="Shape 20"/>
          <p:cNvSpPr/>
          <p:nvPr/>
        </p:nvSpPr>
        <p:spPr>
          <a:xfrm>
            <a:off x="5854638" y="1689497"/>
            <a:ext cx="2992896" cy="271463"/>
          </a:xfrm>
          <a:prstGeom prst="rect">
            <a:avLst/>
          </a:prstGeom>
          <a:solidFill>
            <a:srgbClr val="0969DA">
              <a:alpha val="5000"/>
            </a:srgbClr>
          </a:solidFill>
          <a:ln w="9144">
            <a:solidFill>
              <a:srgbClr val="D0D7DE"/>
            </a:solidFill>
            <a:prstDash val="solid"/>
          </a:ln>
        </p:spPr>
      </p:sp>
      <p:sp>
        <p:nvSpPr>
          <p:cNvPr id="25" name="Text 21"/>
          <p:cNvSpPr/>
          <p:nvPr/>
        </p:nvSpPr>
        <p:spPr>
          <a:xfrm>
            <a:off x="5854638" y="1694936"/>
            <a:ext cx="2992896" cy="260584"/>
          </a:xfrm>
          <a:prstGeom prst="rect">
            <a:avLst/>
          </a:prstGeom>
          <a:noFill/>
          <a:ln/>
        </p:spPr>
        <p:txBody>
          <a:bodyPr wrap="square" lIns="102108" tIns="68072" rIns="102108" bIns="68072" rtlCol="0" anchor="ctr">
            <a:spAutoFit/>
          </a:bodyPr>
          <a:lstStyle/>
          <a:p>
            <a:r>
              <a:rPr lang="en-US" sz="800" dirty="0" err="1">
                <a:solidFill>
                  <a:srgbClr val="0969DA"/>
                </a:solidFill>
                <a:latin typeface="Georgia" panose="02040502050405020303" pitchFamily="18" charset="0"/>
                <a:ea typeface="Inter SemiBold" pitchFamily="34" charset="-122"/>
              </a:rPr>
              <a:t>Нет</a:t>
            </a:r>
            <a:endParaRPr lang="en-US" sz="800" dirty="0">
              <a:solidFill>
                <a:srgbClr val="0969DA"/>
              </a:solidFill>
              <a:latin typeface="Georgia" panose="02040502050405020303" pitchFamily="18" charset="0"/>
              <a:ea typeface="Inter SemiBold" pitchFamily="34" charset="-122"/>
            </a:endParaRPr>
          </a:p>
        </p:txBody>
      </p:sp>
      <p:sp>
        <p:nvSpPr>
          <p:cNvPr id="26" name="Text 22"/>
          <p:cNvSpPr/>
          <p:nvPr/>
        </p:nvSpPr>
        <p:spPr>
          <a:xfrm>
            <a:off x="296466" y="1960959"/>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Продакшен</a:t>
            </a:r>
            <a:endParaRPr lang="en-US" sz="800" dirty="0"/>
          </a:p>
        </p:txBody>
      </p:sp>
      <p:sp>
        <p:nvSpPr>
          <p:cNvPr id="27" name="Text 23"/>
          <p:cNvSpPr/>
          <p:nvPr/>
        </p:nvSpPr>
        <p:spPr>
          <a:xfrm>
            <a:off x="2861770" y="1966398"/>
            <a:ext cx="2992868" cy="260584"/>
          </a:xfrm>
          <a:prstGeom prst="rect">
            <a:avLst/>
          </a:prstGeom>
          <a:noFill/>
          <a:ln/>
        </p:spPr>
        <p:txBody>
          <a:bodyPr wrap="square" lIns="102108" tIns="68072" rIns="102108" bIns="68072" rtlCol="0" anchor="ctr">
            <a:spAutoFit/>
          </a:bodyPr>
          <a:lstStyle/>
          <a:p>
            <a:pPr marL="0" indent="0" algn="l">
              <a:buNone/>
            </a:pPr>
            <a:r>
              <a:rPr lang="en-US" sz="800" dirty="0" err="1">
                <a:solidFill>
                  <a:srgbClr val="57606A"/>
                </a:solidFill>
                <a:latin typeface="Georgia" panose="02040502050405020303" pitchFamily="18" charset="0"/>
                <a:ea typeface="Inter SemiBold" pitchFamily="34" charset="-122"/>
              </a:rPr>
              <a:t>Нет</a:t>
            </a:r>
            <a:endParaRPr lang="en-US" sz="800" dirty="0">
              <a:solidFill>
                <a:srgbClr val="57606A"/>
              </a:solidFill>
              <a:latin typeface="Georgia" panose="02040502050405020303" pitchFamily="18" charset="0"/>
              <a:ea typeface="Inter SemiBold" pitchFamily="34" charset="-122"/>
            </a:endParaRPr>
          </a:p>
        </p:txBody>
      </p:sp>
      <p:sp>
        <p:nvSpPr>
          <p:cNvPr id="28" name="Shape 24"/>
          <p:cNvSpPr/>
          <p:nvPr/>
        </p:nvSpPr>
        <p:spPr>
          <a:xfrm>
            <a:off x="5854638" y="1960959"/>
            <a:ext cx="2992896" cy="271463"/>
          </a:xfrm>
          <a:prstGeom prst="rect">
            <a:avLst/>
          </a:prstGeom>
          <a:solidFill>
            <a:srgbClr val="0969DA">
              <a:alpha val="5000"/>
            </a:srgbClr>
          </a:solidFill>
          <a:ln w="9144">
            <a:solidFill>
              <a:srgbClr val="D0D7DE"/>
            </a:solidFill>
            <a:prstDash val="solid"/>
          </a:ln>
        </p:spPr>
      </p:sp>
      <p:sp>
        <p:nvSpPr>
          <p:cNvPr id="29" name="Text 25"/>
          <p:cNvSpPr/>
          <p:nvPr/>
        </p:nvSpPr>
        <p:spPr>
          <a:xfrm>
            <a:off x="5854638" y="1966398"/>
            <a:ext cx="2992896" cy="260584"/>
          </a:xfrm>
          <a:prstGeom prst="rect">
            <a:avLst/>
          </a:prstGeom>
          <a:noFill/>
          <a:ln/>
        </p:spPr>
        <p:txBody>
          <a:bodyPr wrap="square" lIns="102108" tIns="68072" rIns="102108" bIns="68072" rtlCol="0" anchor="ctr">
            <a:spAutoFit/>
          </a:bodyPr>
          <a:lstStyle/>
          <a:p>
            <a:pPr indent="0">
              <a:buNone/>
            </a:pPr>
            <a:r>
              <a:rPr lang="en-US" sz="800" dirty="0" err="1">
                <a:solidFill>
                  <a:srgbClr val="0969DA"/>
                </a:solidFill>
                <a:latin typeface="Georgia" panose="02040502050405020303" pitchFamily="18" charset="0"/>
                <a:ea typeface="Inter SemiBold" pitchFamily="34" charset="-122"/>
              </a:rPr>
              <a:t>Да</a:t>
            </a:r>
            <a:endParaRPr lang="en-US" sz="800" dirty="0">
              <a:solidFill>
                <a:srgbClr val="0969DA"/>
              </a:solidFill>
              <a:latin typeface="Georgia" panose="02040502050405020303" pitchFamily="18" charset="0"/>
              <a:ea typeface="Inter SemiBold" pitchFamily="34" charset="-122"/>
            </a:endParaRPr>
          </a:p>
        </p:txBody>
      </p:sp>
      <p:sp>
        <p:nvSpPr>
          <p:cNvPr id="30" name="Text 26"/>
          <p:cNvSpPr/>
          <p:nvPr/>
        </p:nvSpPr>
        <p:spPr>
          <a:xfrm>
            <a:off x="296466" y="2232422"/>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Точность</a:t>
            </a:r>
            <a:endParaRPr lang="en-US" sz="800" dirty="0"/>
          </a:p>
        </p:txBody>
      </p:sp>
      <p:sp>
        <p:nvSpPr>
          <p:cNvPr id="31" name="Text 27"/>
          <p:cNvSpPr/>
          <p:nvPr/>
        </p:nvSpPr>
        <p:spPr>
          <a:xfrm>
            <a:off x="2861770" y="2237861"/>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Точная (byte-level)</a:t>
            </a:r>
          </a:p>
        </p:txBody>
      </p:sp>
      <p:sp>
        <p:nvSpPr>
          <p:cNvPr id="32" name="Shape 28"/>
          <p:cNvSpPr/>
          <p:nvPr/>
        </p:nvSpPr>
        <p:spPr>
          <a:xfrm>
            <a:off x="5854638" y="2232422"/>
            <a:ext cx="2992896" cy="271463"/>
          </a:xfrm>
          <a:prstGeom prst="rect">
            <a:avLst/>
          </a:prstGeom>
          <a:solidFill>
            <a:srgbClr val="0969DA">
              <a:alpha val="5000"/>
            </a:srgbClr>
          </a:solidFill>
          <a:ln w="9144">
            <a:solidFill>
              <a:srgbClr val="D0D7DE"/>
            </a:solidFill>
            <a:prstDash val="solid"/>
          </a:ln>
        </p:spPr>
      </p:sp>
      <p:sp>
        <p:nvSpPr>
          <p:cNvPr id="33" name="Text 29"/>
          <p:cNvSpPr/>
          <p:nvPr/>
        </p:nvSpPr>
        <p:spPr>
          <a:xfrm>
            <a:off x="5854638" y="2237861"/>
            <a:ext cx="2992896" cy="260584"/>
          </a:xfrm>
          <a:prstGeom prst="rect">
            <a:avLst/>
          </a:prstGeom>
          <a:noFill/>
          <a:ln/>
        </p:spPr>
        <p:txBody>
          <a:bodyPr wrap="square" lIns="102108" tIns="68072" rIns="102108" bIns="68072" rtlCol="0" anchor="ctr">
            <a:spAutoFit/>
          </a:bodyPr>
          <a:lstStyle/>
          <a:p>
            <a:pPr indent="0">
              <a:buNone/>
            </a:pPr>
            <a:r>
              <a:rPr lang="en-US" sz="800" dirty="0" err="1">
                <a:solidFill>
                  <a:srgbClr val="0969DA"/>
                </a:solidFill>
                <a:latin typeface="Georgia" panose="02040502050405020303" pitchFamily="18" charset="0"/>
                <a:ea typeface="Inter SemiBold" pitchFamily="34" charset="-122"/>
              </a:rPr>
              <a:t>По</a:t>
            </a:r>
            <a:r>
              <a:rPr lang="en-US" sz="800" dirty="0">
                <a:solidFill>
                  <a:srgbClr val="0969DA"/>
                </a:solidFill>
                <a:latin typeface="Georgia" panose="02040502050405020303" pitchFamily="18" charset="0"/>
                <a:ea typeface="Inter SemiBold" pitchFamily="34" charset="-122"/>
              </a:rPr>
              <a:t> </a:t>
            </a:r>
            <a:r>
              <a:rPr lang="en-US" sz="800" dirty="0" err="1">
                <a:solidFill>
                  <a:srgbClr val="0969DA"/>
                </a:solidFill>
                <a:latin typeface="Georgia" panose="02040502050405020303" pitchFamily="18" charset="0"/>
                <a:ea typeface="Inter SemiBold" pitchFamily="34" charset="-122"/>
              </a:rPr>
              <a:t>потоку</a:t>
            </a:r>
            <a:endParaRPr lang="en-US" sz="800" dirty="0">
              <a:solidFill>
                <a:srgbClr val="0969DA"/>
              </a:solidFill>
              <a:latin typeface="Georgia" panose="02040502050405020303" pitchFamily="18" charset="0"/>
              <a:ea typeface="Inter SemiBold" pitchFamily="34" charset="-122"/>
            </a:endParaRPr>
          </a:p>
        </p:txBody>
      </p:sp>
      <p:sp>
        <p:nvSpPr>
          <p:cNvPr id="34" name="Text 30"/>
          <p:cNvSpPr/>
          <p:nvPr/>
        </p:nvSpPr>
        <p:spPr>
          <a:xfrm>
            <a:off x="296466" y="2503884"/>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Spatial / Temporal ошибки</a:t>
            </a:r>
            <a:endParaRPr lang="en-US" sz="800" dirty="0"/>
          </a:p>
        </p:txBody>
      </p:sp>
      <p:sp>
        <p:nvSpPr>
          <p:cNvPr id="35" name="Text 31"/>
          <p:cNvSpPr/>
          <p:nvPr/>
        </p:nvSpPr>
        <p:spPr>
          <a:xfrm>
            <a:off x="2861770" y="2509323"/>
            <a:ext cx="2992868" cy="260584"/>
          </a:xfrm>
          <a:prstGeom prst="rect">
            <a:avLst/>
          </a:prstGeom>
          <a:noFill/>
          <a:ln/>
        </p:spPr>
        <p:txBody>
          <a:bodyPr wrap="square" lIns="102108" tIns="68072" rIns="102108" bIns="68072" rtlCol="0" anchor="ctr">
            <a:spAutoFit/>
          </a:bodyPr>
          <a:lstStyle/>
          <a:p>
            <a:pPr indent="0">
              <a:buNone/>
            </a:pPr>
            <a:r>
              <a:rPr lang="en-US" sz="800" dirty="0">
                <a:solidFill>
                  <a:srgbClr val="57606A"/>
                </a:solidFill>
                <a:latin typeface="Georgia" panose="02040502050405020303" pitchFamily="18" charset="0"/>
                <a:ea typeface="Inter SemiBold" pitchFamily="34" charset="-122"/>
              </a:rPr>
              <a:t>✓ / ✓</a:t>
            </a:r>
          </a:p>
        </p:txBody>
      </p:sp>
      <p:sp>
        <p:nvSpPr>
          <p:cNvPr id="36" name="Shape 32"/>
          <p:cNvSpPr/>
          <p:nvPr/>
        </p:nvSpPr>
        <p:spPr>
          <a:xfrm>
            <a:off x="5854638" y="2503884"/>
            <a:ext cx="2992896" cy="271463"/>
          </a:xfrm>
          <a:prstGeom prst="rect">
            <a:avLst/>
          </a:prstGeom>
          <a:solidFill>
            <a:srgbClr val="0969DA">
              <a:alpha val="5000"/>
            </a:srgbClr>
          </a:solidFill>
          <a:ln w="9144">
            <a:solidFill>
              <a:srgbClr val="D0D7DE"/>
            </a:solidFill>
            <a:prstDash val="solid"/>
          </a:ln>
        </p:spPr>
      </p:sp>
      <p:sp>
        <p:nvSpPr>
          <p:cNvPr id="37" name="Text 33"/>
          <p:cNvSpPr/>
          <p:nvPr/>
        </p:nvSpPr>
        <p:spPr>
          <a:xfrm>
            <a:off x="5854638" y="2509323"/>
            <a:ext cx="2992896" cy="260584"/>
          </a:xfrm>
          <a:prstGeom prst="rect">
            <a:avLst/>
          </a:prstGeom>
          <a:noFill/>
          <a:ln/>
        </p:spPr>
        <p:txBody>
          <a:bodyPr wrap="square" lIns="102108" tIns="68072" rIns="102108" bIns="68072" rtlCol="0" anchor="ctr">
            <a:spAutoFit/>
          </a:bodyPr>
          <a:lstStyle/>
          <a:p>
            <a:r>
              <a:rPr lang="en-US" sz="800" dirty="0">
                <a:solidFill>
                  <a:srgbClr val="0969DA"/>
                </a:solidFill>
                <a:latin typeface="Georgia" panose="02040502050405020303" pitchFamily="18" charset="0"/>
                <a:ea typeface="Inter SemiBold" pitchFamily="34" charset="-122"/>
              </a:rPr>
              <a:t>✓ / ✓</a:t>
            </a:r>
          </a:p>
        </p:txBody>
      </p:sp>
      <p:sp>
        <p:nvSpPr>
          <p:cNvPr id="38" name="Text 34"/>
          <p:cNvSpPr/>
          <p:nvPr/>
        </p:nvSpPr>
        <p:spPr>
          <a:xfrm>
            <a:off x="296466" y="2775347"/>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Granularity</a:t>
            </a:r>
            <a:endParaRPr lang="en-US" sz="800" dirty="0"/>
          </a:p>
        </p:txBody>
      </p:sp>
      <p:sp>
        <p:nvSpPr>
          <p:cNvPr id="39" name="Text 35"/>
          <p:cNvSpPr/>
          <p:nvPr/>
        </p:nvSpPr>
        <p:spPr>
          <a:xfrm>
            <a:off x="2861770" y="2780786"/>
            <a:ext cx="2992868" cy="260584"/>
          </a:xfrm>
          <a:prstGeom prst="rect">
            <a:avLst/>
          </a:prstGeom>
          <a:noFill/>
          <a:ln/>
        </p:spPr>
        <p:txBody>
          <a:bodyPr wrap="square" lIns="102108" tIns="68072" rIns="102108" bIns="68072" rtlCol="0" anchor="ctr">
            <a:spAutoFit/>
          </a:bodyPr>
          <a:lstStyle/>
          <a:p>
            <a:r>
              <a:rPr lang="en-US" sz="800" dirty="0">
                <a:solidFill>
                  <a:srgbClr val="57606A"/>
                </a:solidFill>
                <a:latin typeface="Georgia" panose="02040502050405020303" pitchFamily="18" charset="0"/>
                <a:ea typeface="Inter SemiBold" pitchFamily="34" charset="-122"/>
              </a:rPr>
              <a:t>1 </a:t>
            </a:r>
            <a:r>
              <a:rPr lang="en-US" sz="800" dirty="0" err="1">
                <a:solidFill>
                  <a:srgbClr val="57606A"/>
                </a:solidFill>
                <a:latin typeface="Georgia" panose="02040502050405020303" pitchFamily="18" charset="0"/>
                <a:ea typeface="Inter SemiBold" pitchFamily="34" charset="-122"/>
              </a:rPr>
              <a:t>байт</a:t>
            </a:r>
            <a:endParaRPr lang="en-US" sz="800" dirty="0">
              <a:solidFill>
                <a:srgbClr val="57606A"/>
              </a:solidFill>
              <a:latin typeface="Georgia" panose="02040502050405020303" pitchFamily="18" charset="0"/>
              <a:ea typeface="Inter SemiBold" pitchFamily="34" charset="-122"/>
            </a:endParaRPr>
          </a:p>
        </p:txBody>
      </p:sp>
      <p:sp>
        <p:nvSpPr>
          <p:cNvPr id="40" name="Shape 36"/>
          <p:cNvSpPr/>
          <p:nvPr/>
        </p:nvSpPr>
        <p:spPr>
          <a:xfrm>
            <a:off x="5854638" y="2775347"/>
            <a:ext cx="2992896" cy="271463"/>
          </a:xfrm>
          <a:prstGeom prst="rect">
            <a:avLst/>
          </a:prstGeom>
          <a:solidFill>
            <a:srgbClr val="0969DA">
              <a:alpha val="5000"/>
            </a:srgbClr>
          </a:solidFill>
          <a:ln w="9144">
            <a:solidFill>
              <a:srgbClr val="D0D7DE"/>
            </a:solidFill>
            <a:prstDash val="solid"/>
          </a:ln>
        </p:spPr>
      </p:sp>
      <p:sp>
        <p:nvSpPr>
          <p:cNvPr id="41" name="Text 37"/>
          <p:cNvSpPr/>
          <p:nvPr/>
        </p:nvSpPr>
        <p:spPr>
          <a:xfrm>
            <a:off x="5854638" y="2780786"/>
            <a:ext cx="2992896" cy="260584"/>
          </a:xfrm>
          <a:prstGeom prst="rect">
            <a:avLst/>
          </a:prstGeom>
          <a:noFill/>
          <a:ln/>
        </p:spPr>
        <p:txBody>
          <a:bodyPr wrap="square" lIns="102108" tIns="68072" rIns="102108" bIns="68072" rtlCol="0" anchor="ctr">
            <a:spAutoFit/>
          </a:bodyPr>
          <a:lstStyle/>
          <a:p>
            <a:r>
              <a:rPr lang="en-US" sz="800" dirty="0">
                <a:solidFill>
                  <a:srgbClr val="0969DA"/>
                </a:solidFill>
                <a:latin typeface="Georgia" panose="02040502050405020303" pitchFamily="18" charset="0"/>
                <a:ea typeface="Inter SemiBold" pitchFamily="34" charset="-122"/>
              </a:rPr>
              <a:t>16 </a:t>
            </a:r>
            <a:r>
              <a:rPr lang="en-US" sz="800" dirty="0" err="1">
                <a:solidFill>
                  <a:srgbClr val="0969DA"/>
                </a:solidFill>
                <a:latin typeface="Georgia" panose="02040502050405020303" pitchFamily="18" charset="0"/>
                <a:ea typeface="Inter SemiBold" pitchFamily="34" charset="-122"/>
              </a:rPr>
              <a:t>байт</a:t>
            </a:r>
            <a:endParaRPr lang="en-US" sz="800" dirty="0">
              <a:solidFill>
                <a:srgbClr val="0969DA"/>
              </a:solidFill>
              <a:latin typeface="Georgia" panose="02040502050405020303" pitchFamily="18" charset="0"/>
              <a:ea typeface="Inter SemiBold" pitchFamily="34" charset="-122"/>
            </a:endParaRPr>
          </a:p>
        </p:txBody>
      </p:sp>
      <p:sp>
        <p:nvSpPr>
          <p:cNvPr id="42" name="Text 38"/>
          <p:cNvSpPr/>
          <p:nvPr/>
        </p:nvSpPr>
        <p:spPr>
          <a:xfrm>
            <a:off x="296466" y="3046809"/>
            <a:ext cx="2565304" cy="271463"/>
          </a:xfrm>
          <a:prstGeom prst="rect">
            <a:avLst/>
          </a:prstGeom>
          <a:noFill/>
          <a:ln/>
        </p:spPr>
        <p:txBody>
          <a:bodyPr wrap="square" lIns="102108" tIns="68072" rIns="102108" bIns="68072" rtlCol="0" anchor="ctr">
            <a:spAutoFit/>
          </a:bodyPr>
          <a:lstStyle/>
          <a:p>
            <a:pPr marL="0" indent="0" algn="l">
              <a:buNone/>
            </a:pPr>
            <a:r>
              <a:rPr lang="en-US" sz="800" b="1" dirty="0">
                <a:solidFill>
                  <a:srgbClr val="57606A"/>
                </a:solidFill>
                <a:latin typeface="Fira Code Bold" pitchFamily="34" charset="0"/>
                <a:ea typeface="Fira Code Bold" pitchFamily="34" charset="-122"/>
                <a:cs typeface="Fira Code Bold" pitchFamily="34" charset="-120"/>
              </a:rPr>
              <a:t>Платформа</a:t>
            </a:r>
            <a:endParaRPr lang="en-US" sz="800" dirty="0"/>
          </a:p>
        </p:txBody>
      </p:sp>
      <p:sp>
        <p:nvSpPr>
          <p:cNvPr id="43" name="Text 39"/>
          <p:cNvSpPr/>
          <p:nvPr/>
        </p:nvSpPr>
        <p:spPr>
          <a:xfrm>
            <a:off x="2861770" y="3052248"/>
            <a:ext cx="2992868" cy="260584"/>
          </a:xfrm>
          <a:prstGeom prst="rect">
            <a:avLst/>
          </a:prstGeom>
          <a:noFill/>
          <a:ln/>
        </p:spPr>
        <p:txBody>
          <a:bodyPr wrap="square" lIns="102108" tIns="68072" rIns="102108" bIns="68072" rtlCol="0" anchor="ctr">
            <a:spAutoFit/>
          </a:bodyPr>
          <a:lstStyle/>
          <a:p>
            <a:pPr indent="0">
              <a:buNone/>
            </a:pPr>
            <a:r>
              <a:rPr lang="en-US" sz="800" dirty="0" err="1">
                <a:solidFill>
                  <a:srgbClr val="57606A"/>
                </a:solidFill>
                <a:latin typeface="Georgia" panose="02040502050405020303" pitchFamily="18" charset="0"/>
                <a:ea typeface="Inter SemiBold" pitchFamily="34" charset="-122"/>
              </a:rPr>
              <a:t>Любая</a:t>
            </a:r>
            <a:endParaRPr lang="en-US" sz="800" dirty="0">
              <a:solidFill>
                <a:srgbClr val="57606A"/>
              </a:solidFill>
              <a:latin typeface="Georgia" panose="02040502050405020303" pitchFamily="18" charset="0"/>
              <a:ea typeface="Inter SemiBold" pitchFamily="34" charset="-122"/>
            </a:endParaRPr>
          </a:p>
        </p:txBody>
      </p:sp>
      <p:sp>
        <p:nvSpPr>
          <p:cNvPr id="44" name="Shape 40"/>
          <p:cNvSpPr/>
          <p:nvPr/>
        </p:nvSpPr>
        <p:spPr>
          <a:xfrm>
            <a:off x="5854638" y="3046809"/>
            <a:ext cx="2992896" cy="271463"/>
          </a:xfrm>
          <a:prstGeom prst="rect">
            <a:avLst/>
          </a:prstGeom>
          <a:solidFill>
            <a:srgbClr val="0969DA">
              <a:alpha val="5000"/>
            </a:srgbClr>
          </a:solidFill>
          <a:ln w="9144">
            <a:solidFill>
              <a:srgbClr val="D0D7DE"/>
            </a:solidFill>
            <a:prstDash val="solid"/>
          </a:ln>
        </p:spPr>
      </p:sp>
      <p:sp>
        <p:nvSpPr>
          <p:cNvPr id="45" name="Text 41"/>
          <p:cNvSpPr/>
          <p:nvPr/>
        </p:nvSpPr>
        <p:spPr>
          <a:xfrm>
            <a:off x="5854638" y="3052248"/>
            <a:ext cx="2992896" cy="260584"/>
          </a:xfrm>
          <a:prstGeom prst="rect">
            <a:avLst/>
          </a:prstGeom>
          <a:noFill/>
          <a:ln/>
        </p:spPr>
        <p:txBody>
          <a:bodyPr wrap="square" lIns="102108" tIns="68072" rIns="102108" bIns="68072" rtlCol="0" anchor="ctr">
            <a:spAutoFit/>
          </a:bodyPr>
          <a:lstStyle/>
          <a:p>
            <a:pPr marL="0" indent="0" algn="l">
              <a:buNone/>
            </a:pPr>
            <a:r>
              <a:rPr lang="en-US" sz="800" dirty="0">
                <a:solidFill>
                  <a:srgbClr val="0969DA"/>
                </a:solidFill>
                <a:latin typeface="Georgia" panose="02040502050405020303" pitchFamily="18" charset="0"/>
                <a:ea typeface="Inter SemiBold" pitchFamily="34" charset="-122"/>
                <a:cs typeface="Inter SemiBold" pitchFamily="34" charset="-120"/>
              </a:rPr>
              <a:t>Arm only</a:t>
            </a:r>
            <a:endParaRPr lang="en-US" sz="800" dirty="0">
              <a:latin typeface="Georgia" panose="02040502050405020303" pitchFamily="18" charset="0"/>
            </a:endParaRPr>
          </a:p>
        </p:txBody>
      </p:sp>
      <p:sp>
        <p:nvSpPr>
          <p:cNvPr id="46" name="Shape 42"/>
          <p:cNvSpPr/>
          <p:nvPr/>
        </p:nvSpPr>
        <p:spPr>
          <a:xfrm>
            <a:off x="7144" y="3718406"/>
            <a:ext cx="9129713" cy="1417951"/>
          </a:xfrm>
          <a:prstGeom prst="rect">
            <a:avLst/>
          </a:prstGeom>
          <a:solidFill>
            <a:srgbClr val="FFFFFF"/>
          </a:solidFill>
          <a:ln/>
        </p:spPr>
      </p:sp>
      <p:sp>
        <p:nvSpPr>
          <p:cNvPr id="47" name="Shape 43"/>
          <p:cNvSpPr/>
          <p:nvPr/>
        </p:nvSpPr>
        <p:spPr>
          <a:xfrm>
            <a:off x="7144" y="3718406"/>
            <a:ext cx="9129713" cy="7144"/>
          </a:xfrm>
          <a:prstGeom prst="rect">
            <a:avLst/>
          </a:prstGeom>
          <a:solidFill>
            <a:srgbClr val="D0D7DE"/>
          </a:solidFill>
          <a:ln/>
        </p:spPr>
      </p:sp>
      <p:sp>
        <p:nvSpPr>
          <p:cNvPr id="48" name="Text 44"/>
          <p:cNvSpPr/>
          <p:nvPr/>
        </p:nvSpPr>
        <p:spPr>
          <a:xfrm>
            <a:off x="292894" y="3839849"/>
            <a:ext cx="3986213"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Key data (arXiv:2601.11786)</a:t>
            </a:r>
            <a:endParaRPr lang="en-US" sz="900" dirty="0"/>
          </a:p>
        </p:txBody>
      </p:sp>
      <p:sp>
        <p:nvSpPr>
          <p:cNvPr id="49" name="Text 45"/>
          <p:cNvSpPr/>
          <p:nvPr/>
        </p:nvSpPr>
        <p:spPr>
          <a:xfrm>
            <a:off x="292894" y="4107740"/>
            <a:ext cx="3986213" cy="115416"/>
          </a:xfrm>
          <a:prstGeom prst="rect">
            <a:avLst/>
          </a:prstGeom>
          <a:noFill/>
          <a:ln/>
        </p:spPr>
        <p:txBody>
          <a:bodyPr wrap="square" lIns="0" tIns="0" rIns="0" bIns="0" rtlCol="0" anchor="t">
            <a:spAutoFit/>
          </a:bodyPr>
          <a:lstStyle/>
          <a:p>
            <a:pPr marL="0" indent="0" algn="l">
              <a:buNone/>
            </a:pPr>
            <a:r>
              <a:rPr lang="en-US" sz="750" i="1" dirty="0">
                <a:solidFill>
                  <a:srgbClr val="57606A"/>
                </a:solidFill>
                <a:latin typeface="Georgia" panose="02040502050405020303" pitchFamily="18" charset="0"/>
                <a:ea typeface="Inter" pitchFamily="34" charset="-122"/>
                <a:cs typeface="Inter" pitchFamily="34" charset="-120"/>
              </a:rPr>
              <a:t>Pixel 8 (A7x Big core): ASYNC overhead 0.5–2.3% на SPEC CPU 2017</a:t>
            </a:r>
            <a:endParaRPr lang="en-US" sz="750" i="1" dirty="0">
              <a:latin typeface="Georgia" panose="02040502050405020303" pitchFamily="18" charset="0"/>
            </a:endParaRPr>
          </a:p>
        </p:txBody>
      </p:sp>
      <p:sp>
        <p:nvSpPr>
          <p:cNvPr id="50" name="Text 46"/>
          <p:cNvSpPr/>
          <p:nvPr/>
        </p:nvSpPr>
        <p:spPr>
          <a:xfrm>
            <a:off x="292894" y="4288120"/>
            <a:ext cx="3986213" cy="115416"/>
          </a:xfrm>
          <a:prstGeom prst="rect">
            <a:avLst/>
          </a:prstGeom>
          <a:noFill/>
          <a:ln/>
        </p:spPr>
        <p:txBody>
          <a:bodyPr wrap="square" lIns="0" tIns="0" rIns="0" bIns="0" rtlCol="0" anchor="t">
            <a:spAutoFit/>
          </a:bodyPr>
          <a:lstStyle/>
          <a:p>
            <a:r>
              <a:rPr lang="en-US" sz="750" i="1" dirty="0">
                <a:solidFill>
                  <a:srgbClr val="57606A"/>
                </a:solidFill>
                <a:latin typeface="Georgia" panose="02040502050405020303" pitchFamily="18" charset="0"/>
                <a:ea typeface="Inter" pitchFamily="34" charset="-122"/>
              </a:rPr>
              <a:t>Pixel 8 (A5x Little core): ASYNC overhead 1.1–3.8%</a:t>
            </a:r>
          </a:p>
        </p:txBody>
      </p:sp>
      <p:sp>
        <p:nvSpPr>
          <p:cNvPr id="51" name="Text 47"/>
          <p:cNvSpPr/>
          <p:nvPr/>
        </p:nvSpPr>
        <p:spPr>
          <a:xfrm>
            <a:off x="292894" y="4468499"/>
            <a:ext cx="3986213" cy="115416"/>
          </a:xfrm>
          <a:prstGeom prst="rect">
            <a:avLst/>
          </a:prstGeom>
          <a:noFill/>
          <a:ln/>
        </p:spPr>
        <p:txBody>
          <a:bodyPr wrap="square" lIns="0" tIns="0" rIns="0" bIns="0" rtlCol="0" anchor="t">
            <a:spAutoFit/>
          </a:bodyPr>
          <a:lstStyle/>
          <a:p>
            <a:pPr indent="0">
              <a:buNone/>
            </a:pPr>
            <a:r>
              <a:rPr lang="en-US" sz="750" i="1" dirty="0">
                <a:solidFill>
                  <a:srgbClr val="57606A"/>
                </a:solidFill>
                <a:latin typeface="Georgia" panose="02040502050405020303" pitchFamily="18" charset="0"/>
                <a:ea typeface="Inter" pitchFamily="34" charset="-122"/>
              </a:rPr>
              <a:t>AmpereOne (server): SYNC overhead 25–50% для store-heavy workloads</a:t>
            </a:r>
          </a:p>
        </p:txBody>
      </p:sp>
      <p:sp>
        <p:nvSpPr>
          <p:cNvPr id="52" name="Text 48"/>
          <p:cNvSpPr/>
          <p:nvPr/>
        </p:nvSpPr>
        <p:spPr>
          <a:xfrm>
            <a:off x="292894" y="4648879"/>
            <a:ext cx="3986213" cy="115416"/>
          </a:xfrm>
          <a:prstGeom prst="rect">
            <a:avLst/>
          </a:prstGeom>
          <a:noFill/>
          <a:ln/>
        </p:spPr>
        <p:txBody>
          <a:bodyPr wrap="square" lIns="0" tIns="0" rIns="0" bIns="0" rtlCol="0" anchor="t">
            <a:spAutoFit/>
          </a:bodyPr>
          <a:lstStyle/>
          <a:p>
            <a:r>
              <a:rPr lang="en-US" sz="750" i="1" dirty="0">
                <a:solidFill>
                  <a:srgbClr val="57606A"/>
                </a:solidFill>
                <a:latin typeface="Georgia" panose="02040502050405020303" pitchFamily="18" charset="0"/>
                <a:ea typeface="Inter" pitchFamily="34" charset="-122"/>
              </a:rPr>
              <a:t>Apple M5: ASYNC overhead &lt;1.5% на compute workloads</a:t>
            </a:r>
          </a:p>
        </p:txBody>
      </p:sp>
      <p:sp>
        <p:nvSpPr>
          <p:cNvPr id="53" name="Shape 49"/>
          <p:cNvSpPr/>
          <p:nvPr/>
        </p:nvSpPr>
        <p:spPr>
          <a:xfrm>
            <a:off x="4572000" y="3725549"/>
            <a:ext cx="4564856" cy="1410807"/>
          </a:xfrm>
          <a:prstGeom prst="rect">
            <a:avLst/>
          </a:prstGeom>
          <a:solidFill>
            <a:srgbClr val="F6F8FA"/>
          </a:solidFill>
          <a:ln/>
        </p:spPr>
      </p:sp>
      <p:sp>
        <p:nvSpPr>
          <p:cNvPr id="54" name="Text 50"/>
          <p:cNvSpPr/>
          <p:nvPr/>
        </p:nvSpPr>
        <p:spPr>
          <a:xfrm>
            <a:off x="4857750" y="3839849"/>
            <a:ext cx="3993356" cy="167878"/>
          </a:xfrm>
          <a:prstGeom prst="rect">
            <a:avLst/>
          </a:prstGeom>
          <a:noFill/>
          <a:ln/>
        </p:spPr>
        <p:txBody>
          <a:bodyPr wrap="square" lIns="0" tIns="0" rIns="0" bIns="0" rtlCol="0" anchor="t">
            <a:spAutoFit/>
          </a:bodyPr>
          <a:lstStyle/>
          <a:p>
            <a:pPr marL="0" indent="0" algn="l">
              <a:buNone/>
            </a:pPr>
            <a:r>
              <a:rPr lang="en-US" sz="900" b="1" dirty="0">
                <a:solidFill>
                  <a:srgbClr val="24292F"/>
                </a:solidFill>
                <a:latin typeface="Fira Code Bold" pitchFamily="34" charset="0"/>
                <a:ea typeface="Fira Code Bold" pitchFamily="34" charset="-122"/>
                <a:cs typeface="Fira Code Bold" pitchFamily="34" charset="-120"/>
              </a:rPr>
              <a:t>Recommendation</a:t>
            </a:r>
            <a:endParaRPr lang="en-US" sz="900" dirty="0"/>
          </a:p>
        </p:txBody>
      </p:sp>
      <p:sp>
        <p:nvSpPr>
          <p:cNvPr id="55" name="Text 51"/>
          <p:cNvSpPr/>
          <p:nvPr/>
        </p:nvSpPr>
        <p:spPr>
          <a:xfrm>
            <a:off x="4857750" y="4107740"/>
            <a:ext cx="3993356" cy="517257"/>
          </a:xfrm>
          <a:prstGeom prst="rect">
            <a:avLst/>
          </a:prstGeom>
          <a:noFill/>
          <a:ln/>
        </p:spPr>
        <p:txBody>
          <a:bodyPr wrap="square" lIns="136017" tIns="0" rIns="0" bIns="0" rtlCol="0" anchor="t">
            <a:spAutoFit/>
          </a:bodyPr>
          <a:lstStyle/>
          <a:p>
            <a:pPr marL="0" indent="0" algn="l">
              <a:lnSpc>
                <a:spcPct val="128000"/>
              </a:lnSpc>
              <a:buNone/>
            </a:pPr>
            <a:r>
              <a:rPr lang="en-US" sz="900" i="1" dirty="0">
                <a:solidFill>
                  <a:srgbClr val="57606A"/>
                </a:solidFill>
                <a:latin typeface="Georgia" panose="02040502050405020303" pitchFamily="18" charset="0"/>
                <a:ea typeface="Inter" pitchFamily="34" charset="-122"/>
              </a:rPr>
              <a:t>SYNC для CI/CD и отладки;</a:t>
            </a:r>
            <a:r>
              <a:rPr lang="en-US" sz="900" dirty="0">
                <a:solidFill>
                  <a:srgbClr val="24292F"/>
                </a:solidFill>
                <a:latin typeface="Inter" pitchFamily="34" charset="0"/>
                <a:ea typeface="Inter" pitchFamily="34" charset="-122"/>
                <a:cs typeface="Inter" pitchFamily="34" charset="-120"/>
              </a:rPr>
              <a:t>
 </a:t>
            </a:r>
            <a:r>
              <a:rPr lang="en-US" sz="900" i="1" dirty="0">
                <a:solidFill>
                  <a:srgbClr val="57606A"/>
                </a:solidFill>
                <a:latin typeface="Georgia" panose="02040502050405020303" pitchFamily="18" charset="0"/>
                <a:ea typeface="Inter" pitchFamily="34" charset="-122"/>
              </a:rPr>
              <a:t>ASYNC для production Android/Linux;</a:t>
            </a:r>
            <a:r>
              <a:rPr lang="en-US" sz="900" dirty="0">
                <a:solidFill>
                  <a:srgbClr val="24292F"/>
                </a:solidFill>
                <a:latin typeface="Inter" pitchFamily="34" charset="0"/>
                <a:ea typeface="Inter" pitchFamily="34" charset="-122"/>
                <a:cs typeface="Inter" pitchFamily="34" charset="-120"/>
              </a:rPr>
              <a:t>
 </a:t>
            </a:r>
            <a:r>
              <a:rPr lang="en-US" sz="900" i="1" dirty="0">
                <a:solidFill>
                  <a:srgbClr val="57606A"/>
                </a:solidFill>
                <a:latin typeface="Georgia" panose="02040502050405020303" pitchFamily="18" charset="0"/>
                <a:ea typeface="Inter" pitchFamily="34" charset="-122"/>
              </a:rPr>
              <a:t>ASYMM для read-heavy серверных </a:t>
            </a:r>
            <a:r>
              <a:rPr lang="en-US" sz="900" i="1" dirty="0" err="1">
                <a:solidFill>
                  <a:srgbClr val="57606A"/>
                </a:solidFill>
                <a:latin typeface="Georgia" panose="02040502050405020303" pitchFamily="18" charset="0"/>
                <a:ea typeface="Inter" pitchFamily="34" charset="-122"/>
              </a:rPr>
              <a:t>нагрузок</a:t>
            </a:r>
            <a:r>
              <a:rPr lang="en-US" sz="900" i="1" dirty="0">
                <a:solidFill>
                  <a:srgbClr val="57606A"/>
                </a:solidFill>
                <a:latin typeface="Georgia" panose="02040502050405020303" pitchFamily="18" charset="0"/>
                <a:ea typeface="Inter" pitchFamily="34" charset="-122"/>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735806"/>
          </a:xfrm>
          <a:prstGeom prst="rect">
            <a:avLst/>
          </a:prstGeom>
          <a:solidFill>
            <a:srgbClr val="FFFFFF"/>
          </a:solidFill>
          <a:ln/>
        </p:spPr>
      </p:sp>
      <p:sp>
        <p:nvSpPr>
          <p:cNvPr id="5" name="Shape 1"/>
          <p:cNvSpPr/>
          <p:nvPr/>
        </p:nvSpPr>
        <p:spPr>
          <a:xfrm>
            <a:off x="7144" y="735806"/>
            <a:ext cx="9129713" cy="7144"/>
          </a:xfrm>
          <a:prstGeom prst="rect">
            <a:avLst/>
          </a:prstGeom>
          <a:solidFill>
            <a:srgbClr val="D0D7DE"/>
          </a:solidFill>
          <a:ln/>
        </p:spPr>
      </p:sp>
      <p:sp>
        <p:nvSpPr>
          <p:cNvPr id="6" name="Text 2"/>
          <p:cNvSpPr/>
          <p:nvPr/>
        </p:nvSpPr>
        <p:spPr>
          <a:xfrm>
            <a:off x="435769" y="292894"/>
            <a:ext cx="8272463" cy="300038"/>
          </a:xfrm>
          <a:prstGeom prst="rect">
            <a:avLst/>
          </a:prstGeom>
          <a:noFill/>
          <a:ln/>
        </p:spPr>
        <p:txBody>
          <a:bodyPr wrap="square" lIns="0" tIns="0" rIns="0" bIns="0" rtlCol="0" anchor="t">
            <a:spAutoFit/>
          </a:bodyPr>
          <a:lstStyle/>
          <a:p>
            <a:pPr marL="0" indent="0" algn="l">
              <a:buNone/>
            </a:pPr>
            <a:r>
              <a:rPr lang="en-US" sz="1600" b="1" dirty="0">
                <a:solidFill>
                  <a:srgbClr val="0969DA"/>
                </a:solidFill>
                <a:latin typeface="Fira Code Bold" pitchFamily="34" charset="0"/>
                <a:ea typeface="Fira Code Bold" pitchFamily="34" charset="-122"/>
                <a:cs typeface="Fira Code Bold" pitchFamily="34" charset="-120"/>
              </a:rPr>
              <a:t>От спецификации 2019 до mass-market production в 2023–2025</a:t>
            </a:r>
            <a:endParaRPr lang="en-US" sz="1600" dirty="0"/>
          </a:p>
        </p:txBody>
      </p:sp>
      <p:sp>
        <p:nvSpPr>
          <p:cNvPr id="7" name="Shape 3"/>
          <p:cNvSpPr/>
          <p:nvPr/>
        </p:nvSpPr>
        <p:spPr>
          <a:xfrm>
            <a:off x="7144" y="735806"/>
            <a:ext cx="9129713" cy="4400550"/>
          </a:xfrm>
          <a:prstGeom prst="rect">
            <a:avLst/>
          </a:prstGeom>
          <a:solidFill>
            <a:srgbClr val="FFFFFF"/>
          </a:solidFill>
          <a:ln/>
        </p:spPr>
      </p:sp>
      <p:sp>
        <p:nvSpPr>
          <p:cNvPr id="8" name="Text 4"/>
          <p:cNvSpPr/>
          <p:nvPr/>
        </p:nvSpPr>
        <p:spPr>
          <a:xfrm>
            <a:off x="292894" y="950119"/>
            <a:ext cx="2464594"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Android NDK Support</a:t>
            </a:r>
            <a:endParaRPr lang="en-US" sz="1000" dirty="0"/>
          </a:p>
        </p:txBody>
      </p:sp>
      <p:sp>
        <p:nvSpPr>
          <p:cNvPr id="9" name="Text 5"/>
          <p:cNvSpPr/>
          <p:nvPr/>
        </p:nvSpPr>
        <p:spPr>
          <a:xfrm>
            <a:off x="292894" y="138053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0" name="Text 6"/>
          <p:cNvSpPr/>
          <p:nvPr/>
        </p:nvSpPr>
        <p:spPr>
          <a:xfrm>
            <a:off x="442913" y="1380530"/>
            <a:ext cx="2314575" cy="317908"/>
          </a:xfrm>
          <a:prstGeom prst="rect">
            <a:avLst/>
          </a:prstGeom>
          <a:noFill/>
          <a:ln/>
        </p:spPr>
        <p:txBody>
          <a:bodyPr wrap="square" lIns="0" tIns="0" rIns="0" bIns="0" rtlCol="0" anchor="t">
            <a:spAutoFit/>
          </a:bodyPr>
          <a:lstStyle/>
          <a:p>
            <a:pPr marL="0" indent="0" algn="l">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8 (2023) — первый массовый телефон с MTE hardware</a:t>
            </a:r>
            <a:endParaRPr lang="en-US" sz="900" b="1" i="1" dirty="0">
              <a:latin typeface="Times New Roman" panose="02020603050405020304" pitchFamily="18" charset="0"/>
              <a:cs typeface="Times New Roman" panose="02020603050405020304" pitchFamily="18" charset="0"/>
            </a:endParaRPr>
          </a:p>
        </p:txBody>
      </p:sp>
      <p:sp>
        <p:nvSpPr>
          <p:cNvPr id="11" name="Text 7"/>
          <p:cNvSpPr/>
          <p:nvPr/>
        </p:nvSpPr>
        <p:spPr>
          <a:xfrm>
            <a:off x="292894" y="1816298"/>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2" name="Text 8"/>
          <p:cNvSpPr/>
          <p:nvPr/>
        </p:nvSpPr>
        <p:spPr>
          <a:xfrm>
            <a:off x="442913" y="1816298"/>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SYNC режим: точная диагностика с SIGSEGV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для</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отладки</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13" name="Text 9"/>
          <p:cNvSpPr/>
          <p:nvPr/>
        </p:nvSpPr>
        <p:spPr>
          <a:xfrm>
            <a:off x="292894" y="2252067"/>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4" name="Text 10"/>
          <p:cNvSpPr/>
          <p:nvPr/>
        </p:nvSpPr>
        <p:spPr>
          <a:xfrm>
            <a:off x="442913" y="2252067"/>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ASYNC режим: &lt;2% overhead, production-ready</a:t>
            </a:r>
          </a:p>
        </p:txBody>
      </p:sp>
      <p:sp>
        <p:nvSpPr>
          <p:cNvPr id="15" name="Text 11"/>
          <p:cNvSpPr/>
          <p:nvPr/>
        </p:nvSpPr>
        <p:spPr>
          <a:xfrm>
            <a:off x="292894" y="2687836"/>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6" name="Text 12"/>
          <p:cNvSpPr/>
          <p:nvPr/>
        </p:nvSpPr>
        <p:spPr>
          <a:xfrm>
            <a:off x="442913" y="2687836"/>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9 (2024): MTE нашёл UAF-баги в реальных приложениях (Project Zero)</a:t>
            </a:r>
          </a:p>
        </p:txBody>
      </p:sp>
      <p:sp>
        <p:nvSpPr>
          <p:cNvPr id="17" name="Text 13"/>
          <p:cNvSpPr/>
          <p:nvPr/>
        </p:nvSpPr>
        <p:spPr>
          <a:xfrm>
            <a:off x="292894" y="3123605"/>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18" name="Text 14"/>
          <p:cNvSpPr/>
          <p:nvPr/>
        </p:nvSpPr>
        <p:spPr>
          <a:xfrm>
            <a:off x="442913" y="3123605"/>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Apple iPhone 17 / A19 (2025): поддержка MTE architecture</a:t>
            </a:r>
          </a:p>
        </p:txBody>
      </p:sp>
      <p:sp>
        <p:nvSpPr>
          <p:cNvPr id="19" name="Text 15"/>
          <p:cNvSpPr/>
          <p:nvPr/>
        </p:nvSpPr>
        <p:spPr>
          <a:xfrm>
            <a:off x="292894" y="3559373"/>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0969DA"/>
                </a:solidFill>
                <a:latin typeface="Fira Code Bold" pitchFamily="34" charset="0"/>
                <a:ea typeface="Fira Code Bold" pitchFamily="34" charset="-122"/>
                <a:cs typeface="Fira Code Bold" pitchFamily="34" charset="-120"/>
              </a:rPr>
              <a:t>→</a:t>
            </a:r>
            <a:endParaRPr lang="en-US" sz="750" dirty="0"/>
          </a:p>
        </p:txBody>
      </p:sp>
      <p:sp>
        <p:nvSpPr>
          <p:cNvPr id="20" name="Text 16"/>
          <p:cNvSpPr/>
          <p:nvPr/>
        </p:nvSpPr>
        <p:spPr>
          <a:xfrm>
            <a:off x="442913" y="3559373"/>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GrapheneOS: MTE включён по умолчанию для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системных</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компонентов</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21" name="Text 17"/>
          <p:cNvSpPr/>
          <p:nvPr/>
        </p:nvSpPr>
        <p:spPr>
          <a:xfrm>
            <a:off x="3336131" y="950119"/>
            <a:ext cx="2464594"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Linux Kernel Support</a:t>
            </a:r>
            <a:endParaRPr lang="en-US" sz="1000" dirty="0"/>
          </a:p>
        </p:txBody>
      </p:sp>
      <p:sp>
        <p:nvSpPr>
          <p:cNvPr id="22" name="Text 18"/>
          <p:cNvSpPr/>
          <p:nvPr/>
        </p:nvSpPr>
        <p:spPr>
          <a:xfrm>
            <a:off x="3336131" y="138053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3" name="Text 19"/>
          <p:cNvSpPr/>
          <p:nvPr/>
        </p:nvSpPr>
        <p:spPr>
          <a:xfrm>
            <a:off x="3486150" y="1380530"/>
            <a:ext cx="2314575" cy="321469"/>
          </a:xfrm>
          <a:prstGeom prst="rect">
            <a:avLst/>
          </a:prstGeom>
          <a:noFill/>
          <a:ln/>
        </p:spPr>
        <p:txBody>
          <a:bodyPr wrap="square" lIns="0" tIns="0" rIns="0" bIns="0" rtlCol="0" anchor="t">
            <a:spAutoFit/>
          </a:bodyPr>
          <a:lstStyle/>
          <a:p>
            <a:pPr marL="0" indent="0" algn="l">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Kernel patch upstream от Arm для Tagged Memory</a:t>
            </a:r>
          </a:p>
        </p:txBody>
      </p:sp>
      <p:sp>
        <p:nvSpPr>
          <p:cNvPr id="24" name="Text 20"/>
          <p:cNvSpPr/>
          <p:nvPr/>
        </p:nvSpPr>
        <p:spPr>
          <a:xfrm>
            <a:off x="3336131" y="1816298"/>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5" name="Text 21"/>
          <p:cNvSpPr/>
          <p:nvPr/>
        </p:nvSpPr>
        <p:spPr>
          <a:xfrm>
            <a:off x="3486150" y="1816298"/>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clear_page / copy_page — aware of tags (STZGM)</a:t>
            </a:r>
          </a:p>
        </p:txBody>
      </p:sp>
      <p:sp>
        <p:nvSpPr>
          <p:cNvPr id="26" name="Text 22"/>
          <p:cNvSpPr/>
          <p:nvPr/>
        </p:nvSpPr>
        <p:spPr>
          <a:xfrm>
            <a:off x="3336131" y="2252067"/>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7" name="Text 23"/>
          <p:cNvSpPr/>
          <p:nvPr/>
        </p:nvSpPr>
        <p:spPr>
          <a:xfrm>
            <a:off x="3486150" y="2252067"/>
            <a:ext cx="2160848" cy="151708"/>
          </a:xfrm>
          <a:prstGeom prst="rect">
            <a:avLst/>
          </a:prstGeom>
          <a:noFill/>
          <a:ln/>
        </p:spPr>
        <p:txBody>
          <a:bodyPr wrap="non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SIGSEGV handling: аналог translation fault</a:t>
            </a:r>
          </a:p>
        </p:txBody>
      </p:sp>
      <p:sp>
        <p:nvSpPr>
          <p:cNvPr id="28" name="Text 24"/>
          <p:cNvSpPr/>
          <p:nvPr/>
        </p:nvSpPr>
        <p:spPr>
          <a:xfrm>
            <a:off x="3336131" y="2527102"/>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29" name="Text 25"/>
          <p:cNvSpPr/>
          <p:nvPr/>
        </p:nvSpPr>
        <p:spPr>
          <a:xfrm>
            <a:off x="3486150" y="2527102"/>
            <a:ext cx="2314575"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mmap → Normal Tagged Memory для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userspace</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процессов</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30" name="Text 26"/>
          <p:cNvSpPr/>
          <p:nvPr/>
        </p:nvSpPr>
        <p:spPr>
          <a:xfrm>
            <a:off x="3336131" y="2962870"/>
            <a:ext cx="64294" cy="160734"/>
          </a:xfrm>
          <a:prstGeom prst="rect">
            <a:avLst/>
          </a:prstGeom>
          <a:noFill/>
          <a:ln/>
        </p:spPr>
        <p:txBody>
          <a:bodyPr wrap="none" lIns="0" tIns="0" rIns="0" bIns="0" rtlCol="0" anchor="t">
            <a:spAutoFit/>
          </a:bodyPr>
          <a:lstStyle/>
          <a:p>
            <a:pPr marL="0" indent="0" algn="l">
              <a:lnSpc>
                <a:spcPct val="120000"/>
              </a:lnSpc>
              <a:buNone/>
            </a:pPr>
            <a:r>
              <a:rPr lang="en-US" sz="750" b="1" dirty="0">
                <a:solidFill>
                  <a:srgbClr val="2DA44E"/>
                </a:solidFill>
                <a:latin typeface="Fira Code Bold" pitchFamily="34" charset="0"/>
                <a:ea typeface="Fira Code Bold" pitchFamily="34" charset="-122"/>
                <a:cs typeface="Fira Code Bold" pitchFamily="34" charset="-120"/>
              </a:rPr>
              <a:t>→</a:t>
            </a:r>
            <a:endParaRPr lang="en-US" sz="750" dirty="0"/>
          </a:p>
        </p:txBody>
      </p:sp>
      <p:sp>
        <p:nvSpPr>
          <p:cNvPr id="31" name="Text 27"/>
          <p:cNvSpPr/>
          <p:nvPr/>
        </p:nvSpPr>
        <p:spPr>
          <a:xfrm>
            <a:off x="3486150" y="2962870"/>
            <a:ext cx="2314575" cy="317908"/>
          </a:xfrm>
          <a:prstGeom prst="rect">
            <a:avLst/>
          </a:prstGeom>
          <a:noFill/>
          <a:ln/>
        </p:spPr>
        <p:txBody>
          <a:bodyPr wrap="squar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AMBA 5 CHI — новая спецификация для когерентности тегов в multi-core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системах</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
        <p:nvSpPr>
          <p:cNvPr id="32" name="Shape 28"/>
          <p:cNvSpPr/>
          <p:nvPr/>
        </p:nvSpPr>
        <p:spPr>
          <a:xfrm>
            <a:off x="6093619" y="735806"/>
            <a:ext cx="3043238" cy="4400550"/>
          </a:xfrm>
          <a:prstGeom prst="rect">
            <a:avLst/>
          </a:prstGeom>
          <a:solidFill>
            <a:srgbClr val="F6F8FA"/>
          </a:solidFill>
          <a:ln/>
        </p:spPr>
      </p:sp>
      <p:sp>
        <p:nvSpPr>
          <p:cNvPr id="33" name="Text 29"/>
          <p:cNvSpPr/>
          <p:nvPr/>
        </p:nvSpPr>
        <p:spPr>
          <a:xfrm>
            <a:off x="6379369" y="950119"/>
            <a:ext cx="2471738" cy="287536"/>
          </a:xfrm>
          <a:prstGeom prst="rect">
            <a:avLst/>
          </a:prstGeom>
          <a:noFill/>
          <a:ln/>
        </p:spPr>
        <p:txBody>
          <a:bodyPr wrap="square" lIns="0" tIns="0" rIns="0" bIns="102108" rtlCol="0" anchor="t">
            <a:spAutoFit/>
          </a:bodyPr>
          <a:lstStyle/>
          <a:p>
            <a:pPr marL="0" indent="0" algn="l">
              <a:buNone/>
            </a:pPr>
            <a:r>
              <a:rPr lang="en-US" sz="1000" b="1" dirty="0">
                <a:solidFill>
                  <a:srgbClr val="24292F"/>
                </a:solidFill>
                <a:latin typeface="Fira Code Bold" pitchFamily="34" charset="0"/>
                <a:ea typeface="Fira Code Bold" pitchFamily="34" charset="-122"/>
                <a:cs typeface="Fira Code Bold" pitchFamily="34" charset="-120"/>
              </a:rPr>
              <a:t>Timeline</a:t>
            </a:r>
            <a:endParaRPr lang="en-US" sz="1000" dirty="0"/>
          </a:p>
        </p:txBody>
      </p:sp>
      <p:sp>
        <p:nvSpPr>
          <p:cNvPr id="34" name="Text 30"/>
          <p:cNvSpPr/>
          <p:nvPr/>
        </p:nvSpPr>
        <p:spPr>
          <a:xfrm>
            <a:off x="6736556" y="1380530"/>
            <a:ext cx="1898452"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2019</a:t>
            </a:r>
            <a:endParaRPr lang="en-US" sz="800" dirty="0"/>
          </a:p>
        </p:txBody>
      </p:sp>
      <p:sp>
        <p:nvSpPr>
          <p:cNvPr id="35" name="Text 31"/>
          <p:cNvSpPr/>
          <p:nvPr/>
        </p:nvSpPr>
        <p:spPr>
          <a:xfrm>
            <a:off x="6736556" y="1559123"/>
            <a:ext cx="1936428" cy="151708"/>
          </a:xfrm>
          <a:prstGeom prst="rect">
            <a:avLst/>
          </a:prstGeom>
          <a:noFill/>
          <a:ln/>
        </p:spPr>
        <p:txBody>
          <a:bodyPr wrap="non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Armv8.5-A spec опубликована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август</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t>
            </a:r>
          </a:p>
        </p:txBody>
      </p:sp>
      <p:sp>
        <p:nvSpPr>
          <p:cNvPr id="36" name="Text 32"/>
          <p:cNvSpPr/>
          <p:nvPr/>
        </p:nvSpPr>
        <p:spPr>
          <a:xfrm>
            <a:off x="6736556" y="1870574"/>
            <a:ext cx="1716286"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2021</a:t>
            </a:r>
            <a:endParaRPr lang="en-US" sz="800" dirty="0"/>
          </a:p>
        </p:txBody>
      </p:sp>
      <p:sp>
        <p:nvSpPr>
          <p:cNvPr id="37" name="Text 33"/>
          <p:cNvSpPr/>
          <p:nvPr/>
        </p:nvSpPr>
        <p:spPr>
          <a:xfrm>
            <a:off x="6736556" y="2049168"/>
            <a:ext cx="1772921" cy="151708"/>
          </a:xfrm>
          <a:prstGeom prst="rect">
            <a:avLst/>
          </a:prstGeom>
          <a:noFill/>
          <a:ln/>
        </p:spPr>
        <p:txBody>
          <a:bodyPr wrap="none" lIns="0" tIns="0" rIns="0" bIns="0" rtlCol="0" anchor="t">
            <a:spAutoFit/>
          </a:bodyPr>
          <a:lstStyle/>
          <a:p>
            <a:pPr indent="0">
              <a:lnSpc>
                <a:spcPct val="120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Первые Armv9 CPU с MTE в silicon</a:t>
            </a:r>
          </a:p>
        </p:txBody>
      </p:sp>
      <p:sp>
        <p:nvSpPr>
          <p:cNvPr id="38" name="Text 34"/>
          <p:cNvSpPr/>
          <p:nvPr/>
        </p:nvSpPr>
        <p:spPr>
          <a:xfrm>
            <a:off x="6736556" y="2360619"/>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2023</a:t>
            </a:r>
            <a:endParaRPr lang="en-US" sz="800" dirty="0"/>
          </a:p>
        </p:txBody>
      </p:sp>
      <p:sp>
        <p:nvSpPr>
          <p:cNvPr id="39" name="Text 35"/>
          <p:cNvSpPr/>
          <p:nvPr/>
        </p:nvSpPr>
        <p:spPr>
          <a:xfrm>
            <a:off x="6736556" y="2539212"/>
            <a:ext cx="2114550" cy="317908"/>
          </a:xfrm>
          <a:prstGeom prst="rect">
            <a:avLst/>
          </a:prstGeom>
          <a:noFill/>
          <a:ln/>
        </p:spPr>
        <p:txBody>
          <a:bodyPr wrap="square" lIns="0" tIns="0" rIns="0" bIns="0" rtlCol="0" anchor="t">
            <a:spAutoFit/>
          </a:bodyPr>
          <a:lstStyle/>
          <a:p>
            <a:pPr>
              <a:lnSpc>
                <a:spcPct val="120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8 — первый mass-market Android с MTE</a:t>
            </a:r>
          </a:p>
        </p:txBody>
      </p:sp>
      <p:sp>
        <p:nvSpPr>
          <p:cNvPr id="40" name="Text 36"/>
          <p:cNvSpPr/>
          <p:nvPr/>
        </p:nvSpPr>
        <p:spPr>
          <a:xfrm>
            <a:off x="6736556" y="2990664"/>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2024</a:t>
            </a:r>
            <a:endParaRPr lang="en-US" sz="800" dirty="0"/>
          </a:p>
        </p:txBody>
      </p:sp>
      <p:sp>
        <p:nvSpPr>
          <p:cNvPr id="41" name="Text 37"/>
          <p:cNvSpPr/>
          <p:nvPr/>
        </p:nvSpPr>
        <p:spPr>
          <a:xfrm>
            <a:off x="6736556" y="3169258"/>
            <a:ext cx="2114550" cy="298543"/>
          </a:xfrm>
          <a:prstGeom prst="rect">
            <a:avLst/>
          </a:prstGeom>
          <a:noFill/>
          <a:ln/>
        </p:spPr>
        <p:txBody>
          <a:bodyPr wrap="square" lIns="0" tIns="0" rIns="0" bIns="0" rtlCol="0" anchor="t">
            <a:spAutoFit/>
          </a:bodyPr>
          <a:lstStyle/>
          <a:p>
            <a:pPr marL="0" indent="0" algn="l">
              <a:lnSpc>
                <a:spcPct val="112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Google Pixel 9; UAF-</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баги</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найдены</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Project Zero</a:t>
            </a:r>
          </a:p>
        </p:txBody>
      </p:sp>
      <p:sp>
        <p:nvSpPr>
          <p:cNvPr id="42" name="Text 38"/>
          <p:cNvSpPr/>
          <p:nvPr/>
        </p:nvSpPr>
        <p:spPr>
          <a:xfrm>
            <a:off x="6736556" y="3620709"/>
            <a:ext cx="1809155"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2025</a:t>
            </a:r>
            <a:endParaRPr lang="en-US" sz="800" dirty="0"/>
          </a:p>
        </p:txBody>
      </p:sp>
      <p:sp>
        <p:nvSpPr>
          <p:cNvPr id="43" name="Text 39"/>
          <p:cNvSpPr/>
          <p:nvPr/>
        </p:nvSpPr>
        <p:spPr>
          <a:xfrm>
            <a:off x="6736556" y="3799303"/>
            <a:ext cx="1936428" cy="143437"/>
          </a:xfrm>
          <a:prstGeom prst="rect">
            <a:avLst/>
          </a:prstGeom>
          <a:noFill/>
          <a:ln/>
        </p:spPr>
        <p:txBody>
          <a:bodyPr wrap="none" lIns="0" tIns="0" rIns="0" bIns="0" rtlCol="0" anchor="t">
            <a:spAutoFit/>
          </a:bodyPr>
          <a:lstStyle/>
          <a:p>
            <a:pPr>
              <a:lnSpc>
                <a:spcPct val="112000"/>
              </a:lnSpc>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Apple A19 (iPhone 17)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добавляет</a:t>
            </a: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 MTE</a:t>
            </a:r>
          </a:p>
        </p:txBody>
      </p:sp>
      <p:sp>
        <p:nvSpPr>
          <p:cNvPr id="44" name="Text 40"/>
          <p:cNvSpPr/>
          <p:nvPr/>
        </p:nvSpPr>
        <p:spPr>
          <a:xfrm>
            <a:off x="6736556" y="4110754"/>
            <a:ext cx="2114550" cy="150019"/>
          </a:xfrm>
          <a:prstGeom prst="rect">
            <a:avLst/>
          </a:prstGeom>
          <a:noFill/>
          <a:ln/>
        </p:spPr>
        <p:txBody>
          <a:bodyPr wrap="square" lIns="0" tIns="0" rIns="0" bIns="0" rtlCol="0" anchor="t">
            <a:spAutoFit/>
          </a:bodyPr>
          <a:lstStyle/>
          <a:p>
            <a:pPr marL="0" indent="0" algn="l">
              <a:buNone/>
            </a:pPr>
            <a:r>
              <a:rPr lang="en-US" sz="800" b="1" dirty="0">
                <a:solidFill>
                  <a:srgbClr val="BF3989"/>
                </a:solidFill>
                <a:latin typeface="Fira Code Bold" pitchFamily="34" charset="0"/>
                <a:ea typeface="Fira Code Bold" pitchFamily="34" charset="-122"/>
                <a:cs typeface="Fira Code Bold" pitchFamily="34" charset="-120"/>
              </a:rPr>
              <a:t>2026</a:t>
            </a:r>
            <a:endParaRPr lang="en-US" sz="800" dirty="0"/>
          </a:p>
        </p:txBody>
      </p:sp>
      <p:sp>
        <p:nvSpPr>
          <p:cNvPr id="45" name="Text 41"/>
          <p:cNvSpPr/>
          <p:nvPr/>
        </p:nvSpPr>
        <p:spPr>
          <a:xfrm>
            <a:off x="6736556" y="4289347"/>
            <a:ext cx="2114550" cy="298543"/>
          </a:xfrm>
          <a:prstGeom prst="rect">
            <a:avLst/>
          </a:prstGeom>
          <a:noFill/>
          <a:ln/>
        </p:spPr>
        <p:txBody>
          <a:bodyPr wrap="square" lIns="0" tIns="0" rIns="0" bIns="0" rtlCol="0" anchor="t">
            <a:spAutoFit/>
          </a:bodyPr>
          <a:lstStyle/>
          <a:p>
            <a:pPr indent="0">
              <a:lnSpc>
                <a:spcPct val="112000"/>
              </a:lnSpc>
              <a:buNone/>
            </a:pPr>
            <a:r>
              <a:rPr lang="en-US" sz="900" b="1" i="1" dirty="0">
                <a:solidFill>
                  <a:srgbClr val="24292F"/>
                </a:solidFill>
                <a:latin typeface="Times New Roman" panose="02020603050405020304" pitchFamily="18" charset="0"/>
                <a:ea typeface="Inter" pitchFamily="34" charset="-122"/>
                <a:cs typeface="Times New Roman" panose="02020603050405020304" pitchFamily="18" charset="0"/>
              </a:rPr>
              <a:t>arXiv:2601.11786 — первый полный perf-анализ на 4 </a:t>
            </a:r>
            <a:r>
              <a:rPr lang="en-US" sz="900" b="1" i="1" dirty="0" err="1">
                <a:solidFill>
                  <a:srgbClr val="24292F"/>
                </a:solidFill>
                <a:latin typeface="Times New Roman" panose="02020603050405020304" pitchFamily="18" charset="0"/>
                <a:ea typeface="Inter" pitchFamily="34" charset="-122"/>
                <a:cs typeface="Times New Roman" panose="02020603050405020304" pitchFamily="18" charset="0"/>
              </a:rPr>
              <a:t>microarch</a:t>
            </a:r>
            <a:endParaRPr lang="en-US" sz="900" b="1" i="1" dirty="0">
              <a:solidFill>
                <a:srgbClr val="24292F"/>
              </a:solidFill>
              <a:latin typeface="Times New Roman" panose="02020603050405020304" pitchFamily="18" charset="0"/>
              <a:ea typeface="Inter" pitchFamily="34" charset="-122"/>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Shape 0"/>
          <p:cNvSpPr/>
          <p:nvPr/>
        </p:nvSpPr>
        <p:spPr>
          <a:xfrm>
            <a:off x="7144" y="7144"/>
            <a:ext cx="9129713" cy="860822"/>
          </a:xfrm>
          <a:prstGeom prst="rect">
            <a:avLst/>
          </a:prstGeom>
          <a:solidFill>
            <a:srgbClr val="FFFFFF"/>
          </a:solidFill>
          <a:ln/>
        </p:spPr>
      </p:sp>
      <p:sp>
        <p:nvSpPr>
          <p:cNvPr id="5" name="Shape 1"/>
          <p:cNvSpPr/>
          <p:nvPr/>
        </p:nvSpPr>
        <p:spPr>
          <a:xfrm>
            <a:off x="7144" y="860822"/>
            <a:ext cx="9129713" cy="7144"/>
          </a:xfrm>
          <a:prstGeom prst="rect">
            <a:avLst/>
          </a:prstGeom>
          <a:solidFill>
            <a:srgbClr val="D0D7DE"/>
          </a:solidFill>
          <a:ln/>
        </p:spPr>
      </p:sp>
      <p:sp>
        <p:nvSpPr>
          <p:cNvPr id="6" name="Text 2"/>
          <p:cNvSpPr/>
          <p:nvPr/>
        </p:nvSpPr>
        <p:spPr>
          <a:xfrm>
            <a:off x="350044" y="221456"/>
            <a:ext cx="8443913" cy="525066"/>
          </a:xfrm>
          <a:prstGeom prst="rect">
            <a:avLst/>
          </a:prstGeom>
          <a:noFill/>
          <a:ln/>
        </p:spPr>
        <p:txBody>
          <a:bodyPr wrap="square" lIns="0" tIns="0" rIns="0" bIns="0" rtlCol="0" anchor="t">
            <a:spAutoFit/>
          </a:bodyPr>
          <a:lstStyle/>
          <a:p>
            <a:pPr marL="0" indent="0" algn="l">
              <a:buNone/>
            </a:pPr>
            <a:r>
              <a:rPr lang="en-US" sz="1400" b="1" dirty="0">
                <a:solidFill>
                  <a:srgbClr val="0969DA"/>
                </a:solidFill>
                <a:latin typeface="Fira Code Bold" pitchFamily="34" charset="0"/>
                <a:ea typeface="Fira Code Bold" pitchFamily="34" charset="-122"/>
                <a:cs typeface="Fira Code Bold" pitchFamily="34" charset="-120"/>
              </a:rPr>
              <a:t>MTE — production-ready инструмент с вероятностной, но не абсолютной защитой</a:t>
            </a:r>
            <a:endParaRPr lang="en-US" sz="1400" dirty="0"/>
          </a:p>
        </p:txBody>
      </p:sp>
      <p:sp>
        <p:nvSpPr>
          <p:cNvPr id="7" name="Shape 3"/>
          <p:cNvSpPr/>
          <p:nvPr/>
        </p:nvSpPr>
        <p:spPr>
          <a:xfrm>
            <a:off x="7144" y="860822"/>
            <a:ext cx="9129713" cy="3049684"/>
          </a:xfrm>
          <a:prstGeom prst="rect">
            <a:avLst/>
          </a:prstGeom>
          <a:solidFill>
            <a:srgbClr val="FFFFFF"/>
          </a:solidFill>
          <a:ln/>
        </p:spPr>
      </p:sp>
      <p:sp>
        <p:nvSpPr>
          <p:cNvPr id="8" name="Text 4"/>
          <p:cNvSpPr/>
          <p:nvPr/>
        </p:nvSpPr>
        <p:spPr>
          <a:xfrm>
            <a:off x="350044" y="1003697"/>
            <a:ext cx="3871913" cy="258961"/>
          </a:xfrm>
          <a:prstGeom prst="rect">
            <a:avLst/>
          </a:prstGeom>
          <a:noFill/>
          <a:ln/>
        </p:spPr>
        <p:txBody>
          <a:bodyPr wrap="square" lIns="0" tIns="0" rIns="0" bIns="68072" rtlCol="0" anchor="t">
            <a:spAutoFit/>
          </a:bodyPr>
          <a:lstStyle/>
          <a:p>
            <a:pPr marL="0" indent="0" algn="l">
              <a:buNone/>
            </a:pPr>
            <a:r>
              <a:rPr lang="en-US" sz="1000" b="1" dirty="0">
                <a:solidFill>
                  <a:srgbClr val="2DA44E"/>
                </a:solidFill>
                <a:latin typeface="Fira Code Bold" pitchFamily="34" charset="0"/>
                <a:ea typeface="Fira Code Bold" pitchFamily="34" charset="-122"/>
                <a:cs typeface="Fira Code Bold" pitchFamily="34" charset="-120"/>
              </a:rPr>
              <a:t>✓ Рекомендации</a:t>
            </a:r>
            <a:endParaRPr lang="en-US" sz="1000" dirty="0"/>
          </a:p>
        </p:txBody>
      </p:sp>
      <p:sp>
        <p:nvSpPr>
          <p:cNvPr id="9" name="Text 5"/>
          <p:cNvSpPr/>
          <p:nvPr/>
        </p:nvSpPr>
        <p:spPr>
          <a:xfrm>
            <a:off x="350044" y="1376958"/>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1. Записывать теги и данные вместе</a:t>
            </a:r>
            <a:endParaRPr lang="en-US" sz="750" dirty="0"/>
          </a:p>
        </p:txBody>
      </p:sp>
      <p:sp>
        <p:nvSpPr>
          <p:cNvPr id="10" name="Text 6"/>
          <p:cNvSpPr/>
          <p:nvPr/>
        </p:nvSpPr>
        <p:spPr>
          <a:xfrm>
            <a:off x="350044" y="1544836"/>
            <a:ext cx="3871913" cy="265329"/>
          </a:xfrm>
          <a:prstGeom prst="rect">
            <a:avLst/>
          </a:prstGeom>
          <a:noFill/>
          <a:ln/>
        </p:spPr>
        <p:txBody>
          <a:bodyPr wrap="square" lIns="0" tIns="0" rIns="0" bIns="0" rtlCol="0" anchor="t">
            <a:spAutoFit/>
          </a:bodyPr>
          <a:lstStyle/>
          <a:p>
            <a:pPr marL="0" indent="0" algn="l">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Использовать STZGM для zero+tag за одну операцию при инициализации страниц ядром.</a:t>
            </a:r>
            <a:endParaRPr lang="en-US" sz="800" b="1" i="1" dirty="0">
              <a:latin typeface="Times New Roman" panose="02020603050405020304" pitchFamily="18" charset="0"/>
              <a:cs typeface="Times New Roman" panose="02020603050405020304" pitchFamily="18" charset="0"/>
            </a:endParaRPr>
          </a:p>
        </p:txBody>
      </p:sp>
      <p:sp>
        <p:nvSpPr>
          <p:cNvPr id="11" name="Text 7"/>
          <p:cNvSpPr/>
          <p:nvPr/>
        </p:nvSpPr>
        <p:spPr>
          <a:xfrm>
            <a:off x="350044" y="1910562"/>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2. Минимизировать de-allocation / re-allocation</a:t>
            </a:r>
            <a:endParaRPr lang="en-US" sz="750" dirty="0"/>
          </a:p>
        </p:txBody>
      </p:sp>
      <p:sp>
        <p:nvSpPr>
          <p:cNvPr id="12" name="Text 8"/>
          <p:cNvSpPr/>
          <p:nvPr/>
        </p:nvSpPr>
        <p:spPr>
          <a:xfrm>
            <a:off x="350044" y="2078441"/>
            <a:ext cx="3871913"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Частые malloc/free усиливают overhead; фиксированные затраты на аллокацию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растут</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13" name="Text 9"/>
          <p:cNvSpPr/>
          <p:nvPr/>
        </p:nvSpPr>
        <p:spPr>
          <a:xfrm>
            <a:off x="350044" y="2444167"/>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3. Избегать больших fixed-size стек-буферов</a:t>
            </a:r>
            <a:endParaRPr lang="en-US" sz="750" dirty="0"/>
          </a:p>
        </p:txBody>
      </p:sp>
      <p:sp>
        <p:nvSpPr>
          <p:cNvPr id="14" name="Text 10"/>
          <p:cNvSpPr/>
          <p:nvPr/>
        </p:nvSpPr>
        <p:spPr>
          <a:xfrm>
            <a:off x="350044" y="2612045"/>
            <a:ext cx="3871913" cy="265329"/>
          </a:xfrm>
          <a:prstGeom prst="rect">
            <a:avLst/>
          </a:prstGeom>
          <a:noFill/>
          <a:ln/>
        </p:spPr>
        <p:txBody>
          <a:bodyPr wrap="squar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Буферы типа PATH_MAX (4096 байт) часто содержат короткие строки; выравнивание до 16 байт → напрасная запись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тегов</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15" name="Text 11"/>
          <p:cNvSpPr/>
          <p:nvPr/>
        </p:nvSpPr>
        <p:spPr>
          <a:xfrm>
            <a:off x="350044" y="2977772"/>
            <a:ext cx="3871913"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4. Предпочитать ASYNC в продакшене</a:t>
            </a:r>
            <a:endParaRPr lang="en-US" sz="750" dirty="0"/>
          </a:p>
        </p:txBody>
      </p:sp>
      <p:sp>
        <p:nvSpPr>
          <p:cNvPr id="16" name="Text 12"/>
          <p:cNvSpPr/>
          <p:nvPr/>
        </p:nvSpPr>
        <p:spPr>
          <a:xfrm>
            <a:off x="350044" y="3145650"/>
            <a:ext cx="2144818" cy="127471"/>
          </a:xfrm>
          <a:prstGeom prst="rect">
            <a:avLst/>
          </a:prstGeom>
          <a:noFill/>
          <a:ln/>
        </p:spPr>
        <p:txBody>
          <a:bodyPr wrap="non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SYNC только для отладочных сборок и CI/CD.</a:t>
            </a:r>
          </a:p>
        </p:txBody>
      </p:sp>
      <p:sp>
        <p:nvSpPr>
          <p:cNvPr id="17" name="Text 13"/>
          <p:cNvSpPr/>
          <p:nvPr/>
        </p:nvSpPr>
        <p:spPr>
          <a:xfrm>
            <a:off x="4914900" y="1003697"/>
            <a:ext cx="3879056" cy="258961"/>
          </a:xfrm>
          <a:prstGeom prst="rect">
            <a:avLst/>
          </a:prstGeom>
          <a:noFill/>
          <a:ln/>
        </p:spPr>
        <p:txBody>
          <a:bodyPr wrap="square" lIns="0" tIns="0" rIns="0" bIns="68072" rtlCol="0" anchor="t">
            <a:spAutoFit/>
          </a:bodyPr>
          <a:lstStyle/>
          <a:p>
            <a:pPr marL="0" indent="0" algn="l">
              <a:buNone/>
            </a:pPr>
            <a:r>
              <a:rPr lang="en-US" sz="1000" b="1" dirty="0">
                <a:solidFill>
                  <a:srgbClr val="BF3989"/>
                </a:solidFill>
                <a:latin typeface="Fira Code Bold" pitchFamily="34" charset="0"/>
                <a:ea typeface="Fira Code Bold" pitchFamily="34" charset="-122"/>
                <a:cs typeface="Fira Code Bold" pitchFamily="34" charset="-120"/>
              </a:rPr>
              <a:t>✗ Ограничения</a:t>
            </a:r>
            <a:endParaRPr lang="en-US" sz="1000" dirty="0"/>
          </a:p>
        </p:txBody>
      </p:sp>
      <p:sp>
        <p:nvSpPr>
          <p:cNvPr id="18" name="Text 14"/>
          <p:cNvSpPr/>
          <p:nvPr/>
        </p:nvSpPr>
        <p:spPr>
          <a:xfrm>
            <a:off x="4914900" y="1376958"/>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1. Вероятностная, не абсолютная защита</a:t>
            </a:r>
            <a:endParaRPr lang="en-US" sz="750" dirty="0"/>
          </a:p>
        </p:txBody>
      </p:sp>
      <p:sp>
        <p:nvSpPr>
          <p:cNvPr id="19" name="Text 15"/>
          <p:cNvSpPr/>
          <p:nvPr/>
        </p:nvSpPr>
        <p:spPr>
          <a:xfrm>
            <a:off x="4914900" y="1544836"/>
            <a:ext cx="3879056" cy="265329"/>
          </a:xfrm>
          <a:prstGeom prst="rect">
            <a:avLst/>
          </a:prstGeom>
          <a:noFill/>
          <a:ln/>
        </p:spPr>
        <p:txBody>
          <a:bodyPr wrap="squar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4 бита = 16 значений; вероятность случайного совпадения при «диком» доступе: 1/16 ≈ 6.25%; при N запусках → 100%.</a:t>
            </a:r>
          </a:p>
        </p:txBody>
      </p:sp>
      <p:sp>
        <p:nvSpPr>
          <p:cNvPr id="20" name="Text 16"/>
          <p:cNvSpPr/>
          <p:nvPr/>
        </p:nvSpPr>
        <p:spPr>
          <a:xfrm>
            <a:off x="4914900" y="1910562"/>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2. Не защищает алгоритмические уязвимости</a:t>
            </a:r>
            <a:endParaRPr lang="en-US" sz="750" dirty="0"/>
          </a:p>
        </p:txBody>
      </p:sp>
      <p:sp>
        <p:nvSpPr>
          <p:cNvPr id="21" name="Text 17"/>
          <p:cNvSpPr/>
          <p:nvPr/>
        </p:nvSpPr>
        <p:spPr>
          <a:xfrm>
            <a:off x="4914900" y="2078441"/>
            <a:ext cx="3879056"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MTE работает только с нарушениями memory safety, не с логическими ошибками или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инъекциями</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2" name="Text 18"/>
          <p:cNvSpPr/>
          <p:nvPr/>
        </p:nvSpPr>
        <p:spPr>
          <a:xfrm>
            <a:off x="4914900" y="2444167"/>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3. Stack требует перекомпиляции + BTI + PAC</a:t>
            </a:r>
            <a:endParaRPr lang="en-US" sz="750" dirty="0"/>
          </a:p>
        </p:txBody>
      </p:sp>
      <p:sp>
        <p:nvSpPr>
          <p:cNvPr id="23" name="Text 19"/>
          <p:cNvSpPr/>
          <p:nvPr/>
        </p:nvSpPr>
        <p:spPr>
          <a:xfrm>
            <a:off x="4914900" y="2612045"/>
            <a:ext cx="3693319" cy="127471"/>
          </a:xfrm>
          <a:prstGeom prst="rect">
            <a:avLst/>
          </a:prstGeom>
          <a:noFill/>
          <a:ln/>
        </p:spPr>
        <p:txBody>
          <a:bodyPr wrap="none" lIns="0" tIns="0" rIns="0" bIns="0" rtlCol="0" anchor="t">
            <a:spAutoFit/>
          </a:bodyPr>
          <a:lstStyle/>
          <a:p>
            <a:pPr indent="0">
              <a:lnSpc>
                <a:spcPct val="112000"/>
              </a:lnSpc>
              <a:buNone/>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Без BTI/PAC атакующий может контролировать SP и обойти MTE для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стека</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4" name="Text 20"/>
          <p:cNvSpPr/>
          <p:nvPr/>
        </p:nvSpPr>
        <p:spPr>
          <a:xfrm>
            <a:off x="4914900" y="2837771"/>
            <a:ext cx="3879056" cy="139303"/>
          </a:xfrm>
          <a:prstGeom prst="rect">
            <a:avLst/>
          </a:prstGeom>
          <a:noFill/>
          <a:ln/>
        </p:spPr>
        <p:txBody>
          <a:bodyPr wrap="square" lIns="0" tIns="0" rIns="0" bIns="0" rtlCol="0" anchor="t">
            <a:spAutoFit/>
          </a:bodyPr>
          <a:lstStyle/>
          <a:p>
            <a:pPr marL="0" indent="0" algn="l">
              <a:buNone/>
            </a:pPr>
            <a:r>
              <a:rPr lang="en-US" sz="750" b="1" dirty="0">
                <a:solidFill>
                  <a:srgbClr val="24292F"/>
                </a:solidFill>
                <a:latin typeface="Fira Code Bold" pitchFamily="34" charset="0"/>
                <a:ea typeface="Fira Code Bold" pitchFamily="34" charset="-122"/>
                <a:cs typeface="Fira Code Bold" pitchFamily="34" charset="-120"/>
              </a:rPr>
              <a:t>4. Только Arm</a:t>
            </a:r>
            <a:endParaRPr lang="en-US" sz="750" dirty="0"/>
          </a:p>
        </p:txBody>
      </p:sp>
      <p:sp>
        <p:nvSpPr>
          <p:cNvPr id="25" name="Text 21"/>
          <p:cNvSpPr/>
          <p:nvPr/>
        </p:nvSpPr>
        <p:spPr>
          <a:xfrm>
            <a:off x="4914900" y="3005649"/>
            <a:ext cx="3879056" cy="265329"/>
          </a:xfrm>
          <a:prstGeom prst="rect">
            <a:avLst/>
          </a:prstGeom>
          <a:noFill/>
          <a:ln/>
        </p:spPr>
        <p:txBody>
          <a:bodyPr wrap="square" lIns="0" tIns="0" rIns="0" bIns="0" rtlCol="0" anchor="t">
            <a:spAutoFit/>
          </a:bodyPr>
          <a:lstStyle/>
          <a:p>
            <a:pPr>
              <a:lnSpc>
                <a:spcPct val="112000"/>
              </a:lnSpc>
            </a:pP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Нет аналога на x86/RISC-V; Intel MPX (deprecated 2019) не имеет функционального </a:t>
            </a:r>
            <a:r>
              <a:rPr lang="en-US" sz="800" b="1" i="1" dirty="0" err="1">
                <a:solidFill>
                  <a:srgbClr val="57606A"/>
                </a:solidFill>
                <a:latin typeface="Times New Roman" panose="02020603050405020304" pitchFamily="18" charset="0"/>
                <a:ea typeface="Inter" pitchFamily="34" charset="-122"/>
                <a:cs typeface="Times New Roman" panose="02020603050405020304" pitchFamily="18" charset="0"/>
              </a:rPr>
              <a:t>эквивалента</a:t>
            </a:r>
            <a:r>
              <a:rPr lang="en-US" sz="800" b="1" i="1" dirty="0">
                <a:solidFill>
                  <a:srgbClr val="57606A"/>
                </a:solidFill>
                <a:latin typeface="Times New Roman" panose="02020603050405020304" pitchFamily="18" charset="0"/>
                <a:ea typeface="Inter" pitchFamily="34" charset="-122"/>
                <a:cs typeface="Times New Roman" panose="02020603050405020304" pitchFamily="18" charset="0"/>
              </a:rPr>
              <a:t>.</a:t>
            </a:r>
          </a:p>
        </p:txBody>
      </p:sp>
      <p:sp>
        <p:nvSpPr>
          <p:cNvPr id="26" name="Shape 22"/>
          <p:cNvSpPr/>
          <p:nvPr/>
        </p:nvSpPr>
        <p:spPr>
          <a:xfrm>
            <a:off x="7144" y="3910505"/>
            <a:ext cx="9129713" cy="1225851"/>
          </a:xfrm>
          <a:prstGeom prst="rect">
            <a:avLst/>
          </a:prstGeom>
          <a:solidFill>
            <a:srgbClr val="24292F"/>
          </a:solidFill>
          <a:ln/>
        </p:spPr>
      </p:sp>
      <p:sp>
        <p:nvSpPr>
          <p:cNvPr id="27" name="Shape 23"/>
          <p:cNvSpPr/>
          <p:nvPr/>
        </p:nvSpPr>
        <p:spPr>
          <a:xfrm>
            <a:off x="7144" y="3910505"/>
            <a:ext cx="9129713" cy="7144"/>
          </a:xfrm>
          <a:prstGeom prst="rect">
            <a:avLst/>
          </a:prstGeom>
          <a:solidFill>
            <a:srgbClr val="D0D7DE"/>
          </a:solidFill>
          <a:ln/>
        </p:spPr>
      </p:sp>
      <p:sp>
        <p:nvSpPr>
          <p:cNvPr id="28" name="Text 24"/>
          <p:cNvSpPr/>
          <p:nvPr/>
        </p:nvSpPr>
        <p:spPr>
          <a:xfrm>
            <a:off x="350044" y="4031949"/>
            <a:ext cx="8443913" cy="167878"/>
          </a:xfrm>
          <a:prstGeom prst="rect">
            <a:avLst/>
          </a:prstGeom>
          <a:noFill/>
          <a:ln/>
        </p:spPr>
        <p:txBody>
          <a:bodyPr wrap="square" lIns="0" tIns="0" rIns="0" bIns="0" rtlCol="0" anchor="t">
            <a:spAutoFit/>
          </a:bodyPr>
          <a:lstStyle/>
          <a:p>
            <a:pPr marL="0" indent="0" algn="l">
              <a:buNone/>
            </a:pPr>
            <a:r>
              <a:rPr lang="en-US" sz="900" b="1" dirty="0">
                <a:solidFill>
                  <a:srgbClr val="0969DA"/>
                </a:solidFill>
                <a:latin typeface="Fira Code Bold" pitchFamily="34" charset="0"/>
                <a:ea typeface="Fira Code Bold" pitchFamily="34" charset="-122"/>
                <a:cs typeface="Fira Code Bold" pitchFamily="34" charset="-120"/>
              </a:rPr>
              <a:t>KEY TAKEAWAYS</a:t>
            </a:r>
            <a:endParaRPr lang="en-US" sz="900" dirty="0"/>
          </a:p>
        </p:txBody>
      </p:sp>
      <p:sp>
        <p:nvSpPr>
          <p:cNvPr id="29" name="Text 25"/>
          <p:cNvSpPr/>
          <p:nvPr/>
        </p:nvSpPr>
        <p:spPr>
          <a:xfrm>
            <a:off x="350044" y="4364134"/>
            <a:ext cx="1597326"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01</a:t>
            </a:r>
            <a:endParaRPr lang="en-US" sz="1200" dirty="0"/>
          </a:p>
        </p:txBody>
      </p:sp>
      <p:sp>
        <p:nvSpPr>
          <p:cNvPr id="30" name="Text 26"/>
          <p:cNvSpPr/>
          <p:nvPr/>
        </p:nvSpPr>
        <p:spPr>
          <a:xfrm>
            <a:off x="350044" y="4632024"/>
            <a:ext cx="1597326" cy="231987"/>
          </a:xfrm>
          <a:prstGeom prst="rect">
            <a:avLst/>
          </a:prstGeom>
          <a:noFill/>
          <a:ln/>
        </p:spPr>
        <p:txBody>
          <a:bodyPr wrap="square" lIns="0" tIns="0" rIns="0" bIns="0" rtlCol="0" anchor="t">
            <a:spAutoFit/>
          </a:bodyPr>
          <a:lstStyle/>
          <a:p>
            <a:pPr marL="0" indent="0" algn="l">
              <a:lnSpc>
                <a:spcPct val="112000"/>
              </a:lnSpc>
              <a:buNone/>
            </a:pPr>
            <a:r>
              <a:rPr lang="en-US" sz="700" dirty="0">
                <a:solidFill>
                  <a:srgbClr val="F6F8FA"/>
                </a:solidFill>
                <a:latin typeface="Georgia" panose="02040502050405020303" pitchFamily="18" charset="0"/>
                <a:ea typeface="Inter SemiBold" pitchFamily="34" charset="-122"/>
                <a:cs typeface="Inter SemiBold" pitchFamily="34" charset="-120"/>
              </a:rPr>
              <a:t>Lock &amp; Key:</a:t>
            </a:r>
            <a:r>
              <a:rPr lang="en-US" sz="700" dirty="0">
                <a:solidFill>
                  <a:srgbClr val="C9D1D9"/>
                </a:solidFill>
                <a:latin typeface="Georgia" panose="02040502050405020303" pitchFamily="18" charset="0"/>
                <a:ea typeface="Inter" pitchFamily="34" charset="-122"/>
                <a:cs typeface="Inter" pitchFamily="34" charset="-120"/>
              </a:rPr>
              <a:t> 4-битный тег на каждые 16 байт без изменения ABI через TBI.</a:t>
            </a:r>
            <a:endParaRPr lang="en-US" sz="700" dirty="0">
              <a:latin typeface="Georgia" panose="02040502050405020303" pitchFamily="18" charset="0"/>
            </a:endParaRPr>
          </a:p>
        </p:txBody>
      </p:sp>
      <p:sp>
        <p:nvSpPr>
          <p:cNvPr id="31" name="Text 27"/>
          <p:cNvSpPr/>
          <p:nvPr/>
        </p:nvSpPr>
        <p:spPr>
          <a:xfrm>
            <a:off x="2061670"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02</a:t>
            </a:r>
            <a:endParaRPr lang="en-US" sz="1200" dirty="0"/>
          </a:p>
        </p:txBody>
      </p:sp>
      <p:sp>
        <p:nvSpPr>
          <p:cNvPr id="32" name="Text 28"/>
          <p:cNvSpPr/>
          <p:nvPr/>
        </p:nvSpPr>
        <p:spPr>
          <a:xfrm>
            <a:off x="2061670" y="4632024"/>
            <a:ext cx="1597354" cy="352661"/>
          </a:xfrm>
          <a:prstGeom prst="rect">
            <a:avLst/>
          </a:prstGeom>
          <a:noFill/>
          <a:ln/>
        </p:spPr>
        <p:txBody>
          <a:bodyPr wrap="square" lIns="0" tIns="0" rIns="0" bIns="0" rtlCol="0" anchor="t">
            <a:spAutoFit/>
          </a:bodyPr>
          <a:lstStyle/>
          <a:p>
            <a:pPr>
              <a:lnSpc>
                <a:spcPct val="112000"/>
              </a:lnSpc>
            </a:pPr>
            <a:r>
              <a:rPr lang="en-US" sz="700" dirty="0">
                <a:solidFill>
                  <a:srgbClr val="F6F8FA"/>
                </a:solidFill>
                <a:latin typeface="Georgia" panose="02040502050405020303" pitchFamily="18" charset="0"/>
                <a:ea typeface="Inter SemiBold" pitchFamily="34" charset="-122"/>
              </a:rPr>
              <a:t>Три </a:t>
            </a:r>
            <a:r>
              <a:rPr lang="en-US" sz="700" dirty="0" err="1">
                <a:solidFill>
                  <a:srgbClr val="F6F8FA"/>
                </a:solidFill>
                <a:latin typeface="Georgia" panose="02040502050405020303" pitchFamily="18" charset="0"/>
                <a:ea typeface="Inter SemiBold" pitchFamily="34" charset="-122"/>
              </a:rPr>
              <a:t>режима</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SYNC (диагностика), ASYNC (продакшен), ASYMM (</a:t>
            </a:r>
            <a:r>
              <a:rPr lang="en-US" sz="700" dirty="0" err="1">
                <a:solidFill>
                  <a:srgbClr val="C9D1D9"/>
                </a:solidFill>
                <a:latin typeface="Georgia" panose="02040502050405020303" pitchFamily="18" charset="0"/>
                <a:ea typeface="Inter" pitchFamily="34" charset="-122"/>
              </a:rPr>
              <a:t>компромисс</a:t>
            </a:r>
            <a:r>
              <a:rPr lang="en-US" sz="700" dirty="0">
                <a:solidFill>
                  <a:srgbClr val="C9D1D9"/>
                </a:solidFill>
                <a:latin typeface="Georgia" panose="02040502050405020303" pitchFamily="18" charset="0"/>
                <a:ea typeface="Inter" pitchFamily="34" charset="-122"/>
              </a:rPr>
              <a:t>).</a:t>
            </a:r>
          </a:p>
        </p:txBody>
      </p:sp>
      <p:sp>
        <p:nvSpPr>
          <p:cNvPr id="33" name="Text 29"/>
          <p:cNvSpPr/>
          <p:nvPr/>
        </p:nvSpPr>
        <p:spPr>
          <a:xfrm>
            <a:off x="3773323" y="4364134"/>
            <a:ext cx="1597326"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03</a:t>
            </a:r>
            <a:endParaRPr lang="en-US" sz="1200" dirty="0"/>
          </a:p>
        </p:txBody>
      </p:sp>
      <p:sp>
        <p:nvSpPr>
          <p:cNvPr id="34" name="Text 30"/>
          <p:cNvSpPr/>
          <p:nvPr/>
        </p:nvSpPr>
        <p:spPr>
          <a:xfrm>
            <a:off x="3773323" y="4632024"/>
            <a:ext cx="1597326" cy="352661"/>
          </a:xfrm>
          <a:prstGeom prst="rect">
            <a:avLst/>
          </a:prstGeom>
          <a:noFill/>
          <a:ln/>
        </p:spPr>
        <p:txBody>
          <a:bodyPr wrap="square" lIns="0" tIns="0" rIns="0" bIns="0" rtlCol="0" anchor="t">
            <a:spAutoFit/>
          </a:bodyPr>
          <a:lstStyle/>
          <a:p>
            <a:pPr indent="0">
              <a:lnSpc>
                <a:spcPct val="112000"/>
              </a:lnSpc>
              <a:buNone/>
            </a:pPr>
            <a:r>
              <a:rPr lang="en-US" sz="700" dirty="0">
                <a:solidFill>
                  <a:srgbClr val="F6F8FA"/>
                </a:solidFill>
                <a:latin typeface="Georgia" panose="02040502050405020303" pitchFamily="18" charset="0"/>
                <a:ea typeface="Inter SemiBold" pitchFamily="34" charset="-122"/>
              </a:rPr>
              <a:t>Heap vs Stack: </a:t>
            </a:r>
            <a:r>
              <a:rPr lang="en-US" sz="700" dirty="0">
                <a:solidFill>
                  <a:srgbClr val="C9D1D9"/>
                </a:solidFill>
                <a:latin typeface="Georgia" panose="02040502050405020303" pitchFamily="18" charset="0"/>
                <a:ea typeface="Inter" pitchFamily="34" charset="-122"/>
              </a:rPr>
              <a:t>Heap без перекомпиляции; stack </a:t>
            </a:r>
            <a:r>
              <a:rPr lang="en-US" sz="700" dirty="0" err="1">
                <a:solidFill>
                  <a:srgbClr val="C9D1D9"/>
                </a:solidFill>
                <a:latin typeface="Georgia" panose="02040502050405020303" pitchFamily="18" charset="0"/>
                <a:ea typeface="Inter" pitchFamily="34" charset="-122"/>
              </a:rPr>
              <a:t>требует</a:t>
            </a:r>
            <a:r>
              <a:rPr lang="en-US" sz="700" dirty="0">
                <a:solidFill>
                  <a:srgbClr val="C9D1D9"/>
                </a:solidFill>
                <a:latin typeface="Georgia" panose="02040502050405020303" pitchFamily="18" charset="0"/>
                <a:ea typeface="Inter" pitchFamily="34" charset="-122"/>
              </a:rPr>
              <a:t> </a:t>
            </a:r>
            <a:r>
              <a:rPr lang="en-US" sz="700" dirty="0" err="1">
                <a:solidFill>
                  <a:srgbClr val="C9D1D9"/>
                </a:solidFill>
                <a:latin typeface="Georgia" panose="02040502050405020303" pitchFamily="18" charset="0"/>
                <a:ea typeface="Inter" pitchFamily="34" charset="-122"/>
              </a:rPr>
              <a:t>BTI+PAC+recompile</a:t>
            </a:r>
            <a:r>
              <a:rPr lang="en-US" sz="700" dirty="0">
                <a:solidFill>
                  <a:srgbClr val="C9D1D9"/>
                </a:solidFill>
                <a:latin typeface="Georgia" panose="02040502050405020303" pitchFamily="18" charset="0"/>
                <a:ea typeface="Inter" pitchFamily="34" charset="-122"/>
              </a:rPr>
              <a:t>.</a:t>
            </a:r>
          </a:p>
        </p:txBody>
      </p:sp>
      <p:sp>
        <p:nvSpPr>
          <p:cNvPr id="35" name="Text 31"/>
          <p:cNvSpPr/>
          <p:nvPr/>
        </p:nvSpPr>
        <p:spPr>
          <a:xfrm>
            <a:off x="5484949"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04</a:t>
            </a:r>
            <a:endParaRPr lang="en-US" sz="1200" dirty="0"/>
          </a:p>
        </p:txBody>
      </p:sp>
      <p:sp>
        <p:nvSpPr>
          <p:cNvPr id="36" name="Text 32"/>
          <p:cNvSpPr/>
          <p:nvPr/>
        </p:nvSpPr>
        <p:spPr>
          <a:xfrm>
            <a:off x="5484949" y="4632024"/>
            <a:ext cx="1597354" cy="352661"/>
          </a:xfrm>
          <a:prstGeom prst="rect">
            <a:avLst/>
          </a:prstGeom>
          <a:noFill/>
          <a:ln/>
        </p:spPr>
        <p:txBody>
          <a:bodyPr wrap="square" lIns="0" tIns="0" rIns="0" bIns="0" rtlCol="0" anchor="t">
            <a:spAutoFit/>
          </a:bodyPr>
          <a:lstStyle/>
          <a:p>
            <a:pPr>
              <a:lnSpc>
                <a:spcPct val="112000"/>
              </a:lnSpc>
            </a:pPr>
            <a:r>
              <a:rPr lang="en-US" sz="700" dirty="0" err="1">
                <a:solidFill>
                  <a:srgbClr val="F6F8FA"/>
                </a:solidFill>
                <a:latin typeface="Georgia" panose="02040502050405020303" pitchFamily="18" charset="0"/>
                <a:ea typeface="Inter SemiBold" pitchFamily="34" charset="-122"/>
              </a:rPr>
              <a:t>Обнаружение</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Детерминировано для buffer overflow и UAF (при </a:t>
            </a:r>
            <a:r>
              <a:rPr lang="en-US" sz="700" dirty="0" err="1">
                <a:solidFill>
                  <a:srgbClr val="C9D1D9"/>
                </a:solidFill>
                <a:latin typeface="Georgia" panose="02040502050405020303" pitchFamily="18" charset="0"/>
                <a:ea typeface="Inter" pitchFamily="34" charset="-122"/>
              </a:rPr>
              <a:t>смене</a:t>
            </a:r>
            <a:r>
              <a:rPr lang="en-US" sz="700" dirty="0">
                <a:solidFill>
                  <a:srgbClr val="C9D1D9"/>
                </a:solidFill>
                <a:latin typeface="Georgia" panose="02040502050405020303" pitchFamily="18" charset="0"/>
                <a:ea typeface="Inter" pitchFamily="34" charset="-122"/>
              </a:rPr>
              <a:t> </a:t>
            </a:r>
            <a:r>
              <a:rPr lang="en-US" sz="700" dirty="0" err="1">
                <a:solidFill>
                  <a:srgbClr val="C9D1D9"/>
                </a:solidFill>
                <a:latin typeface="Georgia" panose="02040502050405020303" pitchFamily="18" charset="0"/>
                <a:ea typeface="Inter" pitchFamily="34" charset="-122"/>
              </a:rPr>
              <a:t>тега</a:t>
            </a:r>
            <a:r>
              <a:rPr lang="en-US" sz="700" dirty="0">
                <a:solidFill>
                  <a:srgbClr val="C9D1D9"/>
                </a:solidFill>
                <a:latin typeface="Georgia" panose="02040502050405020303" pitchFamily="18" charset="0"/>
                <a:ea typeface="Inter" pitchFamily="34" charset="-122"/>
              </a:rPr>
              <a:t>).</a:t>
            </a:r>
          </a:p>
        </p:txBody>
      </p:sp>
      <p:sp>
        <p:nvSpPr>
          <p:cNvPr id="37" name="Text 33"/>
          <p:cNvSpPr/>
          <p:nvPr/>
        </p:nvSpPr>
        <p:spPr>
          <a:xfrm>
            <a:off x="7196603" y="4364134"/>
            <a:ext cx="1597354" cy="225028"/>
          </a:xfrm>
          <a:prstGeom prst="rect">
            <a:avLst/>
          </a:prstGeom>
          <a:noFill/>
          <a:ln/>
        </p:spPr>
        <p:txBody>
          <a:bodyPr wrap="square" lIns="0" tIns="0" rIns="0" bIns="0" rtlCol="0" anchor="t">
            <a:spAutoFit/>
          </a:bodyPr>
          <a:lstStyle/>
          <a:p>
            <a:pPr marL="0" indent="0" algn="l">
              <a:buNone/>
            </a:pPr>
            <a:r>
              <a:rPr lang="en-US" sz="1200" b="1" dirty="0">
                <a:solidFill>
                  <a:srgbClr val="0969DA"/>
                </a:solidFill>
                <a:latin typeface="Fira Code Bold" pitchFamily="34" charset="0"/>
                <a:ea typeface="Fira Code Bold" pitchFamily="34" charset="-122"/>
                <a:cs typeface="Fira Code Bold" pitchFamily="34" charset="-120"/>
              </a:rPr>
              <a:t>05</a:t>
            </a:r>
            <a:endParaRPr lang="en-US" sz="1200" dirty="0"/>
          </a:p>
        </p:txBody>
      </p:sp>
      <p:sp>
        <p:nvSpPr>
          <p:cNvPr id="38" name="Text 34"/>
          <p:cNvSpPr/>
          <p:nvPr/>
        </p:nvSpPr>
        <p:spPr>
          <a:xfrm>
            <a:off x="7196603" y="4632024"/>
            <a:ext cx="1597354" cy="352661"/>
          </a:xfrm>
          <a:prstGeom prst="rect">
            <a:avLst/>
          </a:prstGeom>
          <a:noFill/>
          <a:ln/>
        </p:spPr>
        <p:txBody>
          <a:bodyPr wrap="square" lIns="0" tIns="0" rIns="0" bIns="0" rtlCol="0" anchor="t">
            <a:spAutoFit/>
          </a:bodyPr>
          <a:lstStyle/>
          <a:p>
            <a:pPr indent="0">
              <a:lnSpc>
                <a:spcPct val="112000"/>
              </a:lnSpc>
              <a:buNone/>
            </a:pPr>
            <a:r>
              <a:rPr lang="en-US" sz="700" dirty="0" err="1">
                <a:solidFill>
                  <a:srgbClr val="F6F8FA"/>
                </a:solidFill>
                <a:latin typeface="Georgia" panose="02040502050405020303" pitchFamily="18" charset="0"/>
                <a:ea typeface="Inter SemiBold" pitchFamily="34" charset="-122"/>
              </a:rPr>
              <a:t>Внедрение</a:t>
            </a:r>
            <a:r>
              <a:rPr lang="en-US" sz="700" dirty="0">
                <a:solidFill>
                  <a:srgbClr val="F6F8FA"/>
                </a:solidFill>
                <a:latin typeface="Georgia" panose="02040502050405020303" pitchFamily="18" charset="0"/>
                <a:ea typeface="Inter SemiBold" pitchFamily="34" charset="-122"/>
              </a:rPr>
              <a:t>: </a:t>
            </a:r>
            <a:r>
              <a:rPr lang="en-US" sz="700" dirty="0">
                <a:solidFill>
                  <a:srgbClr val="C9D1D9"/>
                </a:solidFill>
                <a:latin typeface="Georgia" panose="02040502050405020303" pitchFamily="18" charset="0"/>
                <a:ea typeface="Inter" pitchFamily="34" charset="-122"/>
              </a:rPr>
              <a:t>Pixel 8/9, AmpereOne, Apple A19 — MTE </a:t>
            </a:r>
            <a:r>
              <a:rPr lang="en-US" sz="700" dirty="0" err="1">
                <a:solidFill>
                  <a:srgbClr val="C9D1D9"/>
                </a:solidFill>
                <a:latin typeface="Georgia" panose="02040502050405020303" pitchFamily="18" charset="0"/>
                <a:ea typeface="Inter" pitchFamily="34" charset="-122"/>
              </a:rPr>
              <a:t>вышел</a:t>
            </a:r>
            <a:r>
              <a:rPr lang="en-US" sz="700" dirty="0">
                <a:solidFill>
                  <a:srgbClr val="C9D1D9"/>
                </a:solidFill>
                <a:latin typeface="Georgia" panose="02040502050405020303" pitchFamily="18" charset="0"/>
                <a:ea typeface="Inter" pitchFamily="34" charset="-122"/>
              </a:rPr>
              <a:t> в production silicon.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4" name="Text 0"/>
          <p:cNvSpPr/>
          <p:nvPr/>
        </p:nvSpPr>
        <p:spPr>
          <a:xfrm>
            <a:off x="1659136" y="2222599"/>
            <a:ext cx="5825728" cy="621506"/>
          </a:xfrm>
          <a:prstGeom prst="rect">
            <a:avLst/>
          </a:prstGeom>
          <a:noFill/>
          <a:ln/>
        </p:spPr>
        <p:txBody>
          <a:bodyPr wrap="square" lIns="0" tIns="0" rIns="0" bIns="0" rtlCol="0" anchor="t">
            <a:spAutoFit/>
          </a:bodyPr>
          <a:lstStyle/>
          <a:p>
            <a:pPr marL="0" indent="0" algn="ctr">
              <a:buNone/>
            </a:pPr>
            <a:r>
              <a:rPr lang="en-US" sz="3750" b="1" dirty="0">
                <a:solidFill>
                  <a:srgbClr val="0969DA"/>
                </a:solidFill>
                <a:latin typeface="Inter Bold" pitchFamily="34" charset="0"/>
                <a:ea typeface="Inter Bold" pitchFamily="34" charset="-122"/>
                <a:cs typeface="Inter Bold" pitchFamily="34" charset="-120"/>
              </a:rPr>
              <a:t>Спасибо за внимание!</a:t>
            </a:r>
            <a:endParaRPr lang="en-US" sz="3750" dirty="0"/>
          </a:p>
        </p:txBody>
      </p:sp>
      <p:sp>
        <p:nvSpPr>
          <p:cNvPr id="5" name="Text 1"/>
          <p:cNvSpPr/>
          <p:nvPr/>
        </p:nvSpPr>
        <p:spPr>
          <a:xfrm>
            <a:off x="1659136" y="2986980"/>
            <a:ext cx="5825728" cy="261610"/>
          </a:xfrm>
          <a:prstGeom prst="rect">
            <a:avLst/>
          </a:prstGeom>
          <a:noFill/>
          <a:ln/>
        </p:spPr>
        <p:txBody>
          <a:bodyPr wrap="square" lIns="0" tIns="0" rIns="0" bIns="0" rtlCol="0" anchor="t">
            <a:spAutoFit/>
          </a:bodyPr>
          <a:lstStyle/>
          <a:p>
            <a:pPr marL="0" indent="0" algn="ctr">
              <a:buNone/>
            </a:pPr>
            <a:r>
              <a:rPr lang="en-US" sz="1700" b="1" i="1" dirty="0">
                <a:solidFill>
                  <a:srgbClr val="57606A"/>
                </a:solidFill>
                <a:latin typeface="Georgia" panose="02040502050405020303" pitchFamily="18" charset="0"/>
                <a:ea typeface="Inter" pitchFamily="34" charset="-122"/>
                <a:cs typeface="Inter" pitchFamily="34" charset="-120"/>
              </a:rPr>
              <a:t>Вопросы?</a:t>
            </a:r>
            <a:endParaRPr lang="en-US" sz="1700" b="1" i="1" dirty="0">
              <a:latin typeface="Georgia" panose="02040502050405020303" pitchFamily="18" charset="0"/>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OPCH-DA87399514F6569B2F67895171ADF7E817440AF0D666E3F26E930AF8E78DC0E8" val="[{&quot;GradientColorId&quot;:&quot;&quot;,&quot;IsFree&quot;:true,&quot;IsGradient&quot;:false,&quot;ImagePath&quot;:&quot;&quot;,&quot;GradientColor&quot;:null,&quot;SimpleColor&quot;:&quot;#4472C4&quot;}]"/>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3109</Words>
  <Application>Microsoft Office PowerPoint</Application>
  <PresentationFormat>全屏显示(16:9)</PresentationFormat>
  <Paragraphs>293</Paragraphs>
  <Slides>11</Slides>
  <Notes>11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11</vt:i4>
      </vt:variant>
    </vt:vector>
  </HeadingPairs>
  <TitlesOfParts>
    <vt:vector size="23" baseType="lpstr">
      <vt:lpstr>Inter</vt:lpstr>
      <vt:lpstr>Inter Bold</vt:lpstr>
      <vt:lpstr>Inter SemiBold</vt:lpstr>
      <vt:lpstr>Arial</vt:lpstr>
      <vt:lpstr>Cascadia Code</vt:lpstr>
      <vt:lpstr>Fira Code</vt:lpstr>
      <vt:lpstr>Fira Code Bold</vt:lpstr>
      <vt:lpstr>Georgia</vt:lpstr>
      <vt:lpstr>Gill Sans MT</vt:lpstr>
      <vt:lpstr>Informal Roman</vt:lpstr>
      <vt:lpstr>Times New Roman</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stylish ivan</cp:lastModifiedBy>
  <cp:revision>2</cp:revision>
  <dcterms:created xsi:type="dcterms:W3CDTF">2026-04-20T19:56:46Z</dcterms:created>
  <dcterms:modified xsi:type="dcterms:W3CDTF">2026-04-20T20:32:31Z</dcterms:modified>
</cp:coreProperties>
</file>