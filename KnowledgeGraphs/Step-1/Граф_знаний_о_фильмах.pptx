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832352eab423d" /><Relationship Type="http://schemas.openxmlformats.org/officeDocument/2006/relationships/extended-properties" Target="/docProps/app.xml" Id="R6efbd86dd68a4242" /><Relationship Type="http://schemas.openxmlformats.org/officeDocument/2006/relationships/officeDocument" Target="/ppt/presentation.xml" Id="R126041bad2ec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04d8379c8433f"/>
  </p:sldMasterIdLst>
  <p:notesMasterIdLst>
    <p:notesMasterId xmlns:r="http://schemas.openxmlformats.org/officeDocument/2006/relationships" r:id="Rdf1458a495d74b69"/>
  </p:notesMasterIdLst>
  <p:sldIdLst>
    <p:sldId xmlns:r="http://schemas.openxmlformats.org/officeDocument/2006/relationships" id="256" r:id="R37cf880d647e4a1b"/>
    <p:sldId xmlns:r="http://schemas.openxmlformats.org/officeDocument/2006/relationships" id="257" r:id="R6a80d46f008d499e"/>
    <p:sldId xmlns:r="http://schemas.openxmlformats.org/officeDocument/2006/relationships" id="258" r:id="Ref307a2954d84235"/>
    <p:sldId xmlns:r="http://schemas.openxmlformats.org/officeDocument/2006/relationships" id="259" r:id="R9c3b5363530a498b"/>
    <p:sldId xmlns:r="http://schemas.openxmlformats.org/officeDocument/2006/relationships" id="260" r:id="Rd849a64d018d4ab0"/>
    <p:sldId xmlns:r="http://schemas.openxmlformats.org/officeDocument/2006/relationships" id="261" r:id="Rf54f6a9b199248f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55e95ab95468f" /><Relationship Type="http://schemas.openxmlformats.org/officeDocument/2006/relationships/slideMaster" Target="/ppt/slideMasters/slideMaster1.xml" Id="Rfe904d8379c8433f" /><Relationship Type="http://schemas.openxmlformats.org/officeDocument/2006/relationships/notesMaster" Target="/ppt/notesMasters/notesMaster1.xml" Id="Rdf1458a495d74b69" /><Relationship Type="http://schemas.openxmlformats.org/officeDocument/2006/relationships/presProps" Target="/ppt/presProps.xml" Id="R6dea5df56d164319" /><Relationship Type="http://schemas.openxmlformats.org/officeDocument/2006/relationships/viewProps" Target="/ppt/viewProps.xml" Id="R82cc4710192443df" /><Relationship Type="http://schemas.openxmlformats.org/officeDocument/2006/relationships/tableStyles" Target="/ppt/tableStyles.xml" Id="Reb1673a06f4545f8" /><Relationship Type="http://schemas.openxmlformats.org/officeDocument/2006/relationships/slide" Target="/ppt/slides/slide1.xml" Id="R37cf880d647e4a1b" /><Relationship Type="http://schemas.openxmlformats.org/officeDocument/2006/relationships/slide" Target="/ppt/slides/slide2.xml" Id="R6a80d46f008d499e" /><Relationship Type="http://schemas.openxmlformats.org/officeDocument/2006/relationships/slide" Target="/ppt/slides/slide3.xml" Id="Ref307a2954d84235" /><Relationship Type="http://schemas.openxmlformats.org/officeDocument/2006/relationships/slide" Target="/ppt/slides/slide4.xml" Id="R9c3b5363530a498b" /><Relationship Type="http://schemas.openxmlformats.org/officeDocument/2006/relationships/slide" Target="/ppt/slides/slide5.xml" Id="Rd849a64d018d4ab0" /><Relationship Type="http://schemas.openxmlformats.org/officeDocument/2006/relationships/slide" Target="/ppt/slides/slide6.xml" Id="Rf54f6a9b1992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165af761d43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240e9692104cdf" /><Relationship Type="http://schemas.openxmlformats.org/officeDocument/2006/relationships/notesMaster" Target="/ppt/notesMasters/notesMaster1.xml" Id="R5aa32448fe11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fb558641d44cc" /><Relationship Type="http://schemas.openxmlformats.org/officeDocument/2006/relationships/notesMaster" Target="/ppt/notesMasters/notesMaster1.xml" Id="Rd755ec77594c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48245c2bcb4a95" /><Relationship Type="http://schemas.openxmlformats.org/officeDocument/2006/relationships/notesMaster" Target="/ppt/notesMasters/notesMaster1.xml" Id="R20b09346384a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7ac7f6d4894927" /><Relationship Type="http://schemas.openxmlformats.org/officeDocument/2006/relationships/notesMaster" Target="/ppt/notesMasters/notesMaster1.xml" Id="R51d36a3544c14a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723f6b9c3443c3" /><Relationship Type="http://schemas.openxmlformats.org/officeDocument/2006/relationships/notesMaster" Target="/ppt/notesMasters/notesMaster1.xml" Id="R4f5936a973724f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836dee10e6462b" /><Relationship Type="http://schemas.openxmlformats.org/officeDocument/2006/relationships/notesMaster" Target="/ppt/notesMasters/notesMaster1.xml" Id="R82828678a236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Планируемый пример поиска; средний балл и число оценок будут рассчитаны из MovieLens после сопоставления записей.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Wikidata movie properties: https://www.wikidata.org/wiki/Wikidata:WikiProject_Movies/Properties . MovieLens README: https://files.grouplens.org/datasets/movielens/ml-latest-small-README.html . Указанные поля Wikidata проверим на полноту для выбранных фильмов.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fe901a39842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d3ef9ff8e44a74" /><Relationship Type="http://schemas.openxmlformats.org/officeDocument/2006/relationships/slideLayout" Target="/ppt/slideLayouts/slideLayout1.xml" Id="Rbb6406c3676e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6406c3676e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2b5c9c504eb3" /><Relationship Type="http://schemas.openxmlformats.org/officeDocument/2006/relationships/image" Target="/ppt/media/image.png" Id="Rf7aaef5311544735" /><Relationship Type="http://schemas.openxmlformats.org/officeDocument/2006/relationships/notesSlide" Target="/ppt/notesSlides/notesSlide1.xml" Id="R121093efb6b8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b90ac66734147" /><Relationship Type="http://schemas.openxmlformats.org/officeDocument/2006/relationships/notesSlide" Target="/ppt/notesSlides/notesSlide2.xml" Id="R65b45fc50df2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b97221a3a41fe" /><Relationship Type="http://schemas.openxmlformats.org/officeDocument/2006/relationships/notesSlide" Target="/ppt/notesSlides/notesSlide3.xml" Id="R33fbdeac04524f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9509ad9c241a6" /><Relationship Type="http://schemas.openxmlformats.org/officeDocument/2006/relationships/notesSlide" Target="/ppt/notesSlides/notesSlide4.xml" Id="R2dc9dbf9820949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55a36bd24403" /><Relationship Type="http://schemas.openxmlformats.org/officeDocument/2006/relationships/notesSlide" Target="/ppt/notesSlides/notesSlide5.xml" Id="Rcc372219e016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9fd8155034d07" /><Relationship Type="http://schemas.openxmlformats.org/officeDocument/2006/relationships/notesSlide" Target="/ppt/notesSlides/notesSlide6.xml" Id="R8f557be5863c4b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aef53115447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F036E9-813A-4048-8F84-4F9ADF06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ГРАФ ЗНАНИЙ</a:t>
            </a:r>
          </a:p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 ФИЛЬМАХ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AF0614B-1609-4150-AD97-1F82EEB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3D2A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3D2A4"/>
                </a:solidFill>
                <a:latin typeface="DejaVu Sans"/>
                <a:ea typeface="DejaVu Sans"/>
                <a:cs typeface="DejaVu Sans"/>
              </a:rPr>
              <a:t>Поиск по связям и зрительским оценкам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4AB0786-833D-4D3D-B60C-0F1A42CE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771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Команда: Чэнь Хаолинь · Чжун Цзяцзюнь</a:t>
            </a:r>
          </a:p>
        </p:txBody>
      </p:sp>
    </p:spTree>
    <p:extLst>
      <p:ext uri="{BB962C8B-B14F-4D97-AF65-F5344CB8AC3E}">
        <p14:creationId xmlns:p14="http://schemas.microsoft.com/office/powerpoint/2010/main" val="1031912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374DB9C-6E92-4534-A6F4-6C2ABE75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Проблема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5EFB1A9-109B-4783-9B7F-78EF8FCC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Сведения об одном фильме</a:t>
            </a:r>
          </a:p>
          <a:p xmlns:a="http://schemas.openxmlformats.org/drawingml/2006/main">
            <a:pPr>
              <a:buNone/>
              <a:defRPr sz="255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разделены между разными источниками.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2CC21A-FFB9-43CC-8A74-ECEF9F4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18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0718A"/>
                </a:solidFill>
                <a:latin typeface="DejaVu Sans"/>
                <a:ea typeface="DejaVu Sans"/>
                <a:cs typeface="DejaVu Sans"/>
              </a:rPr>
              <a:t>Для достоверного поиска нужно: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9DC7065-8926-4A2D-9ACE-CCAB60D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Сопоставить записи Wikidata и MovieLens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04613F8-B49F-4B7E-B484-F0A8E1E6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Проверить полноту сведений о фильмах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F814D8F-0CD9-43E1-8391-FD584B8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Показать, на каких данных основан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152853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A2393F-96A6-4D82-909B-D26BB7B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Поиск по связям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768F48-45E9-4351-BCD2-0A12800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668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rPr>
              <a:t>«Какие высоко оценённые фильмы</a:t>
            </a:r>
          </a:p>
          <a:p xmlns:a="http://schemas.openxmlformats.org/drawingml/2006/main">
            <a:pPr>
              <a:buNone/>
              <a:def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rPr>
              <a:t>сняли режиссёры, работавшие</a:t>
            </a:r>
          </a:p>
          <a:p xmlns:a="http://schemas.openxmlformats.org/drawingml/2006/main">
            <a:pPr>
              <a:buNone/>
              <a:def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3D2A4"/>
                </a:solidFill>
                <a:latin typeface="DejaVu Sans"/>
                <a:ea typeface="DejaVu Sans"/>
                <a:cs typeface="DejaVu Sans"/>
              </a:rPr>
              <a:t>с выбранным актёром?»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53D3F51-5E2C-4DB2-9253-2AD2B07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Учитываем совместные фильмы актёра и режиссёра.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8488E85-B055-42F1-A173-347A8F0B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FD8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FD8E5"/>
                </a:solidFill>
                <a:latin typeface="DejaVu Sans"/>
                <a:ea typeface="DejaVu Sans"/>
                <a:cs typeface="DejaVu Sans"/>
              </a:rPr>
              <a:t>Результат: фильм, общая работа, средний балл и число оценок.</a:t>
            </a:r>
          </a:p>
        </p:txBody>
      </p:sp>
    </p:spTree>
    <p:extLst>
      <p:ext uri="{BB962C8B-B14F-4D97-AF65-F5344CB8AC3E}">
        <p14:creationId xmlns:p14="http://schemas.microsoft.com/office/powerpoint/2010/main" val="58515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4839E77-35CE-4005-995D-5D35F6C8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Источники данных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61022A0-8C06-4A3B-AAD1-BA1718EA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Wikidata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D47C578-8CB9-4D77-8F8A-C6C91EE8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Названия, жанры, годы выхода, страны,</a:t>
            </a:r>
          </a:p>
          <a:p xmlns:a="http://schemas.openxmlformats.org/drawingml/2006/main">
            <a:pPr>
              <a:buNone/>
              <a:def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режиссёры, актёры и кинокомпании.</a:t>
            </a:r>
          </a:p>
          <a:p xmlns:a="http://schemas.openxmlformats.org/drawingml/2006/main">
            <a:pPr>
              <a:buNone/>
              <a:def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Получим данные через SPARQL и проверим</a:t>
            </a:r>
          </a:p>
          <a:p xmlns:a="http://schemas.openxmlformats.org/drawingml/2006/main">
            <a:pPr>
              <a:buNone/>
              <a:def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полноту полей на выборке.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26B4E87-9D10-48FF-B753-1496C2F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1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18A"/>
                </a:solidFill>
                <a:latin typeface="DejaVu Sans"/>
                <a:ea typeface="DejaVu Sans"/>
                <a:cs typeface="DejaVu Sans"/>
              </a:rPr>
              <a:t>wikidata.org · query.wikidata.org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A0AB61-6273-46FF-A520-7F0AACF4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MovieLens (ml-latest-small)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958A19-0DC5-449E-8605-6AE51CD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14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Набор GroupLens: 9 742 фильма и</a:t>
            </a:r>
          </a:p>
          <a:p xmlns:a="http://schemas.openxmlformats.org/drawingml/2006/main">
            <a:pPr>
              <a:buNone/>
              <a:def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100 836 оценок. movies.csv — названия</a:t>
            </a:r>
          </a:p>
          <a:p xmlns:a="http://schemas.openxmlformats.org/drawingml/2006/main">
            <a:pPr>
              <a:buNone/>
              <a:def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и жанры; ratings.csv — оценки;</a:t>
            </a:r>
          </a:p>
          <a:p xmlns:a="http://schemas.openxmlformats.org/drawingml/2006/main">
            <a:pPr>
              <a:buNone/>
              <a:def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links.csv — идентификаторы IMDb.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59C65C-1AB2-4957-805A-556E5903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18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18A"/>
                </a:solidFill>
                <a:latin typeface="DejaVu Sans"/>
                <a:ea typeface="DejaVu Sans"/>
                <a:cs typeface="DejaVu Sans"/>
              </a:rPr>
              <a:t>grouplens.org/datasets/movielens/latest/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6E5823D-3D02-45B1-BA57-CCE21FE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Общий идентификатор IMDb позволяет сопоставить записи двух источников.</a:t>
            </a:r>
          </a:p>
        </p:txBody>
      </p:sp>
    </p:spTree>
    <p:extLst>
      <p:ext uri="{BB962C8B-B14F-4D97-AF65-F5344CB8AC3E}">
        <p14:creationId xmlns:p14="http://schemas.microsoft.com/office/powerpoint/2010/main" val="1185283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AFF9149-0DB3-48B5-AC0C-1C67FEE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Пилотная версия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4BA7494-DBC2-4DD2-8164-E14A757B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Объём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95777DF-0D60-4EE7-9BDA-7721C5F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53352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Планируем отобрать около 100 фильмов с совпадающими идентификаторами.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4D7FC3D-D879-4B30-8A55-5C87048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957206-4335-4CC1-9457-B711221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Проверим наличие сведений о людях, стране, компании и оценках.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228F51-F50F-426C-B954-44C258AC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Примеры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D8677D7-1600-444B-BB53-AE86212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00475"/>
            <a:ext cx="819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Подготовим три запроса по связям и характеристикам фильмов.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32A2F5-CC51-4467-81FD-4092A3C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6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63B"/>
                </a:solidFill>
                <a:latin typeface="DejaVu Sans"/>
                <a:ea typeface="DejaVu Sans"/>
                <a:cs typeface="DejaVu Sans"/>
              </a:rPr>
              <a:t>Высокий средний балл будем учитывать вместе с числом оценок.</a:t>
            </a:r>
          </a:p>
        </p:txBody>
      </p:sp>
    </p:spTree>
    <p:extLst>
      <p:ext uri="{BB962C8B-B14F-4D97-AF65-F5344CB8AC3E}">
        <p14:creationId xmlns:p14="http://schemas.microsoft.com/office/powerpoint/2010/main" val="856284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829D04-CBC6-4E49-8B00-203A116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Предлагаемое решение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E2A474F-7EEF-46C9-8CC2-1D43F08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3D2A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3D2A4"/>
                </a:solidFill>
                <a:latin typeface="DejaVu Sans"/>
                <a:ea typeface="DejaVu Sans"/>
                <a:cs typeface="DejaVu Sans"/>
              </a:rPr>
              <a:t>Поиск фильмов с объяснением связей и зрительских оценок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46FB9-9C27-436D-AA82-B2E7061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ABD4D9C-BBE5-4135-955F-BBAAA30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71775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Сопоставить фильмы по IMDb ID и проверить полноту данных.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D04BA4E-F464-4381-860D-AC020EB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4A64D13-CFFC-4411-BBC8-26DA264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48075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Связать фильмы, участников, кинокомпании и оценки.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D4942D-6DDB-4550-971D-129990F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DA6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DBFA942-FD96-45B3-B704-339B7C1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24375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Искать через несколько связей и объяснять результат.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A839964-81CB-41DE-97C0-2A9A691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FD8E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CFD8E5"/>
                </a:solidFill>
                <a:latin typeface="DejaVu Sans"/>
                <a:ea typeface="DejaVu Sans"/>
                <a:cs typeface="DejaVu Sans"/>
              </a:rPr>
              <a:t>Пилот: около 100 фильмов; расширим выборку после проверки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37609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2026-10-01T16:29:27.0610000Z</dcterms:created>
  <dcterms:modified xsi:type="dcterms:W3CDTF">2026-10-01T16:29:27.0610000Z</dcterms:modified>
</coreProperties>
</file>