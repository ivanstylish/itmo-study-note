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f4a3b63664aca" /><Relationship Type="http://schemas.openxmlformats.org/officeDocument/2006/relationships/extended-properties" Target="/docProps/app.xml" Id="R462e2a67df9049cc" /><Relationship Type="http://schemas.openxmlformats.org/officeDocument/2006/relationships/officeDocument" Target="/ppt/presentation.xml" Id="Rf7d70678d77d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d8eca9416d4726"/>
  </p:sldMasterIdLst>
  <p:notesMasterIdLst>
    <p:notesMasterId xmlns:r="http://schemas.openxmlformats.org/officeDocument/2006/relationships" r:id="R7536e1b98ebe4721"/>
  </p:notesMasterIdLst>
  <p:sldIdLst>
    <p:sldId xmlns:r="http://schemas.openxmlformats.org/officeDocument/2006/relationships" id="256" r:id="Rfe41265193974582"/>
    <p:sldId xmlns:r="http://schemas.openxmlformats.org/officeDocument/2006/relationships" id="257" r:id="R3dda6fd4f6be472f"/>
    <p:sldId xmlns:r="http://schemas.openxmlformats.org/officeDocument/2006/relationships" id="258" r:id="R053d8fbc36474471"/>
    <p:sldId xmlns:r="http://schemas.openxmlformats.org/officeDocument/2006/relationships" id="259" r:id="Rc485ecfd921543e7"/>
    <p:sldId xmlns:r="http://schemas.openxmlformats.org/officeDocument/2006/relationships" id="260" r:id="R19e83de616ac4a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3e5058024b4962" /><Relationship Type="http://schemas.openxmlformats.org/officeDocument/2006/relationships/slideMaster" Target="/ppt/slideMasters/slideMaster1.xml" Id="R64d8eca9416d4726" /><Relationship Type="http://schemas.openxmlformats.org/officeDocument/2006/relationships/notesMaster" Target="/ppt/notesMasters/notesMaster1.xml" Id="R7536e1b98ebe4721" /><Relationship Type="http://schemas.openxmlformats.org/officeDocument/2006/relationships/presProps" Target="/ppt/presProps.xml" Id="R5b87d25c1da94a6b" /><Relationship Type="http://schemas.openxmlformats.org/officeDocument/2006/relationships/tableStyles" Target="/ppt/tableStyles.xml" Id="Rdb474a599a224fdd" /><Relationship Type="http://schemas.openxmlformats.org/officeDocument/2006/relationships/slide" Target="/ppt/slides/slide1.xml" Id="Rfe41265193974582" /><Relationship Type="http://schemas.openxmlformats.org/officeDocument/2006/relationships/slide" Target="/ppt/slides/slide2.xml" Id="R3dda6fd4f6be472f" /><Relationship Type="http://schemas.openxmlformats.org/officeDocument/2006/relationships/slide" Target="/ppt/slides/slide3.xml" Id="R053d8fbc36474471" /><Relationship Type="http://schemas.openxmlformats.org/officeDocument/2006/relationships/slide" Target="/ppt/slides/slide4.xml" Id="Rc485ecfd921543e7" /><Relationship Type="http://schemas.openxmlformats.org/officeDocument/2006/relationships/slide" Target="/ppt/slides/slide5.xml" Id="R19e83de616ac4a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7bb479d1fe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484c1c29a74aa4" /><Relationship Type="http://schemas.openxmlformats.org/officeDocument/2006/relationships/notesMaster" Target="/ppt/notesMasters/notesMaster1.xml" Id="Rb745d6e96e5348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40799908664e44" /><Relationship Type="http://schemas.openxmlformats.org/officeDocument/2006/relationships/notesMaster" Target="/ppt/notesMasters/notesMaster1.xml" Id="Rd18f229832a54f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c39321dc734618" /><Relationship Type="http://schemas.openxmlformats.org/officeDocument/2006/relationships/notesMaster" Target="/ppt/notesMasters/notesMaster1.xml" Id="R962abf93e11044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1070c1630c4dac" /><Relationship Type="http://schemas.openxmlformats.org/officeDocument/2006/relationships/notesMaster" Target="/ppt/notesMasters/notesMaster1.xml" Id="R5d9de246ea824e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4addee29c04ed0" /><Relationship Type="http://schemas.openxmlformats.org/officeDocument/2006/relationships/notesMaster" Target="/ppt/notesMasters/notesMaster1.xml" Id="R0221690d3b14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2da1f0b8e46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aacdda0a604150" /><Relationship Type="http://schemas.openxmlformats.org/officeDocument/2006/relationships/slideLayout" Target="/ppt/slideLayouts/slideLayout1.xml" Id="R6d439998994742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39998994742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cf93be25f4c2f" /><Relationship Type="http://schemas.openxmlformats.org/officeDocument/2006/relationships/image" Target="/ppt/media/image.jpeg" Id="R21e8da203e0d4ace" /><Relationship Type="http://schemas.openxmlformats.org/officeDocument/2006/relationships/notesSlide" Target="/ppt/notesSlides/notesSlide1.xml" Id="R0977f4353c3341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f30bad54d403d" /><Relationship Type="http://schemas.openxmlformats.org/officeDocument/2006/relationships/image" Target="/ppt/media/image2.jpeg" Id="Rb6f6250c01de4a91" /><Relationship Type="http://schemas.openxmlformats.org/officeDocument/2006/relationships/notesSlide" Target="/ppt/notesSlides/notesSlide2.xml" Id="R98a0baa5fc4741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df1134b4c45fa" /><Relationship Type="http://schemas.openxmlformats.org/officeDocument/2006/relationships/hyperlink" Target="https://developer.riotgames.com/docs/lol#data-dragon" TargetMode="External" Id="R8d52b38b90a2472b" /><Relationship Type="http://schemas.openxmlformats.org/officeDocument/2006/relationships/notesSlide" Target="/ppt/notesSlides/notesSlide3.xml" Id="R69eb2450393b42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7bff58f53406f" /><Relationship Type="http://schemas.openxmlformats.org/officeDocument/2006/relationships/hyperlink" Target="https://www.leagueoflegends.com/ru-ru/champions/" TargetMode="External" Id="Rdf092ef08d3b4096" /><Relationship Type="http://schemas.openxmlformats.org/officeDocument/2006/relationships/hyperlink" Target="https://github.com/CommunityDragon/Docs/blob/master/assets.md" TargetMode="External" Id="R41d0a9cd4312454f" /><Relationship Type="http://schemas.openxmlformats.org/officeDocument/2006/relationships/notesSlide" Target="/ppt/notesSlides/notesSlide4.xml" Id="Rda6d051f670c42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d2f4834d04e3f" /><Relationship Type="http://schemas.openxmlformats.org/officeDocument/2006/relationships/notesSlide" Target="/ppt/notesSlides/notesSlide5.xml" Id="Re5bec0c9b7d141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8da203e0d4ace"/>
          <a:srcRect xmlns:a="http://schemas.openxmlformats.org/drawingml/2006/main" l="27379" t="0" r="273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0"/>
            <a:ext cx="5257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EDC4537-D257-41F5-B539-BD035717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6048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Граф знаний</a:t>
            </a:r>
          </a:p>
          <a:p xmlns:a="http://schemas.openxmlformats.org/drawingml/2006/main">
            <a:pPr>
              <a:defRPr sz="45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чемпионов</a:t>
            </a:r>
          </a:p>
          <a:p xmlns:a="http://schemas.openxmlformats.org/drawingml/2006/main">
            <a:pPr>
              <a:defRPr sz="45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League of Legends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026FD1C-B399-4B55-B56D-42773167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81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7B879"/>
                </a:solidFill>
                <a:latin typeface="Arial"/>
                <a:ea typeface="Arial"/>
                <a:cs typeface="Arial"/>
              </a:rPr>
              <a:t>Роли и механики способностей</a:t>
            </a:r>
          </a:p>
        </p:txBody>
      </p:sp>
      <p:sp>
        <p:nvSpPr>
          <p:cNvPr id="4" name="team-names">
            <a:extLst xmlns:a="http://schemas.openxmlformats.org/drawingml/2006/main">
              <a:ext uri="{FF2B5EF4-FFF2-40B4-BE49-F238E27FC236}">
                <a16:creationId xmlns:a16="http://schemas.microsoft.com/office/drawing/2014/main" id="{719C9410-888D-480C-996D-4710DCE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5715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Чэнь Хаолинь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Чжун Цзяцзюнь</a:t>
            </a:r>
          </a:p>
        </p:txBody>
      </p:sp>
    </p:spTree>
    <p:extLst>
      <p:ext uri="{BB962C8B-B14F-4D97-AF65-F5344CB8AC3E}">
        <p14:creationId xmlns:p14="http://schemas.microsoft.com/office/powerpoint/2010/main" val="279543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CBE22F-BB3F-46E4-B14F-61B23537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Проблема поиска и сравнения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6250c01de4a91"/>
          <a:srcRect xmlns:a="http://schemas.openxmlformats.org/drawingml/2006/main" l="0" t="8393" r="0" b="83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724025"/>
            <a:ext cx="2933700" cy="4438650"/>
          </a:xfrm>
          <a:prstGeom xmlns:a="http://schemas.openxmlformats.org/drawingml/2006/main" prst="rect">
            <a:avLst/>
          </a:prstGeom>
        </p:spPr>
      </p:pic>
      <p:sp>
        <p:nvSpPr>
          <p:cNvPr id="3" name="problem-specialization">
            <a:extLst xmlns:a="http://schemas.openxmlformats.org/drawingml/2006/main">
              <a:ext uri="{FF2B5EF4-FFF2-40B4-BE49-F238E27FC236}">
                <a16:creationId xmlns:a16="http://schemas.microsoft.com/office/drawing/2014/main" id="{83CF7043-A260-41DE-A313-4ADB3CFE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7246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1E8"/>
                </a:solidFill>
                <a:latin typeface="Arial"/>
                <a:ea typeface="Arial"/>
                <a:cs typeface="Arial"/>
              </a:rPr>
              <a:t>Классы чемпионов показывают</a:t>
            </a:r>
          </a:p>
          <a:p xmlns:a="http://schemas.openxmlformats.org/drawingml/2006/main">
            <a:pPr>
              <a:defRPr sz="2400" b="0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1E8"/>
                </a:solidFill>
                <a:latin typeface="Arial"/>
                <a:ea typeface="Arial"/>
                <a:cs typeface="Arial"/>
              </a:rPr>
              <a:t>лишь общую специализацию.</a:t>
            </a:r>
          </a:p>
        </p:txBody>
      </p:sp>
      <p:sp>
        <p:nvSpPr>
          <p:cNvPr id="4" name="problem-description">
            <a:extLst xmlns:a="http://schemas.openxmlformats.org/drawingml/2006/main">
              <a:ext uri="{FF2B5EF4-FFF2-40B4-BE49-F238E27FC236}">
                <a16:creationId xmlns:a16="http://schemas.microsoft.com/office/drawing/2014/main" id="{F17A93F8-9E44-46A6-9B40-8BBD3D0D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Механики способностей описаны текстом.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Чтобы найти нужное сочетание эффектов,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игроку приходится сопоставлять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отдельные описания.</a:t>
            </a:r>
          </a:p>
        </p:txBody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B0319678-4443-4EF5-A625-F244F321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CB0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CB0BD"/>
                </a:solidFill>
                <a:latin typeface="Arial"/>
                <a:ea typeface="Arial"/>
                <a:cs typeface="Arial"/>
              </a:rPr>
              <a:t>Пример запроса</a:t>
            </a:r>
          </a:p>
        </p:txBody>
      </p:sp>
      <p:sp>
        <p:nvSpPr>
          <p:cNvPr id="6" name="example-question">
            <a:extLst xmlns:a="http://schemas.openxmlformats.org/drawingml/2006/main">
              <a:ext uri="{FF2B5EF4-FFF2-40B4-BE49-F238E27FC236}">
                <a16:creationId xmlns:a16="http://schemas.microsoft.com/office/drawing/2014/main" id="{8299220F-060D-4768-8AFE-1DC8397E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6743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7B879"/>
                </a:solidFill>
                <a:latin typeface="Arial"/>
                <a:ea typeface="Arial"/>
                <a:cs typeface="Arial"/>
              </a:rPr>
              <a:t>Какие маги могут защищать союзников</a:t>
            </a:r>
          </a:p>
          <a:p xmlns:a="http://schemas.openxmlformats.org/drawingml/2006/main">
            <a:pPr>
              <a:defRPr sz="2175" b="0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7B879"/>
                </a:solidFill>
                <a:latin typeface="Arial"/>
                <a:ea typeface="Arial"/>
                <a:cs typeface="Arial"/>
              </a:rPr>
              <a:t>щитом и ограничивать передвижение</a:t>
            </a:r>
          </a:p>
          <a:p xmlns:a="http://schemas.openxmlformats.org/drawingml/2006/main">
            <a:pPr>
              <a:defRPr sz="2175" b="0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7B879"/>
                </a:solidFill>
                <a:latin typeface="Arial"/>
                <a:ea typeface="Arial"/>
                <a:cs typeface="Arial"/>
              </a:rPr>
              <a:t>противника?</a:t>
            </a:r>
          </a:p>
        </p:txBody>
      </p:sp>
    </p:spTree>
    <p:extLst>
      <p:ext uri="{BB962C8B-B14F-4D97-AF65-F5344CB8AC3E}">
        <p14:creationId xmlns:p14="http://schemas.microsoft.com/office/powerpoint/2010/main" val="1745203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C62524-6442-4A85-8A1C-3652899F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Основной источник данных</a:t>
            </a:r>
          </a:p>
        </p:txBody>
      </p:sp>
      <p:sp>
        <p:nvSpPr>
          <p:cNvPr id="2" name="source-name">
            <a:extLst xmlns:a="http://schemas.openxmlformats.org/drawingml/2006/main">
              <a:ext uri="{FF2B5EF4-FFF2-40B4-BE49-F238E27FC236}">
                <a16:creationId xmlns:a16="http://schemas.microsoft.com/office/drawing/2014/main" id="{A4EB584F-EF28-4256-9D3F-E5B1E10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7B879"/>
                </a:solidFill>
                <a:latin typeface="Arial"/>
                <a:ea typeface="Arial"/>
                <a:cs typeface="Arial"/>
              </a:rPr>
              <a:t>Riot Data Dragon</a:t>
            </a:r>
          </a:p>
        </p:txBody>
      </p:sp>
      <p:sp>
        <p:nvSpPr>
          <p:cNvPr id="3" name="source-type">
            <a:extLst xmlns:a="http://schemas.openxmlformats.org/drawingml/2006/main">
              <a:ext uri="{FF2B5EF4-FFF2-40B4-BE49-F238E27FC236}">
                <a16:creationId xmlns:a16="http://schemas.microsoft.com/office/drawing/2014/main" id="{8CC74B14-3D38-49B7-98A2-C91F9E35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Официальные данные Riot Games в формате JSON</a:t>
            </a:r>
          </a:p>
        </p:txBody>
      </p:sp>
      <p:sp>
        <p:nvSpPr>
          <p:cNvPr id="4" name="data-contents-heading">
            <a:extLst xmlns:a="http://schemas.openxmlformats.org/drawingml/2006/main">
              <a:ext uri="{FF2B5EF4-FFF2-40B4-BE49-F238E27FC236}">
                <a16:creationId xmlns:a16="http://schemas.microsoft.com/office/drawing/2014/main" id="{A832C044-1633-42C9-AC14-18DA03A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4619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Содержимое</a:t>
            </a:r>
          </a:p>
        </p:txBody>
      </p:sp>
      <p:sp>
        <p:nvSpPr>
          <p:cNvPr id="5" name="data-contents">
            <a:extLst xmlns:a="http://schemas.openxmlformats.org/drawingml/2006/main">
              <a:ext uri="{FF2B5EF4-FFF2-40B4-BE49-F238E27FC236}">
                <a16:creationId xmlns:a16="http://schemas.microsoft.com/office/drawing/2014/main" id="{85BE2AFD-E844-42DC-AF24-7EF350B4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00062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Идентификаторы и названия чемпионов</a:t>
            </a:r>
          </a:p>
          <a:p xmlns:a="http://schemas.openxmlformats.org/drawingml/2006/main">
            <a:pPr>
              <a:defRPr sz="202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Базовые характеристики</a:t>
            </a:r>
          </a:p>
          <a:p xmlns:a="http://schemas.openxmlformats.org/drawingml/2006/main">
            <a:pPr>
              <a:defRPr sz="202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Пассивные и активные способности</a:t>
            </a:r>
          </a:p>
          <a:p xmlns:a="http://schemas.openxmlformats.org/drawingml/2006/main">
            <a:pPr>
              <a:defRPr sz="202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Описания и изображения</a:t>
            </a:r>
          </a:p>
        </p:txBody>
      </p:sp>
      <p:sp>
        <p:nvSpPr>
          <p:cNvPr id="6" name="data-use-heading">
            <a:extLst xmlns:a="http://schemas.openxmlformats.org/drawingml/2006/main">
              <a:ext uri="{FF2B5EF4-FFF2-40B4-BE49-F238E27FC236}">
                <a16:creationId xmlns:a16="http://schemas.microsoft.com/office/drawing/2014/main" id="{F86E05A3-AC2F-4100-B018-E6469CF9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5048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Использование в проекте</a:t>
            </a:r>
          </a:p>
        </p:txBody>
      </p:sp>
      <p:sp>
        <p:nvSpPr>
          <p:cNvPr id="7" name="data-use">
            <a:extLst xmlns:a="http://schemas.openxmlformats.org/drawingml/2006/main">
              <a:ext uri="{FF2B5EF4-FFF2-40B4-BE49-F238E27FC236}">
                <a16:creationId xmlns:a16="http://schemas.microsoft.com/office/drawing/2014/main" id="{E12F3033-8C56-46D9-9B55-8C15186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5048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Соберём сведения о чемпионах</a:t>
            </a:r>
          </a:p>
          <a:p xmlns:a="http://schemas.openxmlformats.org/drawingml/2006/main">
            <a:pPr>
              <a:defRPr sz="202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и их способностях.</a:t>
            </a:r>
          </a:p>
          <a:p xmlns:a="http://schemas.openxmlformats.org/drawingml/2006/main">
            <a:pPr>
              <a:defRPr sz="202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Зафиксируем одну версию игры</a:t>
            </a:r>
          </a:p>
          <a:p xmlns:a="http://schemas.openxmlformats.org/drawingml/2006/main">
            <a:pPr>
              <a:defRPr sz="202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и используем русскую локализацию.</a:t>
            </a:r>
          </a:p>
        </p:txBody>
      </p:sp>
      <p:sp>
        <p:nvSpPr>
          <p:cNvPr id="8" name="data-limitation">
            <a:extLst xmlns:a="http://schemas.openxmlformats.org/drawingml/2006/main">
              <a:ext uri="{FF2B5EF4-FFF2-40B4-BE49-F238E27FC236}">
                <a16:creationId xmlns:a16="http://schemas.microsoft.com/office/drawing/2014/main" id="{4B500AF0-9FC2-4C87-AAEF-07C15BAF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8C8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C8C5"/>
                </a:solidFill>
                <a:latin typeface="Arial"/>
                <a:ea typeface="Arial"/>
                <a:cs typeface="Arial"/>
              </a:rPr>
              <a:t>Механики эффектов выделим из текстовых описаний.</a:t>
            </a:r>
          </a:p>
        </p:txBody>
      </p:sp>
      <p:sp>
        <p:nvSpPr>
          <p:cNvPr id="9" name="source-link">
            <a:extLst xmlns:a="http://schemas.openxmlformats.org/drawingml/2006/main">
              <a:ext uri="{FF2B5EF4-FFF2-40B4-BE49-F238E27FC236}">
                <a16:creationId xmlns:a16="http://schemas.microsoft.com/office/drawing/2014/main" id="{FA8E5B78-A70A-4659-AEA7-E150AA5E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B0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BD"/>
                </a:solidFill>
                <a:latin typeface="Arial"/>
                <a:ea typeface="Arial"/>
                <a:cs typeface="Arial"/>
                <a:hlinkClick xmlns:r="http://schemas.openxmlformats.org/officeDocument/2006/relationships" r:id="R8d52b38b90a2472b"/>
              </a:rPr>
              <a:t>developer.riotgames.com/docs/lol</a:t>
            </a:r>
          </a:p>
        </p:txBody>
      </p:sp>
    </p:spTree>
    <p:extLst>
      <p:ext uri="{BB962C8B-B14F-4D97-AF65-F5344CB8AC3E}">
        <p14:creationId xmlns:p14="http://schemas.microsoft.com/office/powerpoint/2010/main" val="1764287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E14C3B-A955-4AA8-9419-D36C6428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Дополнительные источники</a:t>
            </a:r>
          </a:p>
        </p:txBody>
      </p:sp>
      <p:sp>
        <p:nvSpPr>
          <p:cNvPr id="2" name="official-name">
            <a:extLst xmlns:a="http://schemas.openxmlformats.org/drawingml/2006/main">
              <a:ext uri="{FF2B5EF4-FFF2-40B4-BE49-F238E27FC236}">
                <a16:creationId xmlns:a16="http://schemas.microsoft.com/office/drawing/2014/main" id="{97362E60-C956-4ED9-AE34-DA2CA0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7B879"/>
                </a:solidFill>
                <a:latin typeface="Arial"/>
                <a:ea typeface="Arial"/>
                <a:cs typeface="Arial"/>
              </a:rPr>
              <a:t>Официальные страницы чемпионов</a:t>
            </a:r>
          </a:p>
        </p:txBody>
      </p:sp>
      <p:sp>
        <p:nvSpPr>
          <p:cNvPr id="3" name="official-description">
            <a:extLst xmlns:a="http://schemas.openxmlformats.org/drawingml/2006/main">
              <a:ext uri="{FF2B5EF4-FFF2-40B4-BE49-F238E27FC236}">
                <a16:creationId xmlns:a16="http://schemas.microsoft.com/office/drawing/2014/main" id="{6307EBC3-3A66-4DC8-A5EA-93E9C77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Классы чемпионов и описания способностей.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Используем для проверки терминов и содержания.</a:t>
            </a:r>
          </a:p>
        </p:txBody>
      </p:sp>
      <p:sp>
        <p:nvSpPr>
          <p:cNvPr id="4" name="source-link">
            <a:extLst xmlns:a="http://schemas.openxmlformats.org/drawingml/2006/main">
              <a:ext uri="{FF2B5EF4-FFF2-40B4-BE49-F238E27FC236}">
                <a16:creationId xmlns:a16="http://schemas.microsoft.com/office/drawing/2014/main" id="{BABC4B26-3B26-45EA-AECB-29236AF0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B0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BD"/>
                </a:solidFill>
                <a:latin typeface="Arial"/>
                <a:ea typeface="Arial"/>
                <a:cs typeface="Arial"/>
                <a:hlinkClick xmlns:r="http://schemas.openxmlformats.org/officeDocument/2006/relationships" r:id="Rdf092ef08d3b4096"/>
              </a:rPr>
              <a:t>leagueoflegends.com/ru-ru/champions</a:t>
            </a:r>
          </a:p>
        </p:txBody>
      </p:sp>
      <p:sp>
        <p:nvSpPr>
          <p:cNvPr id="5" name="community-name">
            <a:extLst xmlns:a="http://schemas.openxmlformats.org/drawingml/2006/main">
              <a:ext uri="{FF2B5EF4-FFF2-40B4-BE49-F238E27FC236}">
                <a16:creationId xmlns:a16="http://schemas.microsoft.com/office/drawing/2014/main" id="{A75BA0F3-83F0-40AB-BAB3-FA852EC1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7B879"/>
                </a:solidFill>
                <a:latin typeface="Arial"/>
                <a:ea typeface="Arial"/>
                <a:cs typeface="Arial"/>
              </a:rPr>
              <a:t>CommunityDragon</a:t>
            </a:r>
          </a:p>
        </p:txBody>
      </p:sp>
      <p:sp>
        <p:nvSpPr>
          <p:cNvPr id="6" name="community-description">
            <a:extLst xmlns:a="http://schemas.openxmlformats.org/drawingml/2006/main">
              <a:ext uri="{FF2B5EF4-FFF2-40B4-BE49-F238E27FC236}">
                <a16:creationId xmlns:a16="http://schemas.microsoft.com/office/drawing/2014/main" id="{082207B5-98E2-44CC-8290-96BDAC2F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JSON и ресурсы из файлов игрового клиента.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При необходимости дополним данные после проверки версии.</a:t>
            </a:r>
          </a:p>
        </p:txBody>
      </p:sp>
      <p:sp>
        <p:nvSpPr>
          <p:cNvPr id="7" name="source-link">
            <a:extLst xmlns:a="http://schemas.openxmlformats.org/drawingml/2006/main">
              <a:ext uri="{FF2B5EF4-FFF2-40B4-BE49-F238E27FC236}">
                <a16:creationId xmlns:a16="http://schemas.microsoft.com/office/drawing/2014/main" id="{5007A9FA-4D10-4704-9DDD-3737E4A4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B0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BD"/>
                </a:solidFill>
                <a:latin typeface="Arial"/>
                <a:ea typeface="Arial"/>
                <a:cs typeface="Arial"/>
                <a:hlinkClick xmlns:r="http://schemas.openxmlformats.org/officeDocument/2006/relationships" r:id="R41d0a9cd4312454f"/>
              </a:rPr>
              <a:t>github.com/CommunityDragon/Docs</a:t>
            </a:r>
          </a:p>
        </p:txBody>
      </p:sp>
      <p:sp>
        <p:nvSpPr>
          <p:cNvPr id="8" name="annotation-plan">
            <a:extLst xmlns:a="http://schemas.openxmlformats.org/drawingml/2006/main">
              <a:ext uri="{FF2B5EF4-FFF2-40B4-BE49-F238E27FC236}">
                <a16:creationId xmlns:a16="http://schemas.microsoft.com/office/drawing/2014/main" id="{72C7DF91-3C21-47E5-8D1B-ED022E5C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8C8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C8C5"/>
                </a:solidFill>
                <a:latin typeface="Arial"/>
                <a:ea typeface="Arial"/>
                <a:cs typeface="Arial"/>
              </a:rPr>
              <a:t>Выделенные механики проверим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1026054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F9817D-62F8-42DB-8679-916156AC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Решение на основе графа знаний</a:t>
            </a:r>
          </a:p>
        </p:txBody>
      </p:sp>
      <p:sp>
        <p:nvSpPr>
          <p:cNvPr id="2" name="solution-summary">
            <a:extLst xmlns:a="http://schemas.openxmlformats.org/drawingml/2006/main">
              <a:ext uri="{FF2B5EF4-FFF2-40B4-BE49-F238E27FC236}">
                <a16:creationId xmlns:a16="http://schemas.microsoft.com/office/drawing/2014/main" id="{84F4B5BB-BC94-402C-BA12-B816ABAE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1E8"/>
                </a:solidFill>
                <a:latin typeface="Arial"/>
                <a:ea typeface="Arial"/>
                <a:cs typeface="Arial"/>
              </a:rPr>
              <a:t>Объединим чемпионов, их классы и механики</a:t>
            </a:r>
          </a:p>
          <a:p xmlns:a="http://schemas.openxmlformats.org/drawingml/2006/main">
            <a:pPr>
              <a:defRPr sz="2550" b="0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1E8"/>
                </a:solidFill>
                <a:latin typeface="Arial"/>
                <a:ea typeface="Arial"/>
                <a:cs typeface="Arial"/>
              </a:rPr>
              <a:t>способностей в единую систему знаний.</a:t>
            </a:r>
          </a:p>
        </p:txBody>
      </p:sp>
      <p:sp>
        <p:nvSpPr>
          <p:cNvPr id="3" name="search-heading">
            <a:extLst xmlns:a="http://schemas.openxmlformats.org/drawingml/2006/main">
              <a:ext uri="{FF2B5EF4-FFF2-40B4-BE49-F238E27FC236}">
                <a16:creationId xmlns:a16="http://schemas.microsoft.com/office/drawing/2014/main" id="{FDC72CEE-501C-4285-86B5-C96830C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000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7B879"/>
                </a:solidFill>
                <a:latin typeface="Arial"/>
                <a:ea typeface="Arial"/>
                <a:cs typeface="Arial"/>
              </a:rPr>
              <a:t>Поиск по условиям</a:t>
            </a:r>
          </a:p>
        </p:txBody>
      </p:sp>
      <p:sp>
        <p:nvSpPr>
          <p:cNvPr id="4" name="search-description">
            <a:extLst xmlns:a="http://schemas.openxmlformats.org/drawingml/2006/main">
              <a:ext uri="{FF2B5EF4-FFF2-40B4-BE49-F238E27FC236}">
                <a16:creationId xmlns:a16="http://schemas.microsoft.com/office/drawing/2014/main" id="{E03D6886-6C54-4483-A272-998D5585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000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Найдём чемпионов с заданным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классом и сочетанием эффектов.</a:t>
            </a:r>
          </a:p>
        </p:txBody>
      </p:sp>
      <p:sp>
        <p:nvSpPr>
          <p:cNvPr id="5" name="comparison-heading">
            <a:extLst xmlns:a="http://schemas.openxmlformats.org/drawingml/2006/main">
              <a:ext uri="{FF2B5EF4-FFF2-40B4-BE49-F238E27FC236}">
                <a16:creationId xmlns:a16="http://schemas.microsoft.com/office/drawing/2014/main" id="{5D1B1992-335B-4646-80F4-0B2DF2F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5048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7B879"/>
                </a:solidFill>
                <a:latin typeface="Arial"/>
                <a:ea typeface="Arial"/>
                <a:cs typeface="Arial"/>
              </a:rPr>
              <a:t>Сравнение чемпионов</a:t>
            </a:r>
          </a:p>
        </p:txBody>
      </p:sp>
      <p:sp>
        <p:nvSpPr>
          <p:cNvPr id="6" name="comparison-description">
            <a:extLst xmlns:a="http://schemas.openxmlformats.org/drawingml/2006/main">
              <a:ext uri="{FF2B5EF4-FFF2-40B4-BE49-F238E27FC236}">
                <a16:creationId xmlns:a16="http://schemas.microsoft.com/office/drawing/2014/main" id="{FA09BCCD-B518-4D79-817C-794CFFEB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504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Покажем общие механики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и различия в способностях.</a:t>
            </a:r>
          </a:p>
        </p:txBody>
      </p:sp>
      <p:sp>
        <p:nvSpPr>
          <p:cNvPr id="7" name="explanation-heading">
            <a:extLst xmlns:a="http://schemas.openxmlformats.org/drawingml/2006/main">
              <a:ext uri="{FF2B5EF4-FFF2-40B4-BE49-F238E27FC236}">
                <a16:creationId xmlns:a16="http://schemas.microsoft.com/office/drawing/2014/main" id="{14EF6716-47E3-4C94-B727-BBC567AF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7B8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7B879"/>
                </a:solidFill>
                <a:latin typeface="Arial"/>
                <a:ea typeface="Arial"/>
                <a:cs typeface="Arial"/>
              </a:rPr>
              <a:t>Объяснение результатов</a:t>
            </a:r>
          </a:p>
        </p:txBody>
      </p:sp>
      <p:sp>
        <p:nvSpPr>
          <p:cNvPr id="8" name="explanation-description">
            <a:extLst xmlns:a="http://schemas.openxmlformats.org/drawingml/2006/main">
              <a:ext uri="{FF2B5EF4-FFF2-40B4-BE49-F238E27FC236}">
                <a16:creationId xmlns:a16="http://schemas.microsoft.com/office/drawing/2014/main" id="{9FEDEEE4-A917-4860-A904-9B487B4A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Для каждого результата укажем конкретные способности</a:t>
            </a:r>
          </a:p>
          <a:p xmlns:a="http://schemas.openxmlformats.org/drawingml/2006/main">
            <a:pPr>
              <a:defRPr sz="2175" b="0">
                <a:solidFill>
                  <a:srgbClr val="D8E1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1E8"/>
                </a:solidFill>
                <a:latin typeface="Arial"/>
                <a:ea typeface="Arial"/>
                <a:cs typeface="Arial"/>
              </a:rPr>
              <a:t>и условия действия эффектов.</a:t>
            </a:r>
          </a:p>
        </p:txBody>
      </p:sp>
    </p:spTree>
    <p:extLst>
      <p:ext uri="{BB962C8B-B14F-4D97-AF65-F5344CB8AC3E}">
        <p14:creationId xmlns:p14="http://schemas.microsoft.com/office/powerpoint/2010/main" val="827102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2026-10-07T16:31:49.1580000Z</dcterms:created>
  <dcterms:modified xsi:type="dcterms:W3CDTF">2026-10-07T16:31:49.1580000Z</dcterms:modified>
</coreProperties>
</file>