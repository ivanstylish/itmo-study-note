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847" autoAdjust="0"/>
  </p:normalViewPr>
  <p:slideViewPr>
    <p:cSldViewPr snapToGrid="0">
      <p:cViewPr varScale="1">
        <p:scale>
          <a:sx n="77" d="100"/>
          <a:sy n="77" d="100"/>
        </p:scale>
        <p:origin x="18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называется</a:t>
            </a:r>
            <a:r>
              <a:rPr dirty="0"/>
              <a:t> Conversation-to-Knowledge Agent.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предлагаем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извлекает</a:t>
            </a:r>
            <a:r>
              <a:rPr dirty="0"/>
              <a:t> </a:t>
            </a:r>
            <a:r>
              <a:rPr dirty="0" err="1"/>
              <a:t>ценные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многошаговых</a:t>
            </a:r>
            <a:r>
              <a:rPr dirty="0"/>
              <a:t> </a:t>
            </a:r>
            <a:r>
              <a:rPr dirty="0" err="1"/>
              <a:t>диалогов</a:t>
            </a:r>
            <a:r>
              <a:rPr dirty="0"/>
              <a:t> с ИИ и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включать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в </a:t>
            </a:r>
            <a:r>
              <a:rPr dirty="0" err="1"/>
              <a:t>личную</a:t>
            </a:r>
            <a:r>
              <a:rPr dirty="0"/>
              <a:t> </a:t>
            </a:r>
            <a:r>
              <a:rPr dirty="0" err="1"/>
              <a:t>базу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.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многошаговым</a:t>
            </a:r>
            <a:r>
              <a:rPr dirty="0"/>
              <a:t> </a:t>
            </a:r>
            <a:r>
              <a:rPr dirty="0" err="1"/>
              <a:t>диалогом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понимаем</a:t>
            </a:r>
            <a:r>
              <a:rPr dirty="0"/>
              <a:t> </a:t>
            </a:r>
            <a:r>
              <a:rPr dirty="0" err="1"/>
              <a:t>разговор</a:t>
            </a:r>
            <a:r>
              <a:rPr dirty="0"/>
              <a:t> с </a:t>
            </a:r>
            <a:r>
              <a:rPr dirty="0" err="1"/>
              <a:t>последовательными</a:t>
            </a:r>
            <a:r>
              <a:rPr dirty="0"/>
              <a:t> </a:t>
            </a:r>
            <a:r>
              <a:rPr dirty="0" err="1"/>
              <a:t>вопросами</a:t>
            </a:r>
            <a:r>
              <a:rPr dirty="0"/>
              <a:t>, </a:t>
            </a:r>
            <a:r>
              <a:rPr dirty="0" err="1"/>
              <a:t>уточнениями</a:t>
            </a:r>
            <a:r>
              <a:rPr dirty="0"/>
              <a:t> и </a:t>
            </a:r>
            <a:r>
              <a:rPr dirty="0" err="1"/>
              <a:t>ответами</a:t>
            </a:r>
            <a:r>
              <a:rPr dirty="0"/>
              <a:t>.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учитывает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доступный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 и </a:t>
            </a:r>
            <a:r>
              <a:rPr dirty="0" err="1"/>
              <a:t>сопоставляет</a:t>
            </a:r>
            <a:r>
              <a:rPr dirty="0"/>
              <a:t> </a:t>
            </a:r>
            <a:r>
              <a:rPr dirty="0" err="1"/>
              <a:t>найденные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с </a:t>
            </a:r>
            <a:r>
              <a:rPr dirty="0" err="1"/>
              <a:t>существующими</a:t>
            </a:r>
            <a:r>
              <a:rPr dirty="0"/>
              <a:t> </a:t>
            </a:r>
            <a:r>
              <a:rPr dirty="0" err="1"/>
              <a:t>заметками</a:t>
            </a:r>
            <a:r>
              <a:rPr dirty="0"/>
              <a:t>. </a:t>
            </a:r>
            <a:r>
              <a:rPr dirty="0" err="1"/>
              <a:t>Результатом</a:t>
            </a:r>
            <a:r>
              <a:rPr dirty="0"/>
              <a:t> </a:t>
            </a:r>
            <a:r>
              <a:rPr dirty="0" err="1"/>
              <a:t>становятся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связанные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дополнения</a:t>
            </a:r>
            <a:r>
              <a:rPr dirty="0"/>
              <a:t> к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имеющимся</a:t>
            </a:r>
            <a:r>
              <a:rPr dirty="0"/>
              <a:t>. </a:t>
            </a:r>
            <a:r>
              <a:rPr dirty="0" err="1"/>
              <a:t>Сейчас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Obsidian,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в </a:t>
            </a:r>
            <a:r>
              <a:rPr dirty="0" err="1"/>
              <a:t>формате</a:t>
            </a:r>
            <a:r>
              <a:rPr dirty="0"/>
              <a:t> Markdown. </a:t>
            </a:r>
            <a:r>
              <a:rPr dirty="0" err="1"/>
              <a:t>Применение</a:t>
            </a:r>
            <a:r>
              <a:rPr dirty="0"/>
              <a:t> </a:t>
            </a:r>
            <a:r>
              <a:rPr dirty="0" err="1"/>
              <a:t>охватывает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, </a:t>
            </a:r>
            <a:r>
              <a:rPr dirty="0" err="1"/>
              <a:t>личные</a:t>
            </a:r>
            <a:r>
              <a:rPr dirty="0"/>
              <a:t> </a:t>
            </a:r>
            <a:r>
              <a:rPr dirty="0" err="1"/>
              <a:t>проекты</a:t>
            </a:r>
            <a:r>
              <a:rPr dirty="0"/>
              <a:t> и </a:t>
            </a:r>
            <a:r>
              <a:rPr dirty="0" err="1"/>
              <a:t>самостоятельное</a:t>
            </a:r>
            <a:r>
              <a:rPr dirty="0"/>
              <a:t> </a:t>
            </a:r>
            <a:r>
              <a:rPr dirty="0" err="1"/>
              <a:t>изучение</a:t>
            </a:r>
            <a:r>
              <a:rPr dirty="0"/>
              <a:t> </a:t>
            </a:r>
            <a:r>
              <a:rPr dirty="0" err="1"/>
              <a:t>интересующих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определяем</a:t>
            </a:r>
            <a:r>
              <a:rPr dirty="0"/>
              <a:t> </a:t>
            </a:r>
            <a:r>
              <a:rPr dirty="0" err="1"/>
              <a:t>аудиторию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люди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регулярно</a:t>
            </a:r>
            <a:r>
              <a:rPr dirty="0"/>
              <a:t> </a:t>
            </a:r>
            <a:r>
              <a:rPr dirty="0" err="1"/>
              <a:t>обсуждают</a:t>
            </a:r>
            <a:r>
              <a:rPr dirty="0"/>
              <a:t> с ИИ </a:t>
            </a:r>
            <a:r>
              <a:rPr dirty="0" err="1"/>
              <a:t>сложные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 и </a:t>
            </a:r>
            <a:r>
              <a:rPr dirty="0" err="1"/>
              <a:t>хотят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полученные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</a:t>
            </a:r>
            <a:r>
              <a:rPr dirty="0" err="1"/>
              <a:t>позже</a:t>
            </a:r>
            <a:r>
              <a:rPr dirty="0"/>
              <a:t>. </a:t>
            </a:r>
            <a:r>
              <a:rPr dirty="0" err="1"/>
              <a:t>Среди</a:t>
            </a:r>
            <a:r>
              <a:rPr dirty="0"/>
              <a:t> </a:t>
            </a:r>
            <a:r>
              <a:rPr dirty="0" err="1"/>
              <a:t>них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разработчики</a:t>
            </a:r>
            <a:r>
              <a:rPr dirty="0"/>
              <a:t>, </a:t>
            </a:r>
            <a:r>
              <a:rPr dirty="0" err="1"/>
              <a:t>исследователи</a:t>
            </a:r>
            <a:r>
              <a:rPr dirty="0"/>
              <a:t>, </a:t>
            </a:r>
            <a:r>
              <a:rPr dirty="0" err="1"/>
              <a:t>аналитики</a:t>
            </a:r>
            <a:r>
              <a:rPr dirty="0"/>
              <a:t>, </a:t>
            </a:r>
            <a:r>
              <a:rPr dirty="0" err="1"/>
              <a:t>авторы</a:t>
            </a:r>
            <a:r>
              <a:rPr dirty="0"/>
              <a:t> и </a:t>
            </a:r>
            <a:r>
              <a:rPr dirty="0" err="1"/>
              <a:t>люди</a:t>
            </a:r>
            <a:r>
              <a:rPr dirty="0"/>
              <a:t>, </a:t>
            </a:r>
            <a:r>
              <a:rPr dirty="0" err="1"/>
              <a:t>самостоятельно</a:t>
            </a:r>
            <a:r>
              <a:rPr dirty="0"/>
              <a:t> </a:t>
            </a:r>
            <a:r>
              <a:rPr dirty="0" err="1"/>
              <a:t>изучающие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. </a:t>
            </a: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в </a:t>
            </a:r>
            <a:r>
              <a:rPr dirty="0" err="1"/>
              <a:t>накоплении</a:t>
            </a:r>
            <a:r>
              <a:rPr dirty="0"/>
              <a:t> </a:t>
            </a:r>
            <a:r>
              <a:rPr dirty="0" err="1"/>
              <a:t>личных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применить</a:t>
            </a:r>
            <a:r>
              <a:rPr dirty="0"/>
              <a:t> в </a:t>
            </a:r>
            <a:r>
              <a:rPr dirty="0" err="1"/>
              <a:t>другом</a:t>
            </a:r>
            <a:r>
              <a:rPr dirty="0"/>
              <a:t> </a:t>
            </a:r>
            <a:r>
              <a:rPr dirty="0" err="1"/>
              <a:t>проекте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вернуться</a:t>
            </a:r>
            <a:r>
              <a:rPr dirty="0"/>
              <a:t> к </a:t>
            </a:r>
            <a:r>
              <a:rPr dirty="0" err="1"/>
              <a:t>ним</a:t>
            </a:r>
            <a:r>
              <a:rPr dirty="0"/>
              <a:t> </a:t>
            </a:r>
            <a:r>
              <a:rPr dirty="0" err="1"/>
              <a:t>спустя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этапа</a:t>
            </a:r>
            <a:r>
              <a:rPr dirty="0"/>
              <a:t> </a:t>
            </a:r>
            <a:r>
              <a:rPr dirty="0" err="1"/>
              <a:t>особенно</a:t>
            </a:r>
            <a:r>
              <a:rPr dirty="0"/>
              <a:t> </a:t>
            </a:r>
            <a:r>
              <a:rPr dirty="0" err="1"/>
              <a:t>подходят</a:t>
            </a:r>
            <a:r>
              <a:rPr dirty="0"/>
              <a:t> </a:t>
            </a:r>
            <a:r>
              <a:rPr dirty="0" err="1"/>
              <a:t>пользователи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ведут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в Obsidian. </a:t>
            </a:r>
            <a:r>
              <a:rPr dirty="0" err="1"/>
              <a:t>Перечисленные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задают</a:t>
            </a:r>
            <a:r>
              <a:rPr dirty="0"/>
              <a:t> </a:t>
            </a:r>
            <a:r>
              <a:rPr dirty="0" err="1"/>
              <a:t>нашу</a:t>
            </a:r>
            <a:r>
              <a:rPr dirty="0"/>
              <a:t> </a:t>
            </a:r>
            <a:r>
              <a:rPr dirty="0" err="1"/>
              <a:t>гипотезу</a:t>
            </a:r>
            <a:r>
              <a:rPr dirty="0"/>
              <a:t> </a:t>
            </a:r>
            <a:r>
              <a:rPr dirty="0" err="1"/>
              <a:t>аудитории</a:t>
            </a:r>
            <a:r>
              <a:rPr dirty="0"/>
              <a:t>. </a:t>
            </a:r>
            <a:r>
              <a:rPr dirty="0" err="1"/>
              <a:t>Распространённость</a:t>
            </a:r>
            <a:r>
              <a:rPr dirty="0"/>
              <a:t> </a:t>
            </a:r>
            <a:r>
              <a:rPr dirty="0" err="1"/>
              <a:t>потребности</a:t>
            </a:r>
            <a:r>
              <a:rPr dirty="0"/>
              <a:t> и </a:t>
            </a:r>
            <a:r>
              <a:rPr dirty="0" err="1"/>
              <a:t>привычки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уточнить</a:t>
            </a:r>
            <a:r>
              <a:rPr dirty="0"/>
              <a:t> в </a:t>
            </a:r>
            <a:r>
              <a:rPr dirty="0" err="1"/>
              <a:t>интервью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Полезное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формируется</a:t>
            </a:r>
            <a:r>
              <a:rPr dirty="0"/>
              <a:t> </a:t>
            </a:r>
            <a:r>
              <a:rPr dirty="0" err="1"/>
              <a:t>постепенно</a:t>
            </a:r>
            <a:r>
              <a:rPr dirty="0"/>
              <a:t>.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,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,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, </a:t>
            </a:r>
            <a:r>
              <a:rPr dirty="0" err="1"/>
              <a:t>уточняет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 и </a:t>
            </a:r>
            <a:r>
              <a:rPr dirty="0" err="1"/>
              <a:t>пересматривает</a:t>
            </a:r>
            <a:r>
              <a:rPr dirty="0"/>
              <a:t> </a:t>
            </a:r>
            <a:r>
              <a:rPr dirty="0" err="1"/>
              <a:t>первоначальное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.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оказываются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репликах</a:t>
            </a:r>
            <a:r>
              <a:rPr dirty="0"/>
              <a:t>. </a:t>
            </a:r>
            <a:r>
              <a:rPr dirty="0" err="1"/>
              <a:t>Некоторые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</a:t>
            </a:r>
            <a:r>
              <a:rPr dirty="0" err="1"/>
              <a:t>повторяются</a:t>
            </a:r>
            <a:r>
              <a:rPr dirty="0"/>
              <a:t>, а </a:t>
            </a:r>
            <a:r>
              <a:rPr dirty="0" err="1"/>
              <a:t>разговор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переходить</a:t>
            </a:r>
            <a:r>
              <a:rPr dirty="0"/>
              <a:t> к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теме</a:t>
            </a:r>
            <a:r>
              <a:rPr dirty="0"/>
              <a:t>.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, </a:t>
            </a:r>
            <a:r>
              <a:rPr dirty="0" err="1"/>
              <a:t>пользователю</a:t>
            </a:r>
            <a:r>
              <a:rPr dirty="0"/>
              <a:t> </a:t>
            </a:r>
            <a:r>
              <a:rPr dirty="0" err="1"/>
              <a:t>приходится</a:t>
            </a:r>
            <a:r>
              <a:rPr dirty="0"/>
              <a:t> </a:t>
            </a:r>
            <a:r>
              <a:rPr dirty="0" err="1"/>
              <a:t>заново</a:t>
            </a:r>
            <a:r>
              <a:rPr dirty="0"/>
              <a:t> </a:t>
            </a:r>
            <a:r>
              <a:rPr dirty="0" err="1"/>
              <a:t>просматривать</a:t>
            </a:r>
            <a:r>
              <a:rPr dirty="0"/>
              <a:t> </a:t>
            </a:r>
            <a:r>
              <a:rPr dirty="0" err="1"/>
              <a:t>историю</a:t>
            </a:r>
            <a:r>
              <a:rPr dirty="0"/>
              <a:t>, </a:t>
            </a:r>
            <a:r>
              <a:rPr dirty="0" err="1"/>
              <a:t>восстанавливать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 и </a:t>
            </a:r>
            <a:r>
              <a:rPr dirty="0" err="1"/>
              <a:t>отделять</a:t>
            </a:r>
            <a:r>
              <a:rPr dirty="0"/>
              <a:t> </a:t>
            </a:r>
            <a:r>
              <a:rPr dirty="0" err="1"/>
              <a:t>устойчивые</a:t>
            </a:r>
            <a:r>
              <a:rPr dirty="0"/>
              <a:t> </a:t>
            </a:r>
            <a:r>
              <a:rPr dirty="0" err="1"/>
              <a:t>выводы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временных</a:t>
            </a:r>
            <a:r>
              <a:rPr dirty="0"/>
              <a:t> </a:t>
            </a:r>
            <a:r>
              <a:rPr dirty="0" err="1"/>
              <a:t>деталей</a:t>
            </a:r>
            <a:r>
              <a:rPr dirty="0"/>
              <a:t>. 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 </a:t>
            </a:r>
            <a:r>
              <a:rPr dirty="0" err="1"/>
              <a:t>организована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последовательности</a:t>
            </a:r>
            <a:r>
              <a:rPr dirty="0"/>
              <a:t> </a:t>
            </a:r>
            <a:r>
              <a:rPr dirty="0" err="1"/>
              <a:t>общения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дальнейшего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 </a:t>
            </a:r>
            <a:r>
              <a:rPr dirty="0" err="1"/>
              <a:t>человеку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организация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темам</a:t>
            </a:r>
            <a:r>
              <a:rPr dirty="0"/>
              <a:t> и </a:t>
            </a:r>
            <a:r>
              <a:rPr dirty="0" err="1"/>
              <a:t>связям</a:t>
            </a:r>
            <a:r>
              <a:rPr dirty="0"/>
              <a:t>.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преобразование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этими</a:t>
            </a:r>
            <a:r>
              <a:rPr dirty="0"/>
              <a:t> </a:t>
            </a:r>
            <a:r>
              <a:rPr dirty="0" err="1"/>
              <a:t>двумя</a:t>
            </a:r>
            <a:r>
              <a:rPr dirty="0"/>
              <a:t> </a:t>
            </a:r>
            <a:r>
              <a:rPr dirty="0" err="1"/>
              <a:t>формами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нашего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 </a:t>
            </a:r>
            <a:r>
              <a:rPr dirty="0" err="1"/>
              <a:t>центре</a:t>
            </a:r>
            <a:r>
              <a:rPr dirty="0"/>
              <a:t> </a:t>
            </a:r>
            <a:r>
              <a:rPr dirty="0" err="1"/>
              <a:t>внимания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содержание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ценность</a:t>
            </a:r>
            <a:r>
              <a:rPr dirty="0"/>
              <a:t> </a:t>
            </a:r>
            <a:r>
              <a:rPr dirty="0" err="1"/>
              <a:t>вне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понятия</a:t>
            </a:r>
            <a:r>
              <a:rPr dirty="0"/>
              <a:t>, </a:t>
            </a:r>
            <a:r>
              <a:rPr dirty="0" err="1"/>
              <a:t>методы</a:t>
            </a:r>
            <a:r>
              <a:rPr dirty="0"/>
              <a:t> с </a:t>
            </a:r>
            <a:r>
              <a:rPr dirty="0" err="1"/>
              <a:t>условиями</a:t>
            </a:r>
            <a:r>
              <a:rPr dirty="0"/>
              <a:t> </a:t>
            </a:r>
            <a:r>
              <a:rPr dirty="0" err="1"/>
              <a:t>применения</a:t>
            </a:r>
            <a:r>
              <a:rPr dirty="0"/>
              <a:t>, </a:t>
            </a:r>
            <a:r>
              <a:rPr dirty="0" err="1"/>
              <a:t>способы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проблем</a:t>
            </a:r>
            <a:r>
              <a:rPr dirty="0"/>
              <a:t>, </a:t>
            </a:r>
            <a:r>
              <a:rPr dirty="0" err="1"/>
              <a:t>выводы</a:t>
            </a:r>
            <a:r>
              <a:rPr dirty="0"/>
              <a:t> и </a:t>
            </a:r>
            <a:r>
              <a:rPr dirty="0" err="1"/>
              <a:t>причины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. </a:t>
            </a:r>
            <a:r>
              <a:rPr dirty="0" err="1"/>
              <a:t>Особенность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 — 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понимал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иначе</a:t>
            </a:r>
            <a:r>
              <a:rPr dirty="0"/>
              <a:t>, а в </a:t>
            </a:r>
            <a:r>
              <a:rPr dirty="0" err="1"/>
              <a:t>разговоре</a:t>
            </a:r>
            <a:r>
              <a:rPr dirty="0"/>
              <a:t> </a:t>
            </a:r>
            <a:r>
              <a:rPr dirty="0" err="1"/>
              <a:t>появилась</a:t>
            </a:r>
            <a:r>
              <a:rPr dirty="0"/>
              <a:t> </a:t>
            </a:r>
            <a:r>
              <a:rPr dirty="0" err="1"/>
              <a:t>аргументированная</a:t>
            </a:r>
            <a:r>
              <a:rPr dirty="0"/>
              <a:t> </a:t>
            </a:r>
            <a:r>
              <a:rPr dirty="0" err="1"/>
              <a:t>корректировка</a:t>
            </a:r>
            <a:r>
              <a:rPr dirty="0"/>
              <a:t>, </a:t>
            </a:r>
            <a:r>
              <a:rPr dirty="0" err="1"/>
              <a:t>заметка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зафиксировать</a:t>
            </a:r>
            <a:r>
              <a:rPr dirty="0"/>
              <a:t> </a:t>
            </a:r>
            <a:r>
              <a:rPr dirty="0" err="1"/>
              <a:t>исходное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, </a:t>
            </a:r>
            <a:r>
              <a:rPr dirty="0" err="1"/>
              <a:t>пояснение</a:t>
            </a:r>
            <a:r>
              <a:rPr dirty="0"/>
              <a:t> и </a:t>
            </a:r>
            <a:r>
              <a:rPr dirty="0" err="1"/>
              <a:t>итоговый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.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извлечённое</a:t>
            </a:r>
            <a:r>
              <a:rPr dirty="0"/>
              <a:t> </a:t>
            </a:r>
            <a:r>
              <a:rPr dirty="0" err="1"/>
              <a:t>содержание</a:t>
            </a:r>
            <a:r>
              <a:rPr dirty="0"/>
              <a:t> с </a:t>
            </a:r>
            <a:r>
              <a:rPr dirty="0" err="1"/>
              <a:t>фрагментами</a:t>
            </a:r>
            <a:r>
              <a:rPr dirty="0"/>
              <a:t> </a:t>
            </a:r>
            <a:r>
              <a:rPr dirty="0" err="1"/>
              <a:t>исходного</a:t>
            </a:r>
            <a:r>
              <a:rPr dirty="0"/>
              <a:t> </a:t>
            </a:r>
            <a:r>
              <a:rPr dirty="0" err="1"/>
              <a:t>диалога</a:t>
            </a:r>
            <a:r>
              <a:rPr dirty="0"/>
              <a:t>. </a:t>
            </a:r>
            <a:r>
              <a:rPr dirty="0" err="1"/>
              <a:t>Приветствия</a:t>
            </a:r>
            <a:r>
              <a:rPr dirty="0"/>
              <a:t>, </a:t>
            </a:r>
            <a:r>
              <a:rPr dirty="0" err="1"/>
              <a:t>повторы</a:t>
            </a:r>
            <a:r>
              <a:rPr dirty="0"/>
              <a:t> и </a:t>
            </a:r>
            <a:r>
              <a:rPr dirty="0" err="1"/>
              <a:t>временные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превращаться</a:t>
            </a:r>
            <a:r>
              <a:rPr dirty="0"/>
              <a:t> в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. В </a:t>
            </a:r>
            <a:r>
              <a:rPr dirty="0" err="1"/>
              <a:t>проекте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ориентир</a:t>
            </a:r>
            <a:r>
              <a:rPr dirty="0"/>
              <a:t>: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перечитать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месяца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критерий</a:t>
            </a:r>
            <a:r>
              <a:rPr dirty="0"/>
              <a:t> </a:t>
            </a:r>
            <a:r>
              <a:rPr dirty="0" err="1"/>
              <a:t>отбора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гарантия</a:t>
            </a:r>
            <a:r>
              <a:rPr dirty="0"/>
              <a:t> </a:t>
            </a:r>
            <a:r>
              <a:rPr dirty="0" err="1"/>
              <a:t>достоверности</a:t>
            </a:r>
            <a:r>
              <a:rPr dirty="0"/>
              <a:t>.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всё</a:t>
            </a:r>
            <a:r>
              <a:rPr dirty="0"/>
              <a:t> </a:t>
            </a:r>
            <a:r>
              <a:rPr dirty="0" err="1"/>
              <a:t>равно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содержание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извлечения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связанные</a:t>
            </a:r>
            <a:r>
              <a:rPr dirty="0"/>
              <a:t> </a:t>
            </a:r>
            <a:r>
              <a:rPr dirty="0" err="1"/>
              <a:t>материалы</a:t>
            </a:r>
            <a:r>
              <a:rPr dirty="0"/>
              <a:t> в </a:t>
            </a:r>
            <a:r>
              <a:rPr dirty="0" err="1"/>
              <a:t>существующей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.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предлагает</a:t>
            </a:r>
            <a:r>
              <a:rPr dirty="0"/>
              <a:t> </a:t>
            </a:r>
            <a:r>
              <a:rPr dirty="0" err="1"/>
              <a:t>подходящий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. </a:t>
            </a:r>
            <a:r>
              <a:rPr dirty="0" err="1"/>
              <a:t>Самостоятельное</a:t>
            </a:r>
            <a:r>
              <a:rPr dirty="0"/>
              <a:t> </a:t>
            </a:r>
            <a:r>
              <a:rPr dirty="0" err="1"/>
              <a:t>новое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стать</a:t>
            </a:r>
            <a:r>
              <a:rPr dirty="0"/>
              <a:t>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заметкой</a:t>
            </a:r>
            <a:r>
              <a:rPr dirty="0"/>
              <a:t>.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знакомой</a:t>
            </a:r>
            <a:r>
              <a:rPr dirty="0"/>
              <a:t> </a:t>
            </a:r>
            <a:r>
              <a:rPr dirty="0" err="1"/>
              <a:t>теме</a:t>
            </a:r>
            <a:r>
              <a:rPr dirty="0"/>
              <a:t> </a:t>
            </a:r>
            <a:r>
              <a:rPr dirty="0" err="1"/>
              <a:t>дополняют</a:t>
            </a:r>
            <a:r>
              <a:rPr dirty="0"/>
              <a:t> </a:t>
            </a:r>
            <a:r>
              <a:rPr dirty="0" err="1"/>
              <a:t>существующую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. </a:t>
            </a:r>
            <a:r>
              <a:rPr dirty="0" err="1"/>
              <a:t>Небольшой</a:t>
            </a:r>
            <a:r>
              <a:rPr dirty="0"/>
              <a:t> </a:t>
            </a:r>
            <a:r>
              <a:rPr dirty="0" err="1"/>
              <a:t>составной</a:t>
            </a:r>
            <a:r>
              <a:rPr dirty="0"/>
              <a:t> </a:t>
            </a:r>
            <a:r>
              <a:rPr dirty="0" err="1"/>
              <a:t>элемент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включить</a:t>
            </a:r>
            <a:r>
              <a:rPr dirty="0"/>
              <a:t> в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общей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полезная</a:t>
            </a:r>
            <a:r>
              <a:rPr dirty="0"/>
              <a:t> </a:t>
            </a:r>
            <a:r>
              <a:rPr dirty="0" err="1"/>
              <a:t>информация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,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пропустить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противоречии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отмечает</a:t>
            </a:r>
            <a:r>
              <a:rPr dirty="0"/>
              <a:t> </a:t>
            </a:r>
            <a:r>
              <a:rPr dirty="0" err="1"/>
              <a:t>конфликт</a:t>
            </a:r>
            <a:r>
              <a:rPr dirty="0"/>
              <a:t> и </a:t>
            </a:r>
            <a:r>
              <a:rPr dirty="0" err="1"/>
              <a:t>оставляет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пользователю</a:t>
            </a:r>
            <a:r>
              <a:rPr dirty="0"/>
              <a:t>.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связанными</a:t>
            </a:r>
            <a:r>
              <a:rPr dirty="0"/>
              <a:t> </a:t>
            </a:r>
            <a:r>
              <a:rPr dirty="0" err="1"/>
              <a:t>заметками</a:t>
            </a:r>
            <a:r>
              <a:rPr dirty="0"/>
              <a:t> </a:t>
            </a:r>
            <a:r>
              <a:rPr dirty="0" err="1"/>
              <a:t>создаются</a:t>
            </a:r>
            <a:r>
              <a:rPr dirty="0"/>
              <a:t> </a:t>
            </a:r>
            <a:r>
              <a:rPr dirty="0" err="1"/>
              <a:t>ссылки</a:t>
            </a:r>
            <a:r>
              <a:rPr dirty="0"/>
              <a:t>. </a:t>
            </a:r>
            <a:r>
              <a:rPr dirty="0" err="1"/>
              <a:t>Благодаря</a:t>
            </a:r>
            <a:r>
              <a:rPr dirty="0"/>
              <a:t> </a:t>
            </a:r>
            <a:r>
              <a:rPr dirty="0" err="1"/>
              <a:t>этому</a:t>
            </a:r>
            <a:r>
              <a:rPr dirty="0"/>
              <a:t>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импорт</a:t>
            </a:r>
            <a:r>
              <a:rPr dirty="0"/>
              <a:t> </a:t>
            </a:r>
            <a:r>
              <a:rPr dirty="0" err="1"/>
              <a:t>диалога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продолжить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начатое</a:t>
            </a:r>
            <a:r>
              <a:rPr dirty="0"/>
              <a:t> </a:t>
            </a:r>
            <a:r>
              <a:rPr dirty="0" err="1"/>
              <a:t>накопление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. В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реализации</a:t>
            </a:r>
            <a:r>
              <a:rPr dirty="0"/>
              <a:t> </a:t>
            </a:r>
            <a:r>
              <a:rPr dirty="0" err="1"/>
              <a:t>дополнение</a:t>
            </a:r>
            <a:r>
              <a:rPr dirty="0"/>
              <a:t> </a:t>
            </a:r>
            <a:r>
              <a:rPr dirty="0" err="1"/>
              <a:t>существующего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добавление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,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переписывания</a:t>
            </a:r>
            <a:r>
              <a:rPr dirty="0"/>
              <a:t> </a:t>
            </a:r>
            <a:r>
              <a:rPr dirty="0" err="1"/>
              <a:t>прежнего</a:t>
            </a:r>
            <a:r>
              <a:rPr dirty="0"/>
              <a:t> </a:t>
            </a:r>
            <a:r>
              <a:rPr dirty="0" err="1"/>
              <a:t>основного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Слева</a:t>
            </a:r>
            <a:r>
              <a:rPr dirty="0"/>
              <a:t> </a:t>
            </a:r>
            <a:r>
              <a:rPr dirty="0" err="1"/>
              <a:t>показан</a:t>
            </a:r>
            <a:r>
              <a:rPr dirty="0"/>
              <a:t> </a:t>
            </a:r>
            <a:r>
              <a:rPr dirty="0" err="1"/>
              <a:t>исходный</a:t>
            </a:r>
            <a:r>
              <a:rPr dirty="0"/>
              <a:t> </a:t>
            </a:r>
            <a:r>
              <a:rPr dirty="0" err="1"/>
              <a:t>разговор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состоялся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человеком</a:t>
            </a:r>
            <a:r>
              <a:rPr dirty="0"/>
              <a:t> и ИИ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импорта</a:t>
            </a:r>
            <a:r>
              <a:rPr dirty="0"/>
              <a:t> в </a:t>
            </a:r>
            <a:r>
              <a:rPr dirty="0" err="1"/>
              <a:t>наше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. В </a:t>
            </a:r>
            <a:r>
              <a:rPr dirty="0" err="1"/>
              <a:t>нём</a:t>
            </a:r>
            <a:r>
              <a:rPr dirty="0"/>
              <a:t> </a:t>
            </a:r>
            <a:r>
              <a:rPr dirty="0" err="1"/>
              <a:t>обсуждаются</a:t>
            </a:r>
            <a:r>
              <a:rPr dirty="0"/>
              <a:t> </a:t>
            </a:r>
            <a:r>
              <a:rPr dirty="0" err="1"/>
              <a:t>резервные</a:t>
            </a:r>
            <a:r>
              <a:rPr dirty="0"/>
              <a:t> </a:t>
            </a:r>
            <a:r>
              <a:rPr dirty="0" err="1"/>
              <a:t>копии</a:t>
            </a:r>
            <a:r>
              <a:rPr dirty="0"/>
              <a:t> и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импортирует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разговор</a:t>
            </a:r>
            <a:r>
              <a:rPr dirty="0"/>
              <a:t>. </a:t>
            </a:r>
            <a:r>
              <a:rPr dirty="0" err="1"/>
              <a:t>Далее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выделяет</a:t>
            </a:r>
            <a:r>
              <a:rPr dirty="0"/>
              <a:t> </a:t>
            </a:r>
            <a:r>
              <a:rPr dirty="0" err="1"/>
              <a:t>ценные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,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существующие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и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, </a:t>
            </a:r>
            <a:r>
              <a:rPr dirty="0" err="1"/>
              <a:t>дополнить</a:t>
            </a:r>
            <a:r>
              <a:rPr dirty="0"/>
              <a:t>, </a:t>
            </a:r>
            <a:r>
              <a:rPr dirty="0" err="1"/>
              <a:t>связать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пропустить</a:t>
            </a:r>
            <a:r>
              <a:rPr dirty="0"/>
              <a:t>. В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условном</a:t>
            </a:r>
            <a:r>
              <a:rPr dirty="0"/>
              <a:t> </a:t>
            </a:r>
            <a:r>
              <a:rPr dirty="0" err="1"/>
              <a:t>примере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находит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 о </a:t>
            </a:r>
            <a:r>
              <a:rPr dirty="0" err="1"/>
              <a:t>резервном</a:t>
            </a:r>
            <a:r>
              <a:rPr dirty="0"/>
              <a:t> </a:t>
            </a:r>
            <a:r>
              <a:rPr dirty="0" err="1"/>
              <a:t>копировании</a:t>
            </a:r>
            <a:r>
              <a:rPr dirty="0"/>
              <a:t> и </a:t>
            </a:r>
            <a:r>
              <a:rPr dirty="0" err="1"/>
              <a:t>готовит</a:t>
            </a:r>
            <a:r>
              <a:rPr dirty="0"/>
              <a:t> </a:t>
            </a:r>
            <a:r>
              <a:rPr dirty="0" err="1"/>
              <a:t>добавление</a:t>
            </a:r>
            <a:r>
              <a:rPr dirty="0"/>
              <a:t> </a:t>
            </a:r>
            <a:r>
              <a:rPr dirty="0" err="1"/>
              <a:t>раздела</a:t>
            </a:r>
            <a:r>
              <a:rPr dirty="0"/>
              <a:t> о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рассматривает</a:t>
            </a:r>
            <a:r>
              <a:rPr dirty="0"/>
              <a:t> </a:t>
            </a: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: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одобрить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, </a:t>
            </a:r>
            <a:r>
              <a:rPr dirty="0" err="1"/>
              <a:t>исключить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отказаться</a:t>
            </a:r>
            <a:r>
              <a:rPr dirty="0"/>
              <a:t>. </a:t>
            </a:r>
            <a:r>
              <a:rPr dirty="0" err="1"/>
              <a:t>Генерацию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, </a:t>
            </a:r>
            <a:r>
              <a:rPr dirty="0" err="1"/>
              <a:t>запись</a:t>
            </a:r>
            <a:r>
              <a:rPr dirty="0"/>
              <a:t> и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допуска</a:t>
            </a:r>
            <a:r>
              <a:rPr dirty="0"/>
              <a:t> </a:t>
            </a:r>
            <a:r>
              <a:rPr dirty="0" err="1"/>
              <a:t>плана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включённой</a:t>
            </a:r>
            <a:r>
              <a:rPr dirty="0"/>
              <a:t> </a:t>
            </a:r>
            <a:r>
              <a:rPr dirty="0" err="1"/>
              <a:t>настройке</a:t>
            </a:r>
            <a:r>
              <a:rPr dirty="0"/>
              <a:t> </a:t>
            </a:r>
            <a:r>
              <a:rPr dirty="0" err="1"/>
              <a:t>низкорисковые</a:t>
            </a:r>
            <a:r>
              <a:rPr dirty="0"/>
              <a:t> </a:t>
            </a:r>
            <a:r>
              <a:rPr dirty="0" err="1"/>
              <a:t>планы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проходить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. </a:t>
            </a:r>
            <a:r>
              <a:rPr dirty="0" err="1"/>
              <a:t>Рассматриваемый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дополняет</a:t>
            </a:r>
            <a:r>
              <a:rPr dirty="0"/>
              <a:t> </a:t>
            </a:r>
            <a:r>
              <a:rPr dirty="0" err="1"/>
              <a:t>существующую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 к </a:t>
            </a:r>
            <a:r>
              <a:rPr dirty="0" err="1"/>
              <a:t>автоматическому</a:t>
            </a:r>
            <a:r>
              <a:rPr dirty="0"/>
              <a:t> </a:t>
            </a:r>
            <a:r>
              <a:rPr dirty="0" err="1"/>
              <a:t>созданию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импортирует</a:t>
            </a:r>
            <a:r>
              <a:rPr dirty="0"/>
              <a:t> </a:t>
            </a:r>
            <a:r>
              <a:rPr dirty="0" err="1"/>
              <a:t>разговор</a:t>
            </a:r>
            <a:r>
              <a:rPr dirty="0"/>
              <a:t>.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анализирует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, </a:t>
            </a:r>
            <a:r>
              <a:rPr dirty="0" err="1"/>
              <a:t>извлекает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и </a:t>
            </a:r>
            <a:r>
              <a:rPr dirty="0" err="1"/>
              <a:t>сопоставляет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с </a:t>
            </a:r>
            <a:r>
              <a:rPr dirty="0" err="1"/>
              <a:t>базой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концептуальном</a:t>
            </a:r>
            <a:r>
              <a:rPr dirty="0"/>
              <a:t> </a:t>
            </a:r>
            <a:r>
              <a:rPr dirty="0" err="1"/>
              <a:t>макете</a:t>
            </a:r>
            <a:r>
              <a:rPr dirty="0"/>
              <a:t> </a:t>
            </a:r>
            <a:r>
              <a:rPr dirty="0" err="1"/>
              <a:t>слева</a:t>
            </a:r>
            <a:r>
              <a:rPr dirty="0"/>
              <a:t> </a:t>
            </a:r>
            <a:r>
              <a:rPr dirty="0" err="1"/>
              <a:t>показаны</a:t>
            </a:r>
            <a:r>
              <a:rPr dirty="0"/>
              <a:t> </a:t>
            </a:r>
            <a:r>
              <a:rPr dirty="0" err="1"/>
              <a:t>найденное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 и </a:t>
            </a:r>
            <a:r>
              <a:rPr dirty="0" err="1"/>
              <a:t>фрагмент</a:t>
            </a:r>
            <a:r>
              <a:rPr dirty="0"/>
              <a:t> </a:t>
            </a:r>
            <a:r>
              <a:rPr dirty="0" err="1"/>
              <a:t>исходного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, а </a:t>
            </a:r>
            <a:r>
              <a:rPr dirty="0" err="1"/>
              <a:t>справа</a:t>
            </a:r>
            <a:r>
              <a:rPr dirty="0"/>
              <a:t> — </a:t>
            </a:r>
            <a:r>
              <a:rPr dirty="0" err="1"/>
              <a:t>выбранная</a:t>
            </a:r>
            <a:r>
              <a:rPr dirty="0"/>
              <a:t> </a:t>
            </a:r>
            <a:r>
              <a:rPr dirty="0" err="1"/>
              <a:t>системой</a:t>
            </a:r>
            <a:r>
              <a:rPr dirty="0"/>
              <a:t> </a:t>
            </a:r>
            <a:r>
              <a:rPr dirty="0" err="1"/>
              <a:t>заметка</a:t>
            </a:r>
            <a:r>
              <a:rPr dirty="0"/>
              <a:t> и </a:t>
            </a:r>
            <a:r>
              <a:rPr dirty="0" err="1"/>
              <a:t>предлагаемое</a:t>
            </a:r>
            <a:r>
              <a:rPr dirty="0"/>
              <a:t> </a:t>
            </a:r>
            <a:r>
              <a:rPr dirty="0" err="1"/>
              <a:t>дополнение</a:t>
            </a:r>
            <a:r>
              <a:rPr dirty="0"/>
              <a:t>.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рассматривает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подготовленный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: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исключить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, </a:t>
            </a:r>
            <a:r>
              <a:rPr dirty="0" err="1"/>
              <a:t>одобрить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отказаться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допуска</a:t>
            </a:r>
            <a:r>
              <a:rPr dirty="0"/>
              <a:t> </a:t>
            </a:r>
            <a:r>
              <a:rPr dirty="0" err="1"/>
              <a:t>плана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генерирует</a:t>
            </a:r>
            <a:r>
              <a:rPr dirty="0"/>
              <a:t> </a:t>
            </a:r>
            <a:r>
              <a:rPr dirty="0" err="1"/>
              <a:t>содержание</a:t>
            </a:r>
            <a:r>
              <a:rPr dirty="0"/>
              <a:t>, </a:t>
            </a:r>
            <a:r>
              <a:rPr dirty="0" err="1"/>
              <a:t>записывает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и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включено</a:t>
            </a:r>
            <a:r>
              <a:rPr dirty="0"/>
              <a:t> </a:t>
            </a:r>
            <a:r>
              <a:rPr dirty="0" err="1"/>
              <a:t>подтверждение</a:t>
            </a:r>
            <a:r>
              <a:rPr dirty="0"/>
              <a:t>.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автоматического</a:t>
            </a:r>
            <a:r>
              <a:rPr dirty="0"/>
              <a:t> </a:t>
            </a:r>
            <a:r>
              <a:rPr dirty="0" err="1"/>
              <a:t>допуска</a:t>
            </a:r>
            <a:r>
              <a:rPr dirty="0"/>
              <a:t> </a:t>
            </a:r>
            <a:r>
              <a:rPr dirty="0" err="1"/>
              <a:t>распространяется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соответствующие</a:t>
            </a:r>
            <a:r>
              <a:rPr dirty="0"/>
              <a:t> </a:t>
            </a:r>
            <a:r>
              <a:rPr dirty="0" err="1"/>
              <a:t>условиям</a:t>
            </a:r>
            <a:r>
              <a:rPr dirty="0"/>
              <a:t> </a:t>
            </a:r>
            <a:r>
              <a:rPr dirty="0" err="1"/>
              <a:t>низкорисковые</a:t>
            </a:r>
            <a:r>
              <a:rPr dirty="0"/>
              <a:t> </a:t>
            </a:r>
            <a:r>
              <a:rPr dirty="0" err="1"/>
              <a:t>планы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dirty="0"/>
              <a:t>. </a:t>
            </a:r>
            <a:r>
              <a:rPr dirty="0" err="1"/>
              <a:t>Показанный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дополнения</a:t>
            </a:r>
            <a:r>
              <a:rPr dirty="0"/>
              <a:t> </a:t>
            </a:r>
            <a:r>
              <a:rPr dirty="0" err="1"/>
              <a:t>существующей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плана</a:t>
            </a:r>
            <a:r>
              <a:rPr dirty="0"/>
              <a:t>. В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реализации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и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, </a:t>
            </a:r>
            <a:r>
              <a:rPr dirty="0" err="1"/>
              <a:t>окончательный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генерируется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допуска</a:t>
            </a:r>
            <a:r>
              <a:rPr dirty="0"/>
              <a:t>. </a:t>
            </a:r>
            <a:r>
              <a:rPr dirty="0" err="1"/>
              <a:t>Макет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концепцией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В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таблице</a:t>
            </a:r>
            <a:r>
              <a:rPr dirty="0"/>
              <a:t> </a:t>
            </a:r>
            <a:r>
              <a:rPr dirty="0" err="1"/>
              <a:t>средняя</a:t>
            </a:r>
            <a:r>
              <a:rPr dirty="0"/>
              <a:t> </a:t>
            </a:r>
            <a:r>
              <a:rPr dirty="0" err="1"/>
              <a:t>колонка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ручную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использовании</a:t>
            </a:r>
            <a:r>
              <a:rPr dirty="0"/>
              <a:t> </a:t>
            </a:r>
            <a:r>
              <a:rPr dirty="0" err="1"/>
              <a:t>обычных</a:t>
            </a:r>
            <a:r>
              <a:rPr dirty="0"/>
              <a:t> </a:t>
            </a:r>
            <a:r>
              <a:rPr dirty="0" err="1"/>
              <a:t>способов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нашего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.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возлагаются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нашего</a:t>
            </a:r>
            <a:r>
              <a:rPr dirty="0"/>
              <a:t> </a:t>
            </a:r>
            <a:r>
              <a:rPr dirty="0" err="1"/>
              <a:t>продукта</a:t>
            </a:r>
            <a:r>
              <a:rPr dirty="0"/>
              <a:t>.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извлекает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,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,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существующие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, </a:t>
            </a:r>
            <a:r>
              <a:rPr dirty="0" err="1"/>
              <a:t>сравнивает</a:t>
            </a:r>
            <a:r>
              <a:rPr dirty="0"/>
              <a:t> </a:t>
            </a:r>
            <a:r>
              <a:rPr dirty="0" err="1"/>
              <a:t>содержание</a:t>
            </a:r>
            <a:r>
              <a:rPr dirty="0"/>
              <a:t> и </a:t>
            </a:r>
            <a:r>
              <a:rPr dirty="0" err="1"/>
              <a:t>готовит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. </a:t>
            </a:r>
            <a:r>
              <a:rPr dirty="0" err="1"/>
              <a:t>Затем</a:t>
            </a:r>
            <a:r>
              <a:rPr dirty="0"/>
              <a:t>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допуска</a:t>
            </a:r>
            <a:r>
              <a:rPr dirty="0"/>
              <a:t> </a:t>
            </a:r>
            <a:r>
              <a:rPr dirty="0" err="1"/>
              <a:t>плана</a:t>
            </a:r>
            <a:r>
              <a:rPr dirty="0"/>
              <a:t>,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генерирует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,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дополняет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и </a:t>
            </a:r>
            <a:r>
              <a:rPr dirty="0" err="1"/>
              <a:t>записывает</a:t>
            </a:r>
            <a:r>
              <a:rPr dirty="0"/>
              <a:t> </a:t>
            </a:r>
            <a:r>
              <a:rPr dirty="0" err="1"/>
              <a:t>ссылки</a:t>
            </a:r>
            <a:r>
              <a:rPr dirty="0"/>
              <a:t>.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сохранённые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импортирует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 и в </a:t>
            </a:r>
            <a:r>
              <a:rPr dirty="0" err="1"/>
              <a:t>режиме</a:t>
            </a:r>
            <a:r>
              <a:rPr dirty="0"/>
              <a:t> с </a:t>
            </a:r>
            <a:r>
              <a:rPr dirty="0" err="1"/>
              <a:t>подтверждением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,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исключить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отказать</a:t>
            </a:r>
            <a:r>
              <a:rPr dirty="0"/>
              <a:t>. </a:t>
            </a:r>
            <a:r>
              <a:rPr dirty="0" err="1"/>
              <a:t>Конфликты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. </a:t>
            </a:r>
            <a:r>
              <a:rPr dirty="0" err="1"/>
              <a:t>Низкорисковые</a:t>
            </a:r>
            <a:r>
              <a:rPr dirty="0"/>
              <a:t> </a:t>
            </a:r>
            <a:r>
              <a:rPr dirty="0" err="1"/>
              <a:t>планы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выполняться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включил</a:t>
            </a:r>
            <a:r>
              <a:rPr dirty="0"/>
              <a:t> </a:t>
            </a:r>
            <a:r>
              <a:rPr dirty="0" err="1"/>
              <a:t>соответствующую</a:t>
            </a:r>
            <a:r>
              <a:rPr dirty="0"/>
              <a:t> </a:t>
            </a:r>
            <a:r>
              <a:rPr dirty="0" err="1"/>
              <a:t>настройку</a:t>
            </a:r>
            <a:r>
              <a:rPr dirty="0"/>
              <a:t>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автоматический</a:t>
            </a:r>
            <a:r>
              <a:rPr dirty="0"/>
              <a:t> </a:t>
            </a:r>
            <a:r>
              <a:rPr dirty="0" err="1"/>
              <a:t>допуск</a:t>
            </a:r>
            <a:r>
              <a:rPr dirty="0"/>
              <a:t> </a:t>
            </a:r>
            <a:r>
              <a:rPr dirty="0" err="1"/>
              <a:t>выключен</a:t>
            </a:r>
            <a:r>
              <a:rPr dirty="0"/>
              <a:t>.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сокращение</a:t>
            </a:r>
            <a:r>
              <a:rPr dirty="0"/>
              <a:t> </a:t>
            </a:r>
            <a:r>
              <a:rPr dirty="0" err="1"/>
              <a:t>повторного</a:t>
            </a:r>
            <a:r>
              <a:rPr dirty="0"/>
              <a:t> </a:t>
            </a:r>
            <a:r>
              <a:rPr dirty="0" err="1"/>
              <a:t>чтения</a:t>
            </a:r>
            <a:r>
              <a:rPr dirty="0"/>
              <a:t> и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основание</a:t>
            </a:r>
            <a:r>
              <a:rPr dirty="0"/>
              <a:t> </a:t>
            </a:r>
            <a:r>
              <a:rPr dirty="0" err="1"/>
              <a:t>ожидать</a:t>
            </a:r>
            <a:r>
              <a:rPr dirty="0"/>
              <a:t> </a:t>
            </a:r>
            <a:r>
              <a:rPr dirty="0" err="1"/>
              <a:t>выигрыша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.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эффект</a:t>
            </a:r>
            <a:r>
              <a:rPr dirty="0"/>
              <a:t>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в </a:t>
            </a:r>
            <a:r>
              <a:rPr dirty="0" err="1"/>
              <a:t>пользовательском</a:t>
            </a:r>
            <a:r>
              <a:rPr dirty="0"/>
              <a:t> </a:t>
            </a:r>
            <a:r>
              <a:rPr dirty="0" err="1"/>
              <a:t>тесте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шаг</a:t>
            </a:r>
            <a:r>
              <a:rPr dirty="0"/>
              <a:t> — </a:t>
            </a:r>
            <a:r>
              <a:rPr dirty="0" err="1"/>
              <a:t>интервью</a:t>
            </a:r>
            <a:r>
              <a:rPr dirty="0"/>
              <a:t> с </a:t>
            </a:r>
            <a:r>
              <a:rPr dirty="0" err="1"/>
              <a:t>людьми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регулярно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ИИ и </a:t>
            </a:r>
            <a:r>
              <a:rPr dirty="0" err="1"/>
              <a:t>ведут</a:t>
            </a:r>
            <a:r>
              <a:rPr dirty="0"/>
              <a:t> </a:t>
            </a:r>
            <a:r>
              <a:rPr dirty="0" err="1"/>
              <a:t>личные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.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выяснить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возвращаются</a:t>
            </a:r>
            <a:r>
              <a:rPr dirty="0"/>
              <a:t> к </a:t>
            </a:r>
            <a:r>
              <a:rPr dirty="0" err="1"/>
              <a:t>разговорам</a:t>
            </a:r>
            <a:r>
              <a:rPr dirty="0"/>
              <a:t> и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теряют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проведём</a:t>
            </a:r>
            <a:r>
              <a:rPr dirty="0"/>
              <a:t> </a:t>
            </a:r>
            <a:r>
              <a:rPr dirty="0" err="1"/>
              <a:t>сравнительный</a:t>
            </a:r>
            <a:r>
              <a:rPr dirty="0"/>
              <a:t> </a:t>
            </a:r>
            <a:r>
              <a:rPr dirty="0" err="1"/>
              <a:t>тест</a:t>
            </a:r>
            <a:r>
              <a:rPr dirty="0"/>
              <a:t>: </a:t>
            </a:r>
            <a:r>
              <a:rPr dirty="0" err="1"/>
              <a:t>участники</a:t>
            </a:r>
            <a:r>
              <a:rPr dirty="0"/>
              <a:t> </a:t>
            </a:r>
            <a:r>
              <a:rPr dirty="0" err="1"/>
              <a:t>обработают</a:t>
            </a:r>
            <a:r>
              <a:rPr dirty="0"/>
              <a:t> </a:t>
            </a:r>
            <a:r>
              <a:rPr dirty="0" err="1"/>
              <a:t>сопоставимые</a:t>
            </a:r>
            <a:r>
              <a:rPr dirty="0"/>
              <a:t> </a:t>
            </a:r>
            <a:r>
              <a:rPr dirty="0" err="1"/>
              <a:t>многошаговые</a:t>
            </a:r>
            <a:r>
              <a:rPr dirty="0"/>
              <a:t> </a:t>
            </a:r>
            <a:r>
              <a:rPr dirty="0" err="1"/>
              <a:t>диалоги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и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, </a:t>
            </a:r>
            <a:r>
              <a:rPr dirty="0" err="1"/>
              <a:t>имея</a:t>
            </a:r>
            <a:r>
              <a:rPr dirty="0"/>
              <a:t> </a:t>
            </a:r>
            <a:r>
              <a:rPr dirty="0" err="1"/>
              <a:t>подготовленную</a:t>
            </a:r>
            <a:r>
              <a:rPr dirty="0"/>
              <a:t> </a:t>
            </a:r>
            <a:r>
              <a:rPr dirty="0" err="1"/>
              <a:t>базу</a:t>
            </a:r>
            <a:r>
              <a:rPr dirty="0"/>
              <a:t> с </a:t>
            </a:r>
            <a:r>
              <a:rPr dirty="0" err="1"/>
              <a:t>повторяющимися</a:t>
            </a:r>
            <a:r>
              <a:rPr dirty="0"/>
              <a:t> и </a:t>
            </a:r>
            <a:r>
              <a:rPr dirty="0" err="1"/>
              <a:t>дополняемыми</a:t>
            </a:r>
            <a:r>
              <a:rPr dirty="0"/>
              <a:t> </a:t>
            </a:r>
            <a:r>
              <a:rPr dirty="0" err="1"/>
              <a:t>темами</a:t>
            </a:r>
            <a:r>
              <a:rPr dirty="0"/>
              <a:t>.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способов</a:t>
            </a:r>
            <a:r>
              <a:rPr dirty="0"/>
              <a:t> </a:t>
            </a:r>
            <a:r>
              <a:rPr dirty="0" err="1"/>
              <a:t>следует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участниками</a:t>
            </a:r>
            <a:r>
              <a:rPr dirty="0"/>
              <a:t>.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измерим</a:t>
            </a:r>
            <a:r>
              <a:rPr dirty="0"/>
              <a:t> </a:t>
            </a:r>
            <a:r>
              <a:rPr dirty="0" err="1"/>
              <a:t>полное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принятого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, </a:t>
            </a:r>
            <a:r>
              <a:rPr dirty="0" err="1"/>
              <a:t>включая</a:t>
            </a:r>
            <a:r>
              <a:rPr dirty="0"/>
              <a:t> </a:t>
            </a:r>
            <a:r>
              <a:rPr dirty="0" err="1"/>
              <a:t>ожидание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и </a:t>
            </a:r>
            <a:r>
              <a:rPr dirty="0" err="1"/>
              <a:t>исправления</a:t>
            </a:r>
            <a:r>
              <a:rPr dirty="0"/>
              <a:t>.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оценим</a:t>
            </a:r>
            <a:r>
              <a:rPr dirty="0"/>
              <a:t> </a:t>
            </a:r>
            <a:r>
              <a:rPr dirty="0" err="1"/>
              <a:t>пропущенные</a:t>
            </a:r>
            <a:r>
              <a:rPr dirty="0"/>
              <a:t> </a:t>
            </a:r>
            <a:r>
              <a:rPr dirty="0" err="1"/>
              <a:t>полезные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, </a:t>
            </a:r>
            <a:r>
              <a:rPr dirty="0" err="1"/>
              <a:t>дубли</a:t>
            </a:r>
            <a:r>
              <a:rPr dirty="0"/>
              <a:t>, </a:t>
            </a:r>
            <a:r>
              <a:rPr dirty="0" err="1"/>
              <a:t>неудачную</a:t>
            </a:r>
            <a:r>
              <a:rPr dirty="0"/>
              <a:t> </a:t>
            </a:r>
            <a:r>
              <a:rPr dirty="0" err="1"/>
              <a:t>организацию</a:t>
            </a:r>
            <a:r>
              <a:rPr dirty="0"/>
              <a:t> и </a:t>
            </a:r>
            <a:r>
              <a:rPr dirty="0" err="1"/>
              <a:t>ошибочные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 </a:t>
            </a:r>
            <a:r>
              <a:rPr dirty="0" err="1"/>
              <a:t>Отдельное</a:t>
            </a:r>
            <a:r>
              <a:rPr dirty="0"/>
              <a:t> </a:t>
            </a:r>
            <a:r>
              <a:rPr dirty="0" err="1"/>
              <a:t>задание</a:t>
            </a:r>
            <a:r>
              <a:rPr dirty="0"/>
              <a:t> </a:t>
            </a:r>
            <a:r>
              <a:rPr dirty="0" err="1"/>
              <a:t>позже</a:t>
            </a:r>
            <a:r>
              <a:rPr dirty="0"/>
              <a:t> </a:t>
            </a:r>
            <a:r>
              <a:rPr dirty="0" err="1"/>
              <a:t>покажет</a:t>
            </a:r>
            <a:r>
              <a:rPr dirty="0"/>
              <a:t>,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и </a:t>
            </a:r>
            <a:r>
              <a:rPr dirty="0" err="1"/>
              <a:t>применить</a:t>
            </a:r>
            <a:r>
              <a:rPr dirty="0"/>
              <a:t> </a:t>
            </a:r>
            <a:r>
              <a:rPr dirty="0" err="1"/>
              <a:t>сохранённое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. </a:t>
            </a:r>
            <a:r>
              <a:rPr dirty="0" err="1"/>
              <a:t>Польза</a:t>
            </a:r>
            <a:r>
              <a:rPr dirty="0"/>
              <a:t> </a:t>
            </a:r>
            <a:r>
              <a:rPr dirty="0" err="1"/>
              <a:t>подтверждается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, а </a:t>
            </a:r>
            <a:r>
              <a:rPr dirty="0" err="1"/>
              <a:t>качество</a:t>
            </a:r>
            <a:r>
              <a:rPr dirty="0"/>
              <a:t> и </a:t>
            </a:r>
            <a:r>
              <a:rPr dirty="0" err="1"/>
              <a:t>повторное</a:t>
            </a:r>
            <a:r>
              <a:rPr dirty="0"/>
              <a:t>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ухудшаются</a:t>
            </a:r>
            <a:r>
              <a:rPr dirty="0"/>
              <a:t>.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предлагаем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сообщаем</a:t>
            </a:r>
            <a:r>
              <a:rPr dirty="0"/>
              <a:t> </a:t>
            </a:r>
            <a:r>
              <a:rPr dirty="0" err="1"/>
              <a:t>готовые</a:t>
            </a:r>
            <a:r>
              <a:rPr dirty="0"/>
              <a:t> </a:t>
            </a:r>
            <a:r>
              <a:rPr dirty="0" err="1"/>
              <a:t>результаты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">
            <a:extLst>
              <a:ext uri="{FF2B5EF4-FFF2-40B4-BE49-F238E27FC236}">
                <a16:creationId xmlns:a16="http://schemas.microsoft.com/office/drawing/2014/main" id="{9FCC0FD8-7417-470F-977E-4687E082970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Личная база знаний&#10;из диалогов с ИИ">
            <a:extLst>
              <a:ext uri="{FF2B5EF4-FFF2-40B4-BE49-F238E27FC236}">
                <a16:creationId xmlns:a16="http://schemas.microsoft.com/office/drawing/2014/main" id="{73F6082C-1A86-413B-93AC-DF98E2119341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763250" cy="1952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Личная база знаний</a:t>
            </a:r>
          </a:p>
          <a:p>
            <a:pPr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диалогов с ИИ</a:t>
            </a:r>
          </a:p>
        </p:txBody>
      </p:sp>
      <p:sp>
        <p:nvSpPr>
          <p:cNvPr id="3" name="Извлечение ценных знаний из многошаговых диалогов&#10;и их включение в сущ">
            <a:extLst>
              <a:ext uri="{FF2B5EF4-FFF2-40B4-BE49-F238E27FC236}">
                <a16:creationId xmlns:a16="http://schemas.microsoft.com/office/drawing/2014/main" id="{CE763D01-4025-4ACC-9CC3-A2B623B8718C}"/>
              </a:ext>
            </a:extLst>
          </p:cNvPr>
          <p:cNvSpPr>
            <a:spLocks noGrp="1"/>
          </p:cNvSpPr>
          <p:nvPr/>
        </p:nvSpPr>
        <p:spPr>
          <a:xfrm>
            <a:off x="723900" y="3857625"/>
            <a:ext cx="1066800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Извлечение ценных знаний из многошаговых диалогов</a:t>
            </a:r>
          </a:p>
          <a:p>
            <a:pPr>
              <a:buNone/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их включение в существующую базу Obsidian</a:t>
            </a:r>
          </a:p>
        </p:txBody>
      </p:sp>
      <p:sp>
        <p:nvSpPr>
          <p:cNvPr id="4" name="Conversation-to-Knowledge Agent">
            <a:extLst>
              <a:ext uri="{FF2B5EF4-FFF2-40B4-BE49-F238E27FC236}">
                <a16:creationId xmlns:a16="http://schemas.microsoft.com/office/drawing/2014/main" id="{D60C15F5-EEC1-41F0-A835-3BE77068416B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</p:spTree>
    <p:extLst>
      <p:ext uri="{BB962C8B-B14F-4D97-AF65-F5344CB8AC3E}">
        <p14:creationId xmlns:p14="http://schemas.microsoft.com/office/powerpoint/2010/main" val="633406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ля кого мы создаём интерфейс">
            <a:extLst>
              <a:ext uri="{FF2B5EF4-FFF2-40B4-BE49-F238E27FC236}">
                <a16:creationId xmlns:a16="http://schemas.microsoft.com/office/drawing/2014/main" id="{FD9F749B-1624-45B7-BA2D-41E82658626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Для кого мы создаём интерфейс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C65F39A3-DDA6-4185-A35C-8457AB737AC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Регулярно обсуждают&#10;вопросы с ИИ">
            <a:extLst>
              <a:ext uri="{FF2B5EF4-FFF2-40B4-BE49-F238E27FC236}">
                <a16:creationId xmlns:a16="http://schemas.microsoft.com/office/drawing/2014/main" id="{FA682BFD-0F07-4E89-8299-70940854CF29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09587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Регулярно обсуждают</a:t>
            </a:r>
          </a:p>
          <a:p>
            <a:pPr>
              <a:buNone/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вопросы с ИИ</a:t>
            </a:r>
          </a:p>
        </p:txBody>
      </p:sp>
      <p:sp>
        <p:nvSpPr>
          <p:cNvPr id="4" name="Хотят сохранять знания&#10;и применять их снова">
            <a:extLst>
              <a:ext uri="{FF2B5EF4-FFF2-40B4-BE49-F238E27FC236}">
                <a16:creationId xmlns:a16="http://schemas.microsoft.com/office/drawing/2014/main" id="{FF02CE57-7E37-49AE-8F6E-ABA4DD6A26C6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50482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Хотят сохранять знания</a:t>
            </a:r>
          </a:p>
          <a:p>
            <a:pPr>
              <a:buNone/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применять их снова</a:t>
            </a:r>
          </a:p>
        </p:txBody>
      </p:sp>
      <p:sp>
        <p:nvSpPr>
          <p:cNvPr id="5" name="Для первого этапа:&#10;пользователи Obsidian">
            <a:extLst>
              <a:ext uri="{FF2B5EF4-FFF2-40B4-BE49-F238E27FC236}">
                <a16:creationId xmlns:a16="http://schemas.microsoft.com/office/drawing/2014/main" id="{92E2BC63-21F5-4F51-8DFE-A6262F8337C7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Для первого этапа:</a:t>
            </a:r>
          </a:p>
          <a:p>
            <a:pPr>
              <a:buNone/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пользователи Obsidian</a:t>
            </a:r>
          </a:p>
        </p:txBody>
      </p:sp>
      <p:sp>
        <p:nvSpPr>
          <p:cNvPr id="6" name="Работа и личные проекты">
            <a:extLst>
              <a:ext uri="{FF2B5EF4-FFF2-40B4-BE49-F238E27FC236}">
                <a16:creationId xmlns:a16="http://schemas.microsoft.com/office/drawing/2014/main" id="{C75575AE-5653-4DAC-8937-FAFB83EFFE24}"/>
              </a:ext>
            </a:extLst>
          </p:cNvPr>
          <p:cNvSpPr>
            <a:spLocks noGrp="1"/>
          </p:cNvSpPr>
          <p:nvPr/>
        </p:nvSpPr>
        <p:spPr>
          <a:xfrm>
            <a:off x="6572250" y="1857375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Работа и личные проекты</a:t>
            </a:r>
          </a:p>
        </p:txBody>
      </p:sp>
      <p:sp>
        <p:nvSpPr>
          <p:cNvPr id="7" name="Разработка, исследования,&#10;анализ и создание материалов">
            <a:extLst>
              <a:ext uri="{FF2B5EF4-FFF2-40B4-BE49-F238E27FC236}">
                <a16:creationId xmlns:a16="http://schemas.microsoft.com/office/drawing/2014/main" id="{A765393E-30D3-43FD-BA3F-21C6743A833E}"/>
              </a:ext>
            </a:extLst>
          </p:cNvPr>
          <p:cNvSpPr>
            <a:spLocks noGrp="1"/>
          </p:cNvSpPr>
          <p:nvPr/>
        </p:nvSpPr>
        <p:spPr>
          <a:xfrm>
            <a:off x="6572250" y="2505075"/>
            <a:ext cx="48577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Разработка, исследования,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анализ и создание материалов</a:t>
            </a:r>
          </a:p>
        </p:txBody>
      </p:sp>
      <p:sp>
        <p:nvSpPr>
          <p:cNvPr id="8" name="Самостоятельное изучение тем">
            <a:extLst>
              <a:ext uri="{FF2B5EF4-FFF2-40B4-BE49-F238E27FC236}">
                <a16:creationId xmlns:a16="http://schemas.microsoft.com/office/drawing/2014/main" id="{64168C1B-CF04-438B-8763-193CAC2F0CBF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49053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Самостоятельное изучение тем</a:t>
            </a:r>
          </a:p>
        </p:txBody>
      </p:sp>
      <p:sp>
        <p:nvSpPr>
          <p:cNvPr id="9" name="Профессиональные интересы&#10;и повседневные вопросы">
            <a:extLst>
              <a:ext uri="{FF2B5EF4-FFF2-40B4-BE49-F238E27FC236}">
                <a16:creationId xmlns:a16="http://schemas.microsoft.com/office/drawing/2014/main" id="{AC09991D-6BDC-4BE0-B487-9C637DBFD563}"/>
              </a:ext>
            </a:extLst>
          </p:cNvPr>
          <p:cNvSpPr>
            <a:spLocks noGrp="1"/>
          </p:cNvSpPr>
          <p:nvPr/>
        </p:nvSpPr>
        <p:spPr>
          <a:xfrm>
            <a:off x="6572250" y="4743450"/>
            <a:ext cx="4857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Профессиональные интересы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повседневные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62339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чему знания трудно сохранить из диалога">
            <a:extLst>
              <a:ext uri="{FF2B5EF4-FFF2-40B4-BE49-F238E27FC236}">
                <a16:creationId xmlns:a16="http://schemas.microsoft.com/office/drawing/2014/main" id="{0BAF2C1D-37C6-4E4A-AB86-CD810620EA4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знания трудно сохранить из диалога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C076E357-5A36-497D-A19D-998202389F10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В ходе разговора">
            <a:extLst>
              <a:ext uri="{FF2B5EF4-FFF2-40B4-BE49-F238E27FC236}">
                <a16:creationId xmlns:a16="http://schemas.microsoft.com/office/drawing/2014/main" id="{D9E9738E-3D75-493F-8DC8-A806DC63FE2C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В ходе разговора</a:t>
            </a:r>
          </a:p>
        </p:txBody>
      </p:sp>
      <p:sp>
        <p:nvSpPr>
          <p:cNvPr id="4" name="Вопрос и первый ответ&#10;Уточнения и новые условия&#10;Исправления и выводы">
            <a:extLst>
              <a:ext uri="{FF2B5EF4-FFF2-40B4-BE49-F238E27FC236}">
                <a16:creationId xmlns:a16="http://schemas.microsoft.com/office/drawing/2014/main" id="{374C2B9C-FCDD-411D-8BEE-D3CC6BEA1A60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23875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Вопрос и первый ответ</a:t>
            </a:r>
          </a:p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Уточнения и новые условия</a:t>
            </a:r>
          </a:p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Исправления и выводы</a:t>
            </a:r>
          </a:p>
        </p:txBody>
      </p:sp>
      <p:sp>
        <p:nvSpPr>
          <p:cNvPr id="5" name="Чтобы использовать позже">
            <a:extLst>
              <a:ext uri="{FF2B5EF4-FFF2-40B4-BE49-F238E27FC236}">
                <a16:creationId xmlns:a16="http://schemas.microsoft.com/office/drawing/2014/main" id="{0E07C676-A6DC-47FE-9C11-B766F309EF26}"/>
              </a:ext>
            </a:extLst>
          </p:cNvPr>
          <p:cNvSpPr>
            <a:spLocks noGrp="1"/>
          </p:cNvSpPr>
          <p:nvPr/>
        </p:nvSpPr>
        <p:spPr>
          <a:xfrm>
            <a:off x="6572250" y="17907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Чтобы использовать позже</a:t>
            </a:r>
          </a:p>
        </p:txBody>
      </p:sp>
      <p:sp>
        <p:nvSpPr>
          <p:cNvPr id="6" name="Собрать смысл из разных реплик&#10;Убрать повторы и временные детали&#10;Связа">
            <a:extLst>
              <a:ext uri="{FF2B5EF4-FFF2-40B4-BE49-F238E27FC236}">
                <a16:creationId xmlns:a16="http://schemas.microsoft.com/office/drawing/2014/main" id="{010FCCCF-88B0-4121-8764-DB5768A23401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4972050" cy="1781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Собрать смысл из разных реплик</a:t>
            </a:r>
          </a:p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Убрать повторы и временные детали</a:t>
            </a:r>
          </a:p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Связать с тем, что уже известно</a:t>
            </a:r>
          </a:p>
        </p:txBody>
      </p:sp>
      <p:sp>
        <p:nvSpPr>
          <p:cNvPr id="7" name="Обсуждение идёт по порядку реплик.&#10;Знания нужны в структуре тем и связ">
            <a:extLst>
              <a:ext uri="{FF2B5EF4-FFF2-40B4-BE49-F238E27FC236}">
                <a16:creationId xmlns:a16="http://schemas.microsoft.com/office/drawing/2014/main" id="{A54462EE-8BF4-4642-A947-6D06E7927535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057275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Обсуждение идёт по порядку реплик.</a:t>
            </a:r>
          </a:p>
          <a:p>
            <a:pPr>
              <a:buNone/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Знания нужны в структуре тем и связей.</a:t>
            </a:r>
          </a:p>
        </p:txBody>
      </p:sp>
    </p:spTree>
    <p:extLst>
      <p:ext uri="{BB962C8B-B14F-4D97-AF65-F5344CB8AC3E}">
        <p14:creationId xmlns:p14="http://schemas.microsoft.com/office/powerpoint/2010/main" val="55539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Какие знания мы извлекаем">
            <a:extLst>
              <a:ext uri="{FF2B5EF4-FFF2-40B4-BE49-F238E27FC236}">
                <a16:creationId xmlns:a16="http://schemas.microsoft.com/office/drawing/2014/main" id="{6F503786-004D-4FE3-A688-F49546BB3CEB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Какие знания мы извлекаем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16453890-793D-4189-87BE-AE261B8567AC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Понятия и объяснения">
            <a:extLst>
              <a:ext uri="{FF2B5EF4-FFF2-40B4-BE49-F238E27FC236}">
                <a16:creationId xmlns:a16="http://schemas.microsoft.com/office/drawing/2014/main" id="{5EDEFFFB-5881-409A-8EA5-FAF7A584CB1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Понятия и объяснения</a:t>
            </a:r>
          </a:p>
        </p:txBody>
      </p:sp>
      <p:sp>
        <p:nvSpPr>
          <p:cNvPr id="4" name="Суть идеи и важные уточнения">
            <a:extLst>
              <a:ext uri="{FF2B5EF4-FFF2-40B4-BE49-F238E27FC236}">
                <a16:creationId xmlns:a16="http://schemas.microsoft.com/office/drawing/2014/main" id="{57FE78C7-8CD2-4794-A4BB-C256601C96B9}"/>
              </a:ext>
            </a:extLst>
          </p:cNvPr>
          <p:cNvSpPr>
            <a:spLocks noGrp="1"/>
          </p:cNvSpPr>
          <p:nvPr/>
        </p:nvSpPr>
        <p:spPr>
          <a:xfrm>
            <a:off x="5476875" y="18383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Суть идеи и важные уточнения</a:t>
            </a:r>
          </a:p>
        </p:txBody>
      </p:sp>
      <p:sp>
        <p:nvSpPr>
          <p:cNvPr id="5" name="Методы и решения">
            <a:extLst>
              <a:ext uri="{FF2B5EF4-FFF2-40B4-BE49-F238E27FC236}">
                <a16:creationId xmlns:a16="http://schemas.microsoft.com/office/drawing/2014/main" id="{F0CD4FD9-D160-45B9-84DF-996A20B7D7B2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Методы и решения</a:t>
            </a:r>
          </a:p>
        </p:txBody>
      </p:sp>
      <p:sp>
        <p:nvSpPr>
          <p:cNvPr id="6" name="Как действовать и при каких условиях">
            <a:extLst>
              <a:ext uri="{FF2B5EF4-FFF2-40B4-BE49-F238E27FC236}">
                <a16:creationId xmlns:a16="http://schemas.microsoft.com/office/drawing/2014/main" id="{72147D62-BAB9-4C93-BB25-7513C5FB802B}"/>
              </a:ext>
            </a:extLst>
          </p:cNvPr>
          <p:cNvSpPr>
            <a:spLocks noGrp="1"/>
          </p:cNvSpPr>
          <p:nvPr/>
        </p:nvSpPr>
        <p:spPr>
          <a:xfrm>
            <a:off x="5476875" y="27527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действовать и при каких условиях</a:t>
            </a:r>
          </a:p>
        </p:txBody>
      </p:sp>
      <p:sp>
        <p:nvSpPr>
          <p:cNvPr id="7" name="Выводы и выбор">
            <a:extLst>
              <a:ext uri="{FF2B5EF4-FFF2-40B4-BE49-F238E27FC236}">
                <a16:creationId xmlns:a16="http://schemas.microsoft.com/office/drawing/2014/main" id="{59F0D84D-5D36-4285-A4B6-123CE4087DE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Выводы и выбор</a:t>
            </a:r>
          </a:p>
        </p:txBody>
      </p:sp>
      <p:sp>
        <p:nvSpPr>
          <p:cNvPr id="8" name="Результат обсуждения и его основания">
            <a:extLst>
              <a:ext uri="{FF2B5EF4-FFF2-40B4-BE49-F238E27FC236}">
                <a16:creationId xmlns:a16="http://schemas.microsoft.com/office/drawing/2014/main" id="{4B991C3B-1A49-467E-9DAA-D960B60B8215}"/>
              </a:ext>
            </a:extLst>
          </p:cNvPr>
          <p:cNvSpPr>
            <a:spLocks noGrp="1"/>
          </p:cNvSpPr>
          <p:nvPr/>
        </p:nvSpPr>
        <p:spPr>
          <a:xfrm>
            <a:off x="5476875" y="36671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Результат обсуждения и его основания</a:t>
            </a:r>
          </a:p>
        </p:txBody>
      </p:sp>
      <p:sp>
        <p:nvSpPr>
          <p:cNvPr id="9" name="Развитие понимания">
            <a:extLst>
              <a:ext uri="{FF2B5EF4-FFF2-40B4-BE49-F238E27FC236}">
                <a16:creationId xmlns:a16="http://schemas.microsoft.com/office/drawing/2014/main" id="{CC4ADB22-91BD-4406-9E5B-99B59E039778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Развитие понимания</a:t>
            </a:r>
          </a:p>
        </p:txBody>
      </p:sp>
      <p:sp>
        <p:nvSpPr>
          <p:cNvPr id="10" name="Исходное понимание, уточнение, итог">
            <a:extLst>
              <a:ext uri="{FF2B5EF4-FFF2-40B4-BE49-F238E27FC236}">
                <a16:creationId xmlns:a16="http://schemas.microsoft.com/office/drawing/2014/main" id="{C8561227-4DE1-48C4-B72E-536883CCDB48}"/>
              </a:ext>
            </a:extLst>
          </p:cNvPr>
          <p:cNvSpPr>
            <a:spLocks noGrp="1"/>
          </p:cNvSpPr>
          <p:nvPr/>
        </p:nvSpPr>
        <p:spPr>
          <a:xfrm>
            <a:off x="5476875" y="45815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Исходное понимание, уточнение, итог</a:t>
            </a:r>
          </a:p>
        </p:txBody>
      </p:sp>
      <p:sp>
        <p:nvSpPr>
          <p:cNvPr id="11" name="Отбираем то, что полезно сохранить надолго.&#10;Пропускаем повторы, привет">
            <a:extLst>
              <a:ext uri="{FF2B5EF4-FFF2-40B4-BE49-F238E27FC236}">
                <a16:creationId xmlns:a16="http://schemas.microsoft.com/office/drawing/2014/main" id="{22ED3137-7D24-48E1-BB44-3F66A2816401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Отбираем то, что полезно сохранить надолго.</a:t>
            </a:r>
          </a:p>
          <a:p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Пропускаем повторы, приветствия и временные детали.</a:t>
            </a:r>
          </a:p>
        </p:txBody>
      </p:sp>
    </p:spTree>
    <p:extLst>
      <p:ext uri="{BB962C8B-B14F-4D97-AF65-F5344CB8AC3E}">
        <p14:creationId xmlns:p14="http://schemas.microsoft.com/office/powerpoint/2010/main" val="50473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Как новые знания дополняют базу">
            <a:extLst>
              <a:ext uri="{FF2B5EF4-FFF2-40B4-BE49-F238E27FC236}">
                <a16:creationId xmlns:a16="http://schemas.microsoft.com/office/drawing/2014/main" id="{3A3F92A0-97A1-4C97-B72A-991B38E1376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новые знания дополняют базу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32115F17-CFCE-4E4D-9436-5679CE657838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85800" y="1762125"/>
          <a:ext cx="10820400" cy="3743325"/>
        </p:xfrm>
        <a:graphic>
          <a:graphicData uri="http://schemas.openxmlformats.org/drawingml/2006/table">
            <a:tbl>
              <a:tblPr/>
              <a:tblGrid>
                <a:gridCol w="521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найдено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Предложение системы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Новое самостоятельное знание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Создать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Дополнение к знакомой теме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Дополнить существующую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Небольшая часть общей темы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Включить в раздел подходящей заметки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Повтор без новой информации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Пропустить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Противоречие прежней записи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Отметить конфликт для проверки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Связи между заметками объединяют знания из разных диалогов">
            <a:extLst>
              <a:ext uri="{FF2B5EF4-FFF2-40B4-BE49-F238E27FC236}">
                <a16:creationId xmlns:a16="http://schemas.microsoft.com/office/drawing/2014/main" id="{933A0C3A-C433-4295-9722-C16BD99226A2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477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Связи между заметками объединяют знания из разных диалогов</a:t>
            </a:r>
          </a:p>
        </p:txBody>
      </p:sp>
    </p:spTree>
    <p:extLst>
      <p:ext uri="{BB962C8B-B14F-4D97-AF65-F5344CB8AC3E}">
        <p14:creationId xmlns:p14="http://schemas.microsoft.com/office/powerpoint/2010/main" val="163236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имер: резервное копирование для проекта">
            <a:extLst>
              <a:ext uri="{FF2B5EF4-FFF2-40B4-BE49-F238E27FC236}">
                <a16:creationId xmlns:a16="http://schemas.microsoft.com/office/drawing/2014/main" id="{6C4873F8-05D7-460A-B3B2-7FCF26A40C7F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Пример: резервное копирование для проекта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57819C4F-54C9-4AE6-9997-28AEE51D3969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Условный пример">
            <a:extLst>
              <a:ext uri="{FF2B5EF4-FFF2-40B4-BE49-F238E27FC236}">
                <a16:creationId xmlns:a16="http://schemas.microsoft.com/office/drawing/2014/main" id="{32EA4D66-27B1-4425-B6A1-2AC4180D9496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Условный пример</a:t>
            </a:r>
          </a:p>
        </p:txBody>
      </p:sp>
      <p:sp>
        <p:nvSpPr>
          <p:cNvPr id="23" name="Исходный диалог">
            <a:extLst>
              <a:ext uri="{FF2B5EF4-FFF2-40B4-BE49-F238E27FC236}">
                <a16:creationId xmlns:a16="http://schemas.microsoft.com/office/drawing/2014/main" id="{5A44E4EC-0F16-4DBF-AF97-5EA5796AF499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2905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Исходный диалог</a:t>
            </a:r>
          </a:p>
        </p:txBody>
      </p:sp>
      <p:sp>
        <p:nvSpPr>
          <p:cNvPr id="24" name="До импорта в приложение">
            <a:extLst>
              <a:ext uri="{FF2B5EF4-FFF2-40B4-BE49-F238E27FC236}">
                <a16:creationId xmlns:a16="http://schemas.microsoft.com/office/drawing/2014/main" id="{6B6838FB-8270-436E-A220-716485428A33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29908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До импорта в приложение</a:t>
            </a:r>
          </a:p>
        </p:txBody>
      </p:sp>
      <p:sp>
        <p:nvSpPr>
          <p:cNvPr id="25" name="«Как делать&#10;резервные копии?»">
            <a:extLst>
              <a:ext uri="{FF2B5EF4-FFF2-40B4-BE49-F238E27FC236}">
                <a16:creationId xmlns:a16="http://schemas.microsoft.com/office/drawing/2014/main" id="{262C80E8-49CC-48C9-B4F8-A4FD6D97364F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30003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«Как делать</a:t>
            </a:r>
          </a:p>
          <a:p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резервные копии?»</a:t>
            </a:r>
          </a:p>
        </p:txBody>
      </p:sp>
      <p:sp>
        <p:nvSpPr>
          <p:cNvPr id="26" name="«Как проверить&#10;восстановление?»">
            <a:extLst>
              <a:ext uri="{FF2B5EF4-FFF2-40B4-BE49-F238E27FC236}">
                <a16:creationId xmlns:a16="http://schemas.microsoft.com/office/drawing/2014/main" id="{11A135AB-6711-4258-877F-45D72FBBC6F9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30003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«Как проверить</a:t>
            </a:r>
          </a:p>
          <a:p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восстановление?»</a:t>
            </a:r>
          </a:p>
        </p:txBody>
      </p:sp>
      <p:sp>
        <p:nvSpPr>
          <p:cNvPr id="27" name="Ответы ИИ и уточнения&#10;пользователя">
            <a:extLst>
              <a:ext uri="{FF2B5EF4-FFF2-40B4-BE49-F238E27FC236}">
                <a16:creationId xmlns:a16="http://schemas.microsoft.com/office/drawing/2014/main" id="{1CFAFD20-6F9E-4FCE-BF32-CAE557C418E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30003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Ответы ИИ и уточнения</a:t>
            </a:r>
          </a:p>
          <a:p>
            <a:pPr>
              <a:defRPr sz="18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пользователя</a:t>
            </a:r>
          </a:p>
        </p:txBody>
      </p:sp>
      <p:sp>
        <p:nvSpPr>
          <p:cNvPr id="28" name="Система обрабатывает">
            <a:extLst>
              <a:ext uri="{FF2B5EF4-FFF2-40B4-BE49-F238E27FC236}">
                <a16:creationId xmlns:a16="http://schemas.microsoft.com/office/drawing/2014/main" id="{5197EAC5-1A24-4296-9A57-2F5BFEC751A0}"/>
              </a:ext>
            </a:extLst>
          </p:cNvPr>
          <p:cNvSpPr>
            <a:spLocks noGrp="1"/>
          </p:cNvSpPr>
          <p:nvPr/>
        </p:nvSpPr>
        <p:spPr>
          <a:xfrm>
            <a:off x="4114800" y="1914525"/>
            <a:ext cx="39433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Система обрабатывает</a:t>
            </a:r>
          </a:p>
        </p:txBody>
      </p:sp>
      <p:sp>
        <p:nvSpPr>
          <p:cNvPr id="29" name="Извлекает знание:&#10;проверка восстановления">
            <a:extLst>
              <a:ext uri="{FF2B5EF4-FFF2-40B4-BE49-F238E27FC236}">
                <a16:creationId xmlns:a16="http://schemas.microsoft.com/office/drawing/2014/main" id="{661F5CC5-140B-4D67-A08A-FB3E5E4B7F9E}"/>
              </a:ext>
            </a:extLst>
          </p:cNvPr>
          <p:cNvSpPr>
            <a:spLocks noGrp="1"/>
          </p:cNvSpPr>
          <p:nvPr/>
        </p:nvSpPr>
        <p:spPr>
          <a:xfrm>
            <a:off x="4114800" y="2695575"/>
            <a:ext cx="38862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Извлекает знание:</a:t>
            </a:r>
          </a:p>
          <a:p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проверка восстановления</a:t>
            </a:r>
          </a:p>
        </p:txBody>
      </p:sp>
      <p:sp>
        <p:nvSpPr>
          <p:cNvPr id="30" name="Находит заметку&#10;«Резервное копирование»">
            <a:extLst>
              <a:ext uri="{FF2B5EF4-FFF2-40B4-BE49-F238E27FC236}">
                <a16:creationId xmlns:a16="http://schemas.microsoft.com/office/drawing/2014/main" id="{7DF47E7B-FE20-4FAB-B6CE-2DD426124787}"/>
              </a:ext>
            </a:extLst>
          </p:cNvPr>
          <p:cNvSpPr>
            <a:spLocks noGrp="1"/>
          </p:cNvSpPr>
          <p:nvPr/>
        </p:nvSpPr>
        <p:spPr>
          <a:xfrm>
            <a:off x="4114800" y="3686175"/>
            <a:ext cx="38862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Находит заметку</a:t>
            </a:r>
          </a:p>
          <a:p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«Резервное копирование»</a:t>
            </a:r>
          </a:p>
        </p:txBody>
      </p:sp>
      <p:sp>
        <p:nvSpPr>
          <p:cNvPr id="31" name="Готовит дополнение&#10;и связи с другими заметками">
            <a:extLst>
              <a:ext uri="{FF2B5EF4-FFF2-40B4-BE49-F238E27FC236}">
                <a16:creationId xmlns:a16="http://schemas.microsoft.com/office/drawing/2014/main" id="{85CE6D40-251B-470F-A474-4EA188FE4BFD}"/>
              </a:ext>
            </a:extLst>
          </p:cNvPr>
          <p:cNvSpPr>
            <a:spLocks noGrp="1"/>
          </p:cNvSpPr>
          <p:nvPr/>
        </p:nvSpPr>
        <p:spPr>
          <a:xfrm>
            <a:off x="4114800" y="4705350"/>
            <a:ext cx="38862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Готовит дополнение</a:t>
            </a:r>
          </a:p>
          <a:p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связи с другими заметками</a:t>
            </a:r>
          </a:p>
        </p:txBody>
      </p:sp>
      <p:sp>
        <p:nvSpPr>
          <p:cNvPr id="32" name="Результат в базе">
            <a:extLst>
              <a:ext uri="{FF2B5EF4-FFF2-40B4-BE49-F238E27FC236}">
                <a16:creationId xmlns:a16="http://schemas.microsoft.com/office/drawing/2014/main" id="{CE811B07-6AA8-4824-B8A3-64353043F7C9}"/>
              </a:ext>
            </a:extLst>
          </p:cNvPr>
          <p:cNvSpPr>
            <a:spLocks noGrp="1"/>
          </p:cNvSpPr>
          <p:nvPr/>
        </p:nvSpPr>
        <p:spPr>
          <a:xfrm>
            <a:off x="8572500" y="1914525"/>
            <a:ext cx="29432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Результат в базе</a:t>
            </a:r>
          </a:p>
        </p:txBody>
      </p:sp>
      <p:sp>
        <p:nvSpPr>
          <p:cNvPr id="33" name="Дополненная&#10;заметка со связями">
            <a:extLst>
              <a:ext uri="{FF2B5EF4-FFF2-40B4-BE49-F238E27FC236}">
                <a16:creationId xmlns:a16="http://schemas.microsoft.com/office/drawing/2014/main" id="{DFFFC9DB-A5F6-48D9-BAF5-C3974D5D667D}"/>
              </a:ext>
            </a:extLst>
          </p:cNvPr>
          <p:cNvSpPr>
            <a:spLocks noGrp="1"/>
          </p:cNvSpPr>
          <p:nvPr/>
        </p:nvSpPr>
        <p:spPr>
          <a:xfrm>
            <a:off x="8572500" y="2695575"/>
            <a:ext cx="294322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Дополненная</a:t>
            </a:r>
          </a:p>
          <a:p>
            <a:pPr>
              <a:defRPr sz="24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заметка со связями</a:t>
            </a:r>
          </a:p>
        </p:txBody>
      </p:sp>
      <p:sp>
        <p:nvSpPr>
          <p:cNvPr id="34" name="Система генерирует текст,&#10;записывает изменения&#10;и проверяет результат.">
            <a:extLst>
              <a:ext uri="{FF2B5EF4-FFF2-40B4-BE49-F238E27FC236}">
                <a16:creationId xmlns:a16="http://schemas.microsoft.com/office/drawing/2014/main" id="{1D6E95DF-5CCE-42BF-AE74-10A905E68635}"/>
              </a:ext>
            </a:extLst>
          </p:cNvPr>
          <p:cNvSpPr>
            <a:spLocks noGrp="1"/>
          </p:cNvSpPr>
          <p:nvPr/>
        </p:nvSpPr>
        <p:spPr>
          <a:xfrm>
            <a:off x="8572500" y="3990975"/>
            <a:ext cx="29432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Система генерирует текст,</a:t>
            </a:r>
          </a:p>
          <a:p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записывает изменения</a:t>
            </a:r>
          </a:p>
          <a:p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проверяет результат.</a:t>
            </a:r>
          </a:p>
        </p:txBody>
      </p:sp>
      <p:sp>
        <p:nvSpPr>
          <p:cNvPr id="35" name="Пользователь импортирует диалог и при необходимости одобряет план.">
            <a:extLst>
              <a:ext uri="{FF2B5EF4-FFF2-40B4-BE49-F238E27FC236}">
                <a16:creationId xmlns:a16="http://schemas.microsoft.com/office/drawing/2014/main" id="{D07F03BD-C4BF-4BE2-9CAA-B56F21CF7303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Пользователь импортирует диалог и при необходимости одобряет план.</a:t>
            </a:r>
          </a:p>
        </p:txBody>
      </p:sp>
      <p:sp>
        <p:nvSpPr>
          <p:cNvPr id="36" name="Низкорисковые новые заметки могут сохраняться автоматически по настрой">
            <a:extLst>
              <a:ext uri="{FF2B5EF4-FFF2-40B4-BE49-F238E27FC236}">
                <a16:creationId xmlns:a16="http://schemas.microsoft.com/office/drawing/2014/main" id="{2B1CA5EF-CDDA-4907-A9BE-BFB9146FA7BD}"/>
              </a:ext>
            </a:extLst>
          </p:cNvPr>
          <p:cNvSpPr>
            <a:spLocks noGrp="1"/>
          </p:cNvSpPr>
          <p:nvPr/>
        </p:nvSpPr>
        <p:spPr>
          <a:xfrm>
            <a:off x="685800" y="6257925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Низкорисковые новые заметки могут сохраняться автоматически по настройке.</a:t>
            </a:r>
          </a:p>
        </p:txBody>
      </p:sp>
    </p:spTree>
    <p:extLst>
      <p:ext uri="{BB962C8B-B14F-4D97-AF65-F5344CB8AC3E}">
        <p14:creationId xmlns:p14="http://schemas.microsoft.com/office/powerpoint/2010/main" val="176937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Интерфейс: знания и план изменений">
            <a:extLst>
              <a:ext uri="{FF2B5EF4-FFF2-40B4-BE49-F238E27FC236}">
                <a16:creationId xmlns:a16="http://schemas.microsoft.com/office/drawing/2014/main" id="{27C4F551-DCE3-482A-80FE-B2A797B4D7D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Интерфейс: знания и план изменений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8DE9B6BA-4DD5-4FBF-BAC1-D7306EA60A7D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68438"/>
            <a:ext cx="7639050" cy="5092700"/>
          </a:xfrm>
          <a:prstGeom prst="rect">
            <a:avLst/>
          </a:prstGeom>
        </p:spPr>
      </p:pic>
      <p:sp>
        <p:nvSpPr>
          <p:cNvPr id="4" name="Что сохранить">
            <a:extLst>
              <a:ext uri="{FF2B5EF4-FFF2-40B4-BE49-F238E27FC236}">
                <a16:creationId xmlns:a16="http://schemas.microsoft.com/office/drawing/2014/main" id="{E71A0001-AD8A-491D-A6AF-3513EA4F7054}"/>
              </a:ext>
            </a:extLst>
          </p:cNvPr>
          <p:cNvSpPr>
            <a:spLocks noGrp="1"/>
          </p:cNvSpPr>
          <p:nvPr/>
        </p:nvSpPr>
        <p:spPr>
          <a:xfrm>
            <a:off x="8763000" y="192405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 сохранить</a:t>
            </a:r>
          </a:p>
        </p:txBody>
      </p:sp>
      <p:sp>
        <p:nvSpPr>
          <p:cNvPr id="5" name="Знание и его&#10;основание в диалоге">
            <a:extLst>
              <a:ext uri="{FF2B5EF4-FFF2-40B4-BE49-F238E27FC236}">
                <a16:creationId xmlns:a16="http://schemas.microsoft.com/office/drawing/2014/main" id="{A6AC8C54-E5C8-4E3F-822E-24BCD99197DF}"/>
              </a:ext>
            </a:extLst>
          </p:cNvPr>
          <p:cNvSpPr>
            <a:spLocks noGrp="1"/>
          </p:cNvSpPr>
          <p:nvPr/>
        </p:nvSpPr>
        <p:spPr>
          <a:xfrm>
            <a:off x="8763000" y="2466975"/>
            <a:ext cx="2724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Знание и его</a:t>
            </a:r>
          </a:p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основание в диалоге</a:t>
            </a:r>
          </a:p>
        </p:txBody>
      </p:sp>
      <p:sp>
        <p:nvSpPr>
          <p:cNvPr id="6" name="Куда добавить">
            <a:extLst>
              <a:ext uri="{FF2B5EF4-FFF2-40B4-BE49-F238E27FC236}">
                <a16:creationId xmlns:a16="http://schemas.microsoft.com/office/drawing/2014/main" id="{774CEEA3-CA6C-466D-8D7E-E5A37FE6F006}"/>
              </a:ext>
            </a:extLst>
          </p:cNvPr>
          <p:cNvSpPr>
            <a:spLocks noGrp="1"/>
          </p:cNvSpPr>
          <p:nvPr/>
        </p:nvSpPr>
        <p:spPr>
          <a:xfrm>
            <a:off x="8763000" y="36957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Куда добавить</a:t>
            </a:r>
          </a:p>
        </p:txBody>
      </p:sp>
      <p:sp>
        <p:nvSpPr>
          <p:cNvPr id="7" name="Связь с базой&#10;и выбор действия">
            <a:extLst>
              <a:ext uri="{FF2B5EF4-FFF2-40B4-BE49-F238E27FC236}">
                <a16:creationId xmlns:a16="http://schemas.microsoft.com/office/drawing/2014/main" id="{C05B880A-F8D4-43FB-92B5-99293B679304}"/>
              </a:ext>
            </a:extLst>
          </p:cNvPr>
          <p:cNvSpPr>
            <a:spLocks noGrp="1"/>
          </p:cNvSpPr>
          <p:nvPr/>
        </p:nvSpPr>
        <p:spPr>
          <a:xfrm>
            <a:off x="8763000" y="4248150"/>
            <a:ext cx="27241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Найденная заметка</a:t>
            </a:r>
          </a:p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план системы</a:t>
            </a:r>
          </a:p>
        </p:txBody>
      </p:sp>
      <p:sp>
        <p:nvSpPr>
          <p:cNvPr id="8" name="Концепция экрана">
            <a:extLst>
              <a:ext uri="{FF2B5EF4-FFF2-40B4-BE49-F238E27FC236}">
                <a16:creationId xmlns:a16="http://schemas.microsoft.com/office/drawing/2014/main" id="{CA9BAD26-48B4-47B0-A0D3-9EC7698B4C58}"/>
              </a:ext>
            </a:extLst>
          </p:cNvPr>
          <p:cNvSpPr>
            <a:spLocks noGrp="1"/>
          </p:cNvSpPr>
          <p:nvPr/>
        </p:nvSpPr>
        <p:spPr>
          <a:xfrm>
            <a:off x="8763000" y="5791200"/>
            <a:ext cx="27336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Концепция экрана</a:t>
            </a:r>
          </a:p>
        </p:txBody>
      </p:sp>
    </p:spTree>
    <p:extLst>
      <p:ext uri="{BB962C8B-B14F-4D97-AF65-F5344CB8AC3E}">
        <p14:creationId xmlns:p14="http://schemas.microsoft.com/office/powerpoint/2010/main" val="34298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чему решение может быть эффективнее">
            <a:extLst>
              <a:ext uri="{FF2B5EF4-FFF2-40B4-BE49-F238E27FC236}">
                <a16:creationId xmlns:a16="http://schemas.microsoft.com/office/drawing/2014/main" id="{36DB0ED0-AE36-4F5F-9930-C3C2AECAB5D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решение может быть эффективнее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F1E83062-0B80-421A-95A5-C70B0ECFA863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85800" y="1771650"/>
          <a:ext cx="10820400" cy="3743325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работы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Ручная работа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нашего приложения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выполняет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наша система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историю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разговора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Перечитать и найти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важные фрагменты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Извлекает ценные знания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 разных реплик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Перенести вручную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 заметки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Организовать материал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проверить повторы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Находит связанные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определяет дополнения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 повторы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Получить резюме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сохранить вручную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Выбрать место, записать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связать с прежними заметками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Генерирует текст, создаёт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или дополняет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добавляет связи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После допуска плана система записывает изменения и проверяет результат">
            <a:extLst>
              <a:ext uri="{FF2B5EF4-FFF2-40B4-BE49-F238E27FC236}">
                <a16:creationId xmlns:a16="http://schemas.microsoft.com/office/drawing/2014/main" id="{01EAFEFB-30C3-4999-8538-2B24EA9790BD}"/>
              </a:ext>
            </a:extLst>
          </p:cNvPr>
          <p:cNvSpPr>
            <a:spLocks noGrp="1"/>
          </p:cNvSpPr>
          <p:nvPr/>
        </p:nvSpPr>
        <p:spPr>
          <a:xfrm>
            <a:off x="685800" y="568642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После допуска плана система записывает изменения и проверяет результат.</a:t>
            </a:r>
          </a:p>
        </p:txBody>
      </p:sp>
      <p:sp>
        <p:nvSpPr>
          <p:cNvPr id="8" name="Пользователь импортирует диалог и при необходимости проверяет план.">
            <a:extLst>
              <a:ext uri="{FF2B5EF4-FFF2-40B4-BE49-F238E27FC236}">
                <a16:creationId xmlns:a16="http://schemas.microsoft.com/office/drawing/2014/main" id="{827C3491-462B-4133-AB65-FA1C67446B8B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Пользователь импортирует диалог и при необходимости проверяет план.</a:t>
            </a:r>
          </a:p>
        </p:txBody>
      </p:sp>
    </p:spTree>
    <p:extLst>
      <p:ext uri="{BB962C8B-B14F-4D97-AF65-F5344CB8AC3E}">
        <p14:creationId xmlns:p14="http://schemas.microsoft.com/office/powerpoint/2010/main" val="29603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Как проверить пользу интерфейса">
            <a:extLst>
              <a:ext uri="{FF2B5EF4-FFF2-40B4-BE49-F238E27FC236}">
                <a16:creationId xmlns:a16="http://schemas.microsoft.com/office/drawing/2014/main" id="{DF1657BA-62EA-4570-A06C-BB2E7AE35B1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проверить пользу интерфейса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CB007322-24DA-4247-BBCA-493A614A33E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Сравнительный тест">
            <a:extLst>
              <a:ext uri="{FF2B5EF4-FFF2-40B4-BE49-F238E27FC236}">
                <a16:creationId xmlns:a16="http://schemas.microsoft.com/office/drawing/2014/main" id="{E7371CB1-EAD1-48C3-8B71-3A9F7AA1BD13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5191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Сравнительный тест</a:t>
            </a:r>
          </a:p>
        </p:txBody>
      </p:sp>
      <p:sp>
        <p:nvSpPr>
          <p:cNvPr id="4" name="Многошаговые диалоги&#10;и существующая база заметок">
            <a:extLst>
              <a:ext uri="{FF2B5EF4-FFF2-40B4-BE49-F238E27FC236}">
                <a16:creationId xmlns:a16="http://schemas.microsoft.com/office/drawing/2014/main" id="{E0D535E3-0822-4697-9DF6-1B6757878F04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5191125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Многошаговые диалоги</a:t>
            </a:r>
          </a:p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существующая база заметок</a:t>
            </a:r>
          </a:p>
        </p:txBody>
      </p:sp>
      <p:sp>
        <p:nvSpPr>
          <p:cNvPr id="5" name="Ручная обработка&#10;и работа через интерфейс">
            <a:extLst>
              <a:ext uri="{FF2B5EF4-FFF2-40B4-BE49-F238E27FC236}">
                <a16:creationId xmlns:a16="http://schemas.microsoft.com/office/drawing/2014/main" id="{40D68B94-05D0-44BC-98CA-0C2AC5DB5C33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50482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Ручная обработка</a:t>
            </a:r>
          </a:p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работа через интерфейс</a:t>
            </a:r>
          </a:p>
        </p:txBody>
      </p:sp>
      <p:sp>
        <p:nvSpPr>
          <p:cNvPr id="6" name="Что измеряем">
            <a:extLst>
              <a:ext uri="{FF2B5EF4-FFF2-40B4-BE49-F238E27FC236}">
                <a16:creationId xmlns:a16="http://schemas.microsoft.com/office/drawing/2014/main" id="{129B9E29-C837-43C5-8BC5-15332FEBAC6B}"/>
              </a:ext>
            </a:extLst>
          </p:cNvPr>
          <p:cNvSpPr>
            <a:spLocks noGrp="1"/>
          </p:cNvSpPr>
          <p:nvPr/>
        </p:nvSpPr>
        <p:spPr>
          <a:xfrm>
            <a:off x="6838950" y="17811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измеряем</a:t>
            </a:r>
          </a:p>
        </p:txBody>
      </p:sp>
      <p:sp>
        <p:nvSpPr>
          <p:cNvPr id="7" name="Полное время до результата&#10;Пропуски и повторные записи&#10;Качество структ">
            <a:extLst>
              <a:ext uri="{FF2B5EF4-FFF2-40B4-BE49-F238E27FC236}">
                <a16:creationId xmlns:a16="http://schemas.microsoft.com/office/drawing/2014/main" id="{1FF33528-B976-44DF-8831-CA122B7C6637}"/>
              </a:ext>
            </a:extLst>
          </p:cNvPr>
          <p:cNvSpPr>
            <a:spLocks noGrp="1"/>
          </p:cNvSpPr>
          <p:nvPr/>
        </p:nvSpPr>
        <p:spPr>
          <a:xfrm>
            <a:off x="6838950" y="2571750"/>
            <a:ext cx="4667250" cy="2219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Полное время до результата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Пропуски и повторные записи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Качество структуры и связей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Поиск и применение знаний позже</a:t>
            </a:r>
          </a:p>
        </p:txBody>
      </p:sp>
      <p:sp>
        <p:nvSpPr>
          <p:cNvPr id="8" name="Критерий пользы: меньше ручной работы без потери качества знаний">
            <a:extLst>
              <a:ext uri="{FF2B5EF4-FFF2-40B4-BE49-F238E27FC236}">
                <a16:creationId xmlns:a16="http://schemas.microsoft.com/office/drawing/2014/main" id="{033BCB74-3F52-439C-8461-CBE252CA8719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Критерий пользы: меньше ручной работы без потери качества знаний</a:t>
            </a:r>
          </a:p>
        </p:txBody>
      </p:sp>
    </p:spTree>
    <p:extLst>
      <p:ext uri="{BB962C8B-B14F-4D97-AF65-F5344CB8AC3E}">
        <p14:creationId xmlns:p14="http://schemas.microsoft.com/office/powerpoint/2010/main" val="53617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пасибо за внимание!">
            <a:extLst>
              <a:ext uri="{FF2B5EF4-FFF2-40B4-BE49-F238E27FC236}">
                <a16:creationId xmlns:a16="http://schemas.microsoft.com/office/drawing/2014/main" id="{A4D2A3F4-8459-4C7C-8B2E-7FC0EEDBB2AF}"/>
              </a:ext>
            </a:extLst>
          </p:cNvPr>
          <p:cNvSpPr>
            <a:spLocks noGrp="1"/>
          </p:cNvSpPr>
          <p:nvPr/>
        </p:nvSpPr>
        <p:spPr>
          <a:xfrm>
            <a:off x="538162" y="2540566"/>
            <a:ext cx="108204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</a:t>
            </a:r>
            <a:r>
              <a:rPr sz="5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57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</a:t>
            </a:r>
            <a:r>
              <a:rPr sz="5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57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внимание</a:t>
            </a:r>
            <a:r>
              <a:rPr sz="5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" name="Готовы ответить на ваши вопросы">
            <a:extLst>
              <a:ext uri="{FF2B5EF4-FFF2-40B4-BE49-F238E27FC236}">
                <a16:creationId xmlns:a16="http://schemas.microsoft.com/office/drawing/2014/main" id="{27644BDE-22F5-4B00-AE26-99DF4C46DE46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104298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endParaRPr sz="2400" b="0" dirty="0">
              <a:solidFill>
                <a:srgbClr val="D1DCE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nversation-to-Knowledge Agent">
            <a:extLst>
              <a:ext uri="{FF2B5EF4-FFF2-40B4-BE49-F238E27FC236}">
                <a16:creationId xmlns:a16="http://schemas.microsoft.com/office/drawing/2014/main" id="{2C22BC85-13A9-4A4B-8FB4-95D356355D66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A1554210-6B42-4890-BE5F-56AFA820B213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66129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1491</Words>
  <Application>Microsoft Office PowerPoint</Application>
  <DocSecurity>0</DocSecurity>
  <PresentationFormat>宽屏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浩林 陈</cp:lastModifiedBy>
  <cp:revision>1</cp:revision>
  <dcterms:created xsi:type="dcterms:W3CDTF">2026-09-20T02:23:40Z</dcterms:created>
  <dcterms:modified xsi:type="dcterms:W3CDTF">2026-09-20T02:30:57Z</dcterms:modified>
</cp:coreProperties>
</file>