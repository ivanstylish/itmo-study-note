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3"/>
  </p:notesMasterIdLst>
  <p:sldIdLst>
    <p:sldId id="256" r:id="rId2"/>
    <p:sldId id="257" r:id="rId3"/>
    <p:sldId id="275" r:id="rId4"/>
    <p:sldId id="271" r:id="rId5"/>
    <p:sldId id="270" r:id="rId6"/>
    <p:sldId id="259" r:id="rId7"/>
    <p:sldId id="260" r:id="rId8"/>
    <p:sldId id="261" r:id="rId9"/>
    <p:sldId id="272" r:id="rId10"/>
    <p:sldId id="276" r:id="rId11"/>
    <p:sldId id="273" r:id="rId12"/>
    <p:sldId id="262" r:id="rId13"/>
    <p:sldId id="264" r:id="rId14"/>
    <p:sldId id="263" r:id="rId15"/>
    <p:sldId id="267" r:id="rId16"/>
    <p:sldId id="265" r:id="rId17"/>
    <p:sldId id="266" r:id="rId18"/>
    <p:sldId id="268" r:id="rId19"/>
    <p:sldId id="258" r:id="rId20"/>
    <p:sldId id="274" r:id="rId21"/>
    <p:sldId id="269" r:id="rId2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7DB146-3CFC-463C-AF77-E6BDAD62787C}" v="90" dt="2025-05-04T15:32:52.2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6" autoAdjust="0"/>
    <p:restoredTop sz="94660"/>
  </p:normalViewPr>
  <p:slideViewPr>
    <p:cSldViewPr>
      <p:cViewPr varScale="1">
        <p:scale>
          <a:sx n="37" d="100"/>
          <a:sy n="37" d="100"/>
        </p:scale>
        <p:origin x="2928" y="4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Бессмертный Игорь Александрович" userId="4f489ec6-c9ca-4727-b2ff-e9e7b63d68f3" providerId="ADAL" clId="{517106DD-CFC9-47AE-A1F3-C679D9A274EF}"/>
    <pc:docChg chg="undo custSel modSld">
      <pc:chgData name="Бессмертный Игорь Александрович" userId="4f489ec6-c9ca-4727-b2ff-e9e7b63d68f3" providerId="ADAL" clId="{517106DD-CFC9-47AE-A1F3-C679D9A274EF}" dt="2024-01-30T07:37:27.601" v="42" actId="1076"/>
      <pc:docMkLst>
        <pc:docMk/>
      </pc:docMkLst>
      <pc:sldChg chg="addSp delSp modSp mod">
        <pc:chgData name="Бессмертный Игорь Александрович" userId="4f489ec6-c9ca-4727-b2ff-e9e7b63d68f3" providerId="ADAL" clId="{517106DD-CFC9-47AE-A1F3-C679D9A274EF}" dt="2024-01-30T07:37:27.601" v="42" actId="1076"/>
        <pc:sldMkLst>
          <pc:docMk/>
          <pc:sldMk cId="0" sldId="256"/>
        </pc:sldMkLst>
      </pc:sldChg>
      <pc:sldChg chg="modSp mod">
        <pc:chgData name="Бессмертный Игорь Александрович" userId="4f489ec6-c9ca-4727-b2ff-e9e7b63d68f3" providerId="ADAL" clId="{517106DD-CFC9-47AE-A1F3-C679D9A274EF}" dt="2024-01-30T07:35:32.950" v="33" actId="27636"/>
        <pc:sldMkLst>
          <pc:docMk/>
          <pc:sldMk cId="0" sldId="257"/>
        </pc:sldMkLst>
      </pc:sldChg>
    </pc:docChg>
  </pc:docChgLst>
  <pc:docChgLst>
    <pc:chgData name="Бессмертный Игорь Александрович" userId="4f489ec6-c9ca-4727-b2ff-e9e7b63d68f3" providerId="ADAL" clId="{127DB146-3CFC-463C-AF77-E6BDAD62787C}"/>
    <pc:docChg chg="custSel addSld modSld">
      <pc:chgData name="Бессмертный Игорь Александрович" userId="4f489ec6-c9ca-4727-b2ff-e9e7b63d68f3" providerId="ADAL" clId="{127DB146-3CFC-463C-AF77-E6BDAD62787C}" dt="2025-05-04T15:32:52.283" v="91" actId="1076"/>
      <pc:docMkLst>
        <pc:docMk/>
      </pc:docMkLst>
      <pc:sldChg chg="addSp delSp modSp">
        <pc:chgData name="Бессмертный Игорь Александрович" userId="4f489ec6-c9ca-4727-b2ff-e9e7b63d68f3" providerId="ADAL" clId="{127DB146-3CFC-463C-AF77-E6BDAD62787C}" dt="2025-05-04T15:32:52.283" v="91" actId="1076"/>
        <pc:sldMkLst>
          <pc:docMk/>
          <pc:sldMk cId="861915824" sldId="259"/>
        </pc:sldMkLst>
        <pc:picChg chg="add mod">
          <ac:chgData name="Бессмертный Игорь Александрович" userId="4f489ec6-c9ca-4727-b2ff-e9e7b63d68f3" providerId="ADAL" clId="{127DB146-3CFC-463C-AF77-E6BDAD62787C}" dt="2025-05-04T15:32:52.283" v="91" actId="1076"/>
          <ac:picMkLst>
            <pc:docMk/>
            <pc:sldMk cId="861915824" sldId="259"/>
            <ac:picMk id="3" creationId="{474023E6-1BD0-470B-8D91-58F93AE6988B}"/>
          </ac:picMkLst>
        </pc:picChg>
        <pc:picChg chg="del">
          <ac:chgData name="Бессмертный Игорь Александрович" userId="4f489ec6-c9ca-4727-b2ff-e9e7b63d68f3" providerId="ADAL" clId="{127DB146-3CFC-463C-AF77-E6BDAD62787C}" dt="2025-05-04T15:32:40.243" v="89" actId="478"/>
          <ac:picMkLst>
            <pc:docMk/>
            <pc:sldMk cId="861915824" sldId="259"/>
            <ac:picMk id="1038" creationId="{4A708666-4CA9-6A53-7234-E806DFCD9162}"/>
          </ac:picMkLst>
        </pc:picChg>
      </pc:sldChg>
      <pc:sldChg chg="addSp modSp modAnim">
        <pc:chgData name="Бессмертный Игорь Александрович" userId="4f489ec6-c9ca-4727-b2ff-e9e7b63d68f3" providerId="ADAL" clId="{127DB146-3CFC-463C-AF77-E6BDAD62787C}" dt="2025-05-04T15:31:42.944" v="88" actId="1076"/>
        <pc:sldMkLst>
          <pc:docMk/>
          <pc:sldMk cId="3397230577" sldId="274"/>
        </pc:sldMkLst>
        <pc:spChg chg="mod">
          <ac:chgData name="Бессмертный Игорь Александрович" userId="4f489ec6-c9ca-4727-b2ff-e9e7b63d68f3" providerId="ADAL" clId="{127DB146-3CFC-463C-AF77-E6BDAD62787C}" dt="2025-05-04T15:31:38.828" v="87" actId="20577"/>
          <ac:spMkLst>
            <pc:docMk/>
            <pc:sldMk cId="3397230577" sldId="274"/>
            <ac:spMk id="53" creationId="{00000000-0000-0000-0000-000000000000}"/>
          </ac:spMkLst>
        </pc:spChg>
        <pc:picChg chg="add mod">
          <ac:chgData name="Бессмертный Игорь Александрович" userId="4f489ec6-c9ca-4727-b2ff-e9e7b63d68f3" providerId="ADAL" clId="{127DB146-3CFC-463C-AF77-E6BDAD62787C}" dt="2025-05-04T15:31:42.944" v="88" actId="1076"/>
          <ac:picMkLst>
            <pc:docMk/>
            <pc:sldMk cId="3397230577" sldId="274"/>
            <ac:picMk id="2050" creationId="{8747E419-5C5B-90CD-064A-A4C4E5C41CC1}"/>
          </ac:picMkLst>
        </pc:picChg>
      </pc:sldChg>
      <pc:sldChg chg="addSp delSp modSp add mod modAnim">
        <pc:chgData name="Бессмертный Игорь Александрович" userId="4f489ec6-c9ca-4727-b2ff-e9e7b63d68f3" providerId="ADAL" clId="{127DB146-3CFC-463C-AF77-E6BDAD62787C}" dt="2025-05-04T15:11:50.310" v="82" actId="20577"/>
        <pc:sldMkLst>
          <pc:docMk/>
          <pc:sldMk cId="1481439367" sldId="276"/>
        </pc:sldMkLst>
        <pc:spChg chg="mod">
          <ac:chgData name="Бессмертный Игорь Александрович" userId="4f489ec6-c9ca-4727-b2ff-e9e7b63d68f3" providerId="ADAL" clId="{127DB146-3CFC-463C-AF77-E6BDAD62787C}" dt="2025-05-04T15:11:50.310" v="82" actId="20577"/>
          <ac:spMkLst>
            <pc:docMk/>
            <pc:sldMk cId="1481439367" sldId="276"/>
            <ac:spMk id="53" creationId="{3A303F5D-7700-1876-D41D-59EDF3A3AA7C}"/>
          </ac:spMkLst>
        </pc:spChg>
        <pc:picChg chg="del">
          <ac:chgData name="Бессмертный Игорь Александрович" userId="4f489ec6-c9ca-4727-b2ff-e9e7b63d68f3" providerId="ADAL" clId="{127DB146-3CFC-463C-AF77-E6BDAD62787C}" dt="2025-05-04T15:11:13.713" v="1" actId="478"/>
          <ac:picMkLst>
            <pc:docMk/>
            <pc:sldMk cId="1481439367" sldId="276"/>
            <ac:picMk id="11" creationId="{D5ED883D-131F-DB7D-73E4-AA740585B4E6}"/>
          </ac:picMkLst>
        </pc:picChg>
        <pc:picChg chg="add mod">
          <ac:chgData name="Бессмертный Игорь Александрович" userId="4f489ec6-c9ca-4727-b2ff-e9e7b63d68f3" providerId="ADAL" clId="{127DB146-3CFC-463C-AF77-E6BDAD62787C}" dt="2025-05-04T15:11:19.884" v="3" actId="1076"/>
          <ac:picMkLst>
            <pc:docMk/>
            <pc:sldMk cId="1481439367" sldId="276"/>
            <ac:picMk id="1026" creationId="{FE3FFFBA-B402-6381-2862-88B6A6BB6C39}"/>
          </ac:picMkLst>
        </pc:picChg>
      </pc:sldChg>
    </pc:docChg>
  </pc:docChgLst>
  <pc:docChgLst>
    <pc:chgData name="Бессмертный Игорь Александрович" userId="4f489ec6-c9ca-4727-b2ff-e9e7b63d68f3" providerId="ADAL" clId="{67DFB8DF-70C6-4127-9259-F392BC025173}"/>
    <pc:docChg chg="custSel addSld modSld sldOrd">
      <pc:chgData name="Бессмертный Игорь Александрович" userId="4f489ec6-c9ca-4727-b2ff-e9e7b63d68f3" providerId="ADAL" clId="{67DFB8DF-70C6-4127-9259-F392BC025173}" dt="2024-09-05T16:14:01.535" v="2862" actId="20577"/>
      <pc:docMkLst>
        <pc:docMk/>
      </pc:docMkLst>
      <pc:sldChg chg="modSp mod">
        <pc:chgData name="Бессмертный Игорь Александрович" userId="4f489ec6-c9ca-4727-b2ff-e9e7b63d68f3" providerId="ADAL" clId="{67DFB8DF-70C6-4127-9259-F392BC025173}" dt="2024-09-05T16:14:01.535" v="2862" actId="20577"/>
        <pc:sldMkLst>
          <pc:docMk/>
          <pc:sldMk cId="0" sldId="256"/>
        </pc:sldMkLst>
      </pc:sldChg>
      <pc:sldChg chg="addSp delSp modSp mod modAnim">
        <pc:chgData name="Бессмертный Игорь Александрович" userId="4f489ec6-c9ca-4727-b2ff-e9e7b63d68f3" providerId="ADAL" clId="{67DFB8DF-70C6-4127-9259-F392BC025173}" dt="2024-09-04T15:50:45.770" v="2638" actId="20577"/>
        <pc:sldMkLst>
          <pc:docMk/>
          <pc:sldMk cId="0" sldId="257"/>
        </pc:sldMkLst>
      </pc:sldChg>
      <pc:sldChg chg="addSp modSp mod ord modAnim">
        <pc:chgData name="Бессмертный Игорь Александрович" userId="4f489ec6-c9ca-4727-b2ff-e9e7b63d68f3" providerId="ADAL" clId="{67DFB8DF-70C6-4127-9259-F392BC025173}" dt="2024-09-04T16:05:40.215" v="2849" actId="14100"/>
        <pc:sldMkLst>
          <pc:docMk/>
          <pc:sldMk cId="1077682040" sldId="258"/>
        </pc:sldMkLst>
      </pc:sldChg>
      <pc:sldChg chg="addSp modSp mod modAnim">
        <pc:chgData name="Бессмертный Игорь Александрович" userId="4f489ec6-c9ca-4727-b2ff-e9e7b63d68f3" providerId="ADAL" clId="{67DFB8DF-70C6-4127-9259-F392BC025173}" dt="2024-09-04T12:52:46.360" v="1733" actId="1076"/>
        <pc:sldMkLst>
          <pc:docMk/>
          <pc:sldMk cId="861915824" sldId="259"/>
        </pc:sldMkLst>
      </pc:sldChg>
      <pc:sldChg chg="addSp modSp mod modAnim">
        <pc:chgData name="Бессмертный Игорь Александрович" userId="4f489ec6-c9ca-4727-b2ff-e9e7b63d68f3" providerId="ADAL" clId="{67DFB8DF-70C6-4127-9259-F392BC025173}" dt="2024-09-04T15:53:15.003" v="2704" actId="1076"/>
        <pc:sldMkLst>
          <pc:docMk/>
          <pc:sldMk cId="1124646620" sldId="260"/>
        </pc:sldMkLst>
      </pc:sldChg>
      <pc:sldChg chg="modSp mod modAnim">
        <pc:chgData name="Бессмертный Игорь Александрович" userId="4f489ec6-c9ca-4727-b2ff-e9e7b63d68f3" providerId="ADAL" clId="{67DFB8DF-70C6-4127-9259-F392BC025173}" dt="2024-09-04T15:53:24.931" v="2705" actId="1076"/>
        <pc:sldMkLst>
          <pc:docMk/>
          <pc:sldMk cId="768683728" sldId="261"/>
        </pc:sldMkLst>
      </pc:sldChg>
      <pc:sldChg chg="addSp modSp mod modAnim">
        <pc:chgData name="Бессмертный Игорь Александрович" userId="4f489ec6-c9ca-4727-b2ff-e9e7b63d68f3" providerId="ADAL" clId="{67DFB8DF-70C6-4127-9259-F392BC025173}" dt="2024-09-04T15:57:02.143" v="2731" actId="1076"/>
        <pc:sldMkLst>
          <pc:docMk/>
          <pc:sldMk cId="2388396241" sldId="262"/>
        </pc:sldMkLst>
      </pc:sldChg>
      <pc:sldChg chg="modSp mod modAnim">
        <pc:chgData name="Бессмертный Игорь Александрович" userId="4f489ec6-c9ca-4727-b2ff-e9e7b63d68f3" providerId="ADAL" clId="{67DFB8DF-70C6-4127-9259-F392BC025173}" dt="2024-09-04T09:45:31.547" v="935" actId="113"/>
        <pc:sldMkLst>
          <pc:docMk/>
          <pc:sldMk cId="1909020098" sldId="263"/>
        </pc:sldMkLst>
      </pc:sldChg>
      <pc:sldChg chg="modSp mod modAnim">
        <pc:chgData name="Бессмертный Игорь Александрович" userId="4f489ec6-c9ca-4727-b2ff-e9e7b63d68f3" providerId="ADAL" clId="{67DFB8DF-70C6-4127-9259-F392BC025173}" dt="2024-09-04T16:00:54.151" v="2769" actId="20577"/>
        <pc:sldMkLst>
          <pc:docMk/>
          <pc:sldMk cId="2384707103" sldId="264"/>
        </pc:sldMkLst>
      </pc:sldChg>
      <pc:sldChg chg="addSp modSp mod modAnim">
        <pc:chgData name="Бессмертный Игорь Александрович" userId="4f489ec6-c9ca-4727-b2ff-e9e7b63d68f3" providerId="ADAL" clId="{67DFB8DF-70C6-4127-9259-F392BC025173}" dt="2024-09-04T16:04:14.386" v="2824" actId="27636"/>
        <pc:sldMkLst>
          <pc:docMk/>
          <pc:sldMk cId="2646160606" sldId="265"/>
        </pc:sldMkLst>
      </pc:sldChg>
      <pc:sldChg chg="modSp mod modAnim">
        <pc:chgData name="Бессмертный Игорь Александрович" userId="4f489ec6-c9ca-4727-b2ff-e9e7b63d68f3" providerId="ADAL" clId="{67DFB8DF-70C6-4127-9259-F392BC025173}" dt="2024-09-04T09:53:04.992" v="1090" actId="14100"/>
        <pc:sldMkLst>
          <pc:docMk/>
          <pc:sldMk cId="4052705401" sldId="266"/>
        </pc:sldMkLst>
      </pc:sldChg>
      <pc:sldChg chg="modSp mod modAnim">
        <pc:chgData name="Бессмертный Игорь Александрович" userId="4f489ec6-c9ca-4727-b2ff-e9e7b63d68f3" providerId="ADAL" clId="{67DFB8DF-70C6-4127-9259-F392BC025173}" dt="2024-09-04T09:47:39.731" v="974" actId="14100"/>
        <pc:sldMkLst>
          <pc:docMk/>
          <pc:sldMk cId="1067854121" sldId="267"/>
        </pc:sldMkLst>
      </pc:sldChg>
      <pc:sldChg chg="modSp mod modAnim">
        <pc:chgData name="Бессмертный Игорь Александрович" userId="4f489ec6-c9ca-4727-b2ff-e9e7b63d68f3" providerId="ADAL" clId="{67DFB8DF-70C6-4127-9259-F392BC025173}" dt="2024-09-04T16:05:02.748" v="2847" actId="20577"/>
        <pc:sldMkLst>
          <pc:docMk/>
          <pc:sldMk cId="2292299937" sldId="268"/>
        </pc:sldMkLst>
      </pc:sldChg>
      <pc:sldChg chg="delSp modSp mod">
        <pc:chgData name="Бессмертный Игорь Александрович" userId="4f489ec6-c9ca-4727-b2ff-e9e7b63d68f3" providerId="ADAL" clId="{67DFB8DF-70C6-4127-9259-F392BC025173}" dt="2024-09-04T09:55:38.761" v="1276" actId="14100"/>
        <pc:sldMkLst>
          <pc:docMk/>
          <pc:sldMk cId="2779768731" sldId="269"/>
        </pc:sldMkLst>
      </pc:sldChg>
      <pc:sldChg chg="modSp add mod">
        <pc:chgData name="Бессмертный Игорь Александрович" userId="4f489ec6-c9ca-4727-b2ff-e9e7b63d68f3" providerId="ADAL" clId="{67DFB8DF-70C6-4127-9259-F392BC025173}" dt="2024-09-04T15:52:53.581" v="2703" actId="1076"/>
        <pc:sldMkLst>
          <pc:docMk/>
          <pc:sldMk cId="2225932972" sldId="270"/>
        </pc:sldMkLst>
      </pc:sldChg>
      <pc:sldChg chg="modSp add mod">
        <pc:chgData name="Бессмертный Игорь Александрович" userId="4f489ec6-c9ca-4727-b2ff-e9e7b63d68f3" providerId="ADAL" clId="{67DFB8DF-70C6-4127-9259-F392BC025173}" dt="2024-09-04T15:52:14.683" v="2682" actId="20577"/>
        <pc:sldMkLst>
          <pc:docMk/>
          <pc:sldMk cId="350903545" sldId="271"/>
        </pc:sldMkLst>
      </pc:sldChg>
      <pc:sldChg chg="addSp modSp add mod ord modAnim">
        <pc:chgData name="Бессмертный Игорь Александрович" userId="4f489ec6-c9ca-4727-b2ff-e9e7b63d68f3" providerId="ADAL" clId="{67DFB8DF-70C6-4127-9259-F392BC025173}" dt="2024-09-04T15:54:14.166" v="2721" actId="20577"/>
        <pc:sldMkLst>
          <pc:docMk/>
          <pc:sldMk cId="1095071580" sldId="272"/>
        </pc:sldMkLst>
      </pc:sldChg>
      <pc:sldChg chg="addSp modSp add mod modAnim">
        <pc:chgData name="Бессмертный Игорь Александрович" userId="4f489ec6-c9ca-4727-b2ff-e9e7b63d68f3" providerId="ADAL" clId="{67DFB8DF-70C6-4127-9259-F392BC025173}" dt="2024-09-04T13:19:25.591" v="1860" actId="14100"/>
        <pc:sldMkLst>
          <pc:docMk/>
          <pc:sldMk cId="1222949259" sldId="273"/>
        </pc:sldMkLst>
      </pc:sldChg>
      <pc:sldChg chg="delSp modSp add mod modAnim">
        <pc:chgData name="Бессмертный Игорь Александрович" userId="4f489ec6-c9ca-4727-b2ff-e9e7b63d68f3" providerId="ADAL" clId="{67DFB8DF-70C6-4127-9259-F392BC025173}" dt="2024-09-04T13:46:58.523" v="2214" actId="20577"/>
        <pc:sldMkLst>
          <pc:docMk/>
          <pc:sldMk cId="3397230577" sldId="274"/>
        </pc:sldMkLst>
      </pc:sldChg>
      <pc:sldChg chg="modSp add mod">
        <pc:chgData name="Бессмертный Игорь Александрович" userId="4f489ec6-c9ca-4727-b2ff-e9e7b63d68f3" providerId="ADAL" clId="{67DFB8DF-70C6-4127-9259-F392BC025173}" dt="2024-09-04T15:51:33.833" v="2667" actId="20577"/>
        <pc:sldMkLst>
          <pc:docMk/>
          <pc:sldMk cId="2189516463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0DF642-0DD6-4B53-8C98-661B2CC859B4}" type="datetimeFigureOut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7A9EA2-61A8-4263-9769-4BC4C74C7ECB}" type="slidenum">
              <a:rPr lang="ru-RU" smtClean="0"/>
              <a:pPr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26718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7299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41882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63092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676277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499175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871957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249473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539553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78133-F1D9-4EEB-53E9-E6C903AA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701419F7-3F2F-F1B9-0D2D-6C95E2958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55EB45C-86AB-00AD-CADD-FE0A5B5F3A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03FCD4C-0FAC-8A20-4976-315A0FBD43B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67967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17213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12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7486769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8947602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76523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166514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16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276703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658871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18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6092479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19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867809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20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13830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27DA4D1-AF98-451E-9AC0-6EACFE485F9B}" type="slidenum">
              <a:rPr lang="ru-RU" smtClean="0"/>
              <a:pPr/>
              <a:t>21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11150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Заголовок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9" name="Подзаголовок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sp>
        <p:nvSpPr>
          <p:cNvPr id="28" name="Дата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DF2F032D-6BC6-4234-9999-898F413A31C5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17" name="Нижний колонтитул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29" name="Номер слайда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1" name="Прямоугольник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3" name="Прямоугольник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Прямоугольник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2" name="Прямоугольник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4DF7E3-8A6C-4E88-BEC3-E1D2045028EB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Содержимое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87EB4978-0867-4AEF-A28C-7086D1853D40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1FC949-39BC-4E58-BB44-6E9D9DCE8265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9" name="Содержимое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BA1F5D-E0D6-4941-8D1D-462B0D00F7D2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1" name="Содержимое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13" name="Содержимое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647115-3EDC-4CC6-8FC1-94535E8B4D74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D79DE-9336-4E89-AC78-9AC387CCE782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5" name="Прямая соединительная линия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Равнобедренный треугольник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7B75-DC03-44F5-AAE7-C73CCAB6C2BC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Прямая соединительная линия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Содержимое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ru-RU" dirty="0"/>
              <a:t>Вставка рисунка</a:t>
            </a:r>
            <a:endParaRPr kumimoji="0"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455E1-D86F-4524-9CEC-87627E269D26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Прямая соединительная линия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Равнобедренный треугольник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DAF3C-1D40-43A0-9546-19B445D95B53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D255E1-D4F8-4E89-8EE8-F10A5968D96D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7" name="Прямая соединительная линия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8" name="Равнобедренный треугольник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9" name="Прямая соединительная линия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Заголовок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3" name="Текст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4" name="Дата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4F1C9D63-57E2-46CF-A7F0-CDF2BC021BD9}" type="datetime1">
              <a:rPr lang="ru-RU" smtClean="0"/>
              <a:pPr/>
              <a:t>03.05.2025</a:t>
            </a:fld>
            <a:endParaRPr lang="ru-RU" dirty="0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ru-RU" dirty="0"/>
          </a:p>
        </p:txBody>
      </p:sp>
      <p:sp>
        <p:nvSpPr>
          <p:cNvPr id="23" name="Номер слайда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725C68B6-61C2-468F-89AB-4B9F7531AA68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8" name="Прямая соединительная линия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9" name="Прямая соединительная линия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Равнобедренный треугольник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ibf.edu.au/searching-for-brain-signatures-of-psychiatric-disorders-for-better-diagnosis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pn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1F102EC-046D-4612-BAA2-F4EF16CACD7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3860"/>
          <a:stretch/>
        </p:blipFill>
        <p:spPr>
          <a:xfrm>
            <a:off x="3563888" y="3572"/>
            <a:ext cx="5580112" cy="3636000"/>
          </a:xfrm>
          <a:prstGeom prst="rect">
            <a:avLst/>
          </a:prstGeom>
        </p:spPr>
      </p:pic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Профессор Игорь </a:t>
            </a:r>
            <a:r>
              <a:rPr lang="ru-RU"/>
              <a:t>Александрович Бессмертный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5C68B6-61C2-468F-89AB-4B9F7531AA68}" type="slidenum">
              <a:rPr lang="ru-RU" smtClean="0"/>
              <a:pPr/>
              <a:t>1</a:t>
            </a:fld>
            <a:endParaRPr lang="ru-RU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2BA6FD6-8485-937D-9605-7F9328168B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512" y="140732"/>
            <a:ext cx="2400300" cy="857250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3639572"/>
            <a:ext cx="6858000" cy="990600"/>
          </a:xfrm>
        </p:spPr>
        <p:txBody>
          <a:bodyPr>
            <a:normAutofit fontScale="90000"/>
          </a:bodyPr>
          <a:lstStyle/>
          <a:p>
            <a:r>
              <a:rPr lang="ru-RU" sz="4300" b="1"/>
              <a:t>Системы искусственного интеллекта</a:t>
            </a:r>
            <a:r>
              <a:rPr lang="en-US" sz="4300" b="1"/>
              <a:t>: </a:t>
            </a:r>
            <a:r>
              <a:rPr lang="ru-RU" sz="4300" b="1" dirty="0"/>
              <a:t>Мотивация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1060" y="404664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ПРОБЛЕМА: ДЕВАЛЬВАЦИЯ ПОНЯТИЯ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2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251520" y="1196752"/>
            <a:ext cx="7794276" cy="322054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2400" dirty="0"/>
              <a:t>В последнее время только ленивый не вставляет искусственный интеллект в свои разработки:</a:t>
            </a:r>
          </a:p>
          <a:p>
            <a:r>
              <a:rPr lang="ru-RU" sz="2400" dirty="0"/>
              <a:t>Стиральная машина с искусственным интеллектом.</a:t>
            </a:r>
          </a:p>
          <a:p>
            <a:r>
              <a:rPr lang="ru-RU" sz="2400" dirty="0"/>
              <a:t>Интеллектуальный полный привод в автомобиле.</a:t>
            </a:r>
          </a:p>
          <a:p>
            <a:r>
              <a:rPr lang="ru-RU" sz="2400" dirty="0"/>
              <a:t>Интеллектуальный анализ данных.</a:t>
            </a:r>
          </a:p>
          <a:p>
            <a:r>
              <a:rPr lang="ru-RU" sz="2400" dirty="0"/>
              <a:t>Интеллектуальный счетчик электроэнергии.</a:t>
            </a:r>
          </a:p>
          <a:p>
            <a:r>
              <a:rPr lang="ru-RU" sz="2400" dirty="0"/>
              <a:t>Интеллектуальные настольные игры.</a:t>
            </a:r>
          </a:p>
          <a:p>
            <a:pPr marL="0" indent="0">
              <a:buNone/>
            </a:pPr>
            <a:r>
              <a:rPr lang="ru-RU" sz="2400" dirty="0"/>
              <a:t> </a:t>
            </a:r>
            <a:r>
              <a:rPr lang="en-US" sz="2400" dirty="0"/>
              <a:t> </a:t>
            </a: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Это тоже искусственный интеллект?</a:t>
            </a:r>
          </a:p>
          <a:p>
            <a:endParaRPr lang="ru-RU" sz="2400" dirty="0"/>
          </a:p>
        </p:txBody>
      </p:sp>
      <p:pic>
        <p:nvPicPr>
          <p:cNvPr id="2056" name="Picture 8" descr="Picture background">
            <a:extLst>
              <a:ext uri="{FF2B5EF4-FFF2-40B4-BE49-F238E27FC236}">
                <a16:creationId xmlns:a16="http://schemas.microsoft.com/office/drawing/2014/main" id="{89671913-A936-A616-299D-794600C789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2760" y="4509120"/>
            <a:ext cx="3033693" cy="2272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597021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ПРОБЛЕМА: ПРОИЗВОДИТЕЛЬНОСТЬ ТРУДА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3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54168" y="1660616"/>
            <a:ext cx="8352928" cy="457669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ru-RU" sz="4400" dirty="0"/>
              <a:t>                       =                     * 100</a:t>
            </a:r>
          </a:p>
          <a:p>
            <a:pPr marL="0" indent="0">
              <a:buNone/>
            </a:pPr>
            <a:endParaRPr lang="ru-RU" sz="4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                                          </a:t>
            </a:r>
            <a:r>
              <a:rPr lang="ru-RU" sz="4000" dirty="0"/>
              <a:t> </a:t>
            </a:r>
            <a:r>
              <a:rPr lang="ru-RU" sz="4400" dirty="0"/>
              <a:t>=</a:t>
            </a:r>
            <a:r>
              <a:rPr lang="ru-RU" sz="4000" dirty="0"/>
              <a:t>				</a:t>
            </a:r>
            <a:r>
              <a:rPr lang="ru-RU" sz="4400" dirty="0"/>
              <a:t>* 20</a:t>
            </a:r>
            <a:endParaRPr lang="ru-RU" sz="40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endParaRPr lang="ru-RU" sz="2400" dirty="0"/>
          </a:p>
          <a:p>
            <a:pPr marL="0" indent="0">
              <a:buNone/>
            </a:pPr>
            <a:r>
              <a:rPr lang="ru-RU" sz="2400" dirty="0"/>
              <a:t>Но! Все эти виды деятельности уже механизированы 80 лет назад (автоматизированы 20 лет назад)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A0FA0CB6-79D9-4D00-D0EE-202FECF64F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2616" y="1196752"/>
            <a:ext cx="2628892" cy="1970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EFB1BB01-2282-B7B3-F17E-90D49AEE19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0246" y="1196132"/>
            <a:ext cx="2232248" cy="195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956CA02D-4F90-1BA9-6104-B1761E05A28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7944" y="3636143"/>
            <a:ext cx="2570937" cy="1327224"/>
          </a:xfrm>
          <a:prstGeom prst="rect">
            <a:avLst/>
          </a:prstGeom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A613DF51-C561-6C8A-39B0-BD38BD4339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3356992"/>
            <a:ext cx="2133600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9516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ПРОБЛЕМА:ДЕФИЦИТ КАДРОВ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4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2699792" y="692696"/>
            <a:ext cx="6156176" cy="1160503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ru-RU" sz="2000" dirty="0"/>
              <a:t>«И в ту же минуту по улицам курьеры, курьеры, курьеры... можете представить себе, </a:t>
            </a:r>
            <a:r>
              <a:rPr lang="ru-RU" sz="2000" b="1" dirty="0"/>
              <a:t>тридцать пять тысяч одних курьеров!</a:t>
            </a:r>
            <a:r>
              <a:rPr lang="ru-RU" sz="2000" dirty="0"/>
              <a:t> Каково положение, я спрашиваю?»  </a:t>
            </a:r>
          </a:p>
          <a:p>
            <a:pPr marL="0" indent="0" algn="r">
              <a:buNone/>
            </a:pPr>
            <a:r>
              <a:rPr lang="ru-RU" sz="2000" dirty="0" err="1"/>
              <a:t>Н.В.Гоголь</a:t>
            </a:r>
            <a:r>
              <a:rPr lang="ru-RU" sz="2000" dirty="0"/>
              <a:t>. «Ревизор»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BB65CB-784F-64D4-73B3-A9A312728E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512" y="2313615"/>
            <a:ext cx="6156176" cy="4297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90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36866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ПРОБЛЕМА: ЭКОНОМИЧЕСКИЙ РОСТ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5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470304" cy="4824536"/>
          </a:xfrm>
        </p:spPr>
        <p:txBody>
          <a:bodyPr>
            <a:normAutofit/>
          </a:bodyPr>
          <a:lstStyle/>
          <a:p>
            <a:r>
              <a:rPr lang="ru-RU" sz="3600" dirty="0"/>
              <a:t>Рост производительности труда за счет индустриализации достиг предела.</a:t>
            </a:r>
          </a:p>
          <a:p>
            <a:r>
              <a:rPr lang="ru-RU" sz="3600" dirty="0"/>
              <a:t>Увеличение стоимости рабочей силы является препятствием для дальнейшего развития общества.</a:t>
            </a:r>
          </a:p>
        </p:txBody>
      </p:sp>
    </p:spTree>
    <p:extLst>
      <p:ext uri="{BB962C8B-B14F-4D97-AF65-F5344CB8AC3E}">
        <p14:creationId xmlns:p14="http://schemas.microsoft.com/office/powerpoint/2010/main" val="222593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0977" y="188640"/>
            <a:ext cx="6480720" cy="581148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ПРОШЛОЕ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6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179512" y="803251"/>
            <a:ext cx="6624736" cy="37058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ru-RU" sz="3600" b="1" dirty="0"/>
              <a:t>Уже исчезнувшие профессии:</a:t>
            </a:r>
          </a:p>
          <a:p>
            <a:r>
              <a:rPr lang="ru-RU" sz="3000" dirty="0"/>
              <a:t>Телефонистка (появление АТС)</a:t>
            </a:r>
          </a:p>
          <a:p>
            <a:r>
              <a:rPr lang="ru-RU" sz="3000" dirty="0"/>
              <a:t>Машинистка (появление ПК)</a:t>
            </a:r>
          </a:p>
          <a:p>
            <a:r>
              <a:rPr lang="ru-RU" sz="3000" dirty="0"/>
              <a:t>Авиационный штурман (цифровые карты)</a:t>
            </a:r>
          </a:p>
          <a:p>
            <a:r>
              <a:rPr lang="ru-RU" sz="3000" dirty="0"/>
              <a:t>Бортрадист (создана наземная инфраструктура)</a:t>
            </a:r>
          </a:p>
          <a:p>
            <a:r>
              <a:rPr lang="ru-RU" sz="3000" dirty="0"/>
              <a:t>…</a:t>
            </a:r>
            <a:endParaRPr lang="en-US" sz="30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1040" name="Picture 16">
            <a:extLst>
              <a:ext uri="{FF2B5EF4-FFF2-40B4-BE49-F238E27FC236}">
                <a16:creationId xmlns:a16="http://schemas.microsoft.com/office/drawing/2014/main" id="{27B2D53C-DD5E-4BA2-2EDC-F5250E440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1094" y="3115791"/>
            <a:ext cx="213360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2" name="Picture 18">
            <a:extLst>
              <a:ext uri="{FF2B5EF4-FFF2-40B4-BE49-F238E27FC236}">
                <a16:creationId xmlns:a16="http://schemas.microsoft.com/office/drawing/2014/main" id="{549FB520-3B94-9FD0-FE49-00606EEE09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5396" y="957959"/>
            <a:ext cx="213360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74023E6-1BD0-470B-8D91-58F93AE698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9094" y="4244503"/>
            <a:ext cx="4572000" cy="2390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619158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41695" y="354413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НАСТОЯЩЕЕ</a:t>
            </a:r>
            <a:r>
              <a:rPr lang="en-US" sz="3600" b="1" dirty="0">
                <a:solidFill>
                  <a:srgbClr val="002060"/>
                </a:solidFill>
              </a:rPr>
              <a:t> </a:t>
            </a:r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7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124744"/>
            <a:ext cx="8229600" cy="475252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600" b="1" dirty="0"/>
              <a:t>Исчезающие профессии:</a:t>
            </a:r>
          </a:p>
          <a:p>
            <a:r>
              <a:rPr lang="ru-RU" sz="2800" dirty="0"/>
              <a:t>Диктор в аэропорту </a:t>
            </a:r>
            <a:r>
              <a:rPr lang="en-US" sz="2800" dirty="0"/>
              <a:t>/ </a:t>
            </a:r>
            <a:r>
              <a:rPr lang="ru-RU" sz="2800" dirty="0"/>
              <a:t>на вокзале</a:t>
            </a:r>
          </a:p>
          <a:p>
            <a:r>
              <a:rPr lang="ru-RU" sz="2800" dirty="0"/>
              <a:t>Оператор колл-центра</a:t>
            </a:r>
          </a:p>
          <a:p>
            <a:r>
              <a:rPr lang="ru-RU" sz="2800" dirty="0"/>
              <a:t>Переводчик  </a:t>
            </a:r>
          </a:p>
          <a:p>
            <a:r>
              <a:rPr lang="ru-RU" sz="2800" dirty="0"/>
              <a:t>Оператор промышленных машин</a:t>
            </a:r>
          </a:p>
          <a:p>
            <a:r>
              <a:rPr lang="ru-RU" sz="2800" dirty="0"/>
              <a:t>Кассир-операционист в банке</a:t>
            </a:r>
          </a:p>
          <a:p>
            <a:r>
              <a:rPr lang="ru-RU" sz="2800" dirty="0"/>
              <a:t>…</a:t>
            </a:r>
            <a:endParaRPr lang="en-US" sz="2800" dirty="0"/>
          </a:p>
          <a:p>
            <a:endParaRPr lang="en-US" sz="3600" dirty="0"/>
          </a:p>
          <a:p>
            <a:pPr marL="0" indent="0">
              <a:buNone/>
            </a:pPr>
            <a:endParaRPr lang="en-US" sz="3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9A19527B-31B2-8D92-29E3-4C0D398BB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4168" y="1412776"/>
            <a:ext cx="2944327" cy="165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D6FAE53A-7149-3EC8-8FFB-E0EA6AE1C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30857" y="3908953"/>
            <a:ext cx="3320430" cy="229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>
            <a:extLst>
              <a:ext uri="{FF2B5EF4-FFF2-40B4-BE49-F238E27FC236}">
                <a16:creationId xmlns:a16="http://schemas.microsoft.com/office/drawing/2014/main" id="{A7CD5713-9735-9D04-4430-2C012A5818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4417335"/>
            <a:ext cx="3089500" cy="22727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46466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331335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БЛИЖАЙШЕЕ БУДУЩЕЕ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8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124744"/>
            <a:ext cx="8229600" cy="518457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600" b="1" dirty="0"/>
              <a:t>Кандидаты на исчезновение</a:t>
            </a:r>
            <a:r>
              <a:rPr lang="en-US" sz="3600" b="1" dirty="0"/>
              <a:t>:</a:t>
            </a:r>
          </a:p>
          <a:p>
            <a:r>
              <a:rPr lang="ru-RU" sz="3600" dirty="0">
                <a:solidFill>
                  <a:srgbClr val="0070C0"/>
                </a:solidFill>
              </a:rPr>
              <a:t>Водитель - дальнобойщик</a:t>
            </a:r>
          </a:p>
          <a:p>
            <a:r>
              <a:rPr lang="ru-RU" sz="3600" dirty="0">
                <a:solidFill>
                  <a:srgbClr val="0070C0"/>
                </a:solidFill>
              </a:rPr>
              <a:t>Таксист, водитель автобуса и машинист поезда*</a:t>
            </a:r>
          </a:p>
          <a:p>
            <a:r>
              <a:rPr lang="ru-RU" sz="3600" dirty="0">
                <a:solidFill>
                  <a:srgbClr val="0070C0"/>
                </a:solidFill>
              </a:rPr>
              <a:t>Юрист</a:t>
            </a:r>
          </a:p>
          <a:p>
            <a:r>
              <a:rPr lang="ru-RU" sz="3600" dirty="0">
                <a:solidFill>
                  <a:srgbClr val="0070C0"/>
                </a:solidFill>
              </a:rPr>
              <a:t>Врач-диагност</a:t>
            </a:r>
          </a:p>
          <a:p>
            <a:r>
              <a:rPr lang="ru-RU" sz="3600" dirty="0">
                <a:solidFill>
                  <a:srgbClr val="0070C0"/>
                </a:solidFill>
              </a:rPr>
              <a:t>Курьер</a:t>
            </a:r>
          </a:p>
          <a:p>
            <a:r>
              <a:rPr lang="ru-RU" sz="3600" dirty="0">
                <a:solidFill>
                  <a:srgbClr val="0070C0"/>
                </a:solidFill>
              </a:rPr>
              <a:t>Художник-иллюстратор</a:t>
            </a:r>
            <a:endParaRPr lang="en-US" sz="3600" dirty="0">
              <a:solidFill>
                <a:srgbClr val="0070C0"/>
              </a:solidFill>
            </a:endParaRPr>
          </a:p>
          <a:p>
            <a:endParaRPr lang="en-US" sz="3600" dirty="0"/>
          </a:p>
          <a:p>
            <a:endParaRPr lang="en-US" sz="3600" dirty="0"/>
          </a:p>
          <a:p>
            <a:r>
              <a:rPr lang="ru-RU" sz="2900" dirty="0"/>
              <a:t>*Машинист метро: зарплата 1000 рублей в час. Перевозит за час 1000 пассажиров за 50 рублей с каждого. Экономия для одного пассажира – 1 рубль (2</a:t>
            </a:r>
            <a:r>
              <a:rPr lang="en-US" sz="2900" dirty="0"/>
              <a:t>%)</a:t>
            </a:r>
            <a:r>
              <a:rPr lang="ru-RU" sz="2900" dirty="0"/>
              <a:t>.</a:t>
            </a:r>
          </a:p>
          <a:p>
            <a:r>
              <a:rPr lang="ru-RU" sz="2900" dirty="0"/>
              <a:t>Водитель такси: средняя поездка – 1 час и 200</a:t>
            </a:r>
            <a:r>
              <a:rPr lang="en-US" sz="2900" dirty="0"/>
              <a:t>0 </a:t>
            </a:r>
            <a:r>
              <a:rPr lang="ru-RU" sz="2900" dirty="0"/>
              <a:t>рублей. Экономия – </a:t>
            </a:r>
            <a:r>
              <a:rPr lang="en-US" sz="2900" dirty="0"/>
              <a:t>1000 </a:t>
            </a:r>
            <a:r>
              <a:rPr lang="ru-RU" sz="2900" dirty="0"/>
              <a:t>рублей (50%)</a:t>
            </a:r>
            <a:endParaRPr lang="en-US" sz="2900" dirty="0"/>
          </a:p>
        </p:txBody>
      </p:sp>
    </p:spTree>
    <p:extLst>
      <p:ext uri="{BB962C8B-B14F-4D97-AF65-F5344CB8AC3E}">
        <p14:creationId xmlns:p14="http://schemas.microsoft.com/office/powerpoint/2010/main" val="76868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4360" y="333422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УЖЕ И НЕ БУДУЩЕЕ. НАСТОЯЩЕЕ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9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539552" y="3966026"/>
            <a:ext cx="8301608" cy="1368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900" dirty="0"/>
              <a:t>Иллюстрация к новости «Турция вступает в БРИКС»</a:t>
            </a:r>
            <a:endParaRPr lang="en-US" sz="2900" dirty="0"/>
          </a:p>
        </p:txBody>
      </p:sp>
      <p:pic>
        <p:nvPicPr>
          <p:cNvPr id="11" name="Рисунок 10" descr="Изображение выглядит как человек, Человеческое лицо, одежда, небо&#10;&#10;Автоматически созданное описание">
            <a:extLst>
              <a:ext uri="{FF2B5EF4-FFF2-40B4-BE49-F238E27FC236}">
                <a16:creationId xmlns:a16="http://schemas.microsoft.com/office/drawing/2014/main" id="{639EA317-2218-5D14-53EC-35CB7C025D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1640" y="953392"/>
            <a:ext cx="4957087" cy="2780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5071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940A08-40B1-F7A1-08F8-B920B6F4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BB54B9C-F975-A946-01DE-1CE7979E5A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360" y="333422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УЖЕ И НЕ БУДУЩЕЕ. НАСТОЯЩЕЕ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B24772-5C48-E8B1-6BC9-32508534B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10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>
            <a:extLst>
              <a:ext uri="{FF2B5EF4-FFF2-40B4-BE49-F238E27FC236}">
                <a16:creationId xmlns:a16="http://schemas.microsoft.com/office/drawing/2014/main" id="{3A303F5D-7700-1876-D41D-59EDF3A3AA7C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39552" y="3966026"/>
            <a:ext cx="8301608" cy="136815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900" dirty="0"/>
              <a:t>Беспилотные грузовики уже курсируют между Москвой и Санкт-Петербургом.</a:t>
            </a:r>
            <a:endParaRPr lang="en-US" sz="29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E3FFFBA-B402-6381-2862-88B6A6BB6C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7704" y="1231663"/>
            <a:ext cx="4572000" cy="2400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81439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ТЕНДЕНЦИЯ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11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268760"/>
            <a:ext cx="8229600" cy="46085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2800" dirty="0"/>
              <a:t>Самая квалифицированная работа исчезает первой</a:t>
            </a:r>
            <a:endParaRPr lang="en-US" sz="28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35E4BB-6E4A-4769-11E8-25F4866DC9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803" y="1988840"/>
            <a:ext cx="7551109" cy="4478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294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ПЕРСПЕКТИВНЫЕ НАПРАВЛЕНИЯ 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12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6264696" cy="5040560"/>
          </a:xfrm>
        </p:spPr>
        <p:txBody>
          <a:bodyPr>
            <a:normAutofit/>
          </a:bodyPr>
          <a:lstStyle/>
          <a:p>
            <a:r>
              <a:rPr lang="ru-RU" sz="3600" dirty="0"/>
              <a:t>Исключение человека из физических процессов</a:t>
            </a:r>
          </a:p>
          <a:p>
            <a:endParaRPr lang="ru-RU" sz="3600" dirty="0"/>
          </a:p>
          <a:p>
            <a:r>
              <a:rPr lang="ru-RU" sz="3600" dirty="0"/>
              <a:t>Исключение человека из умственных процессов</a:t>
            </a:r>
            <a:endParaRPr lang="en-US" sz="3600" dirty="0"/>
          </a:p>
          <a:p>
            <a:endParaRPr lang="en-US" sz="3600" dirty="0"/>
          </a:p>
        </p:txBody>
      </p:sp>
      <p:pic>
        <p:nvPicPr>
          <p:cNvPr id="6146" name="Picture 2" descr="Изображение с сайта dzen.ru">
            <a:extLst>
              <a:ext uri="{FF2B5EF4-FFF2-40B4-BE49-F238E27FC236}">
                <a16:creationId xmlns:a16="http://schemas.microsoft.com/office/drawing/2014/main" id="{5D15FEB1-9A91-3B1D-85AD-0D2488ACFC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1268760"/>
            <a:ext cx="1905000" cy="1714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23858255-4B04-D5AF-8624-A1E5CAA7F8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68144" y="3461548"/>
            <a:ext cx="2854780" cy="2201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83962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ПЕРСПЕКТИВНЫЕ НАПРАВЛЕНИЯ 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13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4000" b="1" dirty="0"/>
              <a:t> Киберфизические системы (физические процессы)</a:t>
            </a:r>
          </a:p>
          <a:p>
            <a:r>
              <a:rPr lang="ru-RU" sz="4000" dirty="0"/>
              <a:t>Интеллектуальная робототехника</a:t>
            </a:r>
          </a:p>
          <a:p>
            <a:r>
              <a:rPr lang="ru-RU" sz="4000" dirty="0"/>
              <a:t>Автономные транспортные средства</a:t>
            </a:r>
          </a:p>
          <a:p>
            <a:r>
              <a:rPr lang="ru-RU" sz="4000" dirty="0"/>
              <a:t>Интернет вещей</a:t>
            </a:r>
          </a:p>
          <a:p>
            <a:r>
              <a:rPr lang="ru-RU" sz="4000" dirty="0"/>
              <a:t>Безопасность </a:t>
            </a:r>
            <a:r>
              <a:rPr lang="en-US" sz="4000" dirty="0"/>
              <a:t>(safety &amp; security)</a:t>
            </a:r>
            <a:endParaRPr lang="ru-RU" sz="4000" dirty="0"/>
          </a:p>
          <a:p>
            <a:pPr marL="0" indent="0">
              <a:buNone/>
            </a:pPr>
            <a:r>
              <a:rPr lang="ru-RU" sz="4000" b="1" dirty="0"/>
              <a:t>Системы принятия решений (ментальные процессы)</a:t>
            </a:r>
          </a:p>
          <a:p>
            <a:r>
              <a:rPr lang="ru-RU" sz="4000" dirty="0"/>
              <a:t>Медицинская диагностика</a:t>
            </a:r>
            <a:r>
              <a:rPr lang="en-US" sz="4000" dirty="0"/>
              <a:t> </a:t>
            </a:r>
            <a:r>
              <a:rPr lang="ru-RU" sz="4000" dirty="0"/>
              <a:t>и мониторинг</a:t>
            </a:r>
          </a:p>
          <a:p>
            <a:r>
              <a:rPr lang="ru-RU" sz="4000" dirty="0"/>
              <a:t>Юридические операции</a:t>
            </a:r>
          </a:p>
          <a:p>
            <a:r>
              <a:rPr lang="ru-RU" sz="4000" dirty="0"/>
              <a:t>SCADA-системы</a:t>
            </a:r>
          </a:p>
          <a:p>
            <a:r>
              <a:rPr lang="ru-RU" sz="4000" dirty="0"/>
              <a:t>Анализ информационного пространства</a:t>
            </a:r>
          </a:p>
          <a:p>
            <a:r>
              <a:rPr lang="ru-RU" sz="4000" dirty="0"/>
              <a:t>Поиск информации</a:t>
            </a:r>
          </a:p>
          <a:p>
            <a:r>
              <a:rPr lang="ru-RU" sz="4000" dirty="0"/>
              <a:t>Безопасность</a:t>
            </a:r>
            <a:r>
              <a:rPr lang="en-US" sz="4000" dirty="0"/>
              <a:t> (safety &amp; security)</a:t>
            </a:r>
            <a:endParaRPr lang="ru-RU" sz="4000" dirty="0"/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384707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3" dur="500" fill="hold"/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4" dur="500" fill="hold"/>
                                        <p:tgtEl>
                                          <p:spTgt spid="5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4480" y="620688"/>
            <a:ext cx="9036496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ПЕРСПЕКТИВНЫЕ ОБЛАСТИ ИССЛЕДОВАНИЙ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14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470304" cy="5040560"/>
          </a:xfrm>
        </p:spPr>
        <p:txBody>
          <a:bodyPr>
            <a:normAutofit/>
          </a:bodyPr>
          <a:lstStyle/>
          <a:p>
            <a:r>
              <a:rPr lang="ru-RU" sz="3200" dirty="0"/>
              <a:t>Инженерия знаний и разработка онтологий (Семантическая паутина все еще жива)</a:t>
            </a:r>
          </a:p>
          <a:p>
            <a:r>
              <a:rPr lang="ru-RU" sz="3200" dirty="0"/>
              <a:t>Обработка естественного языка</a:t>
            </a:r>
          </a:p>
          <a:p>
            <a:r>
              <a:rPr lang="ru-RU" sz="3200" dirty="0"/>
              <a:t>Техническое зрение + Обработка изображений</a:t>
            </a:r>
          </a:p>
          <a:p>
            <a:r>
              <a:rPr lang="ru-RU" sz="3200" dirty="0"/>
              <a:t>Мультиагентные системы + Роевой интеллект</a:t>
            </a:r>
          </a:p>
          <a:p>
            <a:r>
              <a:rPr lang="ru-RU" sz="3200" dirty="0"/>
              <a:t>Большие данные + Интеллектуальный анализ данных… 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4000" b="1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09020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7504" y="188640"/>
            <a:ext cx="9036496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ПРИМЕР ИИ: МЕДИЦИНА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15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323528" y="1196752"/>
            <a:ext cx="8614320" cy="5256584"/>
          </a:xfrm>
        </p:spPr>
        <p:txBody>
          <a:bodyPr>
            <a:normAutofit fontScale="92500" lnSpcReduction="10000"/>
          </a:bodyPr>
          <a:lstStyle/>
          <a:p>
            <a:r>
              <a:rPr lang="ru-RU" sz="3200" b="1" dirty="0"/>
              <a:t>Инженерия знаний</a:t>
            </a:r>
            <a:r>
              <a:rPr lang="ru-RU" sz="3200" dirty="0"/>
              <a:t>: Многие медицинские процедуры стандартизированы (протоколы)</a:t>
            </a:r>
          </a:p>
          <a:p>
            <a:r>
              <a:rPr lang="ru-RU" sz="3200" b="1" dirty="0"/>
              <a:t>Обработка естественного языка: </a:t>
            </a:r>
            <a:r>
              <a:rPr lang="ru-RU" sz="3200" dirty="0"/>
              <a:t>Получение знаний из текстовых источников: журналы и т. д.</a:t>
            </a:r>
          </a:p>
          <a:p>
            <a:r>
              <a:rPr lang="ru-RU" sz="3200" b="1" dirty="0"/>
              <a:t>Техническое зрение + Обработка изображений: </a:t>
            </a:r>
            <a:r>
              <a:rPr lang="ru-RU" sz="3200" dirty="0"/>
              <a:t>Анализ рентгеновских снимков и томограмм</a:t>
            </a:r>
          </a:p>
          <a:p>
            <a:r>
              <a:rPr lang="ru-RU" sz="3200" b="1" dirty="0"/>
              <a:t>Мультиагентные системы: </a:t>
            </a:r>
            <a:r>
              <a:rPr lang="ru-RU" sz="3200" dirty="0"/>
              <a:t>Сообщество врачей может объединить свои навыки</a:t>
            </a:r>
          </a:p>
          <a:p>
            <a:r>
              <a:rPr lang="ru-RU" sz="3200" b="1" dirty="0"/>
              <a:t>Большие данные + Интеллектуальный анализ данных: </a:t>
            </a:r>
            <a:r>
              <a:rPr lang="ru-RU" sz="3200" dirty="0"/>
              <a:t>Статистическая медицина</a:t>
            </a:r>
          </a:p>
          <a:p>
            <a:r>
              <a:rPr lang="ru-RU" sz="3200" dirty="0"/>
              <a:t>… </a:t>
            </a:r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4000" b="1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067854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512" y="332656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ПРИМЕР ИИ: ИНТЕРНЕТ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16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231304" y="1258491"/>
            <a:ext cx="8686800" cy="3168352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ru-RU" sz="3200" b="1" dirty="0"/>
              <a:t>Мониторинг веб-ресурсов для</a:t>
            </a:r>
          </a:p>
          <a:p>
            <a:r>
              <a:rPr lang="ru-RU" sz="3200" dirty="0"/>
              <a:t>распознавания информационных атак;</a:t>
            </a:r>
          </a:p>
          <a:p>
            <a:r>
              <a:rPr lang="ru-RU" sz="3200" dirty="0"/>
              <a:t>противодействия информационным атакам;</a:t>
            </a:r>
          </a:p>
          <a:p>
            <a:r>
              <a:rPr lang="ru-RU" sz="3200" dirty="0"/>
              <a:t>распознавания опасных видов деятельности (например, молодежных групп самоубийц);</a:t>
            </a:r>
          </a:p>
          <a:p>
            <a:r>
              <a:rPr lang="ru-RU" sz="3200" dirty="0"/>
              <a:t>предотвращения деструктивных событий (например, «желтых жилетов» во Франции, привет Павлу Дурову).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5C4707A7-94DF-240B-FA6D-E24448BD84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3553" y="4426842"/>
            <a:ext cx="4078199" cy="2293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160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ПРИМЕР ИИ: УМНЫЙ АВТОМОБИЛЬ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17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836713"/>
            <a:ext cx="8229600" cy="5832648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sz="3200" b="1" dirty="0"/>
              <a:t>Мониторинг технического состояния</a:t>
            </a:r>
          </a:p>
          <a:p>
            <a:r>
              <a:rPr lang="ru-RU" sz="3200" dirty="0"/>
              <a:t>Планирование ТО</a:t>
            </a:r>
          </a:p>
          <a:p>
            <a:r>
              <a:rPr lang="ru-RU" sz="3200" dirty="0"/>
              <a:t>Заказ запасных частей</a:t>
            </a:r>
          </a:p>
          <a:p>
            <a:pPr marL="0" indent="0">
              <a:buNone/>
            </a:pPr>
            <a:r>
              <a:rPr lang="ru-RU" sz="3200" b="1" dirty="0"/>
              <a:t>Умная навигация</a:t>
            </a:r>
          </a:p>
          <a:p>
            <a:r>
              <a:rPr lang="ru-RU" sz="3200" dirty="0"/>
              <a:t>Обход пробок</a:t>
            </a:r>
          </a:p>
          <a:p>
            <a:r>
              <a:rPr lang="ru-RU" sz="3200" dirty="0"/>
              <a:t>Предупреждение о критических событиях</a:t>
            </a:r>
          </a:p>
          <a:p>
            <a:r>
              <a:rPr lang="ru-RU" sz="3200" dirty="0"/>
              <a:t>Рекомендации по АЗС</a:t>
            </a:r>
          </a:p>
          <a:p>
            <a:pPr marL="0" indent="0">
              <a:buNone/>
            </a:pPr>
            <a:r>
              <a:rPr lang="ru-RU" sz="3200" b="1" dirty="0"/>
              <a:t>Умное вождение</a:t>
            </a:r>
          </a:p>
          <a:p>
            <a:r>
              <a:rPr lang="ru-RU" sz="3200" dirty="0"/>
              <a:t>Самоорганизующийся рой автомобилей</a:t>
            </a:r>
          </a:p>
          <a:p>
            <a:r>
              <a:rPr lang="ru-RU" sz="3200" dirty="0"/>
              <a:t>Перекрестки без светофоров</a:t>
            </a:r>
          </a:p>
          <a:p>
            <a:pPr marL="0" indent="0">
              <a:buNone/>
            </a:pPr>
            <a:r>
              <a:rPr lang="ru-RU" sz="3200" b="1" dirty="0"/>
              <a:t>Безопасность и защита</a:t>
            </a:r>
          </a:p>
          <a:p>
            <a:r>
              <a:rPr lang="ru-RU" sz="3200" dirty="0"/>
              <a:t>Мониторинг физического состояния водителя</a:t>
            </a:r>
          </a:p>
          <a:p>
            <a:r>
              <a:rPr lang="ru-RU" sz="3200" dirty="0"/>
              <a:t>Распознавание угнанных автомобилей в потоке</a:t>
            </a:r>
          </a:p>
          <a:p>
            <a:r>
              <a:rPr lang="ru-RU" sz="3200" dirty="0"/>
              <a:t>Автоматическое сообщение в полицию о нарушениях правил</a:t>
            </a:r>
          </a:p>
          <a:p>
            <a:r>
              <a:rPr lang="ru-RU" sz="3200" dirty="0"/>
              <a:t>Сервис SOS (обязательная опция в России)</a:t>
            </a:r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3200" dirty="0"/>
          </a:p>
          <a:p>
            <a:endParaRPr lang="en-US" sz="4000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40527054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04664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МЕТОДЫ ИИ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18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1412776"/>
            <a:ext cx="8229600" cy="50405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3200" b="1" dirty="0"/>
              <a:t>Инженерия знаний</a:t>
            </a:r>
          </a:p>
          <a:p>
            <a:r>
              <a:rPr lang="ru-RU" sz="3200" dirty="0"/>
              <a:t>Базы знаний</a:t>
            </a:r>
          </a:p>
          <a:p>
            <a:r>
              <a:rPr lang="ru-RU" sz="3200" dirty="0"/>
              <a:t>Методы логического поиска </a:t>
            </a:r>
          </a:p>
          <a:p>
            <a:pPr marL="0" indent="0">
              <a:buNone/>
            </a:pPr>
            <a:r>
              <a:rPr lang="ru-RU" sz="3200" b="1" dirty="0"/>
              <a:t>Инженерия данных (больших)</a:t>
            </a:r>
          </a:p>
          <a:p>
            <a:r>
              <a:rPr lang="ru-RU" sz="3200" dirty="0"/>
              <a:t>Статистические методы</a:t>
            </a:r>
          </a:p>
          <a:p>
            <a:r>
              <a:rPr lang="ru-RU" sz="3200" dirty="0"/>
              <a:t>Машинное обучение</a:t>
            </a:r>
          </a:p>
          <a:p>
            <a:r>
              <a:rPr lang="ru-RU" sz="3200" dirty="0"/>
              <a:t>Нейронные сети</a:t>
            </a:r>
            <a:endParaRPr lang="en-US" sz="3200" dirty="0"/>
          </a:p>
          <a:p>
            <a:endParaRPr lang="en-US" sz="3200" dirty="0"/>
          </a:p>
          <a:p>
            <a:endParaRPr lang="en-US" sz="3200" b="1" dirty="0"/>
          </a:p>
          <a:p>
            <a:endParaRPr lang="en-US" sz="3200" b="1" dirty="0"/>
          </a:p>
          <a:p>
            <a:endParaRPr lang="en-US" sz="4000" b="1" dirty="0"/>
          </a:p>
          <a:p>
            <a:pPr marL="0" indent="0">
              <a:buNone/>
            </a:pP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2292299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ЦЕЛЬ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19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179512" y="1268760"/>
            <a:ext cx="8856984" cy="266429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ru-RU" sz="3200" dirty="0"/>
              <a:t>Устранить человека из всех сфер деятельности, кроме искусства</a:t>
            </a:r>
          </a:p>
          <a:p>
            <a:pPr>
              <a:buNone/>
            </a:pPr>
            <a:endParaRPr lang="ru-RU" sz="2800" dirty="0">
              <a:solidFill>
                <a:srgbClr val="0070C0"/>
              </a:solidFill>
            </a:endParaRPr>
          </a:p>
          <a:p>
            <a:pPr>
              <a:buNone/>
            </a:pPr>
            <a:r>
              <a:rPr lang="ru-RU" sz="2800" dirty="0">
                <a:solidFill>
                  <a:srgbClr val="0070C0"/>
                </a:solidFill>
              </a:rPr>
              <a:t>Безработица?</a:t>
            </a:r>
          </a:p>
          <a:p>
            <a:pPr>
              <a:buNone/>
            </a:pPr>
            <a:r>
              <a:rPr lang="ru-RU" sz="2800" dirty="0">
                <a:solidFill>
                  <a:srgbClr val="0070C0"/>
                </a:solidFill>
              </a:rPr>
              <a:t>-- Да!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DD4513C4-C5DA-9396-B26D-394C7CF3F6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432" y="2564904"/>
            <a:ext cx="5328592" cy="356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7682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r>
              <a:rPr lang="ru-RU" sz="3600" b="1" dirty="0">
                <a:solidFill>
                  <a:srgbClr val="002060"/>
                </a:solidFill>
              </a:rPr>
              <a:t>ВСЁ ЛИ ТАК ПЕЧАЛЬНО?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20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251520" y="1268760"/>
            <a:ext cx="8784976" cy="460851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ru-RU" sz="2800" dirty="0"/>
              <a:t>Безлюдный завод выпускает автомобили.</a:t>
            </a:r>
          </a:p>
          <a:p>
            <a:pPr>
              <a:buNone/>
            </a:pPr>
            <a:r>
              <a:rPr lang="ru-RU" sz="2800" dirty="0"/>
              <a:t> Зарплату платить не надо. </a:t>
            </a:r>
          </a:p>
          <a:p>
            <a:pPr>
              <a:buNone/>
            </a:pPr>
            <a:r>
              <a:rPr lang="ru-RU" sz="2800" dirty="0"/>
              <a:t>Но кто будет их покупать? </a:t>
            </a:r>
          </a:p>
          <a:p>
            <a:pPr lvl="1">
              <a:buNone/>
            </a:pPr>
            <a:r>
              <a:rPr lang="ru-RU" sz="2500" dirty="0"/>
              <a:t>Уволенные юристы? </a:t>
            </a:r>
          </a:p>
          <a:p>
            <a:pPr lvl="1">
              <a:buNone/>
            </a:pPr>
            <a:r>
              <a:rPr lang="ru-RU" sz="2500" dirty="0"/>
              <a:t>Уволенные врачи? </a:t>
            </a:r>
          </a:p>
          <a:p>
            <a:pPr lvl="1">
              <a:buNone/>
            </a:pPr>
            <a:r>
              <a:rPr lang="ru-RU" sz="2500" dirty="0"/>
              <a:t>Уволенные бухгалтеры?</a:t>
            </a:r>
          </a:p>
          <a:p>
            <a:pPr lvl="1">
              <a:buNone/>
            </a:pPr>
            <a:r>
              <a:rPr lang="ru-RU" sz="2500" dirty="0"/>
              <a:t>Уволенные сборщики клюквы?</a:t>
            </a:r>
          </a:p>
          <a:p>
            <a:pPr>
              <a:buNone/>
            </a:pPr>
            <a:endParaRPr lang="ru-RU" sz="2800" dirty="0"/>
          </a:p>
          <a:p>
            <a:pPr>
              <a:buNone/>
            </a:pPr>
            <a:r>
              <a:rPr lang="ru-RU" sz="2800" dirty="0">
                <a:solidFill>
                  <a:srgbClr val="0070C0"/>
                </a:solidFill>
              </a:rPr>
              <a:t>Но машинистки и телефонистки нашли работу.</a:t>
            </a:r>
          </a:p>
          <a:p>
            <a:pPr>
              <a:buNone/>
            </a:pPr>
            <a:r>
              <a:rPr lang="ru-RU" sz="2800" dirty="0">
                <a:solidFill>
                  <a:srgbClr val="0070C0"/>
                </a:solidFill>
              </a:rPr>
              <a:t>Нас ждет радикальная реструктуризация рынка труда.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747E419-5C5B-90CD-064A-A4C4E5C41C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4564" y="1077077"/>
            <a:ext cx="2102743" cy="2420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7230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5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5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51520" y="188640"/>
            <a:ext cx="8686800" cy="504056"/>
          </a:xfrm>
        </p:spPr>
        <p:txBody>
          <a:bodyPr>
            <a:noAutofit/>
          </a:bodyPr>
          <a:lstStyle/>
          <a:p>
            <a:endParaRPr lang="ru-RU" sz="3600" b="1" dirty="0">
              <a:solidFill>
                <a:srgbClr val="00206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6804248" y="6237312"/>
            <a:ext cx="2133600" cy="365125"/>
          </a:xfrm>
        </p:spPr>
        <p:txBody>
          <a:bodyPr/>
          <a:lstStyle/>
          <a:p>
            <a:pPr algn="r"/>
            <a:fld id="{725C68B6-61C2-468F-89AB-4B9F7531AA68}" type="slidenum">
              <a:rPr lang="ru-RU" sz="1600" b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pPr algn="r"/>
              <a:t>21</a:t>
            </a:fld>
            <a:endParaRPr lang="ru-RU" sz="16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3" name="Содержимое 52"/>
          <p:cNvSpPr>
            <a:spLocks noGrp="1"/>
          </p:cNvSpPr>
          <p:nvPr>
            <p:ph sz="quarter" idx="1"/>
          </p:nvPr>
        </p:nvSpPr>
        <p:spPr>
          <a:xfrm>
            <a:off x="467544" y="2276872"/>
            <a:ext cx="8229600" cy="122413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ru-RU" sz="3200" dirty="0">
                <a:solidFill>
                  <a:srgbClr val="0070C0"/>
                </a:solidFill>
              </a:rPr>
              <a:t>Вопросы?</a:t>
            </a:r>
            <a:endParaRPr lang="en-US" sz="3200" dirty="0">
              <a:solidFill>
                <a:srgbClr val="0070C0"/>
              </a:solidFill>
            </a:endParaRPr>
          </a:p>
          <a:p>
            <a:pPr marL="0" indent="0" algn="ctr">
              <a:buNone/>
            </a:pPr>
            <a:r>
              <a:rPr lang="ru-RU" sz="3200" dirty="0">
                <a:solidFill>
                  <a:srgbClr val="0070C0"/>
                </a:solidFill>
              </a:rPr>
              <a:t> </a:t>
            </a:r>
            <a:endParaRPr 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77976873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чальная">
  <a:themeElements>
    <a:clrScheme name="Начальная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Начальная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Начальная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5300</TotalTime>
  <Words>699</Words>
  <Application>Microsoft Office PowerPoint</Application>
  <PresentationFormat>Экран (4:3)</PresentationFormat>
  <Paragraphs>191</Paragraphs>
  <Slides>21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21</vt:i4>
      </vt:variant>
    </vt:vector>
  </HeadingPairs>
  <TitlesOfParts>
    <vt:vector size="29" baseType="lpstr">
      <vt:lpstr>Arial</vt:lpstr>
      <vt:lpstr>Bookman Old Style</vt:lpstr>
      <vt:lpstr>Calibri</vt:lpstr>
      <vt:lpstr>Cambria</vt:lpstr>
      <vt:lpstr>Gill Sans MT</vt:lpstr>
      <vt:lpstr>Wingdings</vt:lpstr>
      <vt:lpstr>Wingdings 3</vt:lpstr>
      <vt:lpstr>Начальная</vt:lpstr>
      <vt:lpstr>Системы искусственного интеллекта: Мотивация</vt:lpstr>
      <vt:lpstr>ПРОБЛЕМА: ДЕВАЛЬВАЦИЯ ПОНЯТИЯ </vt:lpstr>
      <vt:lpstr>ПРОБЛЕМА: ПРОИЗВОДИТЕЛЬНОСТЬ ТРУДА </vt:lpstr>
      <vt:lpstr>ПРОБЛЕМА:ДЕФИЦИТ КАДРОВ </vt:lpstr>
      <vt:lpstr>ПРОБЛЕМА: ЭКОНОМИЧЕСКИЙ РОСТ </vt:lpstr>
      <vt:lpstr>ПРОШЛОЕ </vt:lpstr>
      <vt:lpstr>НАСТОЯЩЕЕ </vt:lpstr>
      <vt:lpstr>БЛИЖАЙШЕЕ БУДУЩЕЕ</vt:lpstr>
      <vt:lpstr>УЖЕ И НЕ БУДУЩЕЕ. НАСТОЯЩЕЕ</vt:lpstr>
      <vt:lpstr>УЖЕ И НЕ БУДУЩЕЕ. НАСТОЯЩЕЕ</vt:lpstr>
      <vt:lpstr>ТЕНДЕНЦИЯ</vt:lpstr>
      <vt:lpstr>ПЕРСПЕКТИВНЫЕ НАПРАВЛЕНИЯ ИИ</vt:lpstr>
      <vt:lpstr>ПЕРСПЕКТИВНЫЕ НАПРАВЛЕНИЯ ИИ</vt:lpstr>
      <vt:lpstr>ПЕРСПЕКТИВНЫЕ ОБЛАСТИ ИССЛЕДОВАНИЙ</vt:lpstr>
      <vt:lpstr>ПРИМЕР ИИ: МЕДИЦИНА</vt:lpstr>
      <vt:lpstr>ПРИМЕР ИИ: ИНТЕРНЕТ</vt:lpstr>
      <vt:lpstr>ПРИМЕР ИИ: УМНЫЙ АВТОМОБИЛЬ</vt:lpstr>
      <vt:lpstr>МЕТОДЫ ИИ</vt:lpstr>
      <vt:lpstr>ЦЕЛЬ</vt:lpstr>
      <vt:lpstr>ВСЁ ЛИ ТАК ПЕЧАЛЬНО?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РЕАЛИЗАЦИЯ ЛОГИК В ИНТЕЛЛЕКТУАЛЬНЫХ СИСТЕМАХ</dc:title>
  <dc:creator>BIA</dc:creator>
  <cp:lastModifiedBy>Igor Bessmertny</cp:lastModifiedBy>
  <cp:revision>141</cp:revision>
  <dcterms:modified xsi:type="dcterms:W3CDTF">2025-05-04T15:32:57Z</dcterms:modified>
</cp:coreProperties>
</file>