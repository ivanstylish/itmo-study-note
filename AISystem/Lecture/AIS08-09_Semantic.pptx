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7" r:id="rId3"/>
    <p:sldId id="296" r:id="rId4"/>
    <p:sldId id="287" r:id="rId5"/>
    <p:sldId id="288" r:id="rId6"/>
    <p:sldId id="289" r:id="rId7"/>
    <p:sldId id="290" r:id="rId8"/>
    <p:sldId id="291" r:id="rId9"/>
    <p:sldId id="260" r:id="rId10"/>
    <p:sldId id="261" r:id="rId11"/>
    <p:sldId id="292" r:id="rId12"/>
    <p:sldId id="293" r:id="rId13"/>
    <p:sldId id="265" r:id="rId14"/>
    <p:sldId id="262" r:id="rId15"/>
    <p:sldId id="294" r:id="rId16"/>
    <p:sldId id="263" r:id="rId17"/>
    <p:sldId id="264" r:id="rId18"/>
    <p:sldId id="266" r:id="rId19"/>
    <p:sldId id="267" r:id="rId20"/>
    <p:sldId id="268" r:id="rId21"/>
    <p:sldId id="269" r:id="rId22"/>
    <p:sldId id="272" r:id="rId23"/>
    <p:sldId id="273" r:id="rId24"/>
    <p:sldId id="271" r:id="rId25"/>
    <p:sldId id="270" r:id="rId26"/>
    <p:sldId id="274" r:id="rId27"/>
    <p:sldId id="275" r:id="rId28"/>
    <p:sldId id="276" r:id="rId29"/>
    <p:sldId id="278" r:id="rId30"/>
    <p:sldId id="279" r:id="rId31"/>
    <p:sldId id="280" r:id="rId32"/>
    <p:sldId id="282" r:id="rId33"/>
    <p:sldId id="281" r:id="rId34"/>
    <p:sldId id="283" r:id="rId35"/>
    <p:sldId id="284" r:id="rId36"/>
    <p:sldId id="285" r:id="rId37"/>
    <p:sldId id="277" r:id="rId38"/>
    <p:sldId id="295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4D5B7-F3C5-44AA-B4EC-425CD7638050}" v="4" dt="2024-09-05T13:12:54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526" autoAdjust="0"/>
  </p:normalViewPr>
  <p:slideViewPr>
    <p:cSldViewPr>
      <p:cViewPr varScale="1">
        <p:scale>
          <a:sx n="93" d="100"/>
          <a:sy n="93" d="100"/>
        </p:scale>
        <p:origin x="936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82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9794D5B7-F3C5-44AA-B4EC-425CD7638050}"/>
    <pc:docChg chg="custSel addSld delSld modSld">
      <pc:chgData name="Бессмертный Игорь Александрович" userId="4f489ec6-c9ca-4727-b2ff-e9e7b63d68f3" providerId="ADAL" clId="{9794D5B7-F3C5-44AA-B4EC-425CD7638050}" dt="2024-09-05T13:12:54.249" v="56" actId="27636"/>
      <pc:docMkLst>
        <pc:docMk/>
      </pc:docMkLst>
      <pc:sldChg chg="modSp add del mod">
        <pc:chgData name="Бессмертный Игорь Александрович" userId="4f489ec6-c9ca-4727-b2ff-e9e7b63d68f3" providerId="ADAL" clId="{9794D5B7-F3C5-44AA-B4EC-425CD7638050}" dt="2024-09-05T13:12:20.871" v="48" actId="20577"/>
        <pc:sldMkLst>
          <pc:docMk/>
          <pc:sldMk cId="0" sldId="256"/>
        </pc:sldMkLst>
        <pc:spChg chg="mod">
          <ac:chgData name="Бессмертный Игорь Александрович" userId="4f489ec6-c9ca-4727-b2ff-e9e7b63d68f3" providerId="ADAL" clId="{9794D5B7-F3C5-44AA-B4EC-425CD7638050}" dt="2024-09-05T13:12:20.871" v="48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60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61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62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9794D5B7-F3C5-44AA-B4EC-425CD7638050}" dt="2024-09-05T13:12:54.237" v="54" actId="27636"/>
        <pc:sldMkLst>
          <pc:docMk/>
          <pc:sldMk cId="0" sldId="263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237" v="54" actId="27636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64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9794D5B7-F3C5-44AA-B4EC-425CD7638050}" dt="2024-09-05T13:12:54.244" v="55" actId="27636"/>
        <pc:sldMkLst>
          <pc:docMk/>
          <pc:sldMk cId="0" sldId="279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244" v="55" actId="27636"/>
          <ac:spMkLst>
            <pc:docMk/>
            <pc:sldMk cId="0" sldId="279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9794D5B7-F3C5-44AA-B4EC-425CD7638050}" dt="2024-09-05T13:12:54.249" v="56" actId="27636"/>
        <pc:sldMkLst>
          <pc:docMk/>
          <pc:sldMk cId="0" sldId="284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249" v="56" actId="27636"/>
          <ac:spMkLst>
            <pc:docMk/>
            <pc:sldMk cId="0" sldId="284"/>
            <ac:spMk id="2" creationId="{00000000-0000-0000-0000-000000000000}"/>
          </ac:spMkLst>
        </pc:spChg>
      </pc:sldChg>
      <pc:sldChg chg="del">
        <pc:chgData name="Бессмертный Игорь Александрович" userId="4f489ec6-c9ca-4727-b2ff-e9e7b63d68f3" providerId="ADAL" clId="{9794D5B7-F3C5-44AA-B4EC-425CD7638050}" dt="2024-09-05T13:12:35.869" v="49" actId="47"/>
        <pc:sldMkLst>
          <pc:docMk/>
          <pc:sldMk cId="0" sldId="286"/>
        </pc:sldMkLst>
      </pc:sldChg>
      <pc:sldChg chg="modSp mod">
        <pc:chgData name="Бессмертный Игорь Александрович" userId="4f489ec6-c9ca-4727-b2ff-e9e7b63d68f3" providerId="ADAL" clId="{9794D5B7-F3C5-44AA-B4EC-425CD7638050}" dt="2024-09-05T13:12:54.221" v="52" actId="27636"/>
        <pc:sldMkLst>
          <pc:docMk/>
          <pc:sldMk cId="0" sldId="287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8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794D5B7-F3C5-44AA-B4EC-425CD7638050}" dt="2024-09-05T13:12:54.221" v="52" actId="27636"/>
          <ac:spMkLst>
            <pc:docMk/>
            <pc:sldMk cId="0" sldId="287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88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88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89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89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90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91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1"/>
            <ac:spMk id="2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92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2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9794D5B7-F3C5-44AA-B4EC-425CD7638050}" dt="2024-09-05T13:12:54.233" v="53" actId="27636"/>
        <pc:sldMkLst>
          <pc:docMk/>
          <pc:sldMk cId="0" sldId="293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3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794D5B7-F3C5-44AA-B4EC-425CD7638050}" dt="2024-09-05T13:12:54.233" v="53" actId="27636"/>
          <ac:spMkLst>
            <pc:docMk/>
            <pc:sldMk cId="0" sldId="293"/>
            <ac:spMk id="4" creationId="{00000000-0000-0000-0000-000000000000}"/>
          </ac:spMkLst>
        </pc:sp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94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4"/>
            <ac:spMk id="2" creationId="{00000000-0000-0000-0000-000000000000}"/>
          </ac:spMkLst>
        </pc:spChg>
      </pc:sldChg>
      <pc:sldChg chg="modSp mod">
        <pc:chgData name="Бессмертный Игорь Александрович" userId="4f489ec6-c9ca-4727-b2ff-e9e7b63d68f3" providerId="ADAL" clId="{9794D5B7-F3C5-44AA-B4EC-425CD7638050}" dt="2024-09-05T13:12:54.216" v="51" actId="27636"/>
        <pc:sldMkLst>
          <pc:docMk/>
          <pc:sldMk cId="0" sldId="296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216" v="51" actId="27636"/>
          <ac:spMkLst>
            <pc:docMk/>
            <pc:sldMk cId="0" sldId="296"/>
            <ac:spMk id="2" creationId="{00000000-0000-0000-0000-000000000000}"/>
          </ac:spMkLst>
        </pc:spChg>
        <pc:graphicFrameChg chg="mod">
          <ac:chgData name="Бессмертный Игорь Александрович" userId="4f489ec6-c9ca-4727-b2ff-e9e7b63d68f3" providerId="ADAL" clId="{9794D5B7-F3C5-44AA-B4EC-425CD7638050}" dt="2024-09-05T13:12:54.169" v="50"/>
          <ac:graphicFrameMkLst>
            <pc:docMk/>
            <pc:sldMk cId="0" sldId="296"/>
            <ac:graphicFrameMk id="6" creationId="{00000000-0000-0000-0000-000000000000}"/>
          </ac:graphicFrameMkLst>
        </pc:graphicFrameChg>
      </pc:sldChg>
      <pc:sldChg chg="modSp">
        <pc:chgData name="Бессмертный Игорь Александрович" userId="4f489ec6-c9ca-4727-b2ff-e9e7b63d68f3" providerId="ADAL" clId="{9794D5B7-F3C5-44AA-B4EC-425CD7638050}" dt="2024-09-05T13:12:54.169" v="50"/>
        <pc:sldMkLst>
          <pc:docMk/>
          <pc:sldMk cId="0" sldId="297"/>
        </pc:sldMkLst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7"/>
            <ac:spMk id="2" creationId="{00000000-0000-0000-0000-000000000000}"/>
          </ac:spMkLst>
        </pc:spChg>
        <pc:spChg chg="mod">
          <ac:chgData name="Бессмертный Игорь Александрович" userId="4f489ec6-c9ca-4727-b2ff-e9e7b63d68f3" providerId="ADAL" clId="{9794D5B7-F3C5-44AA-B4EC-425CD7638050}" dt="2024-09-05T13:12:54.169" v="50"/>
          <ac:spMkLst>
            <pc:docMk/>
            <pc:sldMk cId="0" sldId="29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F2F032D-6BC6-4234-9999-898F413A31C5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3770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4072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7EB4978-0867-4AEF-A28C-7086D1853D40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50909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1345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3053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089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1211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6053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8045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565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5718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04.09.2024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0834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Undirected_graph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://en.wikipedia.org/wiki/Directed_graph" TargetMode="Externa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hyperlink" Target="http://en.wikipedia.org/wiki/Knowledge_representation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://en.wikipedia.org/wiki/Concept" TargetMode="External"/><Relationship Id="rId10" Type="http://schemas.openxmlformats.org/officeDocument/2006/relationships/hyperlink" Target="http://en.wikipedia.org/wiki/Graph_theory" TargetMode="External"/><Relationship Id="rId4" Type="http://schemas.openxmlformats.org/officeDocument/2006/relationships/hyperlink" Target="http://en.wikipedia.org/wiki/Semantic" TargetMode="External"/><Relationship Id="rId9" Type="http://schemas.openxmlformats.org/officeDocument/2006/relationships/hyperlink" Target="http://en.wikipedia.org/wiki/Vertex_(graph_theory)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hyperlink" Target="http://ru.wikipedia.org/wiki/%D0%A4%D0%B0%D0%B9%D0%BB:Carl_von_Linn%C3%A9.jpg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jpe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hyperlink" Target="http://upload.wikimedia.org/wikipedia/commons/a/a4/Charles_Sanders_Peirce_theb3558.jpg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://upload.wikimedia.org/wikipedia/commons/2/29/PeirceAlphaGraphs.sv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14.m4a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4.m4a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Royal_Society" TargetMode="External"/><Relationship Id="rId13" Type="http://schemas.openxmlformats.org/officeDocument/2006/relationships/hyperlink" Target="http://en.wikipedia.org/wiki/Massachusetts_Institute_of_Technology" TargetMode="External"/><Relationship Id="rId18" Type="http://schemas.openxmlformats.org/officeDocument/2006/relationships/hyperlink" Target="http://en.wikipedia.org/wiki/HTTP" TargetMode="External"/><Relationship Id="rId26" Type="http://schemas.openxmlformats.org/officeDocument/2006/relationships/hyperlink" Target="http://en.wikipedia.org/wiki/MIT_Center_for_Collective_Intelligence" TargetMode="External"/><Relationship Id="rId3" Type="http://schemas.openxmlformats.org/officeDocument/2006/relationships/slideLayout" Target="../slideLayouts/slideLayout2.xml"/><Relationship Id="rId21" Type="http://schemas.openxmlformats.org/officeDocument/2006/relationships/hyperlink" Target="http://en.wikipedia.org/wiki/3Com" TargetMode="External"/><Relationship Id="rId7" Type="http://schemas.openxmlformats.org/officeDocument/2006/relationships/hyperlink" Target="http://en.wikipedia.org/wiki/Order_of_the_British_Empire" TargetMode="External"/><Relationship Id="rId12" Type="http://schemas.openxmlformats.org/officeDocument/2006/relationships/hyperlink" Target="http://en.wikipedia.org/wiki/Computer_scientist" TargetMode="External"/><Relationship Id="rId17" Type="http://schemas.openxmlformats.org/officeDocument/2006/relationships/hyperlink" Target="http://en.wikipedia.org/wiki/CERN" TargetMode="External"/><Relationship Id="rId25" Type="http://schemas.openxmlformats.org/officeDocument/2006/relationships/hyperlink" Target="#cite_note-3"/><Relationship Id="rId2" Type="http://schemas.openxmlformats.org/officeDocument/2006/relationships/audio" Target="../media/media24.m4a"/><Relationship Id="rId16" Type="http://schemas.openxmlformats.org/officeDocument/2006/relationships/hyperlink" Target="http://en.wikipedia.org/wiki/Robert_Cailliau" TargetMode="External"/><Relationship Id="rId20" Type="http://schemas.openxmlformats.org/officeDocument/2006/relationships/hyperlink" Target="http://en.wikipedia.org/wiki/World_Wide_Web_Foundation" TargetMode="External"/><Relationship Id="rId29" Type="http://schemas.openxmlformats.org/officeDocument/2006/relationships/hyperlink" Target="http://en.wikipedia.org/wiki/United_States_National_Academy_of_Sciences" TargetMode="External"/><Relationship Id="rId1" Type="http://schemas.microsoft.com/office/2007/relationships/media" Target="../media/media24.m4a"/><Relationship Id="rId6" Type="http://schemas.openxmlformats.org/officeDocument/2006/relationships/hyperlink" Target="http://en.wikipedia.org/wiki/Order_of_Merit" TargetMode="External"/><Relationship Id="rId11" Type="http://schemas.openxmlformats.org/officeDocument/2006/relationships/hyperlink" Target="#cite_note-W3Bio-0"/><Relationship Id="rId24" Type="http://schemas.openxmlformats.org/officeDocument/2006/relationships/hyperlink" Target="#cite_note-2"/><Relationship Id="rId5" Type="http://schemas.openxmlformats.org/officeDocument/2006/relationships/image" Target="../media/image29.jpeg"/><Relationship Id="rId15" Type="http://schemas.openxmlformats.org/officeDocument/2006/relationships/hyperlink" Target="#cite_note-AFP-1"/><Relationship Id="rId23" Type="http://schemas.openxmlformats.org/officeDocument/2006/relationships/hyperlink" Target="http://en.wikipedia.org/wiki/MIT_Computer_Science_and_Artificial_Intelligence_Laboratory" TargetMode="External"/><Relationship Id="rId28" Type="http://schemas.openxmlformats.org/officeDocument/2006/relationships/hyperlink" Target="#cite_note-5"/><Relationship Id="rId10" Type="http://schemas.openxmlformats.org/officeDocument/2006/relationships/hyperlink" Target="http://en.wikipedia.org/wiki/Royal_Society_of_Arts" TargetMode="External"/><Relationship Id="rId19" Type="http://schemas.openxmlformats.org/officeDocument/2006/relationships/hyperlink" Target="http://en.wikipedia.org/wiki/Internet" TargetMode="External"/><Relationship Id="rId4" Type="http://schemas.openxmlformats.org/officeDocument/2006/relationships/hyperlink" Target="http://upload.wikimedia.org/wikipedia/commons/c/c8/Tim_Berners-Lee_April_2009.jpg" TargetMode="External"/><Relationship Id="rId9" Type="http://schemas.openxmlformats.org/officeDocument/2006/relationships/hyperlink" Target="http://en.wikipedia.org/wiki/Royal_Academy_of_Engineering" TargetMode="External"/><Relationship Id="rId14" Type="http://schemas.openxmlformats.org/officeDocument/2006/relationships/hyperlink" Target="http://en.wikipedia.org/wiki/World_Wide_Web" TargetMode="External"/><Relationship Id="rId22" Type="http://schemas.openxmlformats.org/officeDocument/2006/relationships/hyperlink" Target="http://en.wikipedia.org/wiki/Professors_in_the_United_States#Special_academic_ranks_.28tenured.29" TargetMode="External"/><Relationship Id="rId27" Type="http://schemas.openxmlformats.org/officeDocument/2006/relationships/hyperlink" Target="#cite_note-4"/><Relationship Id="rId30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hyperlink" Target="http://upload.wikimedia.org/wikipedia/ru/9/94/Contact_RDF_graph.png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hyperlink" Target="http://upload.wikimedia.org/wikipedia/ru/8/86/Semantic_Web_stack.pn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6" Type="http://schemas.openxmlformats.org/officeDocument/2006/relationships/image" Target="../media/image10.png"/><Relationship Id="rId5" Type="http://schemas.openxmlformats.org/officeDocument/2006/relationships/image" Target="../media/image33.gif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6" Type="http://schemas.openxmlformats.org/officeDocument/2006/relationships/image" Target="../media/image1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3.m4a"/><Relationship Id="rId1" Type="http://schemas.microsoft.com/office/2007/relationships/media" Target="../media/media33.m4a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563888" y="3572"/>
            <a:ext cx="5580112" cy="3636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Профессор Игорь Александрович Бессмертный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5C68B6-61C2-468F-89AB-4B9F7531AA68}" type="slidenum">
              <a:rPr kumimoji="0" lang="ru-RU" sz="1400" b="0" i="0" u="none" strike="noStrike" kern="1200" cap="none" spc="0" normalizeH="0" baseline="0" noProof="0" smtClean="0">
                <a:ln>
                  <a:noFill/>
                </a:ln>
                <a:solidFill>
                  <a:srgbClr val="46465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46465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 dirty="0"/>
              <a:t>Искусственный интеллект</a:t>
            </a:r>
            <a:r>
              <a:rPr lang="en-US" sz="4300" b="1" dirty="0"/>
              <a:t>:</a:t>
            </a:r>
            <a:r>
              <a:rPr lang="ru-RU" sz="4300" b="1" dirty="0"/>
              <a:t> Семантические сети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Problem statement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How to write knowledge being understandable as by human as by computer?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Methods of knowledge representation</a:t>
            </a:r>
            <a:endParaRPr lang="ru-RU" dirty="0">
              <a:solidFill>
                <a:srgbClr val="0070C0"/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229600" cy="4937125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  <a:endParaRPr lang="ru-RU" dirty="0"/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for human?</a:t>
                      </a:r>
                      <a:endParaRPr lang="ru-RU" dirty="0"/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Good for computer?</a:t>
                      </a:r>
                      <a:endParaRPr lang="ru-RU" dirty="0"/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Language dependent.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Can be boring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Math formulas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Math skill is needed. Not applicable for a wide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domain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or less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Music notes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Music literacy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is needed. Restricted domain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Perhaps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Pictures, maps, videos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Good for mass homogenous data. Strict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classification is needed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86627" marR="8662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D4918F6-1853-4720-8DB6-1A7792EE79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A 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semantic network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 is a network which represents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4" action="ppaction://hlinkfile" tooltip="Semantic"/>
              </a:rPr>
              <a:t>semantic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 relations among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5" action="ppaction://hlinkfile" tooltip="Concept"/>
              </a:rPr>
              <a:t>concepts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. This is often used as a form of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6" action="ppaction://hlinkfile" tooltip="Knowledge representation"/>
              </a:rPr>
              <a:t>knowledge representation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. It is a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7" action="ppaction://hlinkfile" tooltip="Directed graph"/>
              </a:rPr>
              <a:t>directed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 or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8" action="ppaction://hlinkfile" tooltip="Undirected graph"/>
              </a:rPr>
              <a:t>undirected graph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 consisting of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9" action="ppaction://hlinkfile" tooltip="Vertex (graph theory)"/>
              </a:rPr>
              <a:t>vertices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, which represent 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5" action="ppaction://hlinkfile" tooltip="Concept"/>
              </a:rPr>
              <a:t>concepts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, and </a:t>
            </a:r>
            <a:r>
              <a:rPr lang="en-US" sz="3600" dirty="0">
                <a:latin typeface="Arial" pitchFamily="34" charset="0"/>
                <a:cs typeface="Arial" pitchFamily="34" charset="0"/>
                <a:hlinkClick r:id="rId10" action="ppaction://hlinkfile" tooltip="Graph theory"/>
              </a:rPr>
              <a:t>edges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algn="r">
              <a:buNone/>
            </a:pPr>
            <a:r>
              <a:rPr lang="en-US" i="1" dirty="0">
                <a:solidFill>
                  <a:srgbClr val="0070C0"/>
                </a:solidFill>
              </a:rPr>
              <a:t>http://en.wikipedia.org</a:t>
            </a:r>
            <a:endParaRPr lang="ru-RU" i="1" dirty="0">
              <a:solidFill>
                <a:srgbClr val="0070C0"/>
              </a:solidFill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D4918F6-1853-4720-8DB6-1A7792EE79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history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3857628"/>
            <a:ext cx="3357586" cy="2643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Karl Linnaeus</a:t>
            </a:r>
            <a:r>
              <a:rPr lang="ru-RU" dirty="0">
                <a:solidFill>
                  <a:srgbClr val="002060"/>
                </a:solidFill>
              </a:rPr>
              <a:t>(1735) </a:t>
            </a: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>
                <a:solidFill>
                  <a:srgbClr val="002060"/>
                </a:solidFill>
              </a:rPr>
              <a:t>biological classification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2050" name="Picture 2" descr="Carl von Linné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44" y="1500174"/>
            <a:ext cx="1905000" cy="230505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 l="24661" t="12392" r="7505" b="9294"/>
          <a:stretch>
            <a:fillRect/>
          </a:stretch>
        </p:blipFill>
        <p:spPr bwMode="auto">
          <a:xfrm>
            <a:off x="4376366" y="1214422"/>
            <a:ext cx="4767634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1F395C51-3D2D-4072-A6CD-E3E47B4060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history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4572008"/>
            <a:ext cx="3767134" cy="19367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rgbClr val="002060"/>
                </a:solidFill>
              </a:rPr>
              <a:t>Charles Pierce</a:t>
            </a:r>
            <a:r>
              <a:rPr lang="ru-RU" sz="2800" dirty="0">
                <a:solidFill>
                  <a:srgbClr val="002060"/>
                </a:solidFill>
              </a:rPr>
              <a:t>(1909) – </a:t>
            </a:r>
            <a:r>
              <a:rPr lang="en-US" sz="2800" dirty="0" err="1">
                <a:solidFill>
                  <a:srgbClr val="002060"/>
                </a:solidFill>
              </a:rPr>
              <a:t>existencial</a:t>
            </a:r>
            <a:r>
              <a:rPr lang="en-US" sz="2800" dirty="0">
                <a:solidFill>
                  <a:srgbClr val="002060"/>
                </a:solidFill>
              </a:rPr>
              <a:t> graph</a:t>
            </a:r>
            <a:endParaRPr lang="ru-RU" sz="2800" dirty="0">
              <a:solidFill>
                <a:srgbClr val="002060"/>
              </a:solidFill>
            </a:endParaRPr>
          </a:p>
        </p:txBody>
      </p:sp>
      <p:pic>
        <p:nvPicPr>
          <p:cNvPr id="4098" name="Picture 2" descr="File:PeirceAlphaGraphs.sv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85504" y="1714487"/>
            <a:ext cx="3663247" cy="3286149"/>
          </a:xfrm>
          <a:prstGeom prst="rect">
            <a:avLst/>
          </a:prstGeom>
          <a:noFill/>
        </p:spPr>
      </p:pic>
      <p:pic>
        <p:nvPicPr>
          <p:cNvPr id="4100" name="Picture 4" descr="File:Charles Sanders Peirce theb3558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71538" y="1500174"/>
            <a:ext cx="1952279" cy="2990832"/>
          </a:xfrm>
          <a:prstGeom prst="rect">
            <a:avLst/>
          </a:prstGeom>
          <a:noFill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827D981-A50F-4FB7-B0E7-F7D27B31EC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1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history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85720" y="1571612"/>
            <a:ext cx="7500990" cy="2286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Richard Richens </a:t>
            </a:r>
            <a:r>
              <a:rPr lang="ru-RU" dirty="0">
                <a:solidFill>
                  <a:srgbClr val="002060"/>
                </a:solidFill>
              </a:rPr>
              <a:t>(1956) – </a:t>
            </a:r>
            <a:r>
              <a:rPr lang="en-US" dirty="0">
                <a:solidFill>
                  <a:srgbClr val="002060"/>
                </a:solidFill>
              </a:rPr>
              <a:t>semantic network as an intermediary knowledge representation at machine translation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575A3843-2249-4C4E-BB0E-7DFDC2F3D9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5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why</a:t>
            </a:r>
            <a:r>
              <a:rPr lang="ru-RU" dirty="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85720" y="1571612"/>
            <a:ext cx="7500990" cy="47149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i="1" dirty="0">
                <a:solidFill>
                  <a:srgbClr val="002060"/>
                </a:solidFill>
              </a:rPr>
              <a:t>a </a:t>
            </a:r>
            <a:r>
              <a:rPr lang="en-US" sz="3600" i="1" dirty="0">
                <a:solidFill>
                  <a:srgbClr val="002060"/>
                </a:solidFill>
                <a:sym typeface="Symbol"/>
              </a:rPr>
              <a:t> b    b  </a:t>
            </a:r>
            <a:r>
              <a:rPr lang="ru-RU" sz="3600" i="1" dirty="0">
                <a:solidFill>
                  <a:srgbClr val="002060"/>
                </a:solidFill>
                <a:sym typeface="Symbol"/>
              </a:rPr>
              <a:t>с </a:t>
            </a:r>
            <a:r>
              <a:rPr lang="en-US" sz="3600" i="1" dirty="0">
                <a:solidFill>
                  <a:srgbClr val="002060"/>
                </a:solidFill>
                <a:sym typeface="Symbol"/>
              </a:rPr>
              <a:t>  </a:t>
            </a:r>
            <a:r>
              <a:rPr lang="ru-RU" sz="3600" i="1" dirty="0">
                <a:solidFill>
                  <a:srgbClr val="002060"/>
                </a:solidFill>
                <a:sym typeface="Symbol"/>
              </a:rPr>
              <a:t>  </a:t>
            </a:r>
            <a:r>
              <a:rPr lang="en-US" sz="3600" i="1" dirty="0">
                <a:solidFill>
                  <a:srgbClr val="002060"/>
                </a:solidFill>
                <a:sym typeface="Symbol"/>
              </a:rPr>
              <a:t> a  c</a:t>
            </a:r>
          </a:p>
          <a:p>
            <a:pPr>
              <a:buNone/>
            </a:pPr>
            <a:endParaRPr lang="en-US" sz="3600" i="1" dirty="0">
              <a:solidFill>
                <a:srgbClr val="002060"/>
              </a:solidFill>
              <a:sym typeface="Symbol"/>
            </a:endParaRPr>
          </a:p>
          <a:p>
            <a:pPr>
              <a:buNone/>
            </a:pPr>
            <a:endParaRPr lang="en-US" sz="3600" i="1" dirty="0">
              <a:solidFill>
                <a:srgbClr val="002060"/>
              </a:solidFill>
              <a:sym typeface="Symbol"/>
            </a:endParaRPr>
          </a:p>
          <a:p>
            <a:pPr>
              <a:buNone/>
            </a:pPr>
            <a:endParaRPr lang="en-US" sz="3600" i="1" dirty="0">
              <a:solidFill>
                <a:srgbClr val="002060"/>
              </a:solidFill>
              <a:sym typeface="Symbol"/>
            </a:endParaRPr>
          </a:p>
          <a:p>
            <a:pPr>
              <a:buNone/>
            </a:pPr>
            <a:endParaRPr lang="en-US" sz="3600" i="1" dirty="0">
              <a:solidFill>
                <a:srgbClr val="002060"/>
              </a:solidFill>
              <a:sym typeface="Symbol"/>
            </a:endParaRPr>
          </a:p>
          <a:p>
            <a:pPr>
              <a:buNone/>
            </a:pPr>
            <a:endParaRPr lang="ru-RU" sz="3600" i="1" dirty="0">
              <a:solidFill>
                <a:srgbClr val="002060"/>
              </a:solidFill>
              <a:sym typeface="Symbol"/>
            </a:endParaRPr>
          </a:p>
          <a:p>
            <a:pPr>
              <a:buNone/>
            </a:pPr>
            <a:r>
              <a:rPr lang="en-US" sz="3600" i="1" dirty="0">
                <a:solidFill>
                  <a:srgbClr val="002060"/>
                </a:solidFill>
                <a:sym typeface="Symbol"/>
              </a:rPr>
              <a:t>ISA = “is a”,   AKO = “a kind of”</a:t>
            </a:r>
            <a:endParaRPr lang="ru-RU" sz="3600" i="1" dirty="0">
              <a:solidFill>
                <a:srgbClr val="002060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1357290" y="4071942"/>
            <a:ext cx="785818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a</a:t>
            </a:r>
            <a:endParaRPr lang="ru-RU" sz="2400" dirty="0">
              <a:solidFill>
                <a:srgbClr val="002060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714612" y="2928934"/>
            <a:ext cx="785818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b</a:t>
            </a:r>
            <a:endParaRPr lang="ru-RU" sz="2400" dirty="0">
              <a:solidFill>
                <a:srgbClr val="002060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4429124" y="3643314"/>
            <a:ext cx="785818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c</a:t>
            </a:r>
            <a:endParaRPr lang="ru-RU" sz="2400" dirty="0">
              <a:solidFill>
                <a:srgbClr val="002060"/>
              </a:solidFill>
            </a:endParaRPr>
          </a:p>
        </p:txBody>
      </p:sp>
      <p:cxnSp>
        <p:nvCxnSpPr>
          <p:cNvPr id="9" name="Прямая со стрелкой 8"/>
          <p:cNvCxnSpPr>
            <a:stCxn id="5" idx="7"/>
            <a:endCxn id="6" idx="3"/>
          </p:cNvCxnSpPr>
          <p:nvPr/>
        </p:nvCxnSpPr>
        <p:spPr>
          <a:xfrm rot="5400000" flipH="1" flipV="1">
            <a:off x="2008899" y="3313920"/>
            <a:ext cx="839922" cy="8016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6" idx="6"/>
            <a:endCxn id="7" idx="1"/>
          </p:cNvCxnSpPr>
          <p:nvPr/>
        </p:nvCxnSpPr>
        <p:spPr>
          <a:xfrm>
            <a:off x="3500430" y="3143248"/>
            <a:ext cx="1043774" cy="5628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5" idx="6"/>
            <a:endCxn id="7" idx="3"/>
          </p:cNvCxnSpPr>
          <p:nvPr/>
        </p:nvCxnSpPr>
        <p:spPr>
          <a:xfrm flipV="1">
            <a:off x="2143108" y="4009171"/>
            <a:ext cx="2401096" cy="277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8794" y="342900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ISA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3857620" y="307181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AKO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3143240" y="407194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ISA</a:t>
            </a:r>
            <a:endParaRPr lang="ru-RU" dirty="0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2BCA4C3-1C35-4B6E-B9F3-D6A3670DD2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686800" cy="793737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Relational graph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13313" name="Group 1"/>
          <p:cNvGrpSpPr>
            <a:grpSpLocks/>
          </p:cNvGrpSpPr>
          <p:nvPr/>
        </p:nvGrpSpPr>
        <p:grpSpPr bwMode="auto">
          <a:xfrm>
            <a:off x="214282" y="2499976"/>
            <a:ext cx="8643998" cy="4139857"/>
            <a:chOff x="0" y="-121"/>
            <a:chExt cx="9346" cy="2334"/>
          </a:xfrm>
          <a:solidFill>
            <a:schemeClr val="bg1"/>
          </a:solidFill>
        </p:grpSpPr>
        <p:sp>
          <p:nvSpPr>
            <p:cNvPr id="13347" name="Rectangle 35"/>
            <p:cNvSpPr>
              <a:spLocks noChangeArrowheads="1"/>
            </p:cNvSpPr>
            <p:nvPr/>
          </p:nvSpPr>
          <p:spPr bwMode="auto">
            <a:xfrm>
              <a:off x="0" y="-121"/>
              <a:ext cx="9346" cy="233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1200"/>
            </a:p>
          </p:txBody>
        </p:sp>
        <p:sp>
          <p:nvSpPr>
            <p:cNvPr id="13346" name="Text Box 34"/>
            <p:cNvSpPr txBox="1">
              <a:spLocks noChangeArrowheads="1"/>
            </p:cNvSpPr>
            <p:nvPr/>
          </p:nvSpPr>
          <p:spPr bwMode="auto">
            <a:xfrm>
              <a:off x="6292" y="0"/>
              <a:ext cx="1256" cy="535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a_kind_of_a</a:t>
              </a: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45" name="Text Box 33"/>
            <p:cNvSpPr txBox="1">
              <a:spLocks noChangeArrowheads="1"/>
            </p:cNvSpPr>
            <p:nvPr/>
          </p:nvSpPr>
          <p:spPr bwMode="auto">
            <a:xfrm>
              <a:off x="3773" y="0"/>
              <a:ext cx="1253" cy="535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a_kind_of</a:t>
              </a: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344" name="Text Box 32"/>
            <p:cNvSpPr txBox="1">
              <a:spLocks noChangeArrowheads="1"/>
            </p:cNvSpPr>
            <p:nvPr/>
          </p:nvSpPr>
          <p:spPr bwMode="auto">
            <a:xfrm>
              <a:off x="1976" y="0"/>
              <a:ext cx="715" cy="535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is_a</a:t>
              </a: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3314" name="Group 2"/>
            <p:cNvGrpSpPr>
              <a:grpSpLocks/>
            </p:cNvGrpSpPr>
            <p:nvPr/>
          </p:nvGrpSpPr>
          <p:grpSpPr bwMode="auto">
            <a:xfrm>
              <a:off x="177" y="181"/>
              <a:ext cx="8807" cy="1975"/>
              <a:chOff x="177" y="181"/>
              <a:chExt cx="8807" cy="1975"/>
            </a:xfrm>
            <a:grpFill/>
          </p:grpSpPr>
          <p:sp>
            <p:nvSpPr>
              <p:cNvPr id="13343" name="Text Box 31"/>
              <p:cNvSpPr txBox="1">
                <a:spLocks noChangeArrowheads="1"/>
              </p:cNvSpPr>
              <p:nvPr/>
            </p:nvSpPr>
            <p:spPr bwMode="auto">
              <a:xfrm>
                <a:off x="1254" y="898"/>
                <a:ext cx="1073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husband</a:t>
                </a:r>
                <a:endPara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342" name="Text Box 30"/>
              <p:cNvSpPr txBox="1">
                <a:spLocks noChangeArrowheads="1"/>
              </p:cNvSpPr>
              <p:nvPr/>
            </p:nvSpPr>
            <p:spPr bwMode="auto">
              <a:xfrm>
                <a:off x="177" y="898"/>
                <a:ext cx="714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wife</a:t>
                </a:r>
                <a:endPara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3339" name="Group 27"/>
              <p:cNvGrpSpPr>
                <a:grpSpLocks/>
              </p:cNvGrpSpPr>
              <p:nvPr/>
            </p:nvGrpSpPr>
            <p:grpSpPr bwMode="auto">
              <a:xfrm>
                <a:off x="179" y="181"/>
                <a:ext cx="1611" cy="536"/>
                <a:chOff x="179" y="181"/>
                <a:chExt cx="1611" cy="536"/>
              </a:xfrm>
              <a:grpFill/>
            </p:grpSpPr>
            <p:sp>
              <p:nvSpPr>
                <p:cNvPr id="13341" name="Oval 29"/>
                <p:cNvSpPr>
                  <a:spLocks noChangeArrowheads="1"/>
                </p:cNvSpPr>
                <p:nvPr/>
              </p:nvSpPr>
              <p:spPr bwMode="auto">
                <a:xfrm>
                  <a:off x="179" y="181"/>
                  <a:ext cx="1611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4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16" y="258"/>
                  <a:ext cx="1134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Larry Smith</a:t>
                  </a:r>
                  <a:endParaRPr kumimoji="0" 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336" name="Group 24"/>
              <p:cNvGrpSpPr>
                <a:grpSpLocks/>
              </p:cNvGrpSpPr>
              <p:nvPr/>
            </p:nvGrpSpPr>
            <p:grpSpPr bwMode="auto">
              <a:xfrm>
                <a:off x="2516" y="181"/>
                <a:ext cx="1073" cy="536"/>
                <a:chOff x="2516" y="181"/>
                <a:chExt cx="1073" cy="536"/>
              </a:xfrm>
              <a:grpFill/>
            </p:grpSpPr>
            <p:sp>
              <p:nvSpPr>
                <p:cNvPr id="13338" name="Oval 26"/>
                <p:cNvSpPr>
                  <a:spLocks noChangeArrowheads="1"/>
                </p:cNvSpPr>
                <p:nvPr/>
              </p:nvSpPr>
              <p:spPr bwMode="auto">
                <a:xfrm>
                  <a:off x="2516" y="181"/>
                  <a:ext cx="1073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3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673" y="258"/>
                  <a:ext cx="754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Man</a:t>
                  </a:r>
                  <a:endPara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333" name="Group 21"/>
              <p:cNvGrpSpPr>
                <a:grpSpLocks/>
              </p:cNvGrpSpPr>
              <p:nvPr/>
            </p:nvGrpSpPr>
            <p:grpSpPr bwMode="auto">
              <a:xfrm>
                <a:off x="5034" y="181"/>
                <a:ext cx="1253" cy="539"/>
                <a:chOff x="5034" y="181"/>
                <a:chExt cx="1253" cy="539"/>
              </a:xfrm>
              <a:grpFill/>
            </p:grpSpPr>
            <p:sp>
              <p:nvSpPr>
                <p:cNvPr id="13335" name="Oval 23"/>
                <p:cNvSpPr>
                  <a:spLocks noChangeArrowheads="1"/>
                </p:cNvSpPr>
                <p:nvPr/>
              </p:nvSpPr>
              <p:spPr bwMode="auto">
                <a:xfrm>
                  <a:off x="5034" y="181"/>
                  <a:ext cx="1253" cy="539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3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217" y="259"/>
                  <a:ext cx="881" cy="379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Person</a:t>
                  </a:r>
                  <a:endPara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330" name="Group 18"/>
              <p:cNvGrpSpPr>
                <a:grpSpLocks/>
              </p:cNvGrpSpPr>
              <p:nvPr/>
            </p:nvGrpSpPr>
            <p:grpSpPr bwMode="auto">
              <a:xfrm>
                <a:off x="7731" y="181"/>
                <a:ext cx="1253" cy="539"/>
                <a:chOff x="7731" y="181"/>
                <a:chExt cx="1253" cy="539"/>
              </a:xfrm>
              <a:grpFill/>
            </p:grpSpPr>
            <p:sp>
              <p:nvSpPr>
                <p:cNvPr id="13332" name="Oval 20"/>
                <p:cNvSpPr>
                  <a:spLocks noChangeArrowheads="1"/>
                </p:cNvSpPr>
                <p:nvPr/>
              </p:nvSpPr>
              <p:spPr bwMode="auto">
                <a:xfrm>
                  <a:off x="7731" y="181"/>
                  <a:ext cx="1253" cy="539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3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914" y="259"/>
                  <a:ext cx="881" cy="379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Mammal</a:t>
                  </a:r>
                  <a:endPara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3329" name="Text Box 17"/>
              <p:cNvSpPr txBox="1">
                <a:spLocks noChangeArrowheads="1"/>
              </p:cNvSpPr>
              <p:nvPr/>
            </p:nvSpPr>
            <p:spPr bwMode="auto">
              <a:xfrm>
                <a:off x="4312" y="1077"/>
                <a:ext cx="1253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a_kind_of</a:t>
                </a:r>
                <a:endPara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328" name="Text Box 16"/>
              <p:cNvSpPr txBox="1">
                <a:spLocks noChangeArrowheads="1"/>
              </p:cNvSpPr>
              <p:nvPr/>
            </p:nvSpPr>
            <p:spPr bwMode="auto">
              <a:xfrm>
                <a:off x="1975" y="1436"/>
                <a:ext cx="715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is_a</a:t>
                </a:r>
                <a:endPara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3325" name="Group 13"/>
              <p:cNvGrpSpPr>
                <a:grpSpLocks/>
              </p:cNvGrpSpPr>
              <p:nvPr/>
            </p:nvGrpSpPr>
            <p:grpSpPr bwMode="auto">
              <a:xfrm>
                <a:off x="179" y="1620"/>
                <a:ext cx="1611" cy="534"/>
                <a:chOff x="179" y="1620"/>
                <a:chExt cx="1611" cy="534"/>
              </a:xfrm>
              <a:grpFill/>
            </p:grpSpPr>
            <p:sp>
              <p:nvSpPr>
                <p:cNvPr id="13327" name="Oval 15"/>
                <p:cNvSpPr>
                  <a:spLocks noChangeArrowheads="1"/>
                </p:cNvSpPr>
                <p:nvPr/>
              </p:nvSpPr>
              <p:spPr bwMode="auto">
                <a:xfrm>
                  <a:off x="179" y="1620"/>
                  <a:ext cx="1611" cy="534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16" y="1697"/>
                  <a:ext cx="1134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Laura Smith</a:t>
                  </a:r>
                  <a:endPara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322" name="Group 10"/>
              <p:cNvGrpSpPr>
                <a:grpSpLocks/>
              </p:cNvGrpSpPr>
              <p:nvPr/>
            </p:nvGrpSpPr>
            <p:grpSpPr bwMode="auto">
              <a:xfrm>
                <a:off x="2516" y="1620"/>
                <a:ext cx="1253" cy="536"/>
                <a:chOff x="2516" y="1620"/>
                <a:chExt cx="1253" cy="536"/>
              </a:xfrm>
              <a:grpFill/>
            </p:grpSpPr>
            <p:sp>
              <p:nvSpPr>
                <p:cNvPr id="13324" name="Oval 12"/>
                <p:cNvSpPr>
                  <a:spLocks noChangeArrowheads="1"/>
                </p:cNvSpPr>
                <p:nvPr/>
              </p:nvSpPr>
              <p:spPr bwMode="auto">
                <a:xfrm>
                  <a:off x="2516" y="1620"/>
                  <a:ext cx="1253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200"/>
                </a:p>
              </p:txBody>
            </p:sp>
            <p:sp>
              <p:nvSpPr>
                <p:cNvPr id="1332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699" y="1697"/>
                  <a:ext cx="881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Woman</a:t>
                  </a:r>
                  <a:endPara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3321" name="AutoShape 9"/>
              <p:cNvSpPr>
                <a:spLocks noChangeShapeType="1"/>
              </p:cNvSpPr>
              <p:nvPr/>
            </p:nvSpPr>
            <p:spPr bwMode="auto">
              <a:xfrm>
                <a:off x="1795" y="452"/>
                <a:ext cx="720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20" name="AutoShape 8"/>
              <p:cNvSpPr>
                <a:spLocks noChangeShapeType="1"/>
              </p:cNvSpPr>
              <p:nvPr/>
            </p:nvSpPr>
            <p:spPr bwMode="auto">
              <a:xfrm>
                <a:off x="3595" y="452"/>
                <a:ext cx="1438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19" name="AutoShape 7"/>
              <p:cNvSpPr>
                <a:spLocks noChangeShapeType="1"/>
              </p:cNvSpPr>
              <p:nvPr/>
            </p:nvSpPr>
            <p:spPr bwMode="auto">
              <a:xfrm>
                <a:off x="6293" y="454"/>
                <a:ext cx="1438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18" name="AutoShape 6"/>
              <p:cNvSpPr>
                <a:spLocks noChangeShapeType="1"/>
              </p:cNvSpPr>
              <p:nvPr/>
            </p:nvSpPr>
            <p:spPr bwMode="auto">
              <a:xfrm>
                <a:off x="1795" y="1890"/>
                <a:ext cx="720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17" name="AutoShape 5"/>
              <p:cNvSpPr>
                <a:spLocks noChangeShapeType="1"/>
              </p:cNvSpPr>
              <p:nvPr/>
            </p:nvSpPr>
            <p:spPr bwMode="auto">
              <a:xfrm flipV="1">
                <a:off x="3590" y="645"/>
                <a:ext cx="1626" cy="1046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16" name="AutoShape 4"/>
              <p:cNvSpPr>
                <a:spLocks noChangeShapeType="1"/>
              </p:cNvSpPr>
              <p:nvPr/>
            </p:nvSpPr>
            <p:spPr bwMode="auto">
              <a:xfrm flipV="1">
                <a:off x="416" y="722"/>
                <a:ext cx="568" cy="968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  <p:sp>
            <p:nvSpPr>
              <p:cNvPr id="13315" name="AutoShape 3"/>
              <p:cNvSpPr>
                <a:spLocks noChangeShapeType="1"/>
              </p:cNvSpPr>
              <p:nvPr/>
            </p:nvSpPr>
            <p:spPr bwMode="auto">
              <a:xfrm flipH="1">
                <a:off x="987" y="643"/>
                <a:ext cx="563" cy="976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200"/>
              </a:p>
            </p:txBody>
          </p: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418F12D-4D79-4715-99F3-DAFF57391C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5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929718" cy="4929222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Conceptual graph</a:t>
            </a: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>
                <a:solidFill>
                  <a:srgbClr val="002060"/>
                </a:solidFill>
              </a:rPr>
              <a:t>propositional network</a:t>
            </a: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«</a:t>
            </a:r>
            <a:r>
              <a:rPr lang="en-US" dirty="0">
                <a:solidFill>
                  <a:srgbClr val="002060"/>
                </a:solidFill>
              </a:rPr>
              <a:t>An aircraft  flies  from  </a:t>
            </a:r>
            <a:r>
              <a:rPr lang="en-US" dirty="0" err="1">
                <a:solidFill>
                  <a:srgbClr val="002060"/>
                </a:solidFill>
              </a:rPr>
              <a:t>St.Petersburg</a:t>
            </a:r>
            <a:r>
              <a:rPr lang="en-US" dirty="0">
                <a:solidFill>
                  <a:srgbClr val="002060"/>
                </a:solidFill>
              </a:rPr>
              <a:t>  to Moscow</a:t>
            </a:r>
            <a:r>
              <a:rPr lang="ru-RU" dirty="0">
                <a:solidFill>
                  <a:srgbClr val="002060"/>
                </a:solidFill>
              </a:rPr>
              <a:t>»</a:t>
            </a: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Subject</a:t>
            </a:r>
            <a:r>
              <a:rPr lang="ru-RU" dirty="0">
                <a:solidFill>
                  <a:srgbClr val="002060"/>
                </a:solidFill>
              </a:rPr>
              <a:t> = </a:t>
            </a:r>
            <a:r>
              <a:rPr lang="en-US" dirty="0">
                <a:solidFill>
                  <a:srgbClr val="002060"/>
                </a:solidFill>
              </a:rPr>
              <a:t>Aircraft</a:t>
            </a: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Predicate</a:t>
            </a:r>
            <a:r>
              <a:rPr lang="ru-RU" dirty="0">
                <a:solidFill>
                  <a:srgbClr val="002060"/>
                </a:solidFill>
              </a:rPr>
              <a:t> = </a:t>
            </a:r>
            <a:r>
              <a:rPr lang="en-US" dirty="0">
                <a:solidFill>
                  <a:srgbClr val="002060"/>
                </a:solidFill>
              </a:rPr>
              <a:t>flies</a:t>
            </a: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Object</a:t>
            </a:r>
            <a:r>
              <a:rPr lang="ru-RU" dirty="0">
                <a:solidFill>
                  <a:srgbClr val="002060"/>
                </a:solidFill>
              </a:rPr>
              <a:t> = ???</a:t>
            </a: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8919D7B-10F1-46D1-A9D2-30BBED736B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686800" cy="2071702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Conceptual graph</a:t>
            </a: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>
                <a:solidFill>
                  <a:srgbClr val="002060"/>
                </a:solidFill>
              </a:rPr>
              <a:t>propositional network</a:t>
            </a: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«</a:t>
            </a:r>
            <a:r>
              <a:rPr lang="en-US" dirty="0">
                <a:solidFill>
                  <a:srgbClr val="002060"/>
                </a:solidFill>
              </a:rPr>
              <a:t>An aircraft flies from </a:t>
            </a:r>
            <a:r>
              <a:rPr lang="en-US" dirty="0" err="1">
                <a:solidFill>
                  <a:srgbClr val="002060"/>
                </a:solidFill>
              </a:rPr>
              <a:t>St.Petersburg</a:t>
            </a:r>
            <a:r>
              <a:rPr lang="en-US" dirty="0">
                <a:solidFill>
                  <a:srgbClr val="002060"/>
                </a:solidFill>
              </a:rPr>
              <a:t> to Moscow</a:t>
            </a:r>
            <a:r>
              <a:rPr lang="ru-RU" dirty="0">
                <a:solidFill>
                  <a:srgbClr val="002060"/>
                </a:solidFill>
              </a:rPr>
              <a:t>»</a:t>
            </a: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47105" name="Group 1"/>
          <p:cNvGrpSpPr>
            <a:grpSpLocks/>
          </p:cNvGrpSpPr>
          <p:nvPr/>
        </p:nvGrpSpPr>
        <p:grpSpPr bwMode="auto">
          <a:xfrm>
            <a:off x="285720" y="3571876"/>
            <a:ext cx="8501122" cy="2928958"/>
            <a:chOff x="0" y="0"/>
            <a:chExt cx="9354" cy="1797"/>
          </a:xfrm>
          <a:solidFill>
            <a:schemeClr val="bg1"/>
          </a:solidFill>
        </p:grpSpPr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0" y="3"/>
              <a:ext cx="9354" cy="179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7106" name="Group 2"/>
            <p:cNvGrpSpPr>
              <a:grpSpLocks/>
            </p:cNvGrpSpPr>
            <p:nvPr/>
          </p:nvGrpSpPr>
          <p:grpSpPr bwMode="auto">
            <a:xfrm>
              <a:off x="1080" y="0"/>
              <a:ext cx="7193" cy="1622"/>
              <a:chOff x="1080" y="0"/>
              <a:chExt cx="7193" cy="1622"/>
            </a:xfrm>
            <a:grpFill/>
          </p:grpSpPr>
          <p:sp>
            <p:nvSpPr>
              <p:cNvPr id="47124" name="Text Box 20"/>
              <p:cNvSpPr txBox="1">
                <a:spLocks noChangeArrowheads="1"/>
              </p:cNvSpPr>
              <p:nvPr/>
            </p:nvSpPr>
            <p:spPr bwMode="auto">
              <a:xfrm>
                <a:off x="5397" y="901"/>
                <a:ext cx="535" cy="533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to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123" name="Text Box 19"/>
              <p:cNvSpPr txBox="1">
                <a:spLocks noChangeArrowheads="1"/>
              </p:cNvSpPr>
              <p:nvPr/>
            </p:nvSpPr>
            <p:spPr bwMode="auto">
              <a:xfrm>
                <a:off x="5576" y="0"/>
                <a:ext cx="534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from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122" name="Text Box 18"/>
              <p:cNvSpPr txBox="1">
                <a:spLocks noChangeArrowheads="1"/>
              </p:cNvSpPr>
              <p:nvPr/>
            </p:nvSpPr>
            <p:spPr bwMode="auto">
              <a:xfrm>
                <a:off x="2696" y="0"/>
                <a:ext cx="1434" cy="534"/>
              </a:xfrm>
              <a:prstGeom prst="rect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does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47119" name="Group 15"/>
              <p:cNvGrpSpPr>
                <a:grpSpLocks/>
              </p:cNvGrpSpPr>
              <p:nvPr/>
            </p:nvGrpSpPr>
            <p:grpSpPr bwMode="auto">
              <a:xfrm>
                <a:off x="1080" y="182"/>
                <a:ext cx="1612" cy="536"/>
                <a:chOff x="1080" y="182"/>
                <a:chExt cx="1612" cy="536"/>
              </a:xfrm>
              <a:grpFill/>
            </p:grpSpPr>
            <p:sp>
              <p:nvSpPr>
                <p:cNvPr id="47121" name="Oval 17"/>
                <p:cNvSpPr>
                  <a:spLocks noChangeArrowheads="1"/>
                </p:cNvSpPr>
                <p:nvPr/>
              </p:nvSpPr>
              <p:spPr bwMode="auto">
                <a:xfrm>
                  <a:off x="1080" y="182"/>
                  <a:ext cx="1612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4712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316" y="259"/>
                  <a:ext cx="1134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Aircraft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47116" name="Group 12"/>
              <p:cNvGrpSpPr>
                <a:grpSpLocks/>
              </p:cNvGrpSpPr>
              <p:nvPr/>
            </p:nvGrpSpPr>
            <p:grpSpPr bwMode="auto">
              <a:xfrm>
                <a:off x="3958" y="183"/>
                <a:ext cx="1074" cy="536"/>
                <a:chOff x="3958" y="183"/>
                <a:chExt cx="1074" cy="536"/>
              </a:xfrm>
              <a:grpFill/>
            </p:grpSpPr>
            <p:sp>
              <p:nvSpPr>
                <p:cNvPr id="47118" name="Oval 14"/>
                <p:cNvSpPr>
                  <a:spLocks noChangeArrowheads="1"/>
                </p:cNvSpPr>
                <p:nvPr/>
              </p:nvSpPr>
              <p:spPr bwMode="auto">
                <a:xfrm>
                  <a:off x="3958" y="183"/>
                  <a:ext cx="1074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4711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115" y="260"/>
                  <a:ext cx="755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flight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47113" name="Group 9"/>
              <p:cNvGrpSpPr>
                <a:grpSpLocks/>
              </p:cNvGrpSpPr>
              <p:nvPr/>
            </p:nvGrpSpPr>
            <p:grpSpPr bwMode="auto">
              <a:xfrm>
                <a:off x="6479" y="182"/>
                <a:ext cx="1794" cy="540"/>
                <a:chOff x="6479" y="182"/>
                <a:chExt cx="1794" cy="540"/>
              </a:xfrm>
              <a:grpFill/>
            </p:grpSpPr>
            <p:sp>
              <p:nvSpPr>
                <p:cNvPr id="47115" name="Oval 11"/>
                <p:cNvSpPr>
                  <a:spLocks noChangeArrowheads="1"/>
                </p:cNvSpPr>
                <p:nvPr/>
              </p:nvSpPr>
              <p:spPr bwMode="auto">
                <a:xfrm>
                  <a:off x="6479" y="182"/>
                  <a:ext cx="1794" cy="540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4711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6742" y="259"/>
                  <a:ext cx="1262" cy="380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Petersburg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47110" name="Group 6"/>
              <p:cNvGrpSpPr>
                <a:grpSpLocks/>
              </p:cNvGrpSpPr>
              <p:nvPr/>
            </p:nvGrpSpPr>
            <p:grpSpPr bwMode="auto">
              <a:xfrm>
                <a:off x="6479" y="1082"/>
                <a:ext cx="1794" cy="540"/>
                <a:chOff x="6479" y="1082"/>
                <a:chExt cx="1794" cy="540"/>
              </a:xfrm>
              <a:grpFill/>
            </p:grpSpPr>
            <p:sp>
              <p:nvSpPr>
                <p:cNvPr id="47112" name="Oval 8"/>
                <p:cNvSpPr>
                  <a:spLocks noChangeArrowheads="1"/>
                </p:cNvSpPr>
                <p:nvPr/>
              </p:nvSpPr>
              <p:spPr bwMode="auto">
                <a:xfrm>
                  <a:off x="6479" y="1082"/>
                  <a:ext cx="1794" cy="540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4711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742" y="1159"/>
                  <a:ext cx="1262" cy="380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Moscow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47109" name="AutoShape 5"/>
              <p:cNvSpPr>
                <a:spLocks noChangeShapeType="1"/>
              </p:cNvSpPr>
              <p:nvPr/>
            </p:nvSpPr>
            <p:spPr bwMode="auto">
              <a:xfrm>
                <a:off x="2697" y="453"/>
                <a:ext cx="1260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108" name="AutoShape 4"/>
              <p:cNvSpPr>
                <a:spLocks noChangeShapeType="1"/>
              </p:cNvSpPr>
              <p:nvPr/>
            </p:nvSpPr>
            <p:spPr bwMode="auto">
              <a:xfrm>
                <a:off x="5038" y="455"/>
                <a:ext cx="1440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107" name="AutoShape 3"/>
              <p:cNvSpPr>
                <a:spLocks noChangeShapeType="1"/>
              </p:cNvSpPr>
              <p:nvPr/>
            </p:nvSpPr>
            <p:spPr bwMode="auto">
              <a:xfrm>
                <a:off x="4880" y="646"/>
                <a:ext cx="1860" cy="513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BF0B43F-3B9F-4D81-8847-F08DFDB46D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9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686800" cy="2071702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Conceptual graph</a:t>
            </a: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>
                <a:solidFill>
                  <a:srgbClr val="002060"/>
                </a:solidFill>
              </a:rPr>
              <a:t>propositional network</a:t>
            </a: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endParaRPr lang="ru-RU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dirty="0">
                <a:solidFill>
                  <a:srgbClr val="002060"/>
                </a:solidFill>
              </a:rPr>
              <a:t>«</a:t>
            </a:r>
            <a:r>
              <a:rPr lang="en-US" dirty="0">
                <a:solidFill>
                  <a:srgbClr val="002060"/>
                </a:solidFill>
              </a:rPr>
              <a:t>A boy thinks that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an aircraft flies from </a:t>
            </a:r>
            <a:r>
              <a:rPr lang="en-US" dirty="0" err="1">
                <a:solidFill>
                  <a:srgbClr val="002060"/>
                </a:solidFill>
              </a:rPr>
              <a:t>St.Petersburg</a:t>
            </a:r>
            <a:r>
              <a:rPr lang="en-US" dirty="0">
                <a:solidFill>
                  <a:srgbClr val="002060"/>
                </a:solidFill>
              </a:rPr>
              <a:t> to Moscow</a:t>
            </a:r>
            <a:r>
              <a:rPr lang="ru-RU" dirty="0">
                <a:solidFill>
                  <a:srgbClr val="002060"/>
                </a:solidFill>
              </a:rPr>
              <a:t>»</a:t>
            </a: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0204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0177" name="Group 1"/>
          <p:cNvGrpSpPr>
            <a:grpSpLocks/>
          </p:cNvGrpSpPr>
          <p:nvPr/>
        </p:nvGrpSpPr>
        <p:grpSpPr bwMode="auto">
          <a:xfrm>
            <a:off x="571472" y="3429000"/>
            <a:ext cx="8143932" cy="3143272"/>
            <a:chOff x="0" y="0"/>
            <a:chExt cx="9354" cy="2874"/>
          </a:xfrm>
        </p:grpSpPr>
        <p:sp>
          <p:nvSpPr>
            <p:cNvPr id="50203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9354" cy="28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202" name="Oval 26"/>
            <p:cNvSpPr>
              <a:spLocks noChangeArrowheads="1"/>
            </p:cNvSpPr>
            <p:nvPr/>
          </p:nvSpPr>
          <p:spPr bwMode="auto">
            <a:xfrm>
              <a:off x="3419" y="719"/>
              <a:ext cx="5575" cy="2155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50178" name="Group 2"/>
            <p:cNvGrpSpPr>
              <a:grpSpLocks/>
            </p:cNvGrpSpPr>
            <p:nvPr/>
          </p:nvGrpSpPr>
          <p:grpSpPr bwMode="auto">
            <a:xfrm>
              <a:off x="179" y="357"/>
              <a:ext cx="8452" cy="1976"/>
              <a:chOff x="179" y="357"/>
              <a:chExt cx="8452" cy="1976"/>
            </a:xfrm>
          </p:grpSpPr>
          <p:sp>
            <p:nvSpPr>
              <p:cNvPr id="50201" name="Text Box 25"/>
              <p:cNvSpPr txBox="1">
                <a:spLocks noChangeArrowheads="1"/>
              </p:cNvSpPr>
              <p:nvPr/>
            </p:nvSpPr>
            <p:spPr bwMode="auto">
              <a:xfrm>
                <a:off x="2335" y="357"/>
                <a:ext cx="1074" cy="53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thinks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0200" name="Text Box 24"/>
              <p:cNvSpPr txBox="1">
                <a:spLocks noChangeArrowheads="1"/>
              </p:cNvSpPr>
              <p:nvPr/>
            </p:nvSpPr>
            <p:spPr bwMode="auto">
              <a:xfrm>
                <a:off x="6619" y="1853"/>
                <a:ext cx="373" cy="3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to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0199" name="Line 23"/>
              <p:cNvSpPr>
                <a:spLocks noChangeShapeType="1"/>
              </p:cNvSpPr>
              <p:nvPr/>
            </p:nvSpPr>
            <p:spPr bwMode="auto">
              <a:xfrm>
                <a:off x="6244" y="1618"/>
                <a:ext cx="1128" cy="472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0198" name="Text Box 22"/>
              <p:cNvSpPr txBox="1">
                <a:spLocks noChangeArrowheads="1"/>
              </p:cNvSpPr>
              <p:nvPr/>
            </p:nvSpPr>
            <p:spPr bwMode="auto">
              <a:xfrm>
                <a:off x="6745" y="1255"/>
                <a:ext cx="372" cy="3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from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0197" name="Text Box 21"/>
              <p:cNvSpPr txBox="1">
                <a:spLocks noChangeArrowheads="1"/>
              </p:cNvSpPr>
              <p:nvPr/>
            </p:nvSpPr>
            <p:spPr bwMode="auto">
              <a:xfrm>
                <a:off x="4730" y="1255"/>
                <a:ext cx="1003" cy="3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does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0194" name="Group 18"/>
              <p:cNvGrpSpPr>
                <a:grpSpLocks/>
              </p:cNvGrpSpPr>
              <p:nvPr/>
            </p:nvGrpSpPr>
            <p:grpSpPr bwMode="auto">
              <a:xfrm>
                <a:off x="3598" y="1377"/>
                <a:ext cx="1127" cy="355"/>
                <a:chOff x="3598" y="1377"/>
                <a:chExt cx="1127" cy="355"/>
              </a:xfrm>
            </p:grpSpPr>
            <p:sp>
              <p:nvSpPr>
                <p:cNvPr id="50196" name="Oval 20"/>
                <p:cNvSpPr>
                  <a:spLocks noChangeArrowheads="1"/>
                </p:cNvSpPr>
                <p:nvPr/>
              </p:nvSpPr>
              <p:spPr bwMode="auto">
                <a:xfrm>
                  <a:off x="3598" y="1377"/>
                  <a:ext cx="1127" cy="35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019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763" y="1428"/>
                  <a:ext cx="793" cy="24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Aircraft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0191" name="Group 15"/>
              <p:cNvGrpSpPr>
                <a:grpSpLocks/>
              </p:cNvGrpSpPr>
              <p:nvPr/>
            </p:nvGrpSpPr>
            <p:grpSpPr bwMode="auto">
              <a:xfrm>
                <a:off x="5614" y="1379"/>
                <a:ext cx="751" cy="355"/>
                <a:chOff x="5614" y="1379"/>
                <a:chExt cx="751" cy="355"/>
              </a:xfrm>
            </p:grpSpPr>
            <p:sp>
              <p:nvSpPr>
                <p:cNvPr id="50193" name="Oval 17"/>
                <p:cNvSpPr>
                  <a:spLocks noChangeArrowheads="1"/>
                </p:cNvSpPr>
                <p:nvPr/>
              </p:nvSpPr>
              <p:spPr bwMode="auto">
                <a:xfrm>
                  <a:off x="5614" y="1379"/>
                  <a:ext cx="751" cy="35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019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724" y="1430"/>
                  <a:ext cx="527" cy="249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flight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0190" name="Line 14"/>
              <p:cNvSpPr>
                <a:spLocks noChangeShapeType="1"/>
              </p:cNvSpPr>
              <p:nvPr/>
            </p:nvSpPr>
            <p:spPr bwMode="auto">
              <a:xfrm>
                <a:off x="4732" y="1556"/>
                <a:ext cx="877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50187" name="Group 11"/>
              <p:cNvGrpSpPr>
                <a:grpSpLocks/>
              </p:cNvGrpSpPr>
              <p:nvPr/>
            </p:nvGrpSpPr>
            <p:grpSpPr bwMode="auto">
              <a:xfrm>
                <a:off x="7377" y="1377"/>
                <a:ext cx="1254" cy="357"/>
                <a:chOff x="7377" y="1377"/>
                <a:chExt cx="1254" cy="357"/>
              </a:xfrm>
            </p:grpSpPr>
            <p:sp>
              <p:nvSpPr>
                <p:cNvPr id="50189" name="Oval 13"/>
                <p:cNvSpPr>
                  <a:spLocks noChangeArrowheads="1"/>
                </p:cNvSpPr>
                <p:nvPr/>
              </p:nvSpPr>
              <p:spPr bwMode="auto">
                <a:xfrm>
                  <a:off x="7377" y="1377"/>
                  <a:ext cx="1254" cy="357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018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560" y="1428"/>
                  <a:ext cx="882" cy="251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Petersburg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0186" name="Line 10"/>
              <p:cNvSpPr>
                <a:spLocks noChangeShapeType="1"/>
              </p:cNvSpPr>
              <p:nvPr/>
            </p:nvSpPr>
            <p:spPr bwMode="auto">
              <a:xfrm>
                <a:off x="6370" y="1558"/>
                <a:ext cx="1002" cy="0"/>
              </a:xfrm>
              <a:prstGeom prst="line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50183" name="Group 7"/>
              <p:cNvGrpSpPr>
                <a:grpSpLocks/>
              </p:cNvGrpSpPr>
              <p:nvPr/>
            </p:nvGrpSpPr>
            <p:grpSpPr bwMode="auto">
              <a:xfrm>
                <a:off x="7377" y="1977"/>
                <a:ext cx="1254" cy="356"/>
                <a:chOff x="7377" y="1977"/>
                <a:chExt cx="1254" cy="356"/>
              </a:xfrm>
            </p:grpSpPr>
            <p:sp>
              <p:nvSpPr>
                <p:cNvPr id="50185" name="Oval 9"/>
                <p:cNvSpPr>
                  <a:spLocks noChangeArrowheads="1"/>
                </p:cNvSpPr>
                <p:nvPr/>
              </p:nvSpPr>
              <p:spPr bwMode="auto">
                <a:xfrm>
                  <a:off x="7377" y="1977"/>
                  <a:ext cx="1254" cy="356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01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560" y="2027"/>
                  <a:ext cx="882" cy="250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Moscow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0180" name="Group 4"/>
              <p:cNvGrpSpPr>
                <a:grpSpLocks/>
              </p:cNvGrpSpPr>
              <p:nvPr/>
            </p:nvGrpSpPr>
            <p:grpSpPr bwMode="auto">
              <a:xfrm>
                <a:off x="179" y="360"/>
                <a:ext cx="1615" cy="714"/>
                <a:chOff x="179" y="360"/>
                <a:chExt cx="1615" cy="714"/>
              </a:xfrm>
            </p:grpSpPr>
            <p:sp>
              <p:nvSpPr>
                <p:cNvPr id="50182" name="Oval 6"/>
                <p:cNvSpPr>
                  <a:spLocks noChangeArrowheads="1"/>
                </p:cNvSpPr>
                <p:nvPr/>
              </p:nvSpPr>
              <p:spPr bwMode="auto">
                <a:xfrm>
                  <a:off x="179" y="360"/>
                  <a:ext cx="1615" cy="714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018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417" y="463"/>
                  <a:ext cx="1135" cy="502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Boy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0179" name="AutoShape 3"/>
              <p:cNvSpPr>
                <a:spLocks noChangeShapeType="1"/>
              </p:cNvSpPr>
              <p:nvPr/>
            </p:nvSpPr>
            <p:spPr bwMode="auto">
              <a:xfrm>
                <a:off x="1799" y="719"/>
                <a:ext cx="2436" cy="31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3F593E06-06A3-4B1D-B5A7-2CE47BEE4E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2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2552688" cy="838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22529" name="Объект 1"/>
          <p:cNvPicPr>
            <a:picLocks noChangeArrowheads="1"/>
          </p:cNvPicPr>
          <p:nvPr/>
        </p:nvPicPr>
        <p:blipFill>
          <a:blip r:embed="rId4" cstate="print"/>
          <a:srcRect l="-34447" t="-111" r="-39020" b="-4198"/>
          <a:stretch>
            <a:fillRect/>
          </a:stretch>
        </p:blipFill>
        <p:spPr bwMode="auto">
          <a:xfrm>
            <a:off x="1785918" y="1142984"/>
            <a:ext cx="7165988" cy="5715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8B492BB5-8919-46AA-A26E-4A41E49EF3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17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686800" cy="1285884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Representation of events</a:t>
            </a: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 err="1">
                <a:solidFill>
                  <a:srgbClr val="002060"/>
                </a:solidFill>
              </a:rPr>
              <a:t>Rastier’s</a:t>
            </a:r>
            <a:r>
              <a:rPr lang="en-US" dirty="0">
                <a:solidFill>
                  <a:srgbClr val="002060"/>
                </a:solidFill>
              </a:rPr>
              <a:t> graph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5601" name="Group 1"/>
          <p:cNvGrpSpPr>
            <a:grpSpLocks/>
          </p:cNvGrpSpPr>
          <p:nvPr/>
        </p:nvGrpSpPr>
        <p:grpSpPr bwMode="auto">
          <a:xfrm>
            <a:off x="285720" y="2714620"/>
            <a:ext cx="8858280" cy="1857388"/>
            <a:chOff x="0" y="0"/>
            <a:chExt cx="8994" cy="1074"/>
          </a:xfrm>
        </p:grpSpPr>
        <p:sp>
          <p:nvSpPr>
            <p:cNvPr id="25602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8994" cy="10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3600"/>
            </a:p>
          </p:txBody>
        </p:sp>
        <p:grpSp>
          <p:nvGrpSpPr>
            <p:cNvPr id="25603" name="Group 3"/>
            <p:cNvGrpSpPr>
              <a:grpSpLocks/>
            </p:cNvGrpSpPr>
            <p:nvPr/>
          </p:nvGrpSpPr>
          <p:grpSpPr bwMode="auto">
            <a:xfrm>
              <a:off x="176" y="266"/>
              <a:ext cx="8453" cy="537"/>
              <a:chOff x="176" y="266"/>
              <a:chExt cx="8453" cy="537"/>
            </a:xfrm>
          </p:grpSpPr>
          <p:sp>
            <p:nvSpPr>
              <p:cNvPr id="25604" name="Text Box 4"/>
              <p:cNvSpPr txBox="1">
                <a:spLocks noChangeArrowheads="1"/>
              </p:cNvSpPr>
              <p:nvPr/>
            </p:nvSpPr>
            <p:spPr bwMode="auto">
              <a:xfrm>
                <a:off x="7375" y="266"/>
                <a:ext cx="1254" cy="534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lvl="0" indent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tabLst/>
                </a:pPr>
                <a:r>
                  <a: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Mailman</a:t>
                </a:r>
                <a:endParaRPr kumimoji="0" lang="ru-RU" sz="3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605" name="Text Box 5"/>
              <p:cNvSpPr txBox="1">
                <a:spLocks noChangeArrowheads="1"/>
              </p:cNvSpPr>
              <p:nvPr/>
            </p:nvSpPr>
            <p:spPr bwMode="auto">
              <a:xfrm>
                <a:off x="3595" y="266"/>
                <a:ext cx="1074" cy="534"/>
              </a:xfrm>
              <a:prstGeom prst="rect">
                <a:avLst/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bite</a:t>
                </a:r>
                <a:endParaRPr kumimoji="0" lang="ru-RU" sz="3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606" name="Text Box 6"/>
              <p:cNvSpPr txBox="1">
                <a:spLocks noChangeArrowheads="1"/>
              </p:cNvSpPr>
              <p:nvPr/>
            </p:nvSpPr>
            <p:spPr bwMode="auto">
              <a:xfrm>
                <a:off x="176" y="266"/>
                <a:ext cx="1074" cy="534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Dog</a:t>
                </a:r>
                <a:endParaRPr kumimoji="0" lang="ru-RU" sz="3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5607" name="Group 7"/>
              <p:cNvGrpSpPr>
                <a:grpSpLocks/>
              </p:cNvGrpSpPr>
              <p:nvPr/>
            </p:nvGrpSpPr>
            <p:grpSpPr bwMode="auto">
              <a:xfrm>
                <a:off x="1799" y="269"/>
                <a:ext cx="1254" cy="534"/>
                <a:chOff x="1799" y="269"/>
                <a:chExt cx="1254" cy="534"/>
              </a:xfrm>
            </p:grpSpPr>
            <p:sp>
              <p:nvSpPr>
                <p:cNvPr id="25608" name="Oval 8"/>
                <p:cNvSpPr>
                  <a:spLocks noChangeArrowheads="1"/>
                </p:cNvSpPr>
                <p:nvPr/>
              </p:nvSpPr>
              <p:spPr bwMode="auto">
                <a:xfrm>
                  <a:off x="1799" y="269"/>
                  <a:ext cx="1254" cy="534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3600"/>
                </a:p>
              </p:txBody>
            </p:sp>
            <p:sp>
              <p:nvSpPr>
                <p:cNvPr id="2560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982" y="346"/>
                  <a:ext cx="882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lvl="0" indent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tabLst/>
                  </a:pPr>
                  <a:r>
                    <a:rPr kumimoji="0" 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Agent</a:t>
                  </a:r>
                  <a:endParaRPr kumimoji="0" lang="ru-RU" sz="3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5610" name="Group 10"/>
              <p:cNvGrpSpPr>
                <a:grpSpLocks/>
              </p:cNvGrpSpPr>
              <p:nvPr/>
            </p:nvGrpSpPr>
            <p:grpSpPr bwMode="auto">
              <a:xfrm>
                <a:off x="5218" y="268"/>
                <a:ext cx="1435" cy="535"/>
                <a:chOff x="5218" y="268"/>
                <a:chExt cx="1435" cy="535"/>
              </a:xfrm>
            </p:grpSpPr>
            <p:sp>
              <p:nvSpPr>
                <p:cNvPr id="25611" name="Oval 11"/>
                <p:cNvSpPr>
                  <a:spLocks noChangeArrowheads="1"/>
                </p:cNvSpPr>
                <p:nvPr/>
              </p:nvSpPr>
              <p:spPr bwMode="auto">
                <a:xfrm>
                  <a:off x="5218" y="268"/>
                  <a:ext cx="1435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 sz="3600"/>
                </a:p>
              </p:txBody>
            </p:sp>
            <p:sp>
              <p:nvSpPr>
                <p:cNvPr id="2561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429" y="346"/>
                  <a:ext cx="1009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Object</a:t>
                  </a:r>
                  <a:endParaRPr kumimoji="0" lang="ru-RU" sz="3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25613" name="AutoShape 13"/>
              <p:cNvCxnSpPr>
                <a:cxnSpLocks noChangeShapeType="1"/>
              </p:cNvCxnSpPr>
              <p:nvPr/>
            </p:nvCxnSpPr>
            <p:spPr bwMode="auto">
              <a:xfrm>
                <a:off x="4677" y="539"/>
                <a:ext cx="538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  <p:cxnSp>
            <p:nvCxnSpPr>
              <p:cNvPr id="25614" name="AutoShape 14"/>
              <p:cNvCxnSpPr>
                <a:cxnSpLocks noChangeShapeType="1"/>
              </p:cNvCxnSpPr>
              <p:nvPr/>
            </p:nvCxnSpPr>
            <p:spPr bwMode="auto">
              <a:xfrm>
                <a:off x="6659" y="539"/>
                <a:ext cx="716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  <p:cxnSp>
            <p:nvCxnSpPr>
              <p:cNvPr id="25615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3058" y="539"/>
                <a:ext cx="530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  <p:cxnSp>
            <p:nvCxnSpPr>
              <p:cNvPr id="25616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1258" y="539"/>
                <a:ext cx="530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</p:cxn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75AD780-C1DD-4662-86C1-BAE6CE51F9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686800" cy="1285884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Representation of events</a:t>
            </a:r>
            <a:r>
              <a:rPr lang="ru-RU" dirty="0">
                <a:solidFill>
                  <a:srgbClr val="002060"/>
                </a:solidFill>
              </a:rPr>
              <a:t>– </a:t>
            </a:r>
            <a:r>
              <a:rPr lang="en-US" dirty="0" err="1">
                <a:solidFill>
                  <a:srgbClr val="002060"/>
                </a:solidFill>
              </a:rPr>
              <a:t>Rastier’s</a:t>
            </a:r>
            <a:r>
              <a:rPr lang="en-US" dirty="0">
                <a:solidFill>
                  <a:srgbClr val="002060"/>
                </a:solidFill>
              </a:rPr>
              <a:t> graph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57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1201" name="Group 1"/>
          <p:cNvGrpSpPr>
            <a:grpSpLocks/>
          </p:cNvGrpSpPr>
          <p:nvPr/>
        </p:nvGrpSpPr>
        <p:grpSpPr bwMode="auto">
          <a:xfrm>
            <a:off x="285720" y="2357430"/>
            <a:ext cx="8429684" cy="4286280"/>
            <a:chOff x="0" y="0"/>
            <a:chExt cx="9174" cy="4674"/>
          </a:xfrm>
        </p:grpSpPr>
        <p:sp>
          <p:nvSpPr>
            <p:cNvPr id="51256" name="Rectangle 56"/>
            <p:cNvSpPr>
              <a:spLocks noChangeArrowheads="1"/>
            </p:cNvSpPr>
            <p:nvPr/>
          </p:nvSpPr>
          <p:spPr bwMode="auto">
            <a:xfrm>
              <a:off x="0" y="0"/>
              <a:ext cx="9174" cy="46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51202" name="Group 2"/>
            <p:cNvGrpSpPr>
              <a:grpSpLocks/>
            </p:cNvGrpSpPr>
            <p:nvPr/>
          </p:nvGrpSpPr>
          <p:grpSpPr bwMode="auto">
            <a:xfrm>
              <a:off x="179" y="357"/>
              <a:ext cx="8451" cy="4138"/>
              <a:chOff x="179" y="357"/>
              <a:chExt cx="8451" cy="4138"/>
            </a:xfrm>
          </p:grpSpPr>
          <p:sp>
            <p:nvSpPr>
              <p:cNvPr id="51255" name="Text Box 55"/>
              <p:cNvSpPr txBox="1">
                <a:spLocks noChangeArrowheads="1"/>
              </p:cNvSpPr>
              <p:nvPr/>
            </p:nvSpPr>
            <p:spPr bwMode="auto">
              <a:xfrm>
                <a:off x="4496" y="2156"/>
                <a:ext cx="1255" cy="534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Mailman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4" name="Text Box 54"/>
              <p:cNvSpPr txBox="1">
                <a:spLocks noChangeArrowheads="1"/>
              </p:cNvSpPr>
              <p:nvPr/>
            </p:nvSpPr>
            <p:spPr bwMode="auto">
              <a:xfrm>
                <a:off x="3774" y="358"/>
                <a:ext cx="1074" cy="534"/>
              </a:xfrm>
              <a:prstGeom prst="rect">
                <a:avLst/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bite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53" name="Text Box 53"/>
              <p:cNvSpPr txBox="1">
                <a:spLocks noChangeArrowheads="1"/>
              </p:cNvSpPr>
              <p:nvPr/>
            </p:nvSpPr>
            <p:spPr bwMode="auto">
              <a:xfrm>
                <a:off x="355" y="357"/>
                <a:ext cx="1074" cy="534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Dog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1250" name="Group 50"/>
              <p:cNvGrpSpPr>
                <a:grpSpLocks/>
              </p:cNvGrpSpPr>
              <p:nvPr/>
            </p:nvGrpSpPr>
            <p:grpSpPr bwMode="auto">
              <a:xfrm>
                <a:off x="1979" y="360"/>
                <a:ext cx="1254" cy="534"/>
                <a:chOff x="1979" y="360"/>
                <a:chExt cx="1254" cy="534"/>
              </a:xfrm>
            </p:grpSpPr>
            <p:sp>
              <p:nvSpPr>
                <p:cNvPr id="51252" name="Oval 52"/>
                <p:cNvSpPr>
                  <a:spLocks noChangeArrowheads="1"/>
                </p:cNvSpPr>
                <p:nvPr/>
              </p:nvSpPr>
              <p:spPr bwMode="auto">
                <a:xfrm>
                  <a:off x="1979" y="360"/>
                  <a:ext cx="1254" cy="534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5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162" y="437"/>
                  <a:ext cx="882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Agent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1247" name="Group 47"/>
              <p:cNvGrpSpPr>
                <a:grpSpLocks/>
              </p:cNvGrpSpPr>
              <p:nvPr/>
            </p:nvGrpSpPr>
            <p:grpSpPr bwMode="auto">
              <a:xfrm>
                <a:off x="4318" y="1258"/>
                <a:ext cx="1438" cy="543"/>
                <a:chOff x="4318" y="1258"/>
                <a:chExt cx="1438" cy="543"/>
              </a:xfrm>
            </p:grpSpPr>
            <p:sp>
              <p:nvSpPr>
                <p:cNvPr id="51249" name="Oval 49"/>
                <p:cNvSpPr>
                  <a:spLocks noChangeArrowheads="1"/>
                </p:cNvSpPr>
                <p:nvPr/>
              </p:nvSpPr>
              <p:spPr bwMode="auto">
                <a:xfrm>
                  <a:off x="4318" y="1258"/>
                  <a:ext cx="1438" cy="543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4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528" y="1337"/>
                  <a:ext cx="1012" cy="381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Object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1246" name="Text Box 46"/>
              <p:cNvSpPr txBox="1">
                <a:spLocks noChangeArrowheads="1"/>
              </p:cNvSpPr>
              <p:nvPr/>
            </p:nvSpPr>
            <p:spPr bwMode="auto">
              <a:xfrm>
                <a:off x="355" y="2156"/>
                <a:ext cx="1074" cy="534"/>
              </a:xfrm>
              <a:prstGeom prst="rect">
                <a:avLst/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own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1243" name="Group 43"/>
              <p:cNvGrpSpPr>
                <a:grpSpLocks/>
              </p:cNvGrpSpPr>
              <p:nvPr/>
            </p:nvGrpSpPr>
            <p:grpSpPr bwMode="auto">
              <a:xfrm>
                <a:off x="179" y="1258"/>
                <a:ext cx="1435" cy="536"/>
                <a:chOff x="179" y="1258"/>
                <a:chExt cx="1435" cy="536"/>
              </a:xfrm>
            </p:grpSpPr>
            <p:sp>
              <p:nvSpPr>
                <p:cNvPr id="51245" name="Oval 45"/>
                <p:cNvSpPr>
                  <a:spLocks noChangeArrowheads="1"/>
                </p:cNvSpPr>
                <p:nvPr/>
              </p:nvSpPr>
              <p:spPr bwMode="auto">
                <a:xfrm>
                  <a:off x="179" y="1258"/>
                  <a:ext cx="1435" cy="536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4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90" y="1335"/>
                  <a:ext cx="1009" cy="376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Object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1240" name="Group 40"/>
              <p:cNvGrpSpPr>
                <a:grpSpLocks/>
              </p:cNvGrpSpPr>
              <p:nvPr/>
            </p:nvGrpSpPr>
            <p:grpSpPr bwMode="auto">
              <a:xfrm>
                <a:off x="269" y="3059"/>
                <a:ext cx="1253" cy="534"/>
                <a:chOff x="269" y="3059"/>
                <a:chExt cx="1253" cy="534"/>
              </a:xfrm>
            </p:grpSpPr>
            <p:sp>
              <p:nvSpPr>
                <p:cNvPr id="51242" name="Oval 42"/>
                <p:cNvSpPr>
                  <a:spLocks noChangeArrowheads="1"/>
                </p:cNvSpPr>
                <p:nvPr/>
              </p:nvSpPr>
              <p:spPr bwMode="auto">
                <a:xfrm>
                  <a:off x="269" y="3059"/>
                  <a:ext cx="1253" cy="534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4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53" y="3136"/>
                  <a:ext cx="881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Agent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1239" name="Text Box 39"/>
              <p:cNvSpPr txBox="1">
                <a:spLocks noChangeArrowheads="1"/>
              </p:cNvSpPr>
              <p:nvPr/>
            </p:nvSpPr>
            <p:spPr bwMode="auto">
              <a:xfrm>
                <a:off x="267" y="3956"/>
                <a:ext cx="1251" cy="536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Owner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1236" name="Group 36"/>
              <p:cNvGrpSpPr>
                <a:grpSpLocks/>
              </p:cNvGrpSpPr>
              <p:nvPr/>
            </p:nvGrpSpPr>
            <p:grpSpPr bwMode="auto">
              <a:xfrm>
                <a:off x="1979" y="3959"/>
                <a:ext cx="1434" cy="536"/>
                <a:chOff x="1979" y="3959"/>
                <a:chExt cx="1434" cy="536"/>
              </a:xfrm>
            </p:grpSpPr>
            <p:sp>
              <p:nvSpPr>
                <p:cNvPr id="51238" name="Oval 38"/>
                <p:cNvSpPr>
                  <a:spLocks noChangeArrowheads="1"/>
                </p:cNvSpPr>
                <p:nvPr/>
              </p:nvSpPr>
              <p:spPr bwMode="auto">
                <a:xfrm>
                  <a:off x="1979" y="3959"/>
                  <a:ext cx="1434" cy="536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3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189" y="4036"/>
                  <a:ext cx="1008" cy="376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Object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1235" name="Text Box 35"/>
              <p:cNvSpPr txBox="1">
                <a:spLocks noChangeArrowheads="1"/>
              </p:cNvSpPr>
              <p:nvPr/>
            </p:nvSpPr>
            <p:spPr bwMode="auto">
              <a:xfrm>
                <a:off x="3776" y="3956"/>
                <a:ext cx="1076" cy="536"/>
              </a:xfrm>
              <a:prstGeom prst="rect">
                <a:avLst/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beat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1232" name="Group 32"/>
              <p:cNvGrpSpPr>
                <a:grpSpLocks/>
              </p:cNvGrpSpPr>
              <p:nvPr/>
            </p:nvGrpSpPr>
            <p:grpSpPr bwMode="auto">
              <a:xfrm>
                <a:off x="4498" y="3059"/>
                <a:ext cx="1254" cy="536"/>
                <a:chOff x="4498" y="3059"/>
                <a:chExt cx="1254" cy="536"/>
              </a:xfrm>
            </p:grpSpPr>
            <p:sp>
              <p:nvSpPr>
                <p:cNvPr id="51234" name="Oval 34"/>
                <p:cNvSpPr>
                  <a:spLocks noChangeArrowheads="1"/>
                </p:cNvSpPr>
                <p:nvPr/>
              </p:nvSpPr>
              <p:spPr bwMode="auto">
                <a:xfrm>
                  <a:off x="4498" y="3059"/>
                  <a:ext cx="1254" cy="536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3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681" y="3136"/>
                  <a:ext cx="882" cy="376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Agent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1229" name="Group 29"/>
              <p:cNvGrpSpPr>
                <a:grpSpLocks/>
              </p:cNvGrpSpPr>
              <p:nvPr/>
            </p:nvGrpSpPr>
            <p:grpSpPr bwMode="auto">
              <a:xfrm>
                <a:off x="2518" y="2159"/>
                <a:ext cx="1616" cy="538"/>
                <a:chOff x="2518" y="2159"/>
                <a:chExt cx="1616" cy="538"/>
              </a:xfrm>
            </p:grpSpPr>
            <p:sp>
              <p:nvSpPr>
                <p:cNvPr id="51231" name="Oval 31"/>
                <p:cNvSpPr>
                  <a:spLocks noChangeArrowheads="1"/>
                </p:cNvSpPr>
                <p:nvPr/>
              </p:nvSpPr>
              <p:spPr bwMode="auto">
                <a:xfrm>
                  <a:off x="2518" y="2159"/>
                  <a:ext cx="1616" cy="538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30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755" y="2236"/>
                  <a:ext cx="1136" cy="37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Result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51226" name="Group 26"/>
              <p:cNvGrpSpPr>
                <a:grpSpLocks/>
              </p:cNvGrpSpPr>
              <p:nvPr/>
            </p:nvGrpSpPr>
            <p:grpSpPr bwMode="auto">
              <a:xfrm>
                <a:off x="5398" y="3959"/>
                <a:ext cx="1255" cy="534"/>
                <a:chOff x="5398" y="3959"/>
                <a:chExt cx="1255" cy="534"/>
              </a:xfrm>
            </p:grpSpPr>
            <p:sp>
              <p:nvSpPr>
                <p:cNvPr id="51228" name="Oval 28"/>
                <p:cNvSpPr>
                  <a:spLocks noChangeArrowheads="1"/>
                </p:cNvSpPr>
                <p:nvPr/>
              </p:nvSpPr>
              <p:spPr bwMode="auto">
                <a:xfrm>
                  <a:off x="5398" y="3959"/>
                  <a:ext cx="1255" cy="534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27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582" y="4036"/>
                  <a:ext cx="883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Place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1225" name="Text Box 25"/>
              <p:cNvSpPr txBox="1">
                <a:spLocks noChangeArrowheads="1"/>
              </p:cNvSpPr>
              <p:nvPr/>
            </p:nvSpPr>
            <p:spPr bwMode="auto">
              <a:xfrm>
                <a:off x="7195" y="3956"/>
                <a:ext cx="1074" cy="536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Yard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1222" name="Group 22"/>
              <p:cNvGrpSpPr>
                <a:grpSpLocks/>
              </p:cNvGrpSpPr>
              <p:nvPr/>
            </p:nvGrpSpPr>
            <p:grpSpPr bwMode="auto">
              <a:xfrm>
                <a:off x="5398" y="360"/>
                <a:ext cx="1435" cy="538"/>
                <a:chOff x="5398" y="360"/>
                <a:chExt cx="1435" cy="538"/>
              </a:xfrm>
            </p:grpSpPr>
            <p:sp>
              <p:nvSpPr>
                <p:cNvPr id="51224" name="Oval 24"/>
                <p:cNvSpPr>
                  <a:spLocks noChangeArrowheads="1"/>
                </p:cNvSpPr>
                <p:nvPr/>
              </p:nvSpPr>
              <p:spPr bwMode="auto">
                <a:xfrm>
                  <a:off x="5398" y="360"/>
                  <a:ext cx="1435" cy="538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122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609" y="437"/>
                  <a:ext cx="1009" cy="378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manner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1221" name="Text Box 21"/>
              <p:cNvSpPr txBox="1">
                <a:spLocks noChangeArrowheads="1"/>
              </p:cNvSpPr>
              <p:nvPr/>
            </p:nvSpPr>
            <p:spPr bwMode="auto">
              <a:xfrm>
                <a:off x="7375" y="358"/>
                <a:ext cx="1255" cy="534"/>
              </a:xfrm>
              <a:prstGeom prst="rect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ugly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220" name="AutoShape 20"/>
              <p:cNvSpPr>
                <a:spLocks noChangeShapeType="1"/>
              </p:cNvSpPr>
              <p:nvPr/>
            </p:nvSpPr>
            <p:spPr bwMode="auto">
              <a:xfrm flipH="1">
                <a:off x="3238" y="629"/>
                <a:ext cx="532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9" name="AutoShape 19"/>
              <p:cNvSpPr>
                <a:spLocks noChangeShapeType="1"/>
              </p:cNvSpPr>
              <p:nvPr/>
            </p:nvSpPr>
            <p:spPr bwMode="auto">
              <a:xfrm flipH="1">
                <a:off x="1438" y="629"/>
                <a:ext cx="534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8" name="AutoShape 18"/>
              <p:cNvSpPr>
                <a:spLocks noChangeShapeType="1"/>
              </p:cNvSpPr>
              <p:nvPr/>
            </p:nvSpPr>
            <p:spPr bwMode="auto">
              <a:xfrm>
                <a:off x="4857" y="631"/>
                <a:ext cx="540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7" name="AutoShape 17"/>
              <p:cNvSpPr>
                <a:spLocks noChangeShapeType="1"/>
              </p:cNvSpPr>
              <p:nvPr/>
            </p:nvSpPr>
            <p:spPr bwMode="auto">
              <a:xfrm>
                <a:off x="6838" y="631"/>
                <a:ext cx="539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6" name="AutoShape 16"/>
              <p:cNvSpPr>
                <a:spLocks noChangeShapeType="1"/>
              </p:cNvSpPr>
              <p:nvPr/>
            </p:nvSpPr>
            <p:spPr bwMode="auto">
              <a:xfrm flipV="1">
                <a:off x="899" y="899"/>
                <a:ext cx="0" cy="349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5" name="AutoShape 15"/>
              <p:cNvSpPr>
                <a:spLocks noChangeShapeType="1"/>
              </p:cNvSpPr>
              <p:nvPr/>
            </p:nvSpPr>
            <p:spPr bwMode="auto">
              <a:xfrm flipV="1">
                <a:off x="899" y="1800"/>
                <a:ext cx="1" cy="35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4" name="AutoShape 14"/>
              <p:cNvSpPr>
                <a:spLocks noChangeShapeType="1"/>
              </p:cNvSpPr>
              <p:nvPr/>
            </p:nvSpPr>
            <p:spPr bwMode="auto">
              <a:xfrm>
                <a:off x="899" y="2698"/>
                <a:ext cx="1" cy="36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3" name="AutoShape 13"/>
              <p:cNvSpPr>
                <a:spLocks noChangeShapeType="1"/>
              </p:cNvSpPr>
              <p:nvPr/>
            </p:nvSpPr>
            <p:spPr bwMode="auto">
              <a:xfrm>
                <a:off x="898" y="3599"/>
                <a:ext cx="0" cy="36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2" name="AutoShape 12"/>
              <p:cNvSpPr>
                <a:spLocks noChangeShapeType="1"/>
              </p:cNvSpPr>
              <p:nvPr/>
            </p:nvSpPr>
            <p:spPr bwMode="auto">
              <a:xfrm>
                <a:off x="4860" y="4229"/>
                <a:ext cx="532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1" name="AutoShape 11"/>
              <p:cNvSpPr>
                <a:spLocks noChangeShapeType="1"/>
              </p:cNvSpPr>
              <p:nvPr/>
            </p:nvSpPr>
            <p:spPr bwMode="auto">
              <a:xfrm>
                <a:off x="6658" y="4229"/>
                <a:ext cx="539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10" name="AutoShape 10"/>
              <p:cNvSpPr>
                <a:spLocks noChangeShapeType="1"/>
              </p:cNvSpPr>
              <p:nvPr/>
            </p:nvSpPr>
            <p:spPr bwMode="auto">
              <a:xfrm flipH="1">
                <a:off x="3418" y="4229"/>
                <a:ext cx="350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9" name="AutoShape 9"/>
              <p:cNvSpPr>
                <a:spLocks noChangeShapeType="1"/>
              </p:cNvSpPr>
              <p:nvPr/>
            </p:nvSpPr>
            <p:spPr bwMode="auto">
              <a:xfrm flipH="1">
                <a:off x="1526" y="4229"/>
                <a:ext cx="442" cy="1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8" name="AutoShape 8"/>
              <p:cNvSpPr>
                <a:spLocks noChangeShapeType="1"/>
              </p:cNvSpPr>
              <p:nvPr/>
            </p:nvSpPr>
            <p:spPr bwMode="auto">
              <a:xfrm flipH="1">
                <a:off x="3330" y="901"/>
                <a:ext cx="976" cy="1256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7" name="AutoShape 7"/>
              <p:cNvSpPr>
                <a:spLocks noChangeShapeType="1"/>
              </p:cNvSpPr>
              <p:nvPr/>
            </p:nvSpPr>
            <p:spPr bwMode="auto">
              <a:xfrm>
                <a:off x="3330" y="2702"/>
                <a:ext cx="987" cy="1255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6" name="AutoShape 6"/>
              <p:cNvSpPr>
                <a:spLocks noChangeShapeType="1"/>
              </p:cNvSpPr>
              <p:nvPr/>
            </p:nvSpPr>
            <p:spPr bwMode="auto">
              <a:xfrm flipV="1">
                <a:off x="5127" y="2698"/>
                <a:ext cx="1" cy="35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5" name="AutoShape 5"/>
              <p:cNvSpPr>
                <a:spLocks noChangeShapeType="1"/>
              </p:cNvSpPr>
              <p:nvPr/>
            </p:nvSpPr>
            <p:spPr bwMode="auto">
              <a:xfrm flipV="1">
                <a:off x="4319" y="3521"/>
                <a:ext cx="363" cy="427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4" name="AutoShape 4"/>
              <p:cNvSpPr>
                <a:spLocks noChangeShapeType="1"/>
              </p:cNvSpPr>
              <p:nvPr/>
            </p:nvSpPr>
            <p:spPr bwMode="auto">
              <a:xfrm>
                <a:off x="5041" y="1807"/>
                <a:ext cx="85" cy="35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203" name="AutoShape 3"/>
              <p:cNvSpPr>
                <a:spLocks noChangeShapeType="1"/>
              </p:cNvSpPr>
              <p:nvPr/>
            </p:nvSpPr>
            <p:spPr bwMode="auto">
              <a:xfrm>
                <a:off x="4317" y="901"/>
                <a:ext cx="724" cy="357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6A27223C-B706-48BD-8995-BA4785FEBD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29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Types of relations in </a:t>
            </a:r>
            <a:r>
              <a:rPr lang="en-US" dirty="0" err="1">
                <a:solidFill>
                  <a:srgbClr val="0070C0"/>
                </a:solidFill>
              </a:rPr>
              <a:t>rastier’s</a:t>
            </a:r>
            <a:r>
              <a:rPr lang="en-US" dirty="0">
                <a:solidFill>
                  <a:srgbClr val="0070C0"/>
                </a:solidFill>
              </a:rPr>
              <a:t> graph</a:t>
            </a:r>
            <a:endParaRPr lang="ru-RU" dirty="0">
              <a:solidFill>
                <a:srgbClr val="0070C0"/>
              </a:solidFill>
            </a:endParaRPr>
          </a:p>
        </p:txBody>
      </p:sp>
      <p:graphicFrame>
        <p:nvGraphicFramePr>
          <p:cNvPr id="9" name="Содержимое 8"/>
          <p:cNvGraphicFramePr>
            <a:graphicFrameLocks noGrp="1"/>
          </p:cNvGraphicFramePr>
          <p:nvPr>
            <p:ph sz="quarter" idx="1"/>
          </p:nvPr>
        </p:nvGraphicFramePr>
        <p:xfrm>
          <a:off x="714347" y="1428740"/>
          <a:ext cx="7786743" cy="5072088"/>
        </p:xfrm>
        <a:graphic>
          <a:graphicData uri="http://schemas.openxmlformats.org/drawingml/2006/table">
            <a:tbl>
              <a:tblPr/>
              <a:tblGrid>
                <a:gridCol w="108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Type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Definition 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Simpified name</a:t>
                      </a: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(ACC)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accusative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Object of an acion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PATient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(ASS)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assumptive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Point of view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PERspective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(ATT)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attributive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Property, characteristics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CHARacteristic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(BEN)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benefactive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Entity as a beneficiary 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BENeficiary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(CLAS)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classitive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Specimen of a class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CLASsitive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(COMP)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comparative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Items joined by comparation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COMParison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(DAT)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dative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Receiver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RECeiver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2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(ERG)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ergative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Ergative, agent of a process or an action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AGEnt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(FIN)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final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Result or expected goal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GOAL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(INST)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instrumental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Used means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MEAns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(LOC S)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spatial locative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Position (location) in space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SPAce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72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(LOC T)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temporal locative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Position (location) in time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TIME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72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(MAL)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malefactive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The party suffered from the action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MALeficiary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(PART)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partitive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Part of the whole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PARTitive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072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ArialMT"/>
                        </a:rPr>
                        <a:t>(RES)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ArialMT"/>
                        </a:rPr>
                        <a:t>resultative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Result, effect, consequence</a:t>
                      </a:r>
                      <a:endParaRPr lang="ru-R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Times New Roman"/>
                          <a:ea typeface="Times New Roman"/>
                          <a:cs typeface="ArialMT"/>
                        </a:rPr>
                        <a:t>EFFect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ArialMT"/>
                        </a:rPr>
                        <a:t> (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ArialMT"/>
                        </a:rPr>
                        <a:t>или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ArialMT"/>
                        </a:rPr>
                        <a:t> 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ArialMT"/>
                        </a:rPr>
                        <a:t>CAUse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ArialMT"/>
                        </a:rPr>
                        <a:t>)</a:t>
                      </a:r>
                      <a:endParaRPr lang="ru-R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AD92F1A8-A1C5-4B2A-A39B-5B10566F20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  <p:pic>
        <p:nvPicPr>
          <p:cNvPr id="4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DCDB64F6-9FC6-41A1-9BD3-3249B3363B0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1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7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SEMANTIC NETWORKS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214282" y="1428736"/>
            <a:ext cx="8686800" cy="1000132"/>
          </a:xfrm>
          <a:noFill/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>
                <a:solidFill>
                  <a:srgbClr val="002060"/>
                </a:solidFill>
              </a:rPr>
              <a:t>Rastier’s</a:t>
            </a:r>
            <a:r>
              <a:rPr lang="en-US" dirty="0">
                <a:solidFill>
                  <a:srgbClr val="002060"/>
                </a:solidFill>
              </a:rPr>
              <a:t> graph with unified relations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9697" name="Group 1"/>
          <p:cNvGrpSpPr>
            <a:grpSpLocks/>
          </p:cNvGrpSpPr>
          <p:nvPr/>
        </p:nvGrpSpPr>
        <p:grpSpPr bwMode="auto">
          <a:xfrm>
            <a:off x="0" y="1928802"/>
            <a:ext cx="9144000" cy="4643470"/>
            <a:chOff x="0" y="0"/>
            <a:chExt cx="9174" cy="4674"/>
          </a:xfrm>
        </p:grpSpPr>
        <p:sp>
          <p:nvSpPr>
            <p:cNvPr id="29751" name="Rectangle 55"/>
            <p:cNvSpPr>
              <a:spLocks noChangeArrowheads="1"/>
            </p:cNvSpPr>
            <p:nvPr/>
          </p:nvSpPr>
          <p:spPr bwMode="auto">
            <a:xfrm>
              <a:off x="0" y="0"/>
              <a:ext cx="9174" cy="46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50" name="Text Box 54"/>
            <p:cNvSpPr txBox="1">
              <a:spLocks noChangeArrowheads="1"/>
            </p:cNvSpPr>
            <p:nvPr/>
          </p:nvSpPr>
          <p:spPr bwMode="auto">
            <a:xfrm>
              <a:off x="4497" y="2156"/>
              <a:ext cx="1255" cy="53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Arial" pitchFamily="34" charset="0"/>
                  <a:cs typeface="Arial" pitchFamily="34" charset="0"/>
                </a:rPr>
                <a:t>mailman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749" name="Text Box 53"/>
            <p:cNvSpPr txBox="1">
              <a:spLocks noChangeArrowheads="1"/>
            </p:cNvSpPr>
            <p:nvPr/>
          </p:nvSpPr>
          <p:spPr bwMode="auto">
            <a:xfrm>
              <a:off x="3775" y="358"/>
              <a:ext cx="1074" cy="534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Arial" pitchFamily="34" charset="0"/>
                  <a:cs typeface="Arial" pitchFamily="34" charset="0"/>
                </a:rPr>
                <a:t>bite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748" name="Text Box 52"/>
            <p:cNvSpPr txBox="1">
              <a:spLocks noChangeArrowheads="1"/>
            </p:cNvSpPr>
            <p:nvPr/>
          </p:nvSpPr>
          <p:spPr bwMode="auto">
            <a:xfrm>
              <a:off x="356" y="357"/>
              <a:ext cx="1254" cy="53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dog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45" name="Group 49"/>
            <p:cNvGrpSpPr>
              <a:grpSpLocks/>
            </p:cNvGrpSpPr>
            <p:nvPr/>
          </p:nvGrpSpPr>
          <p:grpSpPr bwMode="auto">
            <a:xfrm>
              <a:off x="1980" y="360"/>
              <a:ext cx="1254" cy="534"/>
              <a:chOff x="1980" y="360"/>
              <a:chExt cx="1254" cy="534"/>
            </a:xfrm>
          </p:grpSpPr>
          <p:sp>
            <p:nvSpPr>
              <p:cNvPr id="29747" name="Oval 51"/>
              <p:cNvSpPr>
                <a:spLocks noChangeArrowheads="1"/>
              </p:cNvSpPr>
              <p:nvPr/>
            </p:nvSpPr>
            <p:spPr bwMode="auto">
              <a:xfrm>
                <a:off x="1980" y="360"/>
                <a:ext cx="1254" cy="534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46" name="Text Box 50"/>
              <p:cNvSpPr txBox="1">
                <a:spLocks noChangeArrowheads="1"/>
              </p:cNvSpPr>
              <p:nvPr/>
            </p:nvSpPr>
            <p:spPr bwMode="auto">
              <a:xfrm>
                <a:off x="2163" y="437"/>
                <a:ext cx="882" cy="37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ERG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9742" name="Group 46"/>
            <p:cNvGrpSpPr>
              <a:grpSpLocks/>
            </p:cNvGrpSpPr>
            <p:nvPr/>
          </p:nvGrpSpPr>
          <p:grpSpPr bwMode="auto">
            <a:xfrm>
              <a:off x="4319" y="1259"/>
              <a:ext cx="1438" cy="543"/>
              <a:chOff x="4319" y="1259"/>
              <a:chExt cx="1438" cy="543"/>
            </a:xfrm>
          </p:grpSpPr>
          <p:sp>
            <p:nvSpPr>
              <p:cNvPr id="29744" name="Oval 48"/>
              <p:cNvSpPr>
                <a:spLocks noChangeArrowheads="1"/>
              </p:cNvSpPr>
              <p:nvPr/>
            </p:nvSpPr>
            <p:spPr bwMode="auto">
              <a:xfrm>
                <a:off x="4319" y="1259"/>
                <a:ext cx="1438" cy="543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43" name="Text Box 47"/>
              <p:cNvSpPr txBox="1">
                <a:spLocks noChangeArrowheads="1"/>
              </p:cNvSpPr>
              <p:nvPr/>
            </p:nvSpPr>
            <p:spPr bwMode="auto">
              <a:xfrm>
                <a:off x="4529" y="1338"/>
                <a:ext cx="1012" cy="38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ACC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41" name="Text Box 45"/>
            <p:cNvSpPr txBox="1">
              <a:spLocks noChangeArrowheads="1"/>
            </p:cNvSpPr>
            <p:nvPr/>
          </p:nvSpPr>
          <p:spPr bwMode="auto">
            <a:xfrm>
              <a:off x="356" y="2156"/>
              <a:ext cx="1074" cy="534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own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38" name="Group 42"/>
            <p:cNvGrpSpPr>
              <a:grpSpLocks/>
            </p:cNvGrpSpPr>
            <p:nvPr/>
          </p:nvGrpSpPr>
          <p:grpSpPr bwMode="auto">
            <a:xfrm>
              <a:off x="179" y="1259"/>
              <a:ext cx="1435" cy="536"/>
              <a:chOff x="179" y="1259"/>
              <a:chExt cx="1435" cy="536"/>
            </a:xfrm>
          </p:grpSpPr>
          <p:sp>
            <p:nvSpPr>
              <p:cNvPr id="29740" name="Oval 44"/>
              <p:cNvSpPr>
                <a:spLocks noChangeArrowheads="1"/>
              </p:cNvSpPr>
              <p:nvPr/>
            </p:nvSpPr>
            <p:spPr bwMode="auto">
              <a:xfrm>
                <a:off x="179" y="1259"/>
                <a:ext cx="1435" cy="536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39" name="Text Box 43"/>
              <p:cNvSpPr txBox="1">
                <a:spLocks noChangeArrowheads="1"/>
              </p:cNvSpPr>
              <p:nvPr/>
            </p:nvSpPr>
            <p:spPr bwMode="auto">
              <a:xfrm>
                <a:off x="390" y="1336"/>
                <a:ext cx="1009" cy="37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ACC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9735" name="Group 39"/>
            <p:cNvGrpSpPr>
              <a:grpSpLocks/>
            </p:cNvGrpSpPr>
            <p:nvPr/>
          </p:nvGrpSpPr>
          <p:grpSpPr bwMode="auto">
            <a:xfrm>
              <a:off x="270" y="3059"/>
              <a:ext cx="1253" cy="534"/>
              <a:chOff x="270" y="3059"/>
              <a:chExt cx="1253" cy="534"/>
            </a:xfrm>
          </p:grpSpPr>
          <p:sp>
            <p:nvSpPr>
              <p:cNvPr id="29737" name="Oval 41"/>
              <p:cNvSpPr>
                <a:spLocks noChangeArrowheads="1"/>
              </p:cNvSpPr>
              <p:nvPr/>
            </p:nvSpPr>
            <p:spPr bwMode="auto">
              <a:xfrm>
                <a:off x="270" y="3059"/>
                <a:ext cx="1253" cy="534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36" name="Text Box 40"/>
              <p:cNvSpPr txBox="1">
                <a:spLocks noChangeArrowheads="1"/>
              </p:cNvSpPr>
              <p:nvPr/>
            </p:nvSpPr>
            <p:spPr bwMode="auto">
              <a:xfrm>
                <a:off x="454" y="3136"/>
                <a:ext cx="881" cy="37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ERG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34" name="Text Box 38"/>
            <p:cNvSpPr txBox="1">
              <a:spLocks noChangeArrowheads="1"/>
            </p:cNvSpPr>
            <p:nvPr/>
          </p:nvSpPr>
          <p:spPr bwMode="auto">
            <a:xfrm>
              <a:off x="267" y="3957"/>
              <a:ext cx="1252" cy="536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owner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31" name="Group 35"/>
            <p:cNvGrpSpPr>
              <a:grpSpLocks/>
            </p:cNvGrpSpPr>
            <p:nvPr/>
          </p:nvGrpSpPr>
          <p:grpSpPr bwMode="auto">
            <a:xfrm>
              <a:off x="1980" y="3960"/>
              <a:ext cx="1434" cy="536"/>
              <a:chOff x="1980" y="3960"/>
              <a:chExt cx="1434" cy="536"/>
            </a:xfrm>
          </p:grpSpPr>
          <p:sp>
            <p:nvSpPr>
              <p:cNvPr id="29733" name="Oval 37"/>
              <p:cNvSpPr>
                <a:spLocks noChangeArrowheads="1"/>
              </p:cNvSpPr>
              <p:nvPr/>
            </p:nvSpPr>
            <p:spPr bwMode="auto">
              <a:xfrm>
                <a:off x="1980" y="3960"/>
                <a:ext cx="1434" cy="536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32" name="Text Box 36"/>
              <p:cNvSpPr txBox="1">
                <a:spLocks noChangeArrowheads="1"/>
              </p:cNvSpPr>
              <p:nvPr/>
            </p:nvSpPr>
            <p:spPr bwMode="auto">
              <a:xfrm>
                <a:off x="2190" y="4037"/>
                <a:ext cx="1008" cy="37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ACC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30" name="Text Box 34"/>
            <p:cNvSpPr txBox="1">
              <a:spLocks noChangeArrowheads="1"/>
            </p:cNvSpPr>
            <p:nvPr/>
          </p:nvSpPr>
          <p:spPr bwMode="auto">
            <a:xfrm>
              <a:off x="3777" y="3957"/>
              <a:ext cx="1076" cy="536"/>
            </a:xfrm>
            <a:prstGeom prst="rect">
              <a:avLst/>
            </a:prstGeom>
            <a:solidFill>
              <a:srgbClr val="C0C0C0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rPr>
                <a:t>beat</a:t>
              </a:r>
              <a:endParaRPr kumimoji="0" 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27" name="Group 31"/>
            <p:cNvGrpSpPr>
              <a:grpSpLocks/>
            </p:cNvGrpSpPr>
            <p:nvPr/>
          </p:nvGrpSpPr>
          <p:grpSpPr bwMode="auto">
            <a:xfrm>
              <a:off x="4499" y="3059"/>
              <a:ext cx="1254" cy="536"/>
              <a:chOff x="4499" y="3059"/>
              <a:chExt cx="1254" cy="536"/>
            </a:xfrm>
          </p:grpSpPr>
          <p:sp>
            <p:nvSpPr>
              <p:cNvPr id="29729" name="Oval 33"/>
              <p:cNvSpPr>
                <a:spLocks noChangeArrowheads="1"/>
              </p:cNvSpPr>
              <p:nvPr/>
            </p:nvSpPr>
            <p:spPr bwMode="auto">
              <a:xfrm>
                <a:off x="4499" y="3059"/>
                <a:ext cx="1254" cy="536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28" name="Text Box 32"/>
              <p:cNvSpPr txBox="1">
                <a:spLocks noChangeArrowheads="1"/>
              </p:cNvSpPr>
              <p:nvPr/>
            </p:nvSpPr>
            <p:spPr bwMode="auto">
              <a:xfrm>
                <a:off x="4682" y="3136"/>
                <a:ext cx="882" cy="37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ERG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9724" name="Group 28"/>
            <p:cNvGrpSpPr>
              <a:grpSpLocks/>
            </p:cNvGrpSpPr>
            <p:nvPr/>
          </p:nvGrpSpPr>
          <p:grpSpPr bwMode="auto">
            <a:xfrm>
              <a:off x="2519" y="2159"/>
              <a:ext cx="1616" cy="538"/>
              <a:chOff x="2519" y="2159"/>
              <a:chExt cx="1616" cy="538"/>
            </a:xfrm>
          </p:grpSpPr>
          <p:sp>
            <p:nvSpPr>
              <p:cNvPr id="29726" name="Oval 30"/>
              <p:cNvSpPr>
                <a:spLocks noChangeArrowheads="1"/>
              </p:cNvSpPr>
              <p:nvPr/>
            </p:nvSpPr>
            <p:spPr bwMode="auto">
              <a:xfrm>
                <a:off x="2519" y="2159"/>
                <a:ext cx="1616" cy="538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25" name="Text Box 29"/>
              <p:cNvSpPr txBox="1">
                <a:spLocks noChangeArrowheads="1"/>
              </p:cNvSpPr>
              <p:nvPr/>
            </p:nvSpPr>
            <p:spPr bwMode="auto">
              <a:xfrm>
                <a:off x="2756" y="2236"/>
                <a:ext cx="1136" cy="378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RES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9721" name="Group 25"/>
            <p:cNvGrpSpPr>
              <a:grpSpLocks/>
            </p:cNvGrpSpPr>
            <p:nvPr/>
          </p:nvGrpSpPr>
          <p:grpSpPr bwMode="auto">
            <a:xfrm>
              <a:off x="5399" y="3960"/>
              <a:ext cx="1255" cy="534"/>
              <a:chOff x="5399" y="3960"/>
              <a:chExt cx="1255" cy="534"/>
            </a:xfrm>
          </p:grpSpPr>
          <p:sp>
            <p:nvSpPr>
              <p:cNvPr id="29723" name="Oval 27"/>
              <p:cNvSpPr>
                <a:spLocks noChangeArrowheads="1"/>
              </p:cNvSpPr>
              <p:nvPr/>
            </p:nvSpPr>
            <p:spPr bwMode="auto">
              <a:xfrm>
                <a:off x="5399" y="3960"/>
                <a:ext cx="1255" cy="534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22" name="Text Box 26"/>
              <p:cNvSpPr txBox="1">
                <a:spLocks noChangeArrowheads="1"/>
              </p:cNvSpPr>
              <p:nvPr/>
            </p:nvSpPr>
            <p:spPr bwMode="auto">
              <a:xfrm>
                <a:off x="5583" y="4037"/>
                <a:ext cx="883" cy="37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LOC S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20" name="Text Box 24"/>
            <p:cNvSpPr txBox="1">
              <a:spLocks noChangeArrowheads="1"/>
            </p:cNvSpPr>
            <p:nvPr/>
          </p:nvSpPr>
          <p:spPr bwMode="auto">
            <a:xfrm>
              <a:off x="7196" y="3957"/>
              <a:ext cx="1254" cy="536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 back yard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17" name="Group 21"/>
            <p:cNvGrpSpPr>
              <a:grpSpLocks/>
            </p:cNvGrpSpPr>
            <p:nvPr/>
          </p:nvGrpSpPr>
          <p:grpSpPr bwMode="auto">
            <a:xfrm>
              <a:off x="5399" y="360"/>
              <a:ext cx="1435" cy="538"/>
              <a:chOff x="5399" y="360"/>
              <a:chExt cx="1435" cy="538"/>
            </a:xfrm>
          </p:grpSpPr>
          <p:sp>
            <p:nvSpPr>
              <p:cNvPr id="29719" name="Oval 23"/>
              <p:cNvSpPr>
                <a:spLocks noChangeArrowheads="1"/>
              </p:cNvSpPr>
              <p:nvPr/>
            </p:nvSpPr>
            <p:spPr bwMode="auto">
              <a:xfrm>
                <a:off x="5399" y="360"/>
                <a:ext cx="1435" cy="538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718" name="Text Box 22"/>
              <p:cNvSpPr txBox="1">
                <a:spLocks noChangeArrowheads="1"/>
              </p:cNvSpPr>
              <p:nvPr/>
            </p:nvSpPr>
            <p:spPr bwMode="auto">
              <a:xfrm>
                <a:off x="5610" y="437"/>
                <a:ext cx="1009" cy="378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ATT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16" name="Text Box 20"/>
            <p:cNvSpPr txBox="1">
              <a:spLocks noChangeArrowheads="1"/>
            </p:cNvSpPr>
            <p:nvPr/>
          </p:nvSpPr>
          <p:spPr bwMode="auto">
            <a:xfrm>
              <a:off x="7377" y="358"/>
              <a:ext cx="1255" cy="534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Arial" pitchFamily="34" charset="0"/>
                  <a:cs typeface="Arial" pitchFamily="34" charset="0"/>
                </a:rPr>
                <a:t>ugly</a:t>
              </a:r>
              <a:endParaRPr kumimoji="0" 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715" name="AutoShape 19"/>
            <p:cNvSpPr>
              <a:spLocks noChangeShapeType="1"/>
            </p:cNvSpPr>
            <p:nvPr/>
          </p:nvSpPr>
          <p:spPr bwMode="auto">
            <a:xfrm flipH="1">
              <a:off x="3239" y="630"/>
              <a:ext cx="532" cy="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14" name="AutoShape 18"/>
            <p:cNvSpPr>
              <a:spLocks noChangeShapeType="1"/>
            </p:cNvSpPr>
            <p:nvPr/>
          </p:nvSpPr>
          <p:spPr bwMode="auto">
            <a:xfrm flipH="1">
              <a:off x="1619" y="630"/>
              <a:ext cx="350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13" name="AutoShape 17"/>
            <p:cNvSpPr>
              <a:spLocks noChangeShapeType="1"/>
            </p:cNvSpPr>
            <p:nvPr/>
          </p:nvSpPr>
          <p:spPr bwMode="auto">
            <a:xfrm>
              <a:off x="4858" y="631"/>
              <a:ext cx="539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12" name="AutoShape 16"/>
            <p:cNvSpPr>
              <a:spLocks noChangeShapeType="1"/>
            </p:cNvSpPr>
            <p:nvPr/>
          </p:nvSpPr>
          <p:spPr bwMode="auto">
            <a:xfrm>
              <a:off x="6840" y="631"/>
              <a:ext cx="539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11" name="AutoShape 15"/>
            <p:cNvSpPr>
              <a:spLocks noChangeShapeType="1"/>
            </p:cNvSpPr>
            <p:nvPr/>
          </p:nvSpPr>
          <p:spPr bwMode="auto">
            <a:xfrm flipV="1">
              <a:off x="901" y="900"/>
              <a:ext cx="87" cy="349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10" name="AutoShape 14"/>
            <p:cNvSpPr>
              <a:spLocks noChangeShapeType="1"/>
            </p:cNvSpPr>
            <p:nvPr/>
          </p:nvSpPr>
          <p:spPr bwMode="auto">
            <a:xfrm flipV="1">
              <a:off x="900" y="1800"/>
              <a:ext cx="0" cy="35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9" name="AutoShape 13"/>
            <p:cNvSpPr>
              <a:spLocks noChangeShapeType="1"/>
            </p:cNvSpPr>
            <p:nvPr/>
          </p:nvSpPr>
          <p:spPr bwMode="auto">
            <a:xfrm>
              <a:off x="900" y="2699"/>
              <a:ext cx="0" cy="36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8" name="AutoShape 12"/>
            <p:cNvSpPr>
              <a:spLocks noChangeShapeType="1"/>
            </p:cNvSpPr>
            <p:nvPr/>
          </p:nvSpPr>
          <p:spPr bwMode="auto">
            <a:xfrm>
              <a:off x="898" y="3599"/>
              <a:ext cx="0" cy="36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7" name="AutoShape 11"/>
            <p:cNvSpPr>
              <a:spLocks noChangeShapeType="1"/>
            </p:cNvSpPr>
            <p:nvPr/>
          </p:nvSpPr>
          <p:spPr bwMode="auto">
            <a:xfrm>
              <a:off x="4861" y="4230"/>
              <a:ext cx="538" cy="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6" name="AutoShape 10"/>
            <p:cNvSpPr>
              <a:spLocks noChangeShapeType="1"/>
            </p:cNvSpPr>
            <p:nvPr/>
          </p:nvSpPr>
          <p:spPr bwMode="auto">
            <a:xfrm>
              <a:off x="6660" y="4230"/>
              <a:ext cx="534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5" name="AutoShape 9"/>
            <p:cNvSpPr>
              <a:spLocks noChangeShapeType="1"/>
            </p:cNvSpPr>
            <p:nvPr/>
          </p:nvSpPr>
          <p:spPr bwMode="auto">
            <a:xfrm flipH="1">
              <a:off x="3419" y="4230"/>
              <a:ext cx="350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4" name="AutoShape 8"/>
            <p:cNvSpPr>
              <a:spLocks noChangeShapeType="1"/>
            </p:cNvSpPr>
            <p:nvPr/>
          </p:nvSpPr>
          <p:spPr bwMode="auto">
            <a:xfrm flipH="1">
              <a:off x="1527" y="4230"/>
              <a:ext cx="446" cy="1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3" name="AutoShape 7"/>
            <p:cNvSpPr>
              <a:spLocks noChangeShapeType="1"/>
            </p:cNvSpPr>
            <p:nvPr/>
          </p:nvSpPr>
          <p:spPr bwMode="auto">
            <a:xfrm flipH="1">
              <a:off x="3331" y="901"/>
              <a:ext cx="976" cy="1258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2" name="AutoShape 6"/>
            <p:cNvSpPr>
              <a:spLocks noChangeShapeType="1"/>
            </p:cNvSpPr>
            <p:nvPr/>
          </p:nvSpPr>
          <p:spPr bwMode="auto">
            <a:xfrm>
              <a:off x="3331" y="2703"/>
              <a:ext cx="984" cy="1254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1" name="AutoShape 5"/>
            <p:cNvSpPr>
              <a:spLocks noChangeShapeType="1"/>
            </p:cNvSpPr>
            <p:nvPr/>
          </p:nvSpPr>
          <p:spPr bwMode="auto">
            <a:xfrm flipV="1">
              <a:off x="5129" y="2699"/>
              <a:ext cx="1" cy="35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00" name="AutoShape 4"/>
            <p:cNvSpPr>
              <a:spLocks noChangeShapeType="1"/>
            </p:cNvSpPr>
            <p:nvPr/>
          </p:nvSpPr>
          <p:spPr bwMode="auto">
            <a:xfrm flipV="1">
              <a:off x="4320" y="3522"/>
              <a:ext cx="362" cy="430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699" name="AutoShape 3"/>
            <p:cNvSpPr>
              <a:spLocks noChangeShapeType="1"/>
            </p:cNvSpPr>
            <p:nvPr/>
          </p:nvSpPr>
          <p:spPr bwMode="auto">
            <a:xfrm>
              <a:off x="5042" y="1808"/>
              <a:ext cx="82" cy="349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698" name="AutoShape 2"/>
            <p:cNvSpPr>
              <a:spLocks noChangeShapeType="1"/>
            </p:cNvSpPr>
            <p:nvPr/>
          </p:nvSpPr>
          <p:spPr bwMode="auto">
            <a:xfrm>
              <a:off x="4318" y="901"/>
              <a:ext cx="724" cy="357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2552688" cy="8382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1857364"/>
            <a:ext cx="9144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90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	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"The Cicada and the Ant"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		Jean de La Fontaine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(1988)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Cicada, having sung her song 		She said, "I'll pay you everything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All summer long,				Before fall, my word as animal,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Found herself without a crumb		Interest and principal."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When winter winds did come.		Well, no hasty lender is the Ant;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Not a scrap was there to find		It's her finest virtue by a lot.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Of fly or earthworm, any kind.		"And what did you do when it was hot?"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Hungry she ran off to cry		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She then asked this mendicant.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To neighbor Ant, and specify:		"To all comers, night and day,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Asking for a loan of grist,		</a:t>
            </a:r>
            <a:r>
              <a:rPr kumimoji="0" 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 sang. I hope you don't mind."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 seed or two so she'd subsist		"You sang? Why, my joy is unconfined.</a:t>
            </a:r>
            <a:endParaRPr kumimoji="0" lang="ru-RU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190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Just until the coming spring.		Now dance the winter away."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2285674" y="428604"/>
            <a:ext cx="6858326" cy="6429396"/>
            <a:chOff x="-295" y="0"/>
            <a:chExt cx="9289" cy="6294"/>
          </a:xfrm>
          <a:solidFill>
            <a:schemeClr val="bg1"/>
          </a:solidFill>
        </p:grpSpPr>
        <p:sp>
          <p:nvSpPr>
            <p:cNvPr id="31839" name="Rectangle 95"/>
            <p:cNvSpPr>
              <a:spLocks noChangeArrowheads="1"/>
            </p:cNvSpPr>
            <p:nvPr/>
          </p:nvSpPr>
          <p:spPr bwMode="auto">
            <a:xfrm>
              <a:off x="-295" y="0"/>
              <a:ext cx="9289" cy="6294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1747" name="Group 3"/>
            <p:cNvGrpSpPr>
              <a:grpSpLocks/>
            </p:cNvGrpSpPr>
            <p:nvPr/>
          </p:nvGrpSpPr>
          <p:grpSpPr bwMode="auto">
            <a:xfrm>
              <a:off x="359" y="177"/>
              <a:ext cx="8451" cy="5930"/>
              <a:chOff x="359" y="177"/>
              <a:chExt cx="8451" cy="5930"/>
            </a:xfrm>
            <a:grpFill/>
          </p:grpSpPr>
          <p:sp>
            <p:nvSpPr>
              <p:cNvPr id="31838" name="Text Box 94"/>
              <p:cNvSpPr txBox="1">
                <a:spLocks noChangeArrowheads="1"/>
              </p:cNvSpPr>
              <p:nvPr/>
            </p:nvSpPr>
            <p:spPr bwMode="auto">
              <a:xfrm>
                <a:off x="897" y="177"/>
                <a:ext cx="1253" cy="532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Summer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837" name="Text Box 93"/>
              <p:cNvSpPr txBox="1">
                <a:spLocks noChangeArrowheads="1"/>
              </p:cNvSpPr>
              <p:nvPr/>
            </p:nvSpPr>
            <p:spPr bwMode="auto">
              <a:xfrm>
                <a:off x="4135" y="1978"/>
                <a:ext cx="1255" cy="531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The Cicada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34" name="Group 90"/>
              <p:cNvGrpSpPr>
                <a:grpSpLocks/>
              </p:cNvGrpSpPr>
              <p:nvPr/>
            </p:nvGrpSpPr>
            <p:grpSpPr bwMode="auto">
              <a:xfrm>
                <a:off x="4318" y="1078"/>
                <a:ext cx="893" cy="533"/>
                <a:chOff x="4318" y="1078"/>
                <a:chExt cx="893" cy="533"/>
              </a:xfrm>
              <a:grpFill/>
            </p:grpSpPr>
            <p:sp>
              <p:nvSpPr>
                <p:cNvPr id="31836" name="Oval 92"/>
                <p:cNvSpPr>
                  <a:spLocks noChangeArrowheads="1"/>
                </p:cNvSpPr>
                <p:nvPr/>
              </p:nvSpPr>
              <p:spPr bwMode="auto">
                <a:xfrm>
                  <a:off x="4318" y="1078"/>
                  <a:ext cx="893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3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449" y="1155"/>
                  <a:ext cx="627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ERG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831" name="Group 87"/>
              <p:cNvGrpSpPr>
                <a:grpSpLocks/>
              </p:cNvGrpSpPr>
              <p:nvPr/>
            </p:nvGrpSpPr>
            <p:grpSpPr bwMode="auto">
              <a:xfrm>
                <a:off x="2699" y="179"/>
                <a:ext cx="1074" cy="535"/>
                <a:chOff x="2699" y="179"/>
                <a:chExt cx="1074" cy="535"/>
              </a:xfrm>
              <a:grpFill/>
            </p:grpSpPr>
            <p:sp>
              <p:nvSpPr>
                <p:cNvPr id="31833" name="Oval 89"/>
                <p:cNvSpPr>
                  <a:spLocks noChangeArrowheads="1"/>
                </p:cNvSpPr>
                <p:nvPr/>
              </p:nvSpPr>
              <p:spPr bwMode="auto">
                <a:xfrm>
                  <a:off x="2699" y="179"/>
                  <a:ext cx="1074" cy="535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32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2856" y="257"/>
                  <a:ext cx="755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LOC 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830" name="Text Box 86"/>
              <p:cNvSpPr txBox="1">
                <a:spLocks noChangeArrowheads="1"/>
              </p:cNvSpPr>
              <p:nvPr/>
            </p:nvSpPr>
            <p:spPr bwMode="auto">
              <a:xfrm>
                <a:off x="7375" y="1975"/>
                <a:ext cx="1074" cy="5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Hunger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27" name="Group 83"/>
              <p:cNvGrpSpPr>
                <a:grpSpLocks/>
              </p:cNvGrpSpPr>
              <p:nvPr/>
            </p:nvGrpSpPr>
            <p:grpSpPr bwMode="auto">
              <a:xfrm>
                <a:off x="5939" y="1978"/>
                <a:ext cx="896" cy="533"/>
                <a:chOff x="5939" y="1978"/>
                <a:chExt cx="896" cy="533"/>
              </a:xfrm>
              <a:grpFill/>
            </p:grpSpPr>
            <p:sp>
              <p:nvSpPr>
                <p:cNvPr id="31829" name="Oval 85"/>
                <p:cNvSpPr>
                  <a:spLocks noChangeArrowheads="1"/>
                </p:cNvSpPr>
                <p:nvPr/>
              </p:nvSpPr>
              <p:spPr bwMode="auto">
                <a:xfrm>
                  <a:off x="5939" y="1978"/>
                  <a:ext cx="896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28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6069" y="2055"/>
                  <a:ext cx="630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ACC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824" name="Group 80"/>
              <p:cNvGrpSpPr>
                <a:grpSpLocks/>
              </p:cNvGrpSpPr>
              <p:nvPr/>
            </p:nvGrpSpPr>
            <p:grpSpPr bwMode="auto">
              <a:xfrm>
                <a:off x="7378" y="1079"/>
                <a:ext cx="1074" cy="535"/>
                <a:chOff x="7378" y="1079"/>
                <a:chExt cx="1074" cy="535"/>
              </a:xfrm>
              <a:grpFill/>
            </p:grpSpPr>
            <p:sp>
              <p:nvSpPr>
                <p:cNvPr id="31826" name="Oval 82"/>
                <p:cNvSpPr>
                  <a:spLocks noChangeArrowheads="1"/>
                </p:cNvSpPr>
                <p:nvPr/>
              </p:nvSpPr>
              <p:spPr bwMode="auto">
                <a:xfrm>
                  <a:off x="7378" y="1079"/>
                  <a:ext cx="1074" cy="535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25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7535" y="1157"/>
                  <a:ext cx="755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823" name="Text Box 79"/>
              <p:cNvSpPr txBox="1">
                <a:spLocks noChangeArrowheads="1"/>
              </p:cNvSpPr>
              <p:nvPr/>
            </p:nvSpPr>
            <p:spPr bwMode="auto">
              <a:xfrm>
                <a:off x="7376" y="177"/>
                <a:ext cx="1255" cy="533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No food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822" name="Text Box 78"/>
              <p:cNvSpPr txBox="1">
                <a:spLocks noChangeArrowheads="1"/>
              </p:cNvSpPr>
              <p:nvPr/>
            </p:nvSpPr>
            <p:spPr bwMode="auto">
              <a:xfrm>
                <a:off x="7557" y="3955"/>
                <a:ext cx="1253" cy="532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Winter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19" name="Group 75"/>
              <p:cNvGrpSpPr>
                <a:grpSpLocks/>
              </p:cNvGrpSpPr>
              <p:nvPr/>
            </p:nvGrpSpPr>
            <p:grpSpPr bwMode="auto">
              <a:xfrm>
                <a:off x="7559" y="3058"/>
                <a:ext cx="1073" cy="533"/>
                <a:chOff x="7559" y="3058"/>
                <a:chExt cx="1073" cy="533"/>
              </a:xfrm>
              <a:grpFill/>
            </p:grpSpPr>
            <p:sp>
              <p:nvSpPr>
                <p:cNvPr id="31821" name="Oval 77"/>
                <p:cNvSpPr>
                  <a:spLocks noChangeArrowheads="1"/>
                </p:cNvSpPr>
                <p:nvPr/>
              </p:nvSpPr>
              <p:spPr bwMode="auto">
                <a:xfrm>
                  <a:off x="7559" y="3058"/>
                  <a:ext cx="1073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2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7716" y="3135"/>
                  <a:ext cx="755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LOC 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818" name="Text Box 74"/>
              <p:cNvSpPr txBox="1">
                <a:spLocks noChangeArrowheads="1"/>
              </p:cNvSpPr>
              <p:nvPr/>
            </p:nvSpPr>
            <p:spPr bwMode="auto">
              <a:xfrm>
                <a:off x="4496" y="3776"/>
                <a:ext cx="716" cy="52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Go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15" name="Group 71"/>
              <p:cNvGrpSpPr>
                <a:grpSpLocks/>
              </p:cNvGrpSpPr>
              <p:nvPr/>
            </p:nvGrpSpPr>
            <p:grpSpPr bwMode="auto">
              <a:xfrm>
                <a:off x="4318" y="2879"/>
                <a:ext cx="895" cy="529"/>
                <a:chOff x="4318" y="2879"/>
                <a:chExt cx="895" cy="529"/>
              </a:xfrm>
              <a:grpFill/>
            </p:grpSpPr>
            <p:sp>
              <p:nvSpPr>
                <p:cNvPr id="31817" name="Oval 73"/>
                <p:cNvSpPr>
                  <a:spLocks noChangeArrowheads="1"/>
                </p:cNvSpPr>
                <p:nvPr/>
              </p:nvSpPr>
              <p:spPr bwMode="auto">
                <a:xfrm>
                  <a:off x="4318" y="2879"/>
                  <a:ext cx="895" cy="529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16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4449" y="2956"/>
                  <a:ext cx="629" cy="371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ERG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812" name="Group 68"/>
              <p:cNvGrpSpPr>
                <a:grpSpLocks/>
              </p:cNvGrpSpPr>
              <p:nvPr/>
            </p:nvGrpSpPr>
            <p:grpSpPr bwMode="auto">
              <a:xfrm>
                <a:off x="4229" y="4677"/>
                <a:ext cx="1073" cy="535"/>
                <a:chOff x="4229" y="4677"/>
                <a:chExt cx="1073" cy="535"/>
              </a:xfrm>
              <a:grpFill/>
            </p:grpSpPr>
            <p:sp>
              <p:nvSpPr>
                <p:cNvPr id="31814" name="Oval 70"/>
                <p:cNvSpPr>
                  <a:spLocks noChangeArrowheads="1"/>
                </p:cNvSpPr>
                <p:nvPr/>
              </p:nvSpPr>
              <p:spPr bwMode="auto">
                <a:xfrm>
                  <a:off x="4229" y="4677"/>
                  <a:ext cx="1073" cy="535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1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86" y="4755"/>
                  <a:ext cx="755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DAT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811" name="Text Box 67"/>
              <p:cNvSpPr txBox="1">
                <a:spLocks noChangeArrowheads="1"/>
              </p:cNvSpPr>
              <p:nvPr/>
            </p:nvSpPr>
            <p:spPr bwMode="auto">
              <a:xfrm>
                <a:off x="4135" y="5573"/>
                <a:ext cx="1255" cy="532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The Ant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08" name="Group 64"/>
              <p:cNvGrpSpPr>
                <a:grpSpLocks/>
              </p:cNvGrpSpPr>
              <p:nvPr/>
            </p:nvGrpSpPr>
            <p:grpSpPr bwMode="auto">
              <a:xfrm>
                <a:off x="5939" y="2879"/>
                <a:ext cx="896" cy="535"/>
                <a:chOff x="5939" y="2879"/>
                <a:chExt cx="896" cy="535"/>
              </a:xfrm>
              <a:grpFill/>
            </p:grpSpPr>
            <p:sp>
              <p:nvSpPr>
                <p:cNvPr id="31810" name="Oval 66"/>
                <p:cNvSpPr>
                  <a:spLocks noChangeArrowheads="1"/>
                </p:cNvSpPr>
                <p:nvPr/>
              </p:nvSpPr>
              <p:spPr bwMode="auto">
                <a:xfrm>
                  <a:off x="5939" y="2879"/>
                  <a:ext cx="896" cy="535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0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6069" y="2957"/>
                  <a:ext cx="630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805" name="Group 61"/>
              <p:cNvGrpSpPr>
                <a:grpSpLocks/>
              </p:cNvGrpSpPr>
              <p:nvPr/>
            </p:nvGrpSpPr>
            <p:grpSpPr bwMode="auto">
              <a:xfrm>
                <a:off x="5759" y="4677"/>
                <a:ext cx="1074" cy="535"/>
                <a:chOff x="5759" y="4677"/>
                <a:chExt cx="1074" cy="535"/>
              </a:xfrm>
              <a:grpFill/>
            </p:grpSpPr>
            <p:sp>
              <p:nvSpPr>
                <p:cNvPr id="31807" name="Oval 63"/>
                <p:cNvSpPr>
                  <a:spLocks noChangeArrowheads="1"/>
                </p:cNvSpPr>
                <p:nvPr/>
              </p:nvSpPr>
              <p:spPr bwMode="auto">
                <a:xfrm>
                  <a:off x="5759" y="4677"/>
                  <a:ext cx="1074" cy="535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0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5916" y="4755"/>
                  <a:ext cx="755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FIN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804" name="Text Box 60"/>
              <p:cNvSpPr txBox="1">
                <a:spLocks noChangeArrowheads="1"/>
              </p:cNvSpPr>
              <p:nvPr/>
            </p:nvSpPr>
            <p:spPr bwMode="auto">
              <a:xfrm>
                <a:off x="5937" y="5574"/>
                <a:ext cx="1255" cy="533"/>
              </a:xfrm>
              <a:prstGeom prst="rect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Food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803" name="Text Box 59"/>
              <p:cNvSpPr txBox="1">
                <a:spLocks noChangeArrowheads="1"/>
              </p:cNvSpPr>
              <p:nvPr/>
            </p:nvSpPr>
            <p:spPr bwMode="auto">
              <a:xfrm>
                <a:off x="1435" y="3775"/>
                <a:ext cx="892" cy="5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Offer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800" name="Group 56"/>
              <p:cNvGrpSpPr>
                <a:grpSpLocks/>
              </p:cNvGrpSpPr>
              <p:nvPr/>
            </p:nvGrpSpPr>
            <p:grpSpPr bwMode="auto">
              <a:xfrm>
                <a:off x="2879" y="4677"/>
                <a:ext cx="896" cy="531"/>
                <a:chOff x="2879" y="4677"/>
                <a:chExt cx="896" cy="531"/>
              </a:xfrm>
              <a:grpFill/>
            </p:grpSpPr>
            <p:sp>
              <p:nvSpPr>
                <p:cNvPr id="31802" name="Oval 58"/>
                <p:cNvSpPr>
                  <a:spLocks noChangeArrowheads="1"/>
                </p:cNvSpPr>
                <p:nvPr/>
              </p:nvSpPr>
              <p:spPr bwMode="auto">
                <a:xfrm>
                  <a:off x="2879" y="4677"/>
                  <a:ext cx="896" cy="531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801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3009" y="4754"/>
                  <a:ext cx="630" cy="373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ERG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797" name="Group 53"/>
              <p:cNvGrpSpPr>
                <a:grpSpLocks/>
              </p:cNvGrpSpPr>
              <p:nvPr/>
            </p:nvGrpSpPr>
            <p:grpSpPr bwMode="auto">
              <a:xfrm>
                <a:off x="2879" y="2697"/>
                <a:ext cx="896" cy="531"/>
                <a:chOff x="2879" y="2697"/>
                <a:chExt cx="896" cy="531"/>
              </a:xfrm>
              <a:grpFill/>
            </p:grpSpPr>
            <p:sp>
              <p:nvSpPr>
                <p:cNvPr id="31799" name="Oval 55"/>
                <p:cNvSpPr>
                  <a:spLocks noChangeArrowheads="1"/>
                </p:cNvSpPr>
                <p:nvPr/>
              </p:nvSpPr>
              <p:spPr bwMode="auto">
                <a:xfrm>
                  <a:off x="2879" y="2697"/>
                  <a:ext cx="896" cy="531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98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009" y="2774"/>
                  <a:ext cx="630" cy="373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ACC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796" name="Text Box 52"/>
              <p:cNvSpPr txBox="1">
                <a:spLocks noChangeArrowheads="1"/>
              </p:cNvSpPr>
              <p:nvPr/>
            </p:nvSpPr>
            <p:spPr bwMode="auto">
              <a:xfrm>
                <a:off x="538" y="1975"/>
                <a:ext cx="889" cy="5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Dance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1793" name="Group 49"/>
              <p:cNvGrpSpPr>
                <a:grpSpLocks/>
              </p:cNvGrpSpPr>
              <p:nvPr/>
            </p:nvGrpSpPr>
            <p:grpSpPr bwMode="auto">
              <a:xfrm>
                <a:off x="359" y="2879"/>
                <a:ext cx="1074" cy="538"/>
                <a:chOff x="359" y="2879"/>
                <a:chExt cx="1074" cy="538"/>
              </a:xfrm>
              <a:grpFill/>
            </p:grpSpPr>
            <p:sp>
              <p:nvSpPr>
                <p:cNvPr id="31795" name="Oval 51"/>
                <p:cNvSpPr>
                  <a:spLocks noChangeArrowheads="1"/>
                </p:cNvSpPr>
                <p:nvPr/>
              </p:nvSpPr>
              <p:spPr bwMode="auto">
                <a:xfrm>
                  <a:off x="359" y="2879"/>
                  <a:ext cx="1074" cy="538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9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516" y="2956"/>
                  <a:ext cx="755" cy="378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FIN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790" name="Group 46"/>
              <p:cNvGrpSpPr>
                <a:grpSpLocks/>
              </p:cNvGrpSpPr>
              <p:nvPr/>
            </p:nvGrpSpPr>
            <p:grpSpPr bwMode="auto">
              <a:xfrm>
                <a:off x="1799" y="1978"/>
                <a:ext cx="892" cy="536"/>
                <a:chOff x="1799" y="1978"/>
                <a:chExt cx="892" cy="536"/>
              </a:xfrm>
              <a:grpFill/>
            </p:grpSpPr>
            <p:sp>
              <p:nvSpPr>
                <p:cNvPr id="31792" name="Oval 48"/>
                <p:cNvSpPr>
                  <a:spLocks noChangeArrowheads="1"/>
                </p:cNvSpPr>
                <p:nvPr/>
              </p:nvSpPr>
              <p:spPr bwMode="auto">
                <a:xfrm>
                  <a:off x="1799" y="1978"/>
                  <a:ext cx="892" cy="536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9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929" y="2055"/>
                  <a:ext cx="626" cy="376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ERG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787" name="Group 43"/>
              <p:cNvGrpSpPr>
                <a:grpSpLocks/>
              </p:cNvGrpSpPr>
              <p:nvPr/>
            </p:nvGrpSpPr>
            <p:grpSpPr bwMode="auto">
              <a:xfrm>
                <a:off x="2879" y="3778"/>
                <a:ext cx="896" cy="533"/>
                <a:chOff x="2879" y="3778"/>
                <a:chExt cx="896" cy="533"/>
              </a:xfrm>
              <a:grpFill/>
            </p:grpSpPr>
            <p:sp>
              <p:nvSpPr>
                <p:cNvPr id="31789" name="Oval 45"/>
                <p:cNvSpPr>
                  <a:spLocks noChangeArrowheads="1"/>
                </p:cNvSpPr>
                <p:nvPr/>
              </p:nvSpPr>
              <p:spPr bwMode="auto">
                <a:xfrm>
                  <a:off x="2879" y="3778"/>
                  <a:ext cx="896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8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009" y="3855"/>
                  <a:ext cx="630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784" name="Group 40"/>
              <p:cNvGrpSpPr>
                <a:grpSpLocks/>
              </p:cNvGrpSpPr>
              <p:nvPr/>
            </p:nvGrpSpPr>
            <p:grpSpPr bwMode="auto">
              <a:xfrm>
                <a:off x="3059" y="1259"/>
                <a:ext cx="896" cy="533"/>
                <a:chOff x="3059" y="1259"/>
                <a:chExt cx="896" cy="533"/>
              </a:xfrm>
              <a:grpFill/>
            </p:grpSpPr>
            <p:sp>
              <p:nvSpPr>
                <p:cNvPr id="31786" name="Oval 42"/>
                <p:cNvSpPr>
                  <a:spLocks noChangeArrowheads="1"/>
                </p:cNvSpPr>
                <p:nvPr/>
              </p:nvSpPr>
              <p:spPr bwMode="auto">
                <a:xfrm>
                  <a:off x="3059" y="1259"/>
                  <a:ext cx="896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8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189" y="1336"/>
                  <a:ext cx="630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1781" name="Group 37"/>
              <p:cNvGrpSpPr>
                <a:grpSpLocks/>
              </p:cNvGrpSpPr>
              <p:nvPr/>
            </p:nvGrpSpPr>
            <p:grpSpPr bwMode="auto">
              <a:xfrm>
                <a:off x="5759" y="179"/>
                <a:ext cx="1072" cy="533"/>
                <a:chOff x="5759" y="179"/>
                <a:chExt cx="1072" cy="533"/>
              </a:xfrm>
              <a:grpFill/>
            </p:grpSpPr>
            <p:sp>
              <p:nvSpPr>
                <p:cNvPr id="31783" name="Oval 39"/>
                <p:cNvSpPr>
                  <a:spLocks noChangeArrowheads="1"/>
                </p:cNvSpPr>
                <p:nvPr/>
              </p:nvSpPr>
              <p:spPr bwMode="auto">
                <a:xfrm>
                  <a:off x="5759" y="179"/>
                  <a:ext cx="1072" cy="533"/>
                </a:xfrm>
                <a:prstGeom prst="ellipse">
                  <a:avLst/>
                </a:prstGeom>
                <a:grpFill/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78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5915" y="256"/>
                  <a:ext cx="754" cy="375"/>
                </a:xfrm>
                <a:prstGeom prst="rect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RES</a:t>
                  </a:r>
                  <a:endParaRPr kumimoji="0" 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1780" name="Text Box 36"/>
              <p:cNvSpPr txBox="1">
                <a:spLocks noChangeArrowheads="1"/>
              </p:cNvSpPr>
              <p:nvPr/>
            </p:nvSpPr>
            <p:spPr bwMode="auto">
              <a:xfrm>
                <a:off x="4316" y="179"/>
                <a:ext cx="805" cy="52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Sing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779" name="AutoShape 35"/>
              <p:cNvSpPr>
                <a:spLocks noChangeShapeType="1"/>
              </p:cNvSpPr>
              <p:nvPr/>
            </p:nvSpPr>
            <p:spPr bwMode="auto">
              <a:xfrm flipH="1">
                <a:off x="3779" y="449"/>
                <a:ext cx="529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8" name="AutoShape 34"/>
              <p:cNvSpPr>
                <a:spLocks noChangeShapeType="1"/>
              </p:cNvSpPr>
              <p:nvPr/>
            </p:nvSpPr>
            <p:spPr bwMode="auto">
              <a:xfrm flipH="1">
                <a:off x="2157" y="449"/>
                <a:ext cx="531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7" name="AutoShape 33"/>
              <p:cNvSpPr>
                <a:spLocks noChangeShapeType="1"/>
              </p:cNvSpPr>
              <p:nvPr/>
            </p:nvSpPr>
            <p:spPr bwMode="auto">
              <a:xfrm>
                <a:off x="5129" y="447"/>
                <a:ext cx="628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6" name="AutoShape 32"/>
              <p:cNvSpPr>
                <a:spLocks noChangeShapeType="1"/>
              </p:cNvSpPr>
              <p:nvPr/>
            </p:nvSpPr>
            <p:spPr bwMode="auto">
              <a:xfrm>
                <a:off x="6836" y="449"/>
                <a:ext cx="539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5" name="AutoShape 31"/>
              <p:cNvSpPr>
                <a:spLocks noChangeShapeType="1"/>
              </p:cNvSpPr>
              <p:nvPr/>
            </p:nvSpPr>
            <p:spPr bwMode="auto">
              <a:xfrm>
                <a:off x="4724" y="716"/>
                <a:ext cx="42" cy="36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4" name="AutoShape 30"/>
              <p:cNvSpPr>
                <a:spLocks noChangeShapeType="1"/>
              </p:cNvSpPr>
              <p:nvPr/>
            </p:nvSpPr>
            <p:spPr bwMode="auto">
              <a:xfrm>
                <a:off x="4767" y="1616"/>
                <a:ext cx="1" cy="363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3" name="AutoShape 29"/>
              <p:cNvSpPr>
                <a:spLocks noChangeShapeType="1"/>
              </p:cNvSpPr>
              <p:nvPr/>
            </p:nvSpPr>
            <p:spPr bwMode="auto">
              <a:xfrm flipH="1">
                <a:off x="7918" y="717"/>
                <a:ext cx="83" cy="36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2" name="AutoShape 28"/>
              <p:cNvSpPr>
                <a:spLocks noChangeShapeType="1"/>
              </p:cNvSpPr>
              <p:nvPr/>
            </p:nvSpPr>
            <p:spPr bwMode="auto">
              <a:xfrm>
                <a:off x="7918" y="1619"/>
                <a:ext cx="1" cy="356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1" name="AutoShape 27"/>
              <p:cNvSpPr>
                <a:spLocks noChangeShapeType="1"/>
              </p:cNvSpPr>
              <p:nvPr/>
            </p:nvSpPr>
            <p:spPr bwMode="auto">
              <a:xfrm flipH="1">
                <a:off x="6840" y="2247"/>
                <a:ext cx="529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70" name="AutoShape 26"/>
              <p:cNvSpPr>
                <a:spLocks noChangeShapeType="1"/>
              </p:cNvSpPr>
              <p:nvPr/>
            </p:nvSpPr>
            <p:spPr bwMode="auto">
              <a:xfrm flipH="1">
                <a:off x="5398" y="2247"/>
                <a:ext cx="534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9" name="AutoShape 25"/>
              <p:cNvSpPr>
                <a:spLocks noChangeShapeType="1"/>
              </p:cNvSpPr>
              <p:nvPr/>
            </p:nvSpPr>
            <p:spPr bwMode="auto">
              <a:xfrm flipH="1">
                <a:off x="3827" y="716"/>
                <a:ext cx="890" cy="62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8" name="AutoShape 24"/>
              <p:cNvSpPr>
                <a:spLocks noChangeShapeType="1"/>
              </p:cNvSpPr>
              <p:nvPr/>
            </p:nvSpPr>
            <p:spPr bwMode="auto">
              <a:xfrm flipH="1">
                <a:off x="1887" y="1719"/>
                <a:ext cx="1299" cy="2059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7" name="AutoShape 23"/>
              <p:cNvSpPr>
                <a:spLocks noChangeShapeType="1"/>
              </p:cNvSpPr>
              <p:nvPr/>
            </p:nvSpPr>
            <p:spPr bwMode="auto">
              <a:xfrm flipH="1" flipV="1">
                <a:off x="4768" y="3414"/>
                <a:ext cx="85" cy="35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6" name="AutoShape 22"/>
              <p:cNvSpPr>
                <a:spLocks noChangeShapeType="1"/>
              </p:cNvSpPr>
              <p:nvPr/>
            </p:nvSpPr>
            <p:spPr bwMode="auto">
              <a:xfrm flipV="1">
                <a:off x="4767" y="2516"/>
                <a:ext cx="0" cy="35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5" name="AutoShape 21"/>
              <p:cNvSpPr>
                <a:spLocks noChangeShapeType="1"/>
              </p:cNvSpPr>
              <p:nvPr/>
            </p:nvSpPr>
            <p:spPr bwMode="auto">
              <a:xfrm flipH="1">
                <a:off x="6707" y="2247"/>
                <a:ext cx="663" cy="71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4" name="AutoShape 20"/>
              <p:cNvSpPr>
                <a:spLocks noChangeShapeType="1"/>
              </p:cNvSpPr>
              <p:nvPr/>
            </p:nvSpPr>
            <p:spPr bwMode="auto">
              <a:xfrm flipH="1">
                <a:off x="5221" y="3340"/>
                <a:ext cx="843" cy="705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3" name="AutoShape 19"/>
              <p:cNvSpPr>
                <a:spLocks noChangeShapeType="1"/>
              </p:cNvSpPr>
              <p:nvPr/>
            </p:nvSpPr>
            <p:spPr bwMode="auto">
              <a:xfrm flipH="1">
                <a:off x="3780" y="4045"/>
                <a:ext cx="709" cy="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2" name="AutoShape 18"/>
              <p:cNvSpPr>
                <a:spLocks noChangeShapeType="1"/>
              </p:cNvSpPr>
              <p:nvPr/>
            </p:nvSpPr>
            <p:spPr bwMode="auto">
              <a:xfrm flipH="1">
                <a:off x="2336" y="4047"/>
                <a:ext cx="536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1" name="AutoShape 17"/>
              <p:cNvSpPr>
                <a:spLocks noChangeShapeType="1"/>
              </p:cNvSpPr>
              <p:nvPr/>
            </p:nvSpPr>
            <p:spPr bwMode="auto">
              <a:xfrm flipV="1">
                <a:off x="1888" y="3154"/>
                <a:ext cx="1121" cy="618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60" name="AutoShape 16"/>
              <p:cNvSpPr>
                <a:spLocks noChangeShapeType="1"/>
              </p:cNvSpPr>
              <p:nvPr/>
            </p:nvSpPr>
            <p:spPr bwMode="auto">
              <a:xfrm flipV="1">
                <a:off x="3649" y="2247"/>
                <a:ext cx="488" cy="523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9" name="AutoShape 15"/>
              <p:cNvSpPr>
                <a:spLocks noChangeShapeType="1"/>
              </p:cNvSpPr>
              <p:nvPr/>
            </p:nvSpPr>
            <p:spPr bwMode="auto">
              <a:xfrm>
                <a:off x="1434" y="2247"/>
                <a:ext cx="364" cy="2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8" name="AutoShape 14"/>
              <p:cNvSpPr>
                <a:spLocks noChangeShapeType="1"/>
              </p:cNvSpPr>
              <p:nvPr/>
            </p:nvSpPr>
            <p:spPr bwMode="auto">
              <a:xfrm>
                <a:off x="2697" y="2247"/>
                <a:ext cx="1440" cy="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7" name="AutoShape 13"/>
              <p:cNvSpPr>
                <a:spLocks noChangeShapeType="1"/>
              </p:cNvSpPr>
              <p:nvPr/>
            </p:nvSpPr>
            <p:spPr bwMode="auto">
              <a:xfrm flipH="1" flipV="1">
                <a:off x="899" y="3423"/>
                <a:ext cx="529" cy="61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6" name="AutoShape 12"/>
              <p:cNvSpPr>
                <a:spLocks noChangeShapeType="1"/>
              </p:cNvSpPr>
              <p:nvPr/>
            </p:nvSpPr>
            <p:spPr bwMode="auto">
              <a:xfrm flipV="1">
                <a:off x="899" y="2516"/>
                <a:ext cx="89" cy="35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5" name="AutoShape 11"/>
              <p:cNvSpPr>
                <a:spLocks noChangeShapeType="1"/>
              </p:cNvSpPr>
              <p:nvPr/>
            </p:nvSpPr>
            <p:spPr bwMode="auto">
              <a:xfrm>
                <a:off x="1888" y="4315"/>
                <a:ext cx="1121" cy="44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4" name="AutoShape 10"/>
              <p:cNvSpPr>
                <a:spLocks noChangeShapeType="1"/>
              </p:cNvSpPr>
              <p:nvPr/>
            </p:nvSpPr>
            <p:spPr bwMode="auto">
              <a:xfrm>
                <a:off x="3330" y="5213"/>
                <a:ext cx="805" cy="631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3" name="AutoShape 9"/>
              <p:cNvSpPr>
                <a:spLocks noChangeShapeType="1"/>
              </p:cNvSpPr>
              <p:nvPr/>
            </p:nvSpPr>
            <p:spPr bwMode="auto">
              <a:xfrm flipH="1">
                <a:off x="4768" y="4313"/>
                <a:ext cx="85" cy="36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2" name="AutoShape 8"/>
              <p:cNvSpPr>
                <a:spLocks noChangeShapeType="1"/>
              </p:cNvSpPr>
              <p:nvPr/>
            </p:nvSpPr>
            <p:spPr bwMode="auto">
              <a:xfrm>
                <a:off x="4767" y="5217"/>
                <a:ext cx="0" cy="358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1" name="AutoShape 7"/>
              <p:cNvSpPr>
                <a:spLocks noChangeShapeType="1"/>
              </p:cNvSpPr>
              <p:nvPr/>
            </p:nvSpPr>
            <p:spPr bwMode="auto">
              <a:xfrm>
                <a:off x="4860" y="4313"/>
                <a:ext cx="1433" cy="364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50" name="AutoShape 6"/>
              <p:cNvSpPr>
                <a:spLocks noChangeShapeType="1"/>
              </p:cNvSpPr>
              <p:nvPr/>
            </p:nvSpPr>
            <p:spPr bwMode="auto">
              <a:xfrm>
                <a:off x="6298" y="5217"/>
                <a:ext cx="271" cy="358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49" name="AutoShape 5"/>
              <p:cNvSpPr>
                <a:spLocks noChangeShapeType="1"/>
              </p:cNvSpPr>
              <p:nvPr/>
            </p:nvSpPr>
            <p:spPr bwMode="auto">
              <a:xfrm>
                <a:off x="7918" y="2516"/>
                <a:ext cx="179" cy="542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748" name="AutoShape 4"/>
              <p:cNvSpPr>
                <a:spLocks noChangeShapeType="1"/>
              </p:cNvSpPr>
              <p:nvPr/>
            </p:nvSpPr>
            <p:spPr bwMode="auto">
              <a:xfrm>
                <a:off x="8098" y="3597"/>
                <a:ext cx="90" cy="360"/>
              </a:xfrm>
              <a:prstGeom prst="straightConnector1">
                <a:avLst/>
              </a:prstGeom>
              <a:grp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8206DE03-4AC3-48B9-A798-C734433159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575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2552688" cy="8382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problems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2769" name="Group 1"/>
          <p:cNvGrpSpPr>
            <a:grpSpLocks/>
          </p:cNvGrpSpPr>
          <p:nvPr/>
        </p:nvGrpSpPr>
        <p:grpSpPr bwMode="auto">
          <a:xfrm>
            <a:off x="285720" y="1142984"/>
            <a:ext cx="8501122" cy="1357322"/>
            <a:chOff x="0" y="0"/>
            <a:chExt cx="9354" cy="1074"/>
          </a:xfrm>
        </p:grpSpPr>
        <p:sp>
          <p:nvSpPr>
            <p:cNvPr id="32784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9354" cy="10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2770" name="Group 2"/>
            <p:cNvGrpSpPr>
              <a:grpSpLocks/>
            </p:cNvGrpSpPr>
            <p:nvPr/>
          </p:nvGrpSpPr>
          <p:grpSpPr bwMode="auto">
            <a:xfrm>
              <a:off x="179" y="175"/>
              <a:ext cx="8813" cy="722"/>
              <a:chOff x="179" y="175"/>
              <a:chExt cx="8813" cy="722"/>
            </a:xfrm>
          </p:grpSpPr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5755" y="175"/>
                <a:ext cx="1948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can</a:t>
                </a: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780" name="Group 12"/>
              <p:cNvGrpSpPr>
                <a:grpSpLocks/>
              </p:cNvGrpSpPr>
              <p:nvPr/>
            </p:nvGrpSpPr>
            <p:grpSpPr bwMode="auto">
              <a:xfrm>
                <a:off x="179" y="357"/>
                <a:ext cx="2693" cy="535"/>
                <a:chOff x="179" y="357"/>
                <a:chExt cx="2693" cy="535"/>
              </a:xfrm>
            </p:grpSpPr>
            <p:sp>
              <p:nvSpPr>
                <p:cNvPr id="32782" name="Oval 14"/>
                <p:cNvSpPr>
                  <a:spLocks noChangeArrowheads="1"/>
                </p:cNvSpPr>
                <p:nvPr/>
              </p:nvSpPr>
              <p:spPr bwMode="auto">
                <a:xfrm>
                  <a:off x="179" y="357"/>
                  <a:ext cx="2693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78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76" y="435"/>
                  <a:ext cx="1895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ru-RU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Т</a:t>
                  </a: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u</a:t>
                  </a:r>
                  <a:r>
                    <a:rPr kumimoji="0" lang="ru-RU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-154 </a:t>
                  </a: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#</a:t>
                  </a:r>
                  <a:r>
                    <a:rPr kumimoji="0" lang="ru-RU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 85600</a:t>
                  </a:r>
                  <a:endParaRPr kumimoji="0" lang="ru-RU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2777" name="Group 9"/>
              <p:cNvGrpSpPr>
                <a:grpSpLocks/>
              </p:cNvGrpSpPr>
              <p:nvPr/>
            </p:nvGrpSpPr>
            <p:grpSpPr bwMode="auto">
              <a:xfrm>
                <a:off x="7738" y="357"/>
                <a:ext cx="1254" cy="540"/>
                <a:chOff x="7738" y="357"/>
                <a:chExt cx="1254" cy="540"/>
              </a:xfrm>
            </p:grpSpPr>
            <p:sp>
              <p:nvSpPr>
                <p:cNvPr id="32779" name="Oval 11"/>
                <p:cNvSpPr>
                  <a:spLocks noChangeArrowheads="1"/>
                </p:cNvSpPr>
                <p:nvPr/>
              </p:nvSpPr>
              <p:spPr bwMode="auto">
                <a:xfrm>
                  <a:off x="7738" y="357"/>
                  <a:ext cx="1254" cy="540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77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921" y="434"/>
                  <a:ext cx="882" cy="380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fly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2774" name="Group 6"/>
              <p:cNvGrpSpPr>
                <a:grpSpLocks/>
              </p:cNvGrpSpPr>
              <p:nvPr/>
            </p:nvGrpSpPr>
            <p:grpSpPr bwMode="auto">
              <a:xfrm>
                <a:off x="4138" y="359"/>
                <a:ext cx="1435" cy="535"/>
                <a:chOff x="4138" y="359"/>
                <a:chExt cx="1435" cy="535"/>
              </a:xfrm>
            </p:grpSpPr>
            <p:sp>
              <p:nvSpPr>
                <p:cNvPr id="32776" name="Oval 8"/>
                <p:cNvSpPr>
                  <a:spLocks noChangeArrowheads="1"/>
                </p:cNvSpPr>
                <p:nvPr/>
              </p:nvSpPr>
              <p:spPr bwMode="auto">
                <a:xfrm>
                  <a:off x="4138" y="359"/>
                  <a:ext cx="1435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77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245" y="437"/>
                  <a:ext cx="1258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Aircrafts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2773" name="AutoShape 5"/>
              <p:cNvSpPr>
                <a:spLocks noChangeShapeType="1"/>
              </p:cNvSpPr>
              <p:nvPr/>
            </p:nvSpPr>
            <p:spPr bwMode="auto">
              <a:xfrm>
                <a:off x="2877" y="628"/>
                <a:ext cx="1258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2772" name="AutoShape 4"/>
              <p:cNvSpPr>
                <a:spLocks noChangeShapeType="1"/>
              </p:cNvSpPr>
              <p:nvPr/>
            </p:nvSpPr>
            <p:spPr bwMode="auto">
              <a:xfrm>
                <a:off x="5578" y="628"/>
                <a:ext cx="2157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2771" name="Text Box 3"/>
              <p:cNvSpPr txBox="1">
                <a:spLocks noChangeArrowheads="1"/>
              </p:cNvSpPr>
              <p:nvPr/>
            </p:nvSpPr>
            <p:spPr bwMode="auto">
              <a:xfrm>
                <a:off x="2987" y="226"/>
                <a:ext cx="1076" cy="41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IS A</a:t>
                </a: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857224" y="2428868"/>
            <a:ext cx="7143800" cy="1571636"/>
            <a:chOff x="0" y="0"/>
            <a:chExt cx="7374" cy="1077"/>
          </a:xfrm>
        </p:grpSpPr>
        <p:sp>
          <p:nvSpPr>
            <p:cNvPr id="32801" name="Rectangle 33"/>
            <p:cNvSpPr>
              <a:spLocks noChangeArrowheads="1"/>
            </p:cNvSpPr>
            <p:nvPr/>
          </p:nvSpPr>
          <p:spPr bwMode="auto">
            <a:xfrm>
              <a:off x="0" y="3"/>
              <a:ext cx="7374" cy="107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2792" name="Group 24"/>
            <p:cNvGrpSpPr>
              <a:grpSpLocks/>
            </p:cNvGrpSpPr>
            <p:nvPr/>
          </p:nvGrpSpPr>
          <p:grpSpPr bwMode="auto">
            <a:xfrm>
              <a:off x="179" y="0"/>
              <a:ext cx="6833" cy="722"/>
              <a:chOff x="179" y="0"/>
              <a:chExt cx="6833" cy="722"/>
            </a:xfrm>
          </p:grpSpPr>
          <p:sp>
            <p:nvSpPr>
              <p:cNvPr id="32800" name="Text Box 32"/>
              <p:cNvSpPr txBox="1">
                <a:spLocks noChangeArrowheads="1"/>
              </p:cNvSpPr>
              <p:nvPr/>
            </p:nvSpPr>
            <p:spPr bwMode="auto">
              <a:xfrm>
                <a:off x="3416" y="0"/>
                <a:ext cx="1794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can</a:t>
                </a:r>
                <a:endParaRPr kumimoji="0" lang="ru-RU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797" name="Group 29"/>
              <p:cNvGrpSpPr>
                <a:grpSpLocks/>
              </p:cNvGrpSpPr>
              <p:nvPr/>
            </p:nvGrpSpPr>
            <p:grpSpPr bwMode="auto">
              <a:xfrm>
                <a:off x="179" y="184"/>
                <a:ext cx="2693" cy="535"/>
                <a:chOff x="179" y="184"/>
                <a:chExt cx="2693" cy="535"/>
              </a:xfrm>
            </p:grpSpPr>
            <p:sp>
              <p:nvSpPr>
                <p:cNvPr id="32799" name="Oval 31"/>
                <p:cNvSpPr>
                  <a:spLocks noChangeArrowheads="1"/>
                </p:cNvSpPr>
                <p:nvPr/>
              </p:nvSpPr>
              <p:spPr bwMode="auto">
                <a:xfrm>
                  <a:off x="179" y="184"/>
                  <a:ext cx="2693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79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576" y="262"/>
                  <a:ext cx="1895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ru-RU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Ту-154 </a:t>
                  </a: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#</a:t>
                  </a:r>
                  <a:r>
                    <a:rPr kumimoji="0" lang="ru-RU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 85600</a:t>
                  </a:r>
                  <a:endParaRPr kumimoji="0" lang="ru-RU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2794" name="Group 26"/>
              <p:cNvGrpSpPr>
                <a:grpSpLocks/>
              </p:cNvGrpSpPr>
              <p:nvPr/>
            </p:nvGrpSpPr>
            <p:grpSpPr bwMode="auto">
              <a:xfrm>
                <a:off x="5758" y="182"/>
                <a:ext cx="1254" cy="540"/>
                <a:chOff x="5758" y="182"/>
                <a:chExt cx="1254" cy="540"/>
              </a:xfrm>
            </p:grpSpPr>
            <p:sp>
              <p:nvSpPr>
                <p:cNvPr id="32796" name="Oval 28"/>
                <p:cNvSpPr>
                  <a:spLocks noChangeArrowheads="1"/>
                </p:cNvSpPr>
                <p:nvPr/>
              </p:nvSpPr>
              <p:spPr bwMode="auto">
                <a:xfrm>
                  <a:off x="5758" y="182"/>
                  <a:ext cx="1254" cy="540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79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941" y="259"/>
                  <a:ext cx="882" cy="380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fly</a:t>
                  </a:r>
                  <a:endParaRPr kumimoji="0" lang="ru-RU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2793" name="AutoShape 25"/>
              <p:cNvSpPr>
                <a:spLocks noChangeShapeType="1"/>
              </p:cNvSpPr>
              <p:nvPr/>
            </p:nvSpPr>
            <p:spPr bwMode="auto">
              <a:xfrm>
                <a:off x="2877" y="455"/>
                <a:ext cx="2880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2806" name="Group 38"/>
          <p:cNvGrpSpPr>
            <a:grpSpLocks/>
          </p:cNvGrpSpPr>
          <p:nvPr/>
        </p:nvGrpSpPr>
        <p:grpSpPr bwMode="auto">
          <a:xfrm>
            <a:off x="1071538" y="4004805"/>
            <a:ext cx="7143800" cy="1281583"/>
            <a:chOff x="0" y="3"/>
            <a:chExt cx="9534" cy="894"/>
          </a:xfrm>
        </p:grpSpPr>
        <p:sp>
          <p:nvSpPr>
            <p:cNvPr id="32821" name="Rectangle 53"/>
            <p:cNvSpPr>
              <a:spLocks noChangeArrowheads="1"/>
            </p:cNvSpPr>
            <p:nvPr/>
          </p:nvSpPr>
          <p:spPr bwMode="auto">
            <a:xfrm>
              <a:off x="0" y="3"/>
              <a:ext cx="9534" cy="8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2807" name="Group 39"/>
            <p:cNvGrpSpPr>
              <a:grpSpLocks/>
            </p:cNvGrpSpPr>
            <p:nvPr/>
          </p:nvGrpSpPr>
          <p:grpSpPr bwMode="auto">
            <a:xfrm>
              <a:off x="179" y="100"/>
              <a:ext cx="9174" cy="617"/>
              <a:chOff x="179" y="100"/>
              <a:chExt cx="9174" cy="617"/>
            </a:xfrm>
          </p:grpSpPr>
          <p:sp>
            <p:nvSpPr>
              <p:cNvPr id="32820" name="Text Box 52"/>
              <p:cNvSpPr txBox="1">
                <a:spLocks noChangeArrowheads="1"/>
              </p:cNvSpPr>
              <p:nvPr/>
            </p:nvSpPr>
            <p:spPr bwMode="auto">
              <a:xfrm>
                <a:off x="4290" y="100"/>
                <a:ext cx="2860" cy="53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Have property</a:t>
                </a:r>
                <a:endParaRPr kumimoji="0" lang="ru-RU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817" name="Group 49"/>
              <p:cNvGrpSpPr>
                <a:grpSpLocks/>
              </p:cNvGrpSpPr>
              <p:nvPr/>
            </p:nvGrpSpPr>
            <p:grpSpPr bwMode="auto">
              <a:xfrm>
                <a:off x="179" y="182"/>
                <a:ext cx="1614" cy="535"/>
                <a:chOff x="179" y="182"/>
                <a:chExt cx="1614" cy="535"/>
              </a:xfrm>
            </p:grpSpPr>
            <p:sp>
              <p:nvSpPr>
                <p:cNvPr id="32819" name="Oval 51"/>
                <p:cNvSpPr>
                  <a:spLocks noChangeArrowheads="1"/>
                </p:cNvSpPr>
                <p:nvPr/>
              </p:nvSpPr>
              <p:spPr bwMode="auto">
                <a:xfrm>
                  <a:off x="179" y="182"/>
                  <a:ext cx="1614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818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16" y="260"/>
                  <a:ext cx="1135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Socrates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2816" name="Text Box 48"/>
              <p:cNvSpPr txBox="1">
                <a:spLocks noChangeArrowheads="1"/>
              </p:cNvSpPr>
              <p:nvPr/>
            </p:nvSpPr>
            <p:spPr bwMode="auto">
              <a:xfrm>
                <a:off x="1811" y="100"/>
                <a:ext cx="1445" cy="41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IS A</a:t>
                </a:r>
                <a:endPara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815" name="AutoShape 47"/>
              <p:cNvSpPr>
                <a:spLocks noChangeShapeType="1"/>
              </p:cNvSpPr>
              <p:nvPr/>
            </p:nvSpPr>
            <p:spPr bwMode="auto">
              <a:xfrm>
                <a:off x="1798" y="453"/>
                <a:ext cx="1619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2814" name="AutoShape 46"/>
              <p:cNvSpPr>
                <a:spLocks noChangeShapeType="1"/>
              </p:cNvSpPr>
              <p:nvPr/>
            </p:nvSpPr>
            <p:spPr bwMode="auto">
              <a:xfrm>
                <a:off x="4319" y="453"/>
                <a:ext cx="2158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32811" name="Group 43"/>
              <p:cNvGrpSpPr>
                <a:grpSpLocks/>
              </p:cNvGrpSpPr>
              <p:nvPr/>
            </p:nvGrpSpPr>
            <p:grpSpPr bwMode="auto">
              <a:xfrm>
                <a:off x="6477" y="182"/>
                <a:ext cx="2876" cy="535"/>
                <a:chOff x="6477" y="182"/>
                <a:chExt cx="2876" cy="535"/>
              </a:xfrm>
            </p:grpSpPr>
            <p:sp>
              <p:nvSpPr>
                <p:cNvPr id="32813" name="Oval 45"/>
                <p:cNvSpPr>
                  <a:spLocks noChangeArrowheads="1"/>
                </p:cNvSpPr>
                <p:nvPr/>
              </p:nvSpPr>
              <p:spPr bwMode="auto">
                <a:xfrm>
                  <a:off x="6477" y="182"/>
                  <a:ext cx="2876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812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6578" y="260"/>
                  <a:ext cx="2670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many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2808" name="Group 40"/>
              <p:cNvGrpSpPr>
                <a:grpSpLocks/>
              </p:cNvGrpSpPr>
              <p:nvPr/>
            </p:nvGrpSpPr>
            <p:grpSpPr bwMode="auto">
              <a:xfrm>
                <a:off x="2878" y="182"/>
                <a:ext cx="1435" cy="535"/>
                <a:chOff x="2878" y="182"/>
                <a:chExt cx="1435" cy="535"/>
              </a:xfrm>
            </p:grpSpPr>
            <p:sp>
              <p:nvSpPr>
                <p:cNvPr id="32810" name="Oval 42"/>
                <p:cNvSpPr>
                  <a:spLocks noChangeArrowheads="1"/>
                </p:cNvSpPr>
                <p:nvPr/>
              </p:nvSpPr>
              <p:spPr bwMode="auto">
                <a:xfrm>
                  <a:off x="2878" y="182"/>
                  <a:ext cx="1435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80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089" y="260"/>
                  <a:ext cx="1009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People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2828" name="Group 60"/>
          <p:cNvGrpSpPr>
            <a:grpSpLocks/>
          </p:cNvGrpSpPr>
          <p:nvPr/>
        </p:nvGrpSpPr>
        <p:grpSpPr bwMode="auto">
          <a:xfrm>
            <a:off x="1571604" y="5286388"/>
            <a:ext cx="6858048" cy="1214446"/>
            <a:chOff x="0" y="0"/>
            <a:chExt cx="9354" cy="896"/>
          </a:xfrm>
        </p:grpSpPr>
        <p:sp>
          <p:nvSpPr>
            <p:cNvPr id="32838" name="Rectangle 70"/>
            <p:cNvSpPr>
              <a:spLocks noChangeArrowheads="1"/>
            </p:cNvSpPr>
            <p:nvPr/>
          </p:nvSpPr>
          <p:spPr bwMode="auto">
            <a:xfrm>
              <a:off x="0" y="2"/>
              <a:ext cx="9354" cy="8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2829" name="Group 61"/>
            <p:cNvGrpSpPr>
              <a:grpSpLocks/>
            </p:cNvGrpSpPr>
            <p:nvPr/>
          </p:nvGrpSpPr>
          <p:grpSpPr bwMode="auto">
            <a:xfrm>
              <a:off x="539" y="0"/>
              <a:ext cx="7194" cy="716"/>
              <a:chOff x="539" y="0"/>
              <a:chExt cx="7194" cy="716"/>
            </a:xfrm>
          </p:grpSpPr>
          <p:sp>
            <p:nvSpPr>
              <p:cNvPr id="32837" name="Text Box 69"/>
              <p:cNvSpPr txBox="1">
                <a:spLocks noChangeArrowheads="1"/>
              </p:cNvSpPr>
              <p:nvPr/>
            </p:nvSpPr>
            <p:spPr bwMode="auto">
              <a:xfrm>
                <a:off x="2339" y="0"/>
                <a:ext cx="2436" cy="53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ea typeface="Times New Roman" pitchFamily="18" charset="0"/>
                    <a:cs typeface="Arial" pitchFamily="34" charset="0"/>
                  </a:rPr>
                  <a:t>Has property</a:t>
                </a:r>
                <a:endParaRPr kumimoji="0" lang="ru-R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2834" name="Group 66"/>
              <p:cNvGrpSpPr>
                <a:grpSpLocks/>
              </p:cNvGrpSpPr>
              <p:nvPr/>
            </p:nvGrpSpPr>
            <p:grpSpPr bwMode="auto">
              <a:xfrm>
                <a:off x="539" y="181"/>
                <a:ext cx="1612" cy="535"/>
                <a:chOff x="539" y="181"/>
                <a:chExt cx="1612" cy="535"/>
              </a:xfrm>
            </p:grpSpPr>
            <p:sp>
              <p:nvSpPr>
                <p:cNvPr id="32836" name="Oval 68"/>
                <p:cNvSpPr>
                  <a:spLocks noChangeArrowheads="1"/>
                </p:cNvSpPr>
                <p:nvPr/>
              </p:nvSpPr>
              <p:spPr bwMode="auto">
                <a:xfrm>
                  <a:off x="539" y="181"/>
                  <a:ext cx="1612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835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775" y="259"/>
                  <a:ext cx="1134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Socrates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32831" name="Group 63"/>
              <p:cNvGrpSpPr>
                <a:grpSpLocks/>
              </p:cNvGrpSpPr>
              <p:nvPr/>
            </p:nvGrpSpPr>
            <p:grpSpPr bwMode="auto">
              <a:xfrm>
                <a:off x="4858" y="181"/>
                <a:ext cx="2875" cy="535"/>
                <a:chOff x="4858" y="181"/>
                <a:chExt cx="2875" cy="535"/>
              </a:xfrm>
            </p:grpSpPr>
            <p:sp>
              <p:nvSpPr>
                <p:cNvPr id="32833" name="Oval 65"/>
                <p:cNvSpPr>
                  <a:spLocks noChangeArrowheads="1"/>
                </p:cNvSpPr>
                <p:nvPr/>
              </p:nvSpPr>
              <p:spPr bwMode="auto">
                <a:xfrm>
                  <a:off x="4858" y="181"/>
                  <a:ext cx="2875" cy="535"/>
                </a:xfrm>
                <a:prstGeom prst="ellipse">
                  <a:avLst/>
                </a:prstGeom>
                <a:solidFill>
                  <a:srgbClr val="FFFFFF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283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5067" y="259"/>
                  <a:ext cx="2631" cy="37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ea typeface="Times New Roman" pitchFamily="18" charset="0"/>
                      <a:cs typeface="Arial" pitchFamily="34" charset="0"/>
                    </a:rPr>
                    <a:t>many</a:t>
                  </a:r>
                  <a:endParaRPr kumimoji="0" lang="ru-RU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2830" name="AutoShape 62"/>
              <p:cNvSpPr>
                <a:spLocks noChangeShapeType="1"/>
              </p:cNvSpPr>
              <p:nvPr/>
            </p:nvSpPr>
            <p:spPr bwMode="auto">
              <a:xfrm>
                <a:off x="2156" y="452"/>
                <a:ext cx="2699" cy="0"/>
              </a:xfrm>
              <a:prstGeom prst="straightConnector1">
                <a:avLst/>
              </a:prstGeom>
              <a:noFill/>
              <a:ln w="9360">
                <a:solidFill>
                  <a:srgbClr val="000000"/>
                </a:solidFill>
                <a:miter lim="800000"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32843" name="Rectangle 75"/>
          <p:cNvSpPr>
            <a:spLocks noChangeArrowheads="1"/>
          </p:cNvSpPr>
          <p:nvPr/>
        </p:nvSpPr>
        <p:spPr bwMode="auto">
          <a:xfrm>
            <a:off x="428596" y="2857496"/>
            <a:ext cx="8072462" cy="138499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50800" dist="190500" dir="2520000" algn="ctr" rotWithShape="0">
              <a:schemeClr val="bg1">
                <a:lumMod val="50000"/>
              </a:scheme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McDermott, Drew. “Artificial Intelligence Meets Natural Stupidity”,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SIGART Newsletter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No.57 (April, 1976), pp. 4-9.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194BAEC6-257D-487A-8A8E-E244859222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012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328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/>
          <p:cNvSpPr txBox="1"/>
          <p:nvPr/>
        </p:nvSpPr>
        <p:spPr>
          <a:xfrm>
            <a:off x="357158" y="1500174"/>
            <a:ext cx="835824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Purpose</a:t>
            </a:r>
            <a:r>
              <a:rPr lang="ru-RU" sz="3200" dirty="0">
                <a:solidFill>
                  <a:srgbClr val="002060"/>
                </a:solidFill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Learning of knowledge representation</a:t>
            </a:r>
            <a:endParaRPr lang="ru-RU" sz="3200" dirty="0">
              <a:solidFill>
                <a:srgbClr val="00206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Knowledge visualization</a:t>
            </a:r>
            <a:endParaRPr lang="ru-RU" sz="3200" dirty="0">
              <a:solidFill>
                <a:srgbClr val="00206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Research of inference methods</a:t>
            </a:r>
            <a:endParaRPr lang="ru-RU" sz="3200" dirty="0">
              <a:solidFill>
                <a:srgbClr val="002060"/>
              </a:solidFill>
            </a:endParaRPr>
          </a:p>
          <a:p>
            <a:endParaRPr lang="ru-RU" sz="2800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12485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 Semantic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3395" y="1142985"/>
            <a:ext cx="7460605" cy="571501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28992" y="2428868"/>
            <a:ext cx="4930158" cy="257176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B23AB2CB-9633-4DF5-8FF4-94CA6AC098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4521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 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facts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285860"/>
            <a:ext cx="592935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f("Nikita"          , "</a:t>
            </a:r>
            <a:r>
              <a:rPr lang="en-US" sz="2000" dirty="0" err="1"/>
              <a:t>is_a</a:t>
            </a:r>
            <a:r>
              <a:rPr lang="en-US" sz="2000" dirty="0"/>
              <a:t>"  , "person").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has_sex</a:t>
            </a:r>
            <a:r>
              <a:rPr lang="en-US" sz="2000" dirty="0"/>
              <a:t>" ,  "male").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has_surname</a:t>
            </a:r>
            <a:r>
              <a:rPr lang="en-US" sz="2000" dirty="0"/>
              <a:t>" ,  "</a:t>
            </a:r>
            <a:r>
              <a:rPr lang="en-US" sz="2000" dirty="0" err="1"/>
              <a:t>Mikhalkov</a:t>
            </a:r>
            <a:r>
              <a:rPr lang="en-US" sz="2000" dirty="0"/>
              <a:t>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has_profession</a:t>
            </a:r>
            <a:r>
              <a:rPr lang="en-US" sz="2000" dirty="0"/>
              <a:t>" ,  "film-director").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has_profession</a:t>
            </a:r>
            <a:r>
              <a:rPr lang="en-US" sz="2000" dirty="0"/>
              <a:t>" ,  "actor").</a:t>
            </a:r>
            <a:endParaRPr lang="ru-RU" sz="2000" dirty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4" y="2793773"/>
            <a:ext cx="5072067" cy="4064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14743" y="1076956"/>
            <a:ext cx="5429257" cy="578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14676" y="1155903"/>
            <a:ext cx="5829324" cy="570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71803" y="1071546"/>
            <a:ext cx="6072198" cy="5790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857488" y="999562"/>
            <a:ext cx="6143636" cy="585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8A08D36-8A66-4D68-836D-53BC3F54CF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413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214422"/>
            <a:ext cx="800105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f("Nikita"          , "</a:t>
            </a:r>
            <a:r>
              <a:rPr lang="en-US" sz="2000" dirty="0" err="1"/>
              <a:t>is_a</a:t>
            </a:r>
            <a:r>
              <a:rPr lang="en-US" sz="2000" dirty="0"/>
              <a:t>"  , "person").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has_sex</a:t>
            </a:r>
            <a:r>
              <a:rPr lang="en-US" sz="2000" dirty="0"/>
              <a:t>" ,  "male").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has_surname</a:t>
            </a:r>
            <a:r>
              <a:rPr lang="en-US" sz="2000" dirty="0"/>
              <a:t>" ,  "</a:t>
            </a:r>
            <a:r>
              <a:rPr lang="en-US" sz="2000" dirty="0" err="1"/>
              <a:t>Mikhalkov</a:t>
            </a:r>
            <a:r>
              <a:rPr lang="en-US" sz="2000" dirty="0"/>
              <a:t>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has_profession</a:t>
            </a:r>
            <a:r>
              <a:rPr lang="en-US" sz="2000" dirty="0"/>
              <a:t>" ,  "film-director").</a:t>
            </a:r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has_profession</a:t>
            </a:r>
            <a:r>
              <a:rPr lang="en-US" sz="2000" dirty="0"/>
              <a:t>" ,  "actor").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has_child</a:t>
            </a:r>
            <a:r>
              <a:rPr lang="en-US" sz="2000" dirty="0"/>
              <a:t>"  , "Anna").</a:t>
            </a:r>
            <a:endParaRPr lang="ru-RU" sz="2000" dirty="0"/>
          </a:p>
          <a:p>
            <a:r>
              <a:rPr lang="en-US" sz="2000" dirty="0"/>
              <a:t>f("Nikita"          ,  "</a:t>
            </a:r>
            <a:r>
              <a:rPr lang="en-US" sz="2000" dirty="0" err="1"/>
              <a:t>has_child</a:t>
            </a:r>
            <a:r>
              <a:rPr lang="en-US" sz="2000" dirty="0"/>
              <a:t>"  , "</a:t>
            </a:r>
            <a:r>
              <a:rPr lang="en-US" sz="2000" dirty="0" err="1"/>
              <a:t>Artem</a:t>
            </a:r>
            <a:r>
              <a:rPr lang="en-US" sz="2000" dirty="0"/>
              <a:t>").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/>
              <a:t>r( [t("?</a:t>
            </a:r>
            <a:r>
              <a:rPr lang="en-US" sz="2000" dirty="0" err="1"/>
              <a:t>x","has_child</a:t>
            </a:r>
            <a:r>
              <a:rPr lang="en-US" sz="2000" dirty="0"/>
              <a:t>","?y"),t("?</a:t>
            </a:r>
            <a:r>
              <a:rPr lang="en-US" sz="2000" dirty="0" err="1"/>
              <a:t>x","has_child</a:t>
            </a:r>
            <a:r>
              <a:rPr lang="en-US" sz="2000" dirty="0"/>
              <a:t>","?z"),t("?</a:t>
            </a:r>
            <a:r>
              <a:rPr lang="en-US" sz="2000" dirty="0" err="1"/>
              <a:t>y","differs</a:t>
            </a:r>
            <a:r>
              <a:rPr lang="en-US" sz="2000" dirty="0"/>
              <a:t>","?z")], </a:t>
            </a:r>
          </a:p>
          <a:p>
            <a:r>
              <a:rPr lang="en-US" sz="2000" dirty="0"/>
              <a:t>   [t("?</a:t>
            </a:r>
            <a:r>
              <a:rPr lang="en-US" sz="2000" dirty="0" err="1"/>
              <a:t>y","is_sibling</a:t>
            </a:r>
            <a:r>
              <a:rPr lang="en-US" sz="2000" dirty="0"/>
              <a:t>","?z")] ).</a:t>
            </a:r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0490" y="1857364"/>
            <a:ext cx="6331450" cy="50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57422" y="1214421"/>
            <a:ext cx="6786579" cy="536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7553" y="925823"/>
            <a:ext cx="5786447" cy="5932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7" cstate="print"/>
          <a:srcRect t="19662"/>
          <a:stretch>
            <a:fillRect/>
          </a:stretch>
        </p:blipFill>
        <p:spPr bwMode="auto">
          <a:xfrm>
            <a:off x="0" y="2498563"/>
            <a:ext cx="9148713" cy="435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48156A9B-59D3-4FA1-A3D7-FE74D463AB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7148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214422"/>
            <a:ext cx="80010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…</a:t>
            </a:r>
          </a:p>
          <a:p>
            <a:r>
              <a:rPr lang="en-US" sz="2000" dirty="0"/>
              <a:t>f("Sergey1913"  ,  "</a:t>
            </a:r>
            <a:r>
              <a:rPr lang="en-US" sz="2000" dirty="0" err="1"/>
              <a:t>has_child</a:t>
            </a:r>
            <a:r>
              <a:rPr lang="en-US" sz="2000" dirty="0"/>
              <a:t>" , "Nikita").</a:t>
            </a:r>
            <a:endParaRPr lang="ru-RU" sz="2000" dirty="0"/>
          </a:p>
          <a:p>
            <a:r>
              <a:rPr lang="en-US" sz="2000" dirty="0"/>
              <a:t>f("Sergey1913"  , "</a:t>
            </a:r>
            <a:r>
              <a:rPr lang="en-US" sz="2000" dirty="0" err="1"/>
              <a:t>has_child</a:t>
            </a:r>
            <a:r>
              <a:rPr lang="en-US" sz="2000" dirty="0"/>
              <a:t>" , "</a:t>
            </a:r>
            <a:r>
              <a:rPr lang="en-US" sz="2000" dirty="0" err="1"/>
              <a:t>Andrey</a:t>
            </a:r>
            <a:r>
              <a:rPr lang="en-US" sz="2000" dirty="0"/>
              <a:t>").</a:t>
            </a:r>
            <a:endParaRPr lang="ru-RU" sz="2000" dirty="0"/>
          </a:p>
          <a:p>
            <a:r>
              <a:rPr lang="ru-RU" sz="2000" dirty="0"/>
              <a:t>…</a:t>
            </a:r>
          </a:p>
          <a:p>
            <a:r>
              <a:rPr lang="en-US" sz="2000" dirty="0"/>
              <a:t>r( [t("?</a:t>
            </a:r>
            <a:r>
              <a:rPr lang="en-US" sz="2000" dirty="0" err="1"/>
              <a:t>x","has_child</a:t>
            </a:r>
            <a:r>
              <a:rPr lang="en-US" sz="2000" dirty="0"/>
              <a:t>","?y"),t("?</a:t>
            </a:r>
            <a:r>
              <a:rPr lang="en-US" sz="2000" dirty="0" err="1"/>
              <a:t>x","has_child</a:t>
            </a:r>
            <a:r>
              <a:rPr lang="en-US" sz="2000" dirty="0"/>
              <a:t>","?z"),t("?</a:t>
            </a:r>
            <a:r>
              <a:rPr lang="en-US" sz="2000" dirty="0" err="1"/>
              <a:t>y","differs</a:t>
            </a:r>
            <a:r>
              <a:rPr lang="en-US" sz="2000" dirty="0"/>
              <a:t>","?z")], </a:t>
            </a:r>
          </a:p>
          <a:p>
            <a:r>
              <a:rPr lang="en-US" sz="2000" dirty="0"/>
              <a:t>   [t("?</a:t>
            </a:r>
            <a:r>
              <a:rPr lang="en-US" sz="2000" dirty="0" err="1"/>
              <a:t>y","is_sibling</a:t>
            </a:r>
            <a:r>
              <a:rPr lang="en-US" sz="2000" dirty="0"/>
              <a:t>","?z")] ).</a:t>
            </a:r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 cstate="print"/>
          <a:srcRect t="14565"/>
          <a:stretch>
            <a:fillRect/>
          </a:stretch>
        </p:blipFill>
        <p:spPr bwMode="auto">
          <a:xfrm>
            <a:off x="3605190" y="1825453"/>
            <a:ext cx="5538810" cy="503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5" cstate="print"/>
          <a:srcRect t="14565"/>
          <a:stretch>
            <a:fillRect/>
          </a:stretch>
        </p:blipFill>
        <p:spPr bwMode="auto">
          <a:xfrm>
            <a:off x="3424232" y="1961987"/>
            <a:ext cx="5719768" cy="489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49AD1C9-9178-4FCE-91E3-2581EB4AEC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501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rules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357298"/>
            <a:ext cx="80010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r( [t("?</a:t>
            </a:r>
            <a:r>
              <a:rPr lang="en-US" sz="2000" dirty="0" err="1"/>
              <a:t>x","has_child</a:t>
            </a:r>
            <a:r>
              <a:rPr lang="en-US" sz="2000" dirty="0"/>
              <a:t>","?y"),t("?</a:t>
            </a:r>
            <a:r>
              <a:rPr lang="en-US" sz="2000" dirty="0" err="1"/>
              <a:t>x","is_sibling</a:t>
            </a:r>
            <a:r>
              <a:rPr lang="en-US" sz="2000" dirty="0"/>
              <a:t>","?z"), t("?</a:t>
            </a:r>
            <a:r>
              <a:rPr lang="en-US" sz="2000" dirty="0" err="1"/>
              <a:t>x","has_sex","male</a:t>
            </a:r>
            <a:r>
              <a:rPr lang="en-US" sz="2000" dirty="0"/>
              <a:t>")], </a:t>
            </a:r>
          </a:p>
          <a:p>
            <a:r>
              <a:rPr lang="en-US" sz="2000" dirty="0"/>
              <a:t>   [t("?</a:t>
            </a:r>
            <a:r>
              <a:rPr lang="en-US" sz="2000" dirty="0" err="1"/>
              <a:t>z","is_uncle</a:t>
            </a:r>
            <a:r>
              <a:rPr lang="en-US" sz="2000" dirty="0"/>
              <a:t>", "?y")] ).</a:t>
            </a:r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35852" name="Picture 12"/>
          <p:cNvPicPr>
            <a:picLocks noChangeAspect="1" noChangeArrowheads="1"/>
          </p:cNvPicPr>
          <p:nvPr/>
        </p:nvPicPr>
        <p:blipFill>
          <a:blip r:embed="rId4" cstate="print"/>
          <a:srcRect t="16218"/>
          <a:stretch>
            <a:fillRect/>
          </a:stretch>
        </p:blipFill>
        <p:spPr bwMode="auto">
          <a:xfrm>
            <a:off x="3057993" y="2071678"/>
            <a:ext cx="6086007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54" name="Picture 14"/>
          <p:cNvPicPr>
            <a:picLocks noChangeAspect="1" noChangeArrowheads="1"/>
          </p:cNvPicPr>
          <p:nvPr/>
        </p:nvPicPr>
        <p:blipFill>
          <a:blip r:embed="rId5" cstate="print"/>
          <a:srcRect t="13398"/>
          <a:stretch>
            <a:fillRect/>
          </a:stretch>
        </p:blipFill>
        <p:spPr bwMode="auto">
          <a:xfrm>
            <a:off x="31871" y="2071679"/>
            <a:ext cx="8950177" cy="478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59D489F5-203F-44CB-B818-DA05D6B379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3498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858280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>
                <a:solidFill>
                  <a:srgbClr val="0070C0"/>
                </a:solidFill>
              </a:rPr>
              <a:t>local graph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71650" y="1071546"/>
            <a:ext cx="7372350" cy="578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71650" y="1000108"/>
            <a:ext cx="7372350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EA8B9D7E-84F9-47DC-A3AB-787EEAEA96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734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program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Semantic</a:t>
            </a:r>
            <a:r>
              <a:rPr lang="ru-RU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rastier’s</a:t>
            </a:r>
            <a:r>
              <a:rPr lang="en-US" dirty="0">
                <a:solidFill>
                  <a:srgbClr val="0070C0"/>
                </a:solidFill>
              </a:rPr>
              <a:t> graph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214282" y="128586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/>
              <a:t>f("</a:t>
            </a:r>
            <a:r>
              <a:rPr lang="en-US" dirty="0" err="1"/>
              <a:t>beat","ERG","mailman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beat","MAL","man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beat","RES","sue</a:t>
            </a:r>
            <a:r>
              <a:rPr lang="en-US" dirty="0"/>
              <a:t>").</a:t>
            </a:r>
          </a:p>
          <a:p>
            <a:endParaRPr lang="en-US" dirty="0"/>
          </a:p>
          <a:p>
            <a:r>
              <a:rPr lang="en-US" dirty="0"/>
              <a:t>f("</a:t>
            </a:r>
            <a:r>
              <a:rPr lang="en-US" dirty="0" err="1"/>
              <a:t>bite","MAL","mailman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bite","ERG","dog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bite","ATT","wolfish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bite","RES","beat</a:t>
            </a:r>
            <a:r>
              <a:rPr lang="en-US" dirty="0"/>
              <a:t>").</a:t>
            </a:r>
          </a:p>
          <a:p>
            <a:endParaRPr lang="en-US" dirty="0"/>
          </a:p>
          <a:p>
            <a:r>
              <a:rPr lang="en-US" dirty="0"/>
              <a:t>f("</a:t>
            </a:r>
            <a:r>
              <a:rPr lang="en-US" dirty="0" err="1"/>
              <a:t>own","ERG","man</a:t>
            </a:r>
            <a:r>
              <a:rPr lang="en-US" dirty="0"/>
              <a:t>").</a:t>
            </a:r>
          </a:p>
          <a:p>
            <a:r>
              <a:rPr lang="en-US" dirty="0"/>
              <a:t>f("</a:t>
            </a:r>
            <a:r>
              <a:rPr lang="en-US" dirty="0" err="1"/>
              <a:t>own","ACC","dog</a:t>
            </a:r>
            <a:r>
              <a:rPr lang="en-US" dirty="0"/>
              <a:t>").</a:t>
            </a:r>
            <a:endParaRPr lang="ru-RU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 cstate="print"/>
          <a:srcRect t="13757"/>
          <a:stretch>
            <a:fillRect/>
          </a:stretch>
        </p:blipFill>
        <p:spPr bwMode="auto">
          <a:xfrm>
            <a:off x="2872722" y="1428737"/>
            <a:ext cx="6271278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428BFEC-A6FF-4366-BB63-719A42DD45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408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Semantic web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8914" name="Picture 2" descr="Файл:Tim Berners-Lee April 2009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5720" y="1285860"/>
            <a:ext cx="2848591" cy="3929090"/>
          </a:xfrm>
          <a:prstGeom prst="rect">
            <a:avLst/>
          </a:prstGeom>
          <a:noFill/>
        </p:spPr>
      </p:pic>
      <p:sp>
        <p:nvSpPr>
          <p:cNvPr id="18" name="Прямоугольник 17"/>
          <p:cNvSpPr/>
          <p:nvPr/>
        </p:nvSpPr>
        <p:spPr>
          <a:xfrm>
            <a:off x="3357554" y="1214422"/>
            <a:ext cx="57864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Sir Timothy John "Tim" Berners-Lee</a:t>
            </a:r>
            <a:r>
              <a:rPr lang="en-US" sz="1600" dirty="0"/>
              <a:t>, </a:t>
            </a:r>
            <a:r>
              <a:rPr lang="en-US" sz="1600" dirty="0">
                <a:hlinkClick r:id="rId6" action="ppaction://hlinkfile" tooltip="Order of Merit"/>
              </a:rPr>
              <a:t>OM</a:t>
            </a:r>
            <a:r>
              <a:rPr lang="en-US" sz="1600" dirty="0"/>
              <a:t>, </a:t>
            </a:r>
            <a:r>
              <a:rPr lang="en-US" sz="1600" dirty="0">
                <a:hlinkClick r:id="rId7" action="ppaction://hlinkfile" tooltip="Order of the British Empire"/>
              </a:rPr>
              <a:t>KBE</a:t>
            </a:r>
            <a:r>
              <a:rPr lang="en-US" sz="1600" dirty="0"/>
              <a:t>, </a:t>
            </a:r>
            <a:r>
              <a:rPr lang="en-US" sz="1600" dirty="0">
                <a:hlinkClick r:id="rId8" action="ppaction://hlinkfile" tooltip="Royal Society"/>
              </a:rPr>
              <a:t>FRS</a:t>
            </a:r>
            <a:r>
              <a:rPr lang="en-US" sz="1600" dirty="0"/>
              <a:t>, </a:t>
            </a:r>
            <a:r>
              <a:rPr lang="en-US" sz="1600" dirty="0" err="1">
                <a:hlinkClick r:id="rId9" action="ppaction://hlinkfile" tooltip="Royal Academy of Engineering"/>
              </a:rPr>
              <a:t>FREng</a:t>
            </a:r>
            <a:r>
              <a:rPr lang="en-US" sz="1600" dirty="0"/>
              <a:t>, </a:t>
            </a:r>
            <a:r>
              <a:rPr lang="en-US" sz="1600" dirty="0">
                <a:hlinkClick r:id="rId10" action="ppaction://hlinkfile" tooltip="Royal Society of Arts"/>
              </a:rPr>
              <a:t>FRSA</a:t>
            </a:r>
            <a:r>
              <a:rPr lang="en-US" sz="1600" dirty="0"/>
              <a:t> (born 8 June 1955</a:t>
            </a:r>
            <a:r>
              <a:rPr lang="en-US" sz="1600" baseline="30000" dirty="0">
                <a:hlinkClick r:id="rId11" action="ppaction://hlinkfile"/>
              </a:rPr>
              <a:t>[1]</a:t>
            </a:r>
            <a:r>
              <a:rPr lang="en-US" sz="1600" dirty="0"/>
              <a:t>), is a British engineer and </a:t>
            </a:r>
            <a:r>
              <a:rPr lang="en-US" sz="1600" dirty="0">
                <a:hlinkClick r:id="rId12" action="ppaction://hlinkfile" tooltip="Computer scientist"/>
              </a:rPr>
              <a:t>computer scientist</a:t>
            </a:r>
            <a:r>
              <a:rPr lang="en-US" sz="1600" dirty="0"/>
              <a:t> and </a:t>
            </a:r>
            <a:r>
              <a:rPr lang="en-US" sz="1600" dirty="0">
                <a:hlinkClick r:id="rId13" action="ppaction://hlinkfile" tooltip="Massachusetts Institute of Technology"/>
              </a:rPr>
              <a:t>MIT</a:t>
            </a:r>
            <a:r>
              <a:rPr lang="en-US" sz="1600" dirty="0"/>
              <a:t> professor credited with inventing the </a:t>
            </a:r>
            <a:r>
              <a:rPr lang="en-US" sz="1600" dirty="0">
                <a:hlinkClick r:id="rId14" action="ppaction://hlinkfile" tooltip="World Wide Web"/>
              </a:rPr>
              <a:t>World Wide Web</a:t>
            </a:r>
            <a:r>
              <a:rPr lang="en-US" sz="1600" dirty="0"/>
              <a:t>, making the first proposal for it in March 1989.</a:t>
            </a:r>
            <a:r>
              <a:rPr lang="en-US" sz="1600" baseline="30000" dirty="0">
                <a:hlinkClick r:id="rId15" action="ppaction://hlinkfile"/>
              </a:rPr>
              <a:t>[2]</a:t>
            </a:r>
            <a:r>
              <a:rPr lang="en-US" sz="1600" dirty="0"/>
              <a:t> On 25 December 1990, with the help of </a:t>
            </a:r>
            <a:r>
              <a:rPr lang="en-US" sz="1600" dirty="0">
                <a:hlinkClick r:id="rId16" action="ppaction://hlinkfile" tooltip="Robert Cailliau"/>
              </a:rPr>
              <a:t>Robert </a:t>
            </a:r>
            <a:r>
              <a:rPr lang="en-US" sz="1600" dirty="0" err="1">
                <a:hlinkClick r:id="rId16" action="ppaction://hlinkfile" tooltip="Robert Cailliau"/>
              </a:rPr>
              <a:t>Cailliau</a:t>
            </a:r>
            <a:r>
              <a:rPr lang="en-US" sz="1600" dirty="0"/>
              <a:t> and a young student at </a:t>
            </a:r>
            <a:r>
              <a:rPr lang="en-US" sz="1600" dirty="0">
                <a:hlinkClick r:id="rId17" action="ppaction://hlinkfile" tooltip="CERN"/>
              </a:rPr>
              <a:t>CERN</a:t>
            </a:r>
            <a:r>
              <a:rPr lang="en-US" sz="1600" dirty="0"/>
              <a:t>, he implemented the first successful communication between an </a:t>
            </a:r>
            <a:r>
              <a:rPr lang="en-US" sz="1600" dirty="0">
                <a:hlinkClick r:id="rId18" action="ppaction://hlinkfile" tooltip="HTTP"/>
              </a:rPr>
              <a:t>HTTP</a:t>
            </a:r>
            <a:r>
              <a:rPr lang="en-US" sz="1600" dirty="0"/>
              <a:t> client and server via the </a:t>
            </a:r>
            <a:r>
              <a:rPr lang="en-US" sz="1600" dirty="0">
                <a:hlinkClick r:id="rId19" action="ppaction://hlinkfile" tooltip="Internet"/>
              </a:rPr>
              <a:t>Internet</a:t>
            </a:r>
            <a:r>
              <a:rPr lang="en-US" sz="1600" dirty="0"/>
              <a:t>.</a:t>
            </a:r>
          </a:p>
          <a:p>
            <a:r>
              <a:rPr lang="en-US" sz="1600" dirty="0"/>
              <a:t>Berners-Lee is the director of the World Wide Web Consortium (W3C), which oversees the Web's continued development. He is also the founder of the </a:t>
            </a:r>
            <a:r>
              <a:rPr lang="en-US" sz="1600" dirty="0">
                <a:hlinkClick r:id="rId20" action="ppaction://hlinkfile" tooltip="World Wide Web Foundation"/>
              </a:rPr>
              <a:t>World Wide Web Foundation</a:t>
            </a:r>
            <a:r>
              <a:rPr lang="en-US" sz="1600" dirty="0"/>
              <a:t>, and is a senior researcher and holder of the </a:t>
            </a:r>
            <a:r>
              <a:rPr lang="en-US" sz="1600" dirty="0">
                <a:hlinkClick r:id="rId21" action="ppaction://hlinkfile" tooltip="3Com"/>
              </a:rPr>
              <a:t>3Com</a:t>
            </a:r>
            <a:r>
              <a:rPr lang="en-US" sz="1600" dirty="0"/>
              <a:t> </a:t>
            </a:r>
            <a:r>
              <a:rPr lang="en-US" sz="1600" dirty="0">
                <a:hlinkClick r:id="rId22" action="ppaction://hlinkfile" tooltip="Professors in the United States"/>
              </a:rPr>
              <a:t>Founders Chair</a:t>
            </a:r>
            <a:r>
              <a:rPr lang="en-US" sz="1600" dirty="0"/>
              <a:t> at the </a:t>
            </a:r>
            <a:r>
              <a:rPr lang="en-US" sz="1600" dirty="0">
                <a:hlinkClick r:id="rId23" action="ppaction://hlinkfile" tooltip="MIT Computer Science and Artificial Intelligence Laboratory"/>
              </a:rPr>
              <a:t>MIT Computer Science and Artificial Intelligence Laboratory</a:t>
            </a:r>
            <a:r>
              <a:rPr lang="en-US" sz="1600" dirty="0"/>
              <a:t> (CSAIL).</a:t>
            </a:r>
            <a:r>
              <a:rPr lang="en-US" sz="1600" baseline="30000" dirty="0">
                <a:hlinkClick r:id="rId24" action="ppaction://hlinkfile"/>
              </a:rPr>
              <a:t>[3]</a:t>
            </a:r>
            <a:r>
              <a:rPr lang="en-US" sz="1600" dirty="0"/>
              <a:t> He is a director of The Web Science Research Initiative (WSRI),</a:t>
            </a:r>
            <a:r>
              <a:rPr lang="en-US" sz="1600" baseline="30000" dirty="0">
                <a:hlinkClick r:id="rId25" action="ppaction://hlinkfile"/>
              </a:rPr>
              <a:t>[4]</a:t>
            </a:r>
            <a:r>
              <a:rPr lang="en-US" sz="1600" dirty="0"/>
              <a:t> and a member of the advisory board of the </a:t>
            </a:r>
            <a:r>
              <a:rPr lang="en-US" sz="1600" dirty="0">
                <a:hlinkClick r:id="rId26" action="ppaction://hlinkfile" tooltip="MIT Center for Collective Intelligence"/>
              </a:rPr>
              <a:t>MIT Center for Collective Intelligence</a:t>
            </a:r>
            <a:r>
              <a:rPr lang="en-US" sz="1600" dirty="0"/>
              <a:t>.</a:t>
            </a:r>
            <a:r>
              <a:rPr lang="en-US" sz="1600" baseline="30000" dirty="0">
                <a:hlinkClick r:id="rId27" action="ppaction://hlinkfile"/>
              </a:rPr>
              <a:t>[5]</a:t>
            </a:r>
            <a:r>
              <a:rPr lang="en-US" sz="1600" baseline="30000" dirty="0">
                <a:hlinkClick r:id="rId28" action="ppaction://hlinkfile"/>
              </a:rPr>
              <a:t>[6]</a:t>
            </a:r>
            <a:r>
              <a:rPr lang="en-US" sz="1600" dirty="0"/>
              <a:t> In April 2009, he was elected as a member of the </a:t>
            </a:r>
            <a:r>
              <a:rPr lang="en-US" sz="1600" dirty="0">
                <a:hlinkClick r:id="rId29" action="ppaction://hlinkfile" tooltip="United States National Academy of Sciences"/>
              </a:rPr>
              <a:t>United States National Academy of Sciences</a:t>
            </a:r>
            <a:r>
              <a:rPr lang="en-US" sz="1600" dirty="0"/>
              <a:t>, based in Washington, D.C.</a:t>
            </a:r>
          </a:p>
          <a:p>
            <a:endParaRPr lang="ru-RU" sz="1600" dirty="0">
              <a:solidFill>
                <a:srgbClr val="002060"/>
              </a:solidFill>
            </a:endParaRPr>
          </a:p>
          <a:p>
            <a:r>
              <a:rPr lang="en-US" sz="1600" dirty="0"/>
              <a:t>		(http://en.wikipedia.org)</a:t>
            </a:r>
            <a:endParaRPr lang="ru-RU" sz="1600" dirty="0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7A1E75D-C6BB-477D-8ED7-F7E74B0C25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0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Semantic web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1986" name="Picture 2" descr="Файл:Contact RDF graph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348" y="1357298"/>
            <a:ext cx="7793800" cy="5216086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428596" y="1928802"/>
            <a:ext cx="7143768" cy="267765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  <a:effectLst>
            <a:outerShdw blurRad="50800" dist="177800" dir="2400000" algn="ctr" rotWithShape="0">
              <a:schemeClr val="bg1">
                <a:lumMod val="5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/>
              <a:t>Semantic tagging</a:t>
            </a:r>
            <a:endParaRPr lang="ru-RU" sz="2800" dirty="0"/>
          </a:p>
          <a:p>
            <a:endParaRPr lang="ru-RU" sz="2800" dirty="0"/>
          </a:p>
          <a:p>
            <a:r>
              <a:rPr lang="en-US" sz="2800" dirty="0"/>
              <a:t>Data acquisition by intellectual agents</a:t>
            </a:r>
            <a:endParaRPr lang="ru-RU" sz="2800" dirty="0"/>
          </a:p>
          <a:p>
            <a:endParaRPr lang="ru-RU" sz="2800" dirty="0"/>
          </a:p>
          <a:p>
            <a:r>
              <a:rPr lang="en-US" sz="2800" dirty="0"/>
              <a:t>Providing to the user a solution instead</a:t>
            </a:r>
            <a:r>
              <a:rPr lang="ru-RU" sz="2800" dirty="0"/>
              <a:t> </a:t>
            </a:r>
            <a:r>
              <a:rPr lang="en-US" sz="2800" dirty="0"/>
              <a:t>of links to documents</a:t>
            </a:r>
            <a:endParaRPr lang="ru-RU" sz="2800" dirty="0"/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05B8A60F-4919-4D7A-86D1-95A159B5C6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50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Web 3.0   vs.   Web 1.0, web2.0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3010" name="Picture 2" descr="Файл:Semantic Web stack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1670" y="1571612"/>
            <a:ext cx="5826303" cy="4942097"/>
          </a:xfrm>
          <a:prstGeom prst="rect">
            <a:avLst/>
          </a:prstGeom>
          <a:noFill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757DB8F5-738E-401C-8AAD-6CA7D4832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246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Rdf</a:t>
            </a:r>
            <a:r>
              <a:rPr lang="en-US" dirty="0">
                <a:solidFill>
                  <a:srgbClr val="0070C0"/>
                </a:solidFill>
              </a:rPr>
              <a:t> – resource description framework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28596" y="1428736"/>
            <a:ext cx="642940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@prefix : &lt;http://www.example.org/&gt; .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:john 		a 		:Person .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:john 		:</a:t>
            </a:r>
            <a:r>
              <a:rPr lang="en-US" sz="2800" dirty="0" err="1">
                <a:solidFill>
                  <a:srgbClr val="002060"/>
                </a:solidFill>
              </a:rPr>
              <a:t>hasMother</a:t>
            </a:r>
            <a:r>
              <a:rPr lang="en-US" sz="2800" dirty="0">
                <a:solidFill>
                  <a:srgbClr val="002060"/>
                </a:solidFill>
              </a:rPr>
              <a:t> :</a:t>
            </a:r>
            <a:r>
              <a:rPr lang="en-US" sz="2800" dirty="0" err="1">
                <a:solidFill>
                  <a:srgbClr val="002060"/>
                </a:solidFill>
              </a:rPr>
              <a:t>susan</a:t>
            </a:r>
            <a:r>
              <a:rPr lang="en-US" sz="2800" dirty="0">
                <a:solidFill>
                  <a:srgbClr val="002060"/>
                </a:solidFill>
              </a:rPr>
              <a:t> .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:john 		:</a:t>
            </a:r>
            <a:r>
              <a:rPr lang="en-US" sz="2800" dirty="0" err="1">
                <a:solidFill>
                  <a:srgbClr val="002060"/>
                </a:solidFill>
              </a:rPr>
              <a:t>hasFather</a:t>
            </a:r>
            <a:r>
              <a:rPr lang="en-US" sz="2800" dirty="0">
                <a:solidFill>
                  <a:srgbClr val="002060"/>
                </a:solidFill>
              </a:rPr>
              <a:t> 	:</a:t>
            </a:r>
            <a:r>
              <a:rPr lang="en-US" sz="2800" dirty="0" err="1">
                <a:solidFill>
                  <a:srgbClr val="002060"/>
                </a:solidFill>
              </a:rPr>
              <a:t>richard</a:t>
            </a:r>
            <a:r>
              <a:rPr lang="en-US" sz="2800" dirty="0">
                <a:solidFill>
                  <a:srgbClr val="002060"/>
                </a:solidFill>
              </a:rPr>
              <a:t> .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:</a:t>
            </a:r>
            <a:r>
              <a:rPr lang="en-US" sz="2800" dirty="0" err="1">
                <a:solidFill>
                  <a:srgbClr val="002060"/>
                </a:solidFill>
              </a:rPr>
              <a:t>richard</a:t>
            </a:r>
            <a:r>
              <a:rPr lang="en-US" sz="2800" dirty="0">
                <a:solidFill>
                  <a:srgbClr val="002060"/>
                </a:solidFill>
              </a:rPr>
              <a:t> 	:</a:t>
            </a:r>
            <a:r>
              <a:rPr lang="en-US" sz="2800" dirty="0" err="1">
                <a:solidFill>
                  <a:srgbClr val="002060"/>
                </a:solidFill>
              </a:rPr>
              <a:t>hasBrother</a:t>
            </a:r>
            <a:r>
              <a:rPr lang="en-US" sz="2800" dirty="0">
                <a:solidFill>
                  <a:srgbClr val="002060"/>
                </a:solidFill>
              </a:rPr>
              <a:t> :</a:t>
            </a:r>
            <a:r>
              <a:rPr lang="en-US" sz="2800" dirty="0" err="1">
                <a:solidFill>
                  <a:srgbClr val="002060"/>
                </a:solidFill>
              </a:rPr>
              <a:t>luke</a:t>
            </a:r>
            <a:r>
              <a:rPr lang="en-US" sz="2800" dirty="0">
                <a:solidFill>
                  <a:srgbClr val="002060"/>
                </a:solidFill>
              </a:rPr>
              <a:t> .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85720" y="3143248"/>
            <a:ext cx="8501122" cy="34778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>
            <a:outerShdw blurRad="50800" dist="139700" dir="2880000" algn="ctr" rotWithShape="0">
              <a:schemeClr val="bg1">
                <a:lumMod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&lt;</a:t>
            </a:r>
            <a:r>
              <a:rPr lang="en-US" sz="2000" dirty="0" err="1">
                <a:solidFill>
                  <a:srgbClr val="002060"/>
                </a:solidFill>
              </a:rPr>
              <a:t>rdf:RDF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xmlns:rdf</a:t>
            </a:r>
            <a:r>
              <a:rPr lang="en-US" sz="2000" dirty="0">
                <a:solidFill>
                  <a:srgbClr val="002060"/>
                </a:solidFill>
              </a:rPr>
              <a:t>="http://www.w3.org/1999/02/22-rdf-syntax-ns#" 	</a:t>
            </a:r>
            <a:r>
              <a:rPr lang="en-US" sz="2000" dirty="0" err="1">
                <a:solidFill>
                  <a:srgbClr val="002060"/>
                </a:solidFill>
              </a:rPr>
              <a:t>xmlns:ns</a:t>
            </a:r>
            <a:r>
              <a:rPr lang="en-US" sz="2000" dirty="0">
                <a:solidFill>
                  <a:srgbClr val="002060"/>
                </a:solidFill>
              </a:rPr>
              <a:t>="http://www.example.org/#"&gt;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&lt;</a:t>
            </a:r>
            <a:r>
              <a:rPr lang="en-US" sz="2000" dirty="0" err="1">
                <a:solidFill>
                  <a:srgbClr val="002060"/>
                </a:solidFill>
              </a:rPr>
              <a:t>ns:Person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rdf:about</a:t>
            </a:r>
            <a:r>
              <a:rPr lang="en-US" sz="2000" dirty="0">
                <a:solidFill>
                  <a:srgbClr val="002060"/>
                </a:solidFill>
              </a:rPr>
              <a:t>="http://www.example.org/#john"&gt;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&lt;</a:t>
            </a:r>
            <a:r>
              <a:rPr lang="en-US" sz="2000" dirty="0" err="1">
                <a:solidFill>
                  <a:srgbClr val="002060"/>
                </a:solidFill>
              </a:rPr>
              <a:t>ns:hasMother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rdf:resource</a:t>
            </a:r>
            <a:r>
              <a:rPr lang="en-US" sz="2000" dirty="0">
                <a:solidFill>
                  <a:srgbClr val="002060"/>
                </a:solidFill>
              </a:rPr>
              <a:t>="http://www.example.org/#susan" /&gt;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&lt;</a:t>
            </a:r>
            <a:r>
              <a:rPr lang="en-US" sz="2000" dirty="0" err="1">
                <a:solidFill>
                  <a:srgbClr val="002060"/>
                </a:solidFill>
              </a:rPr>
              <a:t>ns:hasFather</a:t>
            </a:r>
            <a:r>
              <a:rPr lang="en-US" sz="2000" dirty="0">
                <a:solidFill>
                  <a:srgbClr val="002060"/>
                </a:solidFill>
              </a:rPr>
              <a:t>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&lt;</a:t>
            </a:r>
            <a:r>
              <a:rPr lang="en-US" sz="2000" dirty="0" err="1">
                <a:solidFill>
                  <a:srgbClr val="002060"/>
                </a:solidFill>
              </a:rPr>
              <a:t>rdf:Description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rdf:about</a:t>
            </a:r>
            <a:r>
              <a:rPr lang="en-US" sz="2000" dirty="0">
                <a:solidFill>
                  <a:srgbClr val="002060"/>
                </a:solidFill>
              </a:rPr>
              <a:t>="http://www.example.org/#richard"&gt;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     &lt;</a:t>
            </a:r>
            <a:r>
              <a:rPr lang="en-US" sz="2000" dirty="0" err="1">
                <a:solidFill>
                  <a:srgbClr val="002060"/>
                </a:solidFill>
              </a:rPr>
              <a:t>ns:hasBrother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rdf:resource</a:t>
            </a:r>
            <a:r>
              <a:rPr lang="en-US" sz="2000" dirty="0">
                <a:solidFill>
                  <a:srgbClr val="002060"/>
                </a:solidFill>
              </a:rPr>
              <a:t>="http://www.example.org/#luke" /&gt;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  &lt;/</a:t>
            </a:r>
            <a:r>
              <a:rPr lang="en-US" sz="2000" dirty="0" err="1">
                <a:solidFill>
                  <a:srgbClr val="002060"/>
                </a:solidFill>
              </a:rPr>
              <a:t>rdf:Description</a:t>
            </a:r>
            <a:r>
              <a:rPr lang="en-US" sz="2000" dirty="0">
                <a:solidFill>
                  <a:srgbClr val="002060"/>
                </a:solidFill>
              </a:rPr>
              <a:t>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     &lt;/</a:t>
            </a:r>
            <a:r>
              <a:rPr lang="en-US" sz="2000" dirty="0" err="1">
                <a:solidFill>
                  <a:srgbClr val="002060"/>
                </a:solidFill>
              </a:rPr>
              <a:t>ns:hasFather</a:t>
            </a:r>
            <a:r>
              <a:rPr lang="en-US" sz="2000" dirty="0">
                <a:solidFill>
                  <a:srgbClr val="002060"/>
                </a:solidFill>
              </a:rPr>
              <a:t>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  &lt;/</a:t>
            </a:r>
            <a:r>
              <a:rPr lang="en-US" sz="2000" dirty="0" err="1">
                <a:solidFill>
                  <a:srgbClr val="002060"/>
                </a:solidFill>
              </a:rPr>
              <a:t>ns:Person</a:t>
            </a:r>
            <a:r>
              <a:rPr lang="en-US" sz="2000" dirty="0">
                <a:solidFill>
                  <a:srgbClr val="002060"/>
                </a:solidFill>
              </a:rPr>
              <a:t>&gt; </a:t>
            </a:r>
          </a:p>
          <a:p>
            <a:r>
              <a:rPr lang="en-US" sz="2000" dirty="0">
                <a:solidFill>
                  <a:srgbClr val="002060"/>
                </a:solidFill>
              </a:rPr>
              <a:t>&lt;/</a:t>
            </a:r>
            <a:r>
              <a:rPr lang="en-US" sz="2000" dirty="0" err="1">
                <a:solidFill>
                  <a:srgbClr val="002060"/>
                </a:solidFill>
              </a:rPr>
              <a:t>rdf:RDF</a:t>
            </a:r>
            <a:r>
              <a:rPr lang="en-US" sz="2000" dirty="0">
                <a:solidFill>
                  <a:srgbClr val="002060"/>
                </a:solidFill>
              </a:rPr>
              <a:t>&gt;</a:t>
            </a:r>
            <a:endParaRPr lang="ru-RU" sz="2000" dirty="0">
              <a:solidFill>
                <a:srgbClr val="002060"/>
              </a:solidFill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478D6F6-C9AF-475F-8FFA-B3167A5D8B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5755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Owl – web ontology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5720" y="1428736"/>
            <a:ext cx="8858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Model of ontology</a:t>
            </a:r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 </a:t>
            </a:r>
            <a:r>
              <a:rPr lang="ru-RU" sz="2800" b="1" dirty="0">
                <a:solidFill>
                  <a:srgbClr val="002060"/>
                </a:solidFill>
              </a:rPr>
              <a:t>O = &lt;X,R,F&gt;</a:t>
            </a:r>
            <a:r>
              <a:rPr lang="ru-RU" sz="2800" dirty="0">
                <a:solidFill>
                  <a:srgbClr val="002060"/>
                </a:solidFill>
              </a:rPr>
              <a:t>, </a:t>
            </a:r>
            <a:r>
              <a:rPr lang="en-US" sz="2800" dirty="0">
                <a:solidFill>
                  <a:srgbClr val="002060"/>
                </a:solidFill>
              </a:rPr>
              <a:t>where</a:t>
            </a:r>
            <a:endParaRPr lang="ru-RU" sz="2800" dirty="0">
              <a:solidFill>
                <a:srgbClr val="00206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X — </a:t>
            </a:r>
            <a:r>
              <a:rPr lang="en-US" sz="2800" dirty="0">
                <a:solidFill>
                  <a:srgbClr val="002060"/>
                </a:solidFill>
              </a:rPr>
              <a:t>set of entities</a:t>
            </a:r>
            <a:r>
              <a:rPr lang="ru-RU" sz="2800" dirty="0">
                <a:solidFill>
                  <a:srgbClr val="002060"/>
                </a:solidFill>
              </a:rPr>
              <a:t>,</a:t>
            </a:r>
          </a:p>
          <a:p>
            <a:r>
              <a:rPr lang="ru-RU" sz="2800" dirty="0">
                <a:solidFill>
                  <a:srgbClr val="002060"/>
                </a:solidFill>
              </a:rPr>
              <a:t>R — </a:t>
            </a:r>
            <a:r>
              <a:rPr lang="en-US" sz="2800" dirty="0">
                <a:solidFill>
                  <a:srgbClr val="002060"/>
                </a:solidFill>
              </a:rPr>
              <a:t>set of relations</a:t>
            </a:r>
            <a:r>
              <a:rPr lang="ru-RU" sz="2800" dirty="0">
                <a:solidFill>
                  <a:srgbClr val="002060"/>
                </a:solidFill>
              </a:rPr>
              <a:t>,</a:t>
            </a:r>
          </a:p>
          <a:p>
            <a:r>
              <a:rPr lang="ru-RU" sz="2800" dirty="0">
                <a:solidFill>
                  <a:srgbClr val="002060"/>
                </a:solidFill>
              </a:rPr>
              <a:t>F — </a:t>
            </a:r>
            <a:r>
              <a:rPr lang="en-US" sz="2800" dirty="0">
                <a:solidFill>
                  <a:srgbClr val="002060"/>
                </a:solidFill>
              </a:rPr>
              <a:t>set of interpreting functions</a:t>
            </a:r>
            <a:r>
              <a:rPr lang="ru-RU" sz="2800" dirty="0">
                <a:solidFill>
                  <a:srgbClr val="002060"/>
                </a:solidFill>
              </a:rPr>
              <a:t>.</a:t>
            </a:r>
          </a:p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571604" y="2428868"/>
            <a:ext cx="7358114" cy="3970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>
            <a:outerShdw blurRad="50800" dist="139700" dir="2880000" algn="ctr" rotWithShape="0">
              <a:schemeClr val="bg1">
                <a:lumMod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2060"/>
                </a:solidFill>
              </a:rPr>
              <a:t>SubClassOf</a:t>
            </a:r>
            <a:r>
              <a:rPr lang="en-US" sz="2800" dirty="0">
                <a:solidFill>
                  <a:srgbClr val="002060"/>
                </a:solidFill>
              </a:rPr>
              <a:t>(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 :Teenager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</a:t>
            </a:r>
            <a:r>
              <a:rPr lang="en-US" sz="2800" dirty="0" err="1">
                <a:solidFill>
                  <a:srgbClr val="002060"/>
                </a:solidFill>
              </a:rPr>
              <a:t>DataSomeValuesFrom</a:t>
            </a:r>
            <a:r>
              <a:rPr lang="en-US" sz="2800" dirty="0">
                <a:solidFill>
                  <a:srgbClr val="002060"/>
                </a:solidFill>
              </a:rPr>
              <a:t>(  :</a:t>
            </a:r>
            <a:r>
              <a:rPr lang="en-US" sz="2800" dirty="0" err="1">
                <a:solidFill>
                  <a:srgbClr val="002060"/>
                </a:solidFill>
              </a:rPr>
              <a:t>hasAge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</a:t>
            </a:r>
            <a:r>
              <a:rPr lang="en-US" sz="2800" dirty="0" err="1">
                <a:solidFill>
                  <a:srgbClr val="002060"/>
                </a:solidFill>
              </a:rPr>
              <a:t>DatatypeRestriction</a:t>
            </a:r>
            <a:r>
              <a:rPr lang="en-US" sz="2800" dirty="0">
                <a:solidFill>
                  <a:srgbClr val="002060"/>
                </a:solidFill>
              </a:rPr>
              <a:t>(  </a:t>
            </a:r>
            <a:r>
              <a:rPr lang="en-US" sz="2800" dirty="0" err="1">
                <a:solidFill>
                  <a:srgbClr val="002060"/>
                </a:solidFill>
              </a:rPr>
              <a:t>xsd:integer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     </a:t>
            </a:r>
            <a:r>
              <a:rPr lang="en-US" sz="2800" dirty="0" err="1">
                <a:solidFill>
                  <a:srgbClr val="002060"/>
                </a:solidFill>
              </a:rPr>
              <a:t>xsd:minExclusive</a:t>
            </a:r>
            <a:r>
              <a:rPr lang="en-US" sz="2800" dirty="0">
                <a:solidFill>
                  <a:srgbClr val="002060"/>
                </a:solidFill>
              </a:rPr>
              <a:t> "12"^^</a:t>
            </a:r>
            <a:r>
              <a:rPr lang="en-US" sz="2800" dirty="0" err="1">
                <a:solidFill>
                  <a:srgbClr val="002060"/>
                </a:solidFill>
              </a:rPr>
              <a:t>xsd:integer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     </a:t>
            </a:r>
            <a:r>
              <a:rPr lang="en-US" sz="2800" dirty="0" err="1">
                <a:solidFill>
                  <a:srgbClr val="002060"/>
                </a:solidFill>
              </a:rPr>
              <a:t>xsd:maxInclusive</a:t>
            </a:r>
            <a:r>
              <a:rPr lang="en-US" sz="2800" dirty="0">
                <a:solidFill>
                  <a:srgbClr val="002060"/>
                </a:solidFill>
              </a:rPr>
              <a:t> "19"^^</a:t>
            </a:r>
            <a:r>
              <a:rPr lang="en-US" sz="2800" dirty="0" err="1">
                <a:solidFill>
                  <a:srgbClr val="002060"/>
                </a:solidFill>
              </a:rPr>
              <a:t>xsd:integer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     )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      ) </a:t>
            </a:r>
          </a:p>
          <a:p>
            <a:r>
              <a:rPr lang="en-US" sz="2800" dirty="0">
                <a:solidFill>
                  <a:srgbClr val="002060"/>
                </a:solidFill>
              </a:rPr>
              <a:t>)</a:t>
            </a:r>
            <a:endParaRPr lang="ru-RU" sz="2800" dirty="0">
              <a:solidFill>
                <a:srgbClr val="002060"/>
              </a:solidFill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5B54BDA1-EAE8-4CED-99CE-B1AE500180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284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swrl</a:t>
            </a:r>
            <a:r>
              <a:rPr lang="en-US" dirty="0">
                <a:solidFill>
                  <a:srgbClr val="0070C0"/>
                </a:solidFill>
              </a:rPr>
              <a:t> – semantic web rule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5058" name="Picture 2" descr="ex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1571612"/>
            <a:ext cx="7288212" cy="928694"/>
          </a:xfrm>
          <a:prstGeom prst="rect">
            <a:avLst/>
          </a:prstGeom>
          <a:noFill/>
        </p:spPr>
      </p:pic>
      <p:pic>
        <p:nvPicPr>
          <p:cNvPr id="45060" name="Picture 4" descr="uncle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034" y="2857496"/>
            <a:ext cx="8007550" cy="428628"/>
          </a:xfrm>
          <a:prstGeom prst="rect">
            <a:avLst/>
          </a:prstGeom>
          <a:noFill/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2DEC19BE-5C5C-43BA-969F-F1C111027C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sparql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sparql</a:t>
            </a:r>
            <a:r>
              <a:rPr lang="en-US" dirty="0">
                <a:solidFill>
                  <a:srgbClr val="0070C0"/>
                </a:solidFill>
              </a:rPr>
              <a:t> protocol and query language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500034" y="1577120"/>
            <a:ext cx="7572428" cy="185938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101600" dir="24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0" tIns="158700" rIns="63480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@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prefix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: &lt;http://xmlns.com/foaf/0.1/&gt; 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_:a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foaf:name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"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Johnny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Lee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Outlaw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" 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_:a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foaf:mbox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&lt;mailto:jlow@example.com&gt; 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_:b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foaf:name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"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Peter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Goodguy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" 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_:b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foaf:mbox</a:t>
            </a:r>
            <a:r>
              <a:rPr kumimoji="0" lang="ru-RU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&lt;mailto:peter@example.org&gt; 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357158" y="3786190"/>
            <a:ext cx="8429684" cy="130538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114300" dir="24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0" tIns="158700" rIns="63480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PREFIX 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: &lt;http://xmlns.com/foaf/0.1/&gt;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SELECT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name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mbox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WHERE {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x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foaf:name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name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.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x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foaf:mbox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?</a:t>
            </a:r>
            <a:r>
              <a:rPr kumimoji="0" lang="ru-RU" sz="20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mbox</a:t>
            </a: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urier New" pitchFamily="49" charset="0"/>
                <a:cs typeface="Courier New" pitchFamily="49" charset="0"/>
              </a:rPr>
              <a:t> }</a:t>
            </a: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sz="5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0" y="5286388"/>
          <a:ext cx="8929718" cy="1268730"/>
        </p:xfrm>
        <a:graphic>
          <a:graphicData uri="http://schemas.openxmlformats.org/drawingml/2006/table">
            <a:tbl>
              <a:tblPr>
                <a:effectLst>
                  <a:outerShdw blurRad="50800" dist="114300" dir="2400000" algn="ctr" rotWithShape="0">
                    <a:schemeClr val="tx1">
                      <a:alpha val="43000"/>
                    </a:schemeClr>
                  </a:outerShdw>
                </a:effectLst>
              </a:tblPr>
              <a:tblGrid>
                <a:gridCol w="38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/>
                        </a:rPr>
                        <a:t>name</a:t>
                      </a: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1" dirty="0" err="1">
                          <a:solidFill>
                            <a:srgbClr val="002060"/>
                          </a:solidFill>
                          <a:latin typeface="Courier New"/>
                        </a:rPr>
                        <a:t>mbox</a:t>
                      </a:r>
                      <a:endParaRPr lang="en-US" sz="2400" b="1" dirty="0">
                        <a:solidFill>
                          <a:srgbClr val="002060"/>
                        </a:solidFill>
                        <a:latin typeface="Courier New"/>
                      </a:endParaRP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>
                          <a:solidFill>
                            <a:srgbClr val="002060"/>
                          </a:solidFill>
                          <a:latin typeface="Courier New"/>
                        </a:rPr>
                        <a:t>"Johnny Lee Outlaw"</a:t>
                      </a: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/>
                        </a:rPr>
                        <a:t>&lt;mailto:jlow@example.com&gt;</a:t>
                      </a: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/>
                        </a:rPr>
                        <a:t>"Peter </a:t>
                      </a:r>
                      <a:r>
                        <a:rPr lang="en-US" sz="2400" b="1" dirty="0" err="1">
                          <a:solidFill>
                            <a:srgbClr val="002060"/>
                          </a:solidFill>
                          <a:latin typeface="Courier New"/>
                        </a:rPr>
                        <a:t>Goodguy</a:t>
                      </a:r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/>
                        </a:rPr>
                        <a:t>"</a:t>
                      </a: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urier New"/>
                        </a:rPr>
                        <a:t>&lt;mailto:peter@example.org&gt;</a:t>
                      </a:r>
                    </a:p>
                  </a:txBody>
                  <a:tcPr marT="28575" marB="285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89588612-3DC0-4ACF-AF64-8BA1A6B60C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824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5061" grpId="0" animBg="1"/>
      <p:bldP spid="4506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Protégé owl – ontology editor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7158" y="1643050"/>
            <a:ext cx="7715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http://protege.stanford.edu</a:t>
            </a:r>
          </a:p>
          <a:p>
            <a:endParaRPr lang="ru-RU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1143000"/>
            <a:ext cx="8696325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2374" y="2143116"/>
            <a:ext cx="8881626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EEC682DA-3AE1-41AD-A7E1-912F9A6568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475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Semantic web:  example </a:t>
            </a:r>
            <a:r>
              <a:rPr lang="ru-RU" dirty="0">
                <a:solidFill>
                  <a:srgbClr val="0070C0"/>
                </a:solidFill>
              </a:rPr>
              <a:t>- </a:t>
            </a:r>
            <a:r>
              <a:rPr lang="en-US" dirty="0" err="1">
                <a:solidFill>
                  <a:srgbClr val="0070C0"/>
                </a:solidFill>
              </a:rPr>
              <a:t>Wolframalpha</a:t>
            </a:r>
            <a:r>
              <a:rPr lang="ru-RU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7158" y="1643050"/>
            <a:ext cx="7715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http://wolframalpha.com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BD76D9-E08F-4D23-BF1E-82F922A482E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504" y="1196752"/>
            <a:ext cx="6948264" cy="50898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DDA038-CABE-4210-B966-70320A53B22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95736" y="1688287"/>
            <a:ext cx="6948264" cy="5089894"/>
          </a:xfrm>
          <a:prstGeom prst="rect">
            <a:avLst/>
          </a:prstGeom>
        </p:spPr>
      </p:pic>
      <p:pic>
        <p:nvPicPr>
          <p:cNvPr id="5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950599A3-A551-4025-A180-50D4BBBED8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07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Semantic web:  example - NIGMA</a:t>
            </a:r>
            <a:r>
              <a:rPr lang="ru-RU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7158" y="1643050"/>
            <a:ext cx="7715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http://nigma.ru</a:t>
            </a:r>
          </a:p>
          <a:p>
            <a:endParaRPr lang="ru-RU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514475"/>
            <a:ext cx="910590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CEB7F3C9-163D-4A86-93C9-54D26C41A4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9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Semantic web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357158" y="1428736"/>
            <a:ext cx="842968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Critics</a:t>
            </a:r>
            <a:endParaRPr lang="ru-RU" sz="44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Impossible to create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/>
              <a:t>Missing of obvious way to divide the World into concepts</a:t>
            </a:r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Double typing of documents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/>
              <a:t>Each document should be presented twice: in a human and in a machine readable format</a:t>
            </a:r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No commercial benefit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/>
              <a:t>If people do not visit web pages, who will read ads?</a:t>
            </a:r>
            <a:endParaRPr lang="ru-RU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0955" y="6488668"/>
            <a:ext cx="269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Igor </a:t>
            </a:r>
            <a:r>
              <a:rPr lang="en-US" dirty="0" err="1"/>
              <a:t>Bessmertny</a:t>
            </a:r>
            <a:r>
              <a:rPr lang="ru-RU" dirty="0"/>
              <a:t> - 2010</a:t>
            </a: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EF6B510-3EE0-4E87-BF3E-A446499F9E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32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681" name="Rectangle 5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722" name="Rectangle 7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752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0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JOB FOR LAB WORK 2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1840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0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22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357158" y="1428736"/>
            <a:ext cx="8429684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Download and install the ‘Semantic’ program.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 Transfer the knowledge base created in the Lab.1 to the ‘Semantic’ environment.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Add to objects in the knowledge base attributes: profession, hobby, etc. by your choice.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Create rules defining relations: colleague, common interests, etc. At least 3 rules.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Make screenshots demonstrating results of inference from your rules.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Report Chapters: Problem statement, Knowledge base text, Rules definition, Screenshots</a:t>
            </a:r>
            <a:r>
              <a:rPr lang="en-US" sz="2400" b="1">
                <a:solidFill>
                  <a:srgbClr val="002060"/>
                </a:solidFill>
              </a:rPr>
              <a:t>, Summary.</a:t>
            </a:r>
            <a:endParaRPr lang="en-US" sz="2400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sz="2400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ru-RU" sz="1400" b="1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0955" y="6488668"/>
            <a:ext cx="269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© </a:t>
            </a:r>
            <a:r>
              <a:rPr lang="en-US" dirty="0"/>
              <a:t>Igor </a:t>
            </a:r>
            <a:r>
              <a:rPr lang="en-US" dirty="0" err="1"/>
              <a:t>Bessmertny</a:t>
            </a:r>
            <a:r>
              <a:rPr lang="ru-RU" dirty="0"/>
              <a:t> - 2010</a:t>
            </a:r>
          </a:p>
        </p:txBody>
      </p:sp>
      <p:pic>
        <p:nvPicPr>
          <p:cNvPr id="3" name="Записанный звук">
            <a:hlinkClick r:id="" action="ppaction://media"/>
            <a:extLst>
              <a:ext uri="{FF2B5EF4-FFF2-40B4-BE49-F238E27FC236}">
                <a16:creationId xmlns:a16="http://schemas.microsoft.com/office/drawing/2014/main" id="{FEF6B510-3EE0-4E87-BF3E-A446499F9E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4327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1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32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2164</Words>
  <Application>Microsoft Office PowerPoint</Application>
  <PresentationFormat>Экран (4:3)</PresentationFormat>
  <Paragraphs>400</Paragraphs>
  <Slides>38</Slides>
  <Notes>0</Notes>
  <HiddenSlides>0</HiddenSlides>
  <MMClips>36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9" baseType="lpstr">
      <vt:lpstr>Arial</vt:lpstr>
      <vt:lpstr>Bookman Old Style</vt:lpstr>
      <vt:lpstr>Calibri</vt:lpstr>
      <vt:lpstr>Cambria</vt:lpstr>
      <vt:lpstr>Courier New</vt:lpstr>
      <vt:lpstr>Gill Sans MT</vt:lpstr>
      <vt:lpstr>Symbol</vt:lpstr>
      <vt:lpstr>Times New Roman</vt:lpstr>
      <vt:lpstr>Wingdings</vt:lpstr>
      <vt:lpstr>Wingdings 3</vt:lpstr>
      <vt:lpstr>Начальная</vt:lpstr>
      <vt:lpstr>Искусственный интеллект: Семантические сети</vt:lpstr>
      <vt:lpstr>Problem statement</vt:lpstr>
      <vt:lpstr>Methods of knowledge representation</vt:lpstr>
      <vt:lpstr>Semantic networks</vt:lpstr>
      <vt:lpstr>Semantic networks: history</vt:lpstr>
      <vt:lpstr>Semantic networks: history</vt:lpstr>
      <vt:lpstr>Semantic networks: history</vt:lpstr>
      <vt:lpstr>Semantic networks: why?</vt:lpstr>
      <vt:lpstr>Semantic networks</vt:lpstr>
      <vt:lpstr>Semantic networks</vt:lpstr>
      <vt:lpstr>Semantic networks</vt:lpstr>
      <vt:lpstr>Semantic networks</vt:lpstr>
      <vt:lpstr>example</vt:lpstr>
      <vt:lpstr>Semantic networks</vt:lpstr>
      <vt:lpstr>Semantic networks</vt:lpstr>
      <vt:lpstr>Types of relations in rastier’s graph</vt:lpstr>
      <vt:lpstr>SEMANTIC NETWORKS</vt:lpstr>
      <vt:lpstr>example</vt:lpstr>
      <vt:lpstr>problems</vt:lpstr>
      <vt:lpstr>Program   Semantic</vt:lpstr>
      <vt:lpstr>Program   Semantic: facts</vt:lpstr>
      <vt:lpstr>program  Semantic: rules</vt:lpstr>
      <vt:lpstr>program  Semantic: rules</vt:lpstr>
      <vt:lpstr>program  Semantic: rules</vt:lpstr>
      <vt:lpstr>program  Semantic: local graph</vt:lpstr>
      <vt:lpstr>program Semantic: rastier’s graph</vt:lpstr>
      <vt:lpstr>Semantic web</vt:lpstr>
      <vt:lpstr>Semantic web</vt:lpstr>
      <vt:lpstr>Web 3.0   vs.   Web 1.0, web2.0</vt:lpstr>
      <vt:lpstr>Rdf – resource description framework</vt:lpstr>
      <vt:lpstr>Owl – web ontology language</vt:lpstr>
      <vt:lpstr>swrl – semantic web rule language</vt:lpstr>
      <vt:lpstr>sparql – sparql protocol and query language</vt:lpstr>
      <vt:lpstr>Protégé owl – ontology editor</vt:lpstr>
      <vt:lpstr>Semantic web:  example - Wolframalpha </vt:lpstr>
      <vt:lpstr>Semantic web:  example - NIGMA </vt:lpstr>
      <vt:lpstr>Semantic web</vt:lpstr>
      <vt:lpstr>JOB FOR LAB WORK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Igor</dc:creator>
  <cp:lastModifiedBy>Igor Bessmertny</cp:lastModifiedBy>
  <cp:revision>200</cp:revision>
  <dcterms:created xsi:type="dcterms:W3CDTF">2010-03-07T20:29:49Z</dcterms:created>
  <dcterms:modified xsi:type="dcterms:W3CDTF">2024-09-05T13:12:54Z</dcterms:modified>
</cp:coreProperties>
</file>